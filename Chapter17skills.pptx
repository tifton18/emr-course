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
  </p:notesMasterIdLst>
  <p:handoutMasterIdLst>
    <p:handoutMasterId r:id="rId6"/>
  </p:handoutMasterIdLst>
  <p:sldIdLst>
    <p:sldId id="744" r:id="rId2"/>
    <p:sldId id="745" r:id="rId3"/>
    <p:sldId id="73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2029"/>
  </p:normalViewPr>
  <p:slideViewPr>
    <p:cSldViewPr snapToGrid="0">
      <p:cViewPr varScale="1">
        <p:scale>
          <a:sx n="75" d="100"/>
          <a:sy n="75" d="100"/>
        </p:scale>
        <p:origin x="1344" y="7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59"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760512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 xmlns:a16="http://schemas.microsoft.com/office/drawing/2014/main"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871565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 xmlns:a16="http://schemas.microsoft.com/office/drawing/2014/main" id="{CF4F1586-DE6A-1A40-AEF4-23ADA41937E4}"/>
              </a:ext>
            </a:extLst>
          </p:cNvPr>
          <p:cNvSpPr>
            <a:spLocks noGrp="1"/>
          </p:cNvSpPr>
          <p:nvPr>
            <p:ph type="subTitle" idx="1"/>
          </p:nvPr>
        </p:nvSpPr>
        <p:spPr/>
        <p:txBody>
          <a:bodyPr/>
          <a:lstStyle/>
          <a:p>
            <a:r>
              <a:rPr lang="en-US" dirty="0"/>
              <a:t>CHAPTER 17</a:t>
            </a:r>
          </a:p>
        </p:txBody>
      </p:sp>
      <p:sp>
        <p:nvSpPr>
          <p:cNvPr id="19" name="Title 18">
            <a:extLst>
              <a:ext uri="{FF2B5EF4-FFF2-40B4-BE49-F238E27FC236}">
                <a16:creationId xmlns="" xmlns:a16="http://schemas.microsoft.com/office/drawing/2014/main" id="{A58A35F8-EA88-094E-8EAD-88FE6A07C447}"/>
              </a:ext>
            </a:extLst>
          </p:cNvPr>
          <p:cNvSpPr>
            <a:spLocks noGrp="1"/>
          </p:cNvSpPr>
          <p:nvPr>
            <p:ph type="ctrTitle"/>
          </p:nvPr>
        </p:nvSpPr>
        <p:spPr/>
        <p:txBody>
          <a:bodyPr/>
          <a:lstStyle/>
          <a:p>
            <a:r>
              <a:rPr lang="en-US" dirty="0"/>
              <a:t>Pediatric Emergencies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761612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17-1 </a:t>
            </a:r>
            <a:r>
              <a:rPr lang="en-US" sz="2800" dirty="0"/>
              <a:t>Inserting an Oral Airway in a Child</a:t>
            </a:r>
            <a:r>
              <a:rPr lang="en-US" sz="2800" dirty="0" smtClean="0"/>
              <a:t> </a:t>
            </a:r>
            <a:r>
              <a:rPr lang="en-US" sz="2800" b="0" dirty="0" smtClean="0"/>
              <a:t>(1-2)</a:t>
            </a:r>
            <a:endParaRPr lang="en-US" sz="2800" b="0" dirty="0"/>
          </a:p>
        </p:txBody>
      </p:sp>
      <p:sp>
        <p:nvSpPr>
          <p:cNvPr id="11" name="Rectangle 10"/>
          <p:cNvSpPr/>
          <p:nvPr/>
        </p:nvSpPr>
        <p:spPr>
          <a:xfrm>
            <a:off x="952500" y="4876800"/>
            <a:ext cx="4660900" cy="923330"/>
          </a:xfrm>
          <a:prstGeom prst="rect">
            <a:avLst/>
          </a:prstGeom>
        </p:spPr>
        <p:txBody>
          <a:bodyPr wrap="square">
            <a:spAutoFit/>
          </a:bodyPr>
          <a:lstStyle/>
          <a:p>
            <a:r>
              <a:rPr lang="en-US" b="1" dirty="0" smtClean="0"/>
              <a:t>Step 1 </a:t>
            </a:r>
            <a:r>
              <a:rPr lang="en-US" dirty="0"/>
              <a:t>Select the proper size oral airway by measuring from the patient’s earlobe to the corner of the mouth.</a:t>
            </a:r>
          </a:p>
        </p:txBody>
      </p:sp>
      <p:sp>
        <p:nvSpPr>
          <p:cNvPr id="12" name="Rectangle 11"/>
          <p:cNvSpPr/>
          <p:nvPr/>
        </p:nvSpPr>
        <p:spPr>
          <a:xfrm>
            <a:off x="954192" y="5803900"/>
            <a:ext cx="2919308" cy="254000"/>
          </a:xfrm>
          <a:prstGeom prst="rect">
            <a:avLst/>
          </a:prstGeom>
        </p:spPr>
        <p:txBody>
          <a:bodyPr wrap="square">
            <a:spAutoFit/>
          </a:bodyPr>
          <a:lstStyle/>
          <a:p>
            <a:r>
              <a:rPr lang="en-US" sz="1000" dirty="0"/>
              <a:t>© Jones &amp; Bartlett Learning. Courtesy of MIEMSS. </a:t>
            </a:r>
          </a:p>
        </p:txBody>
      </p:sp>
      <p:sp>
        <p:nvSpPr>
          <p:cNvPr id="7" name="Rectangle 6"/>
          <p:cNvSpPr/>
          <p:nvPr/>
        </p:nvSpPr>
        <p:spPr>
          <a:xfrm>
            <a:off x="6375400" y="4902200"/>
            <a:ext cx="4978400" cy="2031325"/>
          </a:xfrm>
          <a:prstGeom prst="rect">
            <a:avLst/>
          </a:prstGeom>
        </p:spPr>
        <p:txBody>
          <a:bodyPr wrap="square">
            <a:spAutoFit/>
          </a:bodyPr>
          <a:lstStyle/>
          <a:p>
            <a:r>
              <a:rPr lang="en-US" b="1" dirty="0" smtClean="0"/>
              <a:t>Step 2 </a:t>
            </a:r>
            <a:r>
              <a:rPr lang="en-US" dirty="0"/>
              <a:t>Position the patient’s airway. If the emergency is medical, use the head tilt–chin lift maneuver, avoiding hyperextension. If the patient has a traumatic injury, use the jaw-thrust maneuver.</a:t>
            </a:r>
          </a:p>
          <a:p>
            <a:endParaRPr lang="en-US" dirty="0"/>
          </a:p>
          <a:p>
            <a:endParaRPr lang="en-US" dirty="0"/>
          </a:p>
        </p:txBody>
      </p:sp>
      <p:sp>
        <p:nvSpPr>
          <p:cNvPr id="8" name="Rectangle 7"/>
          <p:cNvSpPr/>
          <p:nvPr/>
        </p:nvSpPr>
        <p:spPr>
          <a:xfrm>
            <a:off x="6389792" y="6362700"/>
            <a:ext cx="2919308" cy="254000"/>
          </a:xfrm>
          <a:prstGeom prst="rect">
            <a:avLst/>
          </a:prstGeom>
        </p:spPr>
        <p:txBody>
          <a:bodyPr wrap="square">
            <a:spAutoFit/>
          </a:bodyPr>
          <a:lstStyle/>
          <a:p>
            <a:r>
              <a:rPr lang="en-US" sz="1000" dirty="0"/>
              <a:t>© Jones &amp; Bartlett Learning. Courtesy of MIEMSS. </a:t>
            </a:r>
          </a:p>
        </p:txBody>
      </p:sp>
      <p:pic>
        <p:nvPicPr>
          <p:cNvPr id="1026" name="Picture 2" descr="The photo shows the head of a child lying facing upward. A responder wearing gloves can be seen holding the child's head and chin, opening the mouth slightly and tilting the chin up a little.&#10;" title="A photo shows Step 2 of the process of inserting an oral airway in a chil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5400" y="1630800"/>
            <a:ext cx="4800600" cy="3207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photo shows the head of a child lying facing upward. A responder's gloved hand can be seen on the head and the other hand holds a small tube against the child's face to compare its size to the distance from the child's earlobe to the mouth.&#10;" title="A photo shows Step 1 of the process of inserting an oral airway in a chil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192" y="1599050"/>
            <a:ext cx="4800600" cy="320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12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 xmlns:a16="http://schemas.microsoft.com/office/drawing/2014/main"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17-1 </a:t>
            </a:r>
            <a:r>
              <a:rPr lang="en-US" sz="2800" dirty="0"/>
              <a:t>Inserting an Oral Airway in a </a:t>
            </a:r>
            <a:r>
              <a:rPr lang="en-US" sz="2800"/>
              <a:t>Child</a:t>
            </a:r>
            <a:r>
              <a:rPr lang="en-US" sz="2800" smtClean="0"/>
              <a:t> </a:t>
            </a:r>
            <a:r>
              <a:rPr lang="en-US" sz="2800" b="0" smtClean="0"/>
              <a:t>(2-2</a:t>
            </a:r>
            <a:r>
              <a:rPr lang="en-US" sz="2800" b="0" dirty="0" smtClean="0"/>
              <a:t>)</a:t>
            </a:r>
            <a:endParaRPr lang="en-US" sz="2800" b="0" dirty="0"/>
          </a:p>
        </p:txBody>
      </p:sp>
      <p:sp>
        <p:nvSpPr>
          <p:cNvPr id="11" name="Rectangle 10"/>
          <p:cNvSpPr/>
          <p:nvPr/>
        </p:nvSpPr>
        <p:spPr>
          <a:xfrm>
            <a:off x="2400300" y="4953000"/>
            <a:ext cx="7086600" cy="1200329"/>
          </a:xfrm>
          <a:prstGeom prst="rect">
            <a:avLst/>
          </a:prstGeom>
        </p:spPr>
        <p:txBody>
          <a:bodyPr wrap="square">
            <a:spAutoFit/>
          </a:bodyPr>
          <a:lstStyle/>
          <a:p>
            <a:r>
              <a:rPr lang="en-US" b="1" dirty="0" smtClean="0"/>
              <a:t>Step 3 </a:t>
            </a:r>
            <a:r>
              <a:rPr lang="en-US" dirty="0"/>
              <a:t>Depress the patient’s tongue with a tongue blade. Press the tongue forward and away from the roof of the mouth. Follow the anatomic curve of the roof of the patient’s mouth to slide the airway into place. Be gentle. The mouths of children and infants are fragile.</a:t>
            </a:r>
          </a:p>
        </p:txBody>
      </p:sp>
      <p:sp>
        <p:nvSpPr>
          <p:cNvPr id="12" name="Rectangle 11"/>
          <p:cNvSpPr/>
          <p:nvPr/>
        </p:nvSpPr>
        <p:spPr>
          <a:xfrm>
            <a:off x="2414692" y="6172200"/>
            <a:ext cx="2919308" cy="254000"/>
          </a:xfrm>
          <a:prstGeom prst="rect">
            <a:avLst/>
          </a:prstGeom>
        </p:spPr>
        <p:txBody>
          <a:bodyPr wrap="square">
            <a:spAutoFit/>
          </a:bodyPr>
          <a:lstStyle/>
          <a:p>
            <a:r>
              <a:rPr lang="en-US" sz="1000" dirty="0"/>
              <a:t>© Jones &amp; Bartlett Learning. Courtesy of MIEMSS. </a:t>
            </a:r>
          </a:p>
        </p:txBody>
      </p:sp>
      <p:pic>
        <p:nvPicPr>
          <p:cNvPr id="5" name="Picture 3" descr="The photo shows the head of a child lying facing upward. A responder's gloved hands can be seen positioning a flexible tube to insert it into the child's mouth. A thin stick (a tongue blade) is used to push the tongue down to ease the tube into the mouth carefully.&#10;" title="A photo shows Step 3 of the process of inserting an oral airway in a child.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1668900"/>
            <a:ext cx="4800600" cy="320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62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758</TotalTime>
  <Words>171</Words>
  <Application>Microsoft Office PowerPoint</Application>
  <PresentationFormat>Widescreen</PresentationFormat>
  <Paragraphs>10</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ＭＳ Ｐゴシック</vt:lpstr>
      <vt:lpstr>Arial</vt:lpstr>
      <vt:lpstr>Calibri</vt:lpstr>
      <vt:lpstr>Wingdings</vt:lpstr>
      <vt:lpstr>Educational subjects 16x9</vt:lpstr>
      <vt:lpstr>Pediatric Emergencies</vt:lpstr>
      <vt:lpstr>Skill Drill 17-1 Inserting an Oral Airway in a Child (1-2)</vt:lpstr>
      <vt:lpstr>Skill Drill 17-1 Inserting an Oral Airway in a Child (2-2)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Ravi Shankar Jayavel</cp:lastModifiedBy>
  <cp:revision>137</cp:revision>
  <dcterms:created xsi:type="dcterms:W3CDTF">2020-07-20T18:35:12Z</dcterms:created>
  <dcterms:modified xsi:type="dcterms:W3CDTF">2020-11-30T10:10:44Z</dcterms:modified>
</cp:coreProperties>
</file>