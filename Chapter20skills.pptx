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
  </p:notesMasterIdLst>
  <p:handoutMasterIdLst>
    <p:handoutMasterId r:id="rId8"/>
  </p:handoutMasterIdLst>
  <p:sldIdLst>
    <p:sldId id="749" r:id="rId2"/>
    <p:sldId id="745" r:id="rId3"/>
    <p:sldId id="746" r:id="rId4"/>
    <p:sldId id="747" r:id="rId5"/>
    <p:sldId id="74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AA47-199E-4CBF-B21D-5F186A0A99E7}" v="99" dt="2020-08-10T16:05:51.47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2029"/>
  </p:normalViewPr>
  <p:slideViewPr>
    <p:cSldViewPr snapToGrid="0">
      <p:cViewPr varScale="1">
        <p:scale>
          <a:sx n="75" d="100"/>
          <a:sy n="75" d="100"/>
        </p:scale>
        <p:origin x="1344" y="7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59"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8"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7E5AA47-199E-4CBF-B21D-5F186A0A99E7}"/>
    <pc:docChg chg="custSel modSld modMainMaster">
      <pc:chgData name="Paula-Yuan Gregory" userId="8839d734-a022-4f7a-aa1a-7ded42ea4e8b" providerId="ADAL" clId="{07E5AA47-199E-4CBF-B21D-5F186A0A99E7}" dt="2020-08-11T15:39:11.160" v="208" actId="20577"/>
      <pc:docMkLst>
        <pc:docMk/>
      </pc:docMkLst>
      <pc:sldChg chg="modSp">
        <pc:chgData name="Paula-Yuan Gregory" userId="8839d734-a022-4f7a-aa1a-7ded42ea4e8b" providerId="ADAL" clId="{07E5AA47-199E-4CBF-B21D-5F186A0A99E7}" dt="2020-08-11T15:39:11.160" v="208" actId="20577"/>
        <pc:sldMkLst>
          <pc:docMk/>
          <pc:sldMk cId="1732698309" sldId="258"/>
        </pc:sldMkLst>
        <pc:spChg chg="mod">
          <ac:chgData name="Paula-Yuan Gregory" userId="8839d734-a022-4f7a-aa1a-7ded42ea4e8b" providerId="ADAL" clId="{07E5AA47-199E-4CBF-B21D-5F186A0A99E7}" dt="2020-08-11T15:39:11.160" v="208" actId="20577"/>
          <ac:spMkLst>
            <pc:docMk/>
            <pc:sldMk cId="1732698309" sldId="258"/>
            <ac:spMk id="15" creationId="{CF4F1586-DE6A-1A40-AEF4-23ADA41937E4}"/>
          </ac:spMkLst>
        </pc:spChg>
      </pc:sldChg>
      <pc:sldChg chg="addSp delSp modSp">
        <pc:chgData name="Paula-Yuan Gregory" userId="8839d734-a022-4f7a-aa1a-7ded42ea4e8b" providerId="ADAL" clId="{07E5AA47-199E-4CBF-B21D-5F186A0A99E7}" dt="2020-08-10T15:59:45.998" v="112" actId="1076"/>
        <pc:sldMkLst>
          <pc:docMk/>
          <pc:sldMk cId="2021669146" sldId="741"/>
        </pc:sldMkLst>
        <pc:spChg chg="add mod">
          <ac:chgData name="Paula-Yuan Gregory" userId="8839d734-a022-4f7a-aa1a-7ded42ea4e8b" providerId="ADAL" clId="{07E5AA47-199E-4CBF-B21D-5F186A0A99E7}" dt="2020-08-10T15:59:45.998" v="112" actId="1076"/>
          <ac:spMkLst>
            <pc:docMk/>
            <pc:sldMk cId="2021669146" sldId="741"/>
            <ac:spMk id="6" creationId="{AFA6017C-47FF-4F32-95FF-EE340E43139A}"/>
          </ac:spMkLst>
        </pc:spChg>
        <pc:picChg chg="del">
          <ac:chgData name="Paula-Yuan Gregory" userId="8839d734-a022-4f7a-aa1a-7ded42ea4e8b" providerId="ADAL" clId="{07E5AA47-199E-4CBF-B21D-5F186A0A99E7}" dt="2020-08-10T15:59:36.204" v="93" actId="478"/>
          <ac:picMkLst>
            <pc:docMk/>
            <pc:sldMk cId="2021669146" sldId="741"/>
            <ac:picMk id="17411" creationId="{9A2F8220-5196-3549-97B2-7C2940D01BA1}"/>
          </ac:picMkLst>
        </pc:picChg>
      </pc:sldChg>
      <pc:sldChg chg="addSp delSp modSp">
        <pc:chgData name="Paula-Yuan Gregory" userId="8839d734-a022-4f7a-aa1a-7ded42ea4e8b" providerId="ADAL" clId="{07E5AA47-199E-4CBF-B21D-5F186A0A99E7}" dt="2020-08-10T16:00:10.395" v="132" actId="1076"/>
        <pc:sldMkLst>
          <pc:docMk/>
          <pc:sldMk cId="4068059589" sldId="747"/>
        </pc:sldMkLst>
        <pc:spChg chg="add mod">
          <ac:chgData name="Paula-Yuan Gregory" userId="8839d734-a022-4f7a-aa1a-7ded42ea4e8b" providerId="ADAL" clId="{07E5AA47-199E-4CBF-B21D-5F186A0A99E7}" dt="2020-08-10T16:00:10.395" v="132" actId="1076"/>
          <ac:spMkLst>
            <pc:docMk/>
            <pc:sldMk cId="4068059589" sldId="747"/>
            <ac:spMk id="6" creationId="{AFA6017C-47FF-4F32-95FF-EE340E43139A}"/>
          </ac:spMkLst>
        </pc:spChg>
        <pc:picChg chg="del">
          <ac:chgData name="Paula-Yuan Gregory" userId="8839d734-a022-4f7a-aa1a-7ded42ea4e8b" providerId="ADAL" clId="{07E5AA47-199E-4CBF-B21D-5F186A0A99E7}" dt="2020-08-10T16:00:02.956" v="113" actId="478"/>
          <ac:picMkLst>
            <pc:docMk/>
            <pc:sldMk cId="4068059589" sldId="747"/>
            <ac:picMk id="29699" creationId="{8B8F1A46-6573-9C4E-815F-07063B1B6E88}"/>
          </ac:picMkLst>
        </pc:picChg>
      </pc:sldChg>
      <pc:sldChg chg="addSp delSp modSp">
        <pc:chgData name="Paula-Yuan Gregory" userId="8839d734-a022-4f7a-aa1a-7ded42ea4e8b" providerId="ADAL" clId="{07E5AA47-199E-4CBF-B21D-5F186A0A99E7}" dt="2020-08-10T16:03:14.260" v="145" actId="20577"/>
        <pc:sldMkLst>
          <pc:docMk/>
          <pc:sldMk cId="1458110044" sldId="748"/>
        </pc:sldMkLst>
        <pc:spChg chg="add mod">
          <ac:chgData name="Paula-Yuan Gregory" userId="8839d734-a022-4f7a-aa1a-7ded42ea4e8b" providerId="ADAL" clId="{07E5AA47-199E-4CBF-B21D-5F186A0A99E7}" dt="2020-08-10T16:03:14.260" v="145" actId="20577"/>
          <ac:spMkLst>
            <pc:docMk/>
            <pc:sldMk cId="1458110044" sldId="748"/>
            <ac:spMk id="5" creationId="{AFA6017C-47FF-4F32-95FF-EE340E43139A}"/>
          </ac:spMkLst>
        </pc:spChg>
        <pc:spChg chg="mod">
          <ac:chgData name="Paula-Yuan Gregory" userId="8839d734-a022-4f7a-aa1a-7ded42ea4e8b" providerId="ADAL" clId="{07E5AA47-199E-4CBF-B21D-5F186A0A99E7}" dt="2020-08-06T16:18:30.625" v="66" actId="1036"/>
          <ac:spMkLst>
            <pc:docMk/>
            <pc:sldMk cId="1458110044" sldId="748"/>
            <ac:spMk id="31748" creationId="{8B04988E-E865-CF43-827C-7D5AB287D363}"/>
          </ac:spMkLst>
        </pc:spChg>
        <pc:picChg chg="del mod">
          <ac:chgData name="Paula-Yuan Gregory" userId="8839d734-a022-4f7a-aa1a-7ded42ea4e8b" providerId="ADAL" clId="{07E5AA47-199E-4CBF-B21D-5F186A0A99E7}" dt="2020-08-10T16:03:08.742" v="133" actId="478"/>
          <ac:picMkLst>
            <pc:docMk/>
            <pc:sldMk cId="1458110044" sldId="748"/>
            <ac:picMk id="31747" creationId="{6F45AB12-2F18-8447-BA0B-73C7B2C07B7B}"/>
          </ac:picMkLst>
        </pc:picChg>
      </pc:sldChg>
      <pc:sldChg chg="addSp delSp modSp">
        <pc:chgData name="Paula-Yuan Gregory" userId="8839d734-a022-4f7a-aa1a-7ded42ea4e8b" providerId="ADAL" clId="{07E5AA47-199E-4CBF-B21D-5F186A0A99E7}" dt="2020-08-10T16:03:30.781" v="159" actId="1076"/>
        <pc:sldMkLst>
          <pc:docMk/>
          <pc:sldMk cId="2476686328" sldId="749"/>
        </pc:sldMkLst>
        <pc:spChg chg="add mod">
          <ac:chgData name="Paula-Yuan Gregory" userId="8839d734-a022-4f7a-aa1a-7ded42ea4e8b" providerId="ADAL" clId="{07E5AA47-199E-4CBF-B21D-5F186A0A99E7}" dt="2020-08-10T16:03:30.781" v="159" actId="1076"/>
          <ac:spMkLst>
            <pc:docMk/>
            <pc:sldMk cId="2476686328" sldId="749"/>
            <ac:spMk id="6" creationId="{AFA6017C-47FF-4F32-95FF-EE340E43139A}"/>
          </ac:spMkLst>
        </pc:spChg>
        <pc:picChg chg="del">
          <ac:chgData name="Paula-Yuan Gregory" userId="8839d734-a022-4f7a-aa1a-7ded42ea4e8b" providerId="ADAL" clId="{07E5AA47-199E-4CBF-B21D-5F186A0A99E7}" dt="2020-08-10T16:03:21.986" v="146" actId="478"/>
          <ac:picMkLst>
            <pc:docMk/>
            <pc:sldMk cId="2476686328" sldId="749"/>
            <ac:picMk id="33795" creationId="{5AFD9C67-3243-7B4D-94C5-B95CFFC6C447}"/>
          </ac:picMkLst>
        </pc:picChg>
      </pc:sldChg>
      <pc:sldChg chg="addSp delSp modSp">
        <pc:chgData name="Paula-Yuan Gregory" userId="8839d734-a022-4f7a-aa1a-7ded42ea4e8b" providerId="ADAL" clId="{07E5AA47-199E-4CBF-B21D-5F186A0A99E7}" dt="2020-08-10T16:04:21.152" v="174" actId="1076"/>
        <pc:sldMkLst>
          <pc:docMk/>
          <pc:sldMk cId="1709711209" sldId="757"/>
        </pc:sldMkLst>
        <pc:spChg chg="add mod">
          <ac:chgData name="Paula-Yuan Gregory" userId="8839d734-a022-4f7a-aa1a-7ded42ea4e8b" providerId="ADAL" clId="{07E5AA47-199E-4CBF-B21D-5F186A0A99E7}" dt="2020-08-10T16:04:21.152" v="174" actId="1076"/>
          <ac:spMkLst>
            <pc:docMk/>
            <pc:sldMk cId="1709711209" sldId="757"/>
            <ac:spMk id="6" creationId="{AFA6017C-47FF-4F32-95FF-EE340E43139A}"/>
          </ac:spMkLst>
        </pc:spChg>
        <pc:picChg chg="del">
          <ac:chgData name="Paula-Yuan Gregory" userId="8839d734-a022-4f7a-aa1a-7ded42ea4e8b" providerId="ADAL" clId="{07E5AA47-199E-4CBF-B21D-5F186A0A99E7}" dt="2020-08-10T16:04:10.933" v="160" actId="478"/>
          <ac:picMkLst>
            <pc:docMk/>
            <pc:sldMk cId="1709711209" sldId="757"/>
            <ac:picMk id="4" creationId="{09DEA73D-5A8B-EC45-8116-54FF69F09FC1}"/>
          </ac:picMkLst>
        </pc:picChg>
      </pc:sldChg>
      <pc:sldChg chg="addSp delSp modSp">
        <pc:chgData name="Paula-Yuan Gregory" userId="8839d734-a022-4f7a-aa1a-7ded42ea4e8b" providerId="ADAL" clId="{07E5AA47-199E-4CBF-B21D-5F186A0A99E7}" dt="2020-08-10T16:05:00.206" v="189" actId="1076"/>
        <pc:sldMkLst>
          <pc:docMk/>
          <pc:sldMk cId="3251773752" sldId="763"/>
        </pc:sldMkLst>
        <pc:spChg chg="add mod">
          <ac:chgData name="Paula-Yuan Gregory" userId="8839d734-a022-4f7a-aa1a-7ded42ea4e8b" providerId="ADAL" clId="{07E5AA47-199E-4CBF-B21D-5F186A0A99E7}" dt="2020-08-10T16:05:00.206" v="189" actId="1076"/>
          <ac:spMkLst>
            <pc:docMk/>
            <pc:sldMk cId="3251773752" sldId="763"/>
            <ac:spMk id="6" creationId="{AFA6017C-47FF-4F32-95FF-EE340E43139A}"/>
          </ac:spMkLst>
        </pc:spChg>
        <pc:picChg chg="del">
          <ac:chgData name="Paula-Yuan Gregory" userId="8839d734-a022-4f7a-aa1a-7ded42ea4e8b" providerId="ADAL" clId="{07E5AA47-199E-4CBF-B21D-5F186A0A99E7}" dt="2020-08-10T16:04:53.182" v="175" actId="478"/>
          <ac:picMkLst>
            <pc:docMk/>
            <pc:sldMk cId="3251773752" sldId="763"/>
            <ac:picMk id="62467" creationId="{B5E0193B-DEF4-C24E-B39F-40659D813B92}"/>
          </ac:picMkLst>
        </pc:picChg>
      </pc:sldChg>
      <pc:sldChg chg="addSp delSp modSp">
        <pc:chgData name="Paula-Yuan Gregory" userId="8839d734-a022-4f7a-aa1a-7ded42ea4e8b" providerId="ADAL" clId="{07E5AA47-199E-4CBF-B21D-5F186A0A99E7}" dt="2020-08-10T16:05:58.708" v="206" actId="1076"/>
        <pc:sldMkLst>
          <pc:docMk/>
          <pc:sldMk cId="1797629057" sldId="767"/>
        </pc:sldMkLst>
        <pc:spChg chg="add mod">
          <ac:chgData name="Paula-Yuan Gregory" userId="8839d734-a022-4f7a-aa1a-7ded42ea4e8b" providerId="ADAL" clId="{07E5AA47-199E-4CBF-B21D-5F186A0A99E7}" dt="2020-08-10T16:05:58.708" v="206" actId="1076"/>
          <ac:spMkLst>
            <pc:docMk/>
            <pc:sldMk cId="1797629057" sldId="767"/>
            <ac:spMk id="5" creationId="{AFA6017C-47FF-4F32-95FF-EE340E43139A}"/>
          </ac:spMkLst>
        </pc:spChg>
        <pc:picChg chg="del">
          <ac:chgData name="Paula-Yuan Gregory" userId="8839d734-a022-4f7a-aa1a-7ded42ea4e8b" providerId="ADAL" clId="{07E5AA47-199E-4CBF-B21D-5F186A0A99E7}" dt="2020-08-10T16:05:51.111" v="190" actId="478"/>
          <ac:picMkLst>
            <pc:docMk/>
            <pc:sldMk cId="1797629057" sldId="767"/>
            <ac:picMk id="4" creationId="{B1EBDCDD-FFA7-8D43-885E-1C222A3005F2}"/>
          </ac:picMkLst>
        </pc:picChg>
      </pc:sldChg>
      <pc:sldMasterChg chg="modSp modSldLayout">
        <pc:chgData name="Paula-Yuan Gregory" userId="8839d734-a022-4f7a-aa1a-7ded42ea4e8b" providerId="ADAL" clId="{07E5AA47-199E-4CBF-B21D-5F186A0A99E7}" dt="2020-07-29T16:36:33.145" v="7" actId="20577"/>
        <pc:sldMasterMkLst>
          <pc:docMk/>
          <pc:sldMasterMk cId="2871921020" sldId="2147483648"/>
        </pc:sldMasterMkLst>
        <pc:spChg chg="mod">
          <ac:chgData name="Paula-Yuan Gregory" userId="8839d734-a022-4f7a-aa1a-7ded42ea4e8b" providerId="ADAL" clId="{07E5AA47-199E-4CBF-B21D-5F186A0A99E7}" dt="2020-07-29T16:36:27.074" v="3" actId="20577"/>
          <ac:spMkLst>
            <pc:docMk/>
            <pc:sldMasterMk cId="2871921020" sldId="2147483648"/>
            <ac:spMk id="7" creationId="{21F38BD8-3F75-CE4C-AFEF-0C6B45F77F8C}"/>
          </ac:spMkLst>
        </pc:spChg>
        <pc:sldLayoutChg chg="modSp">
          <pc:chgData name="Paula-Yuan Gregory" userId="8839d734-a022-4f7a-aa1a-7ded42ea4e8b" providerId="ADAL" clId="{07E5AA47-199E-4CBF-B21D-5F186A0A99E7}" dt="2020-07-29T16:36:33.145" v="7" actId="20577"/>
          <pc:sldLayoutMkLst>
            <pc:docMk/>
            <pc:sldMasterMk cId="2871921020" sldId="2147483648"/>
            <pc:sldLayoutMk cId="3047549913" sldId="2147483649"/>
          </pc:sldLayoutMkLst>
          <pc:spChg chg="mod">
            <ac:chgData name="Paula-Yuan Gregory" userId="8839d734-a022-4f7a-aa1a-7ded42ea4e8b" providerId="ADAL" clId="{07E5AA47-199E-4CBF-B21D-5F186A0A99E7}" dt="2020-07-29T16:36:33.145" v="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en-US" smtClean="0"/>
              <a:pPr/>
              <a:t>1</a:t>
            </a:fld>
            <a:endParaRPr lang="en-US" dirty="0"/>
          </a:p>
        </p:txBody>
      </p:sp>
    </p:spTree>
    <p:extLst>
      <p:ext uri="{BB962C8B-B14F-4D97-AF65-F5344CB8AC3E}">
        <p14:creationId xmlns:p14="http://schemas.microsoft.com/office/powerpoint/2010/main" val="2685180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760512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687694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82273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864391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 xmlns:a16="http://schemas.microsoft.com/office/drawing/2014/main" id="{CF4F1586-DE6A-1A40-AEF4-23ADA41937E4}"/>
              </a:ext>
            </a:extLst>
          </p:cNvPr>
          <p:cNvSpPr>
            <a:spLocks noGrp="1"/>
          </p:cNvSpPr>
          <p:nvPr>
            <p:ph type="subTitle" idx="1"/>
          </p:nvPr>
        </p:nvSpPr>
        <p:spPr/>
        <p:txBody>
          <a:bodyPr/>
          <a:lstStyle/>
          <a:p>
            <a:r>
              <a:rPr lang="en-US" dirty="0"/>
              <a:t>CHAPTER 20</a:t>
            </a:r>
          </a:p>
        </p:txBody>
      </p:sp>
      <p:sp>
        <p:nvSpPr>
          <p:cNvPr id="19" name="Title 18">
            <a:extLst>
              <a:ext uri="{FF2B5EF4-FFF2-40B4-BE49-F238E27FC236}">
                <a16:creationId xmlns="" xmlns:a16="http://schemas.microsoft.com/office/drawing/2014/main" id="{A58A35F8-EA88-094E-8EAD-88FE6A07C447}"/>
              </a:ext>
            </a:extLst>
          </p:cNvPr>
          <p:cNvSpPr>
            <a:spLocks noGrp="1"/>
          </p:cNvSpPr>
          <p:nvPr>
            <p:ph type="ctrTitle"/>
          </p:nvPr>
        </p:nvSpPr>
        <p:spPr/>
        <p:txBody>
          <a:bodyPr/>
          <a:lstStyle/>
          <a:p>
            <a:r>
              <a:rPr lang="en-US" dirty="0"/>
              <a:t>Vehicle Extrication and Special Rescue</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 xmlns:a16="http://schemas.microsoft.com/office/drawing/2014/main" id="{A8280651-A45A-1342-9DDA-D8CFB0746F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38143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700" b="0" dirty="0" smtClean="0"/>
              <a:t>Skill Drill 20-1 </a:t>
            </a:r>
            <a:r>
              <a:rPr lang="en-US" sz="2700" dirty="0"/>
              <a:t>Accessing the Vehicle Through the Window</a:t>
            </a:r>
            <a:r>
              <a:rPr lang="en-US" sz="2700" dirty="0" smtClean="0"/>
              <a:t> </a:t>
            </a:r>
            <a:r>
              <a:rPr lang="en-US" sz="2700" b="0" dirty="0" smtClean="0"/>
              <a:t>(1-2)</a:t>
            </a:r>
            <a:endParaRPr lang="en-US" sz="2700" b="0" dirty="0"/>
          </a:p>
        </p:txBody>
      </p:sp>
      <p:sp>
        <p:nvSpPr>
          <p:cNvPr id="11" name="Rectangle 10"/>
          <p:cNvSpPr/>
          <p:nvPr/>
        </p:nvSpPr>
        <p:spPr>
          <a:xfrm>
            <a:off x="952500" y="4876800"/>
            <a:ext cx="4737100" cy="923330"/>
          </a:xfrm>
          <a:prstGeom prst="rect">
            <a:avLst/>
          </a:prstGeom>
        </p:spPr>
        <p:txBody>
          <a:bodyPr wrap="square">
            <a:spAutoFit/>
          </a:bodyPr>
          <a:lstStyle/>
          <a:p>
            <a:r>
              <a:rPr lang="en-US" b="1" dirty="0" smtClean="0"/>
              <a:t>Step 1 </a:t>
            </a:r>
            <a:r>
              <a:rPr lang="en-US" dirty="0"/>
              <a:t>Wear heavy-duty leather gloves and eye protection, if available. Place the spring-loaded center punch at the lower corner of the window.</a:t>
            </a:r>
          </a:p>
        </p:txBody>
      </p:sp>
      <p:sp>
        <p:nvSpPr>
          <p:cNvPr id="12" name="Rectangle 11"/>
          <p:cNvSpPr/>
          <p:nvPr/>
        </p:nvSpPr>
        <p:spPr>
          <a:xfrm>
            <a:off x="954192" y="5803900"/>
            <a:ext cx="2919308" cy="254000"/>
          </a:xfrm>
          <a:prstGeom prst="rect">
            <a:avLst/>
          </a:prstGeom>
        </p:spPr>
        <p:txBody>
          <a:bodyPr wrap="square">
            <a:spAutoFit/>
          </a:bodyPr>
          <a:lstStyle/>
          <a:p>
            <a:r>
              <a:rPr lang="en-US" sz="1000" dirty="0"/>
              <a:t>© Jones &amp; Bartlett Learning. Courtesy of MIEMSS. </a:t>
            </a:r>
          </a:p>
        </p:txBody>
      </p:sp>
      <p:sp>
        <p:nvSpPr>
          <p:cNvPr id="7" name="Rectangle 6"/>
          <p:cNvSpPr/>
          <p:nvPr/>
        </p:nvSpPr>
        <p:spPr>
          <a:xfrm>
            <a:off x="6375400" y="4876800"/>
            <a:ext cx="4978400" cy="1200329"/>
          </a:xfrm>
          <a:prstGeom prst="rect">
            <a:avLst/>
          </a:prstGeom>
        </p:spPr>
        <p:txBody>
          <a:bodyPr wrap="square">
            <a:spAutoFit/>
          </a:bodyPr>
          <a:lstStyle/>
          <a:p>
            <a:r>
              <a:rPr lang="en-US" b="1" dirty="0" smtClean="0"/>
              <a:t>Step 2 </a:t>
            </a:r>
            <a:r>
              <a:rPr lang="en-US" dirty="0"/>
              <a:t>Press on the center punch to break the window.</a:t>
            </a:r>
          </a:p>
          <a:p>
            <a:endParaRPr lang="en-US" dirty="0"/>
          </a:p>
          <a:p>
            <a:endParaRPr lang="en-US" dirty="0"/>
          </a:p>
        </p:txBody>
      </p:sp>
      <p:sp>
        <p:nvSpPr>
          <p:cNvPr id="8" name="Rectangle 7"/>
          <p:cNvSpPr/>
          <p:nvPr/>
        </p:nvSpPr>
        <p:spPr>
          <a:xfrm>
            <a:off x="6402492" y="5524500"/>
            <a:ext cx="2919308" cy="254000"/>
          </a:xfrm>
          <a:prstGeom prst="rect">
            <a:avLst/>
          </a:prstGeom>
        </p:spPr>
        <p:txBody>
          <a:bodyPr wrap="square">
            <a:spAutoFit/>
          </a:bodyPr>
          <a:lstStyle/>
          <a:p>
            <a:r>
              <a:rPr lang="en-US" sz="1000" dirty="0"/>
              <a:t>© Jones &amp; Bartlett Learning. Courtesy of MIEMSS. </a:t>
            </a:r>
          </a:p>
        </p:txBody>
      </p:sp>
      <p:pic>
        <p:nvPicPr>
          <p:cNvPr id="1026" name="Picture 2" descr="The photo shows an emergency responder wearing a face shield and leather gloves standing by the shattered glass window of a car that he has broken by striking the glass with a tool. &#10;" title="A photo shows Step 2 of the process of accessing the vehicle through the wind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7938" y="1997234"/>
            <a:ext cx="4419600" cy="286353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The photo shows the hand of an emergency responder with thick leather gloves placing the tip of a pointed tool on the window pane of a car.&#10;" title="A photo shows Step 1 of the process of accessing the vehicle through the wind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192" y="1997234"/>
            <a:ext cx="4419600" cy="2863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12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700" b="0" dirty="0" smtClean="0"/>
              <a:t>Skill Drill 20-1 </a:t>
            </a:r>
            <a:r>
              <a:rPr lang="en-US" sz="2700" dirty="0"/>
              <a:t>Accessing the Vehicle Through the Window</a:t>
            </a:r>
            <a:r>
              <a:rPr lang="en-US" sz="2700" dirty="0" smtClean="0"/>
              <a:t> </a:t>
            </a:r>
            <a:r>
              <a:rPr lang="en-US" sz="2700" b="0" dirty="0" smtClean="0"/>
              <a:t>(2-2)</a:t>
            </a:r>
            <a:endParaRPr lang="en-US" sz="2700" b="0" dirty="0"/>
          </a:p>
        </p:txBody>
      </p:sp>
      <p:sp>
        <p:nvSpPr>
          <p:cNvPr id="11" name="Rectangle 10"/>
          <p:cNvSpPr/>
          <p:nvPr/>
        </p:nvSpPr>
        <p:spPr>
          <a:xfrm>
            <a:off x="952500" y="4876800"/>
            <a:ext cx="4737100" cy="923330"/>
          </a:xfrm>
          <a:prstGeom prst="rect">
            <a:avLst/>
          </a:prstGeom>
        </p:spPr>
        <p:txBody>
          <a:bodyPr wrap="square">
            <a:spAutoFit/>
          </a:bodyPr>
          <a:lstStyle/>
          <a:p>
            <a:r>
              <a:rPr lang="en-US" b="1" dirty="0" smtClean="0"/>
              <a:t>Step 3 </a:t>
            </a:r>
            <a:r>
              <a:rPr lang="en-US" dirty="0"/>
              <a:t>With gloved hands, remove the broken glass to the outside of the vehicle.</a:t>
            </a:r>
          </a:p>
          <a:p>
            <a:endParaRPr lang="en-US" dirty="0"/>
          </a:p>
        </p:txBody>
      </p:sp>
      <p:sp>
        <p:nvSpPr>
          <p:cNvPr id="12" name="Rectangle 11"/>
          <p:cNvSpPr/>
          <p:nvPr/>
        </p:nvSpPr>
        <p:spPr>
          <a:xfrm>
            <a:off x="992292" y="5549900"/>
            <a:ext cx="2919308" cy="254000"/>
          </a:xfrm>
          <a:prstGeom prst="rect">
            <a:avLst/>
          </a:prstGeom>
        </p:spPr>
        <p:txBody>
          <a:bodyPr wrap="square">
            <a:spAutoFit/>
          </a:bodyPr>
          <a:lstStyle/>
          <a:p>
            <a:r>
              <a:rPr lang="en-US" sz="1000" dirty="0"/>
              <a:t>© Jones &amp; Bartlett Learning. Courtesy of MIEMSS. </a:t>
            </a:r>
          </a:p>
        </p:txBody>
      </p:sp>
      <p:sp>
        <p:nvSpPr>
          <p:cNvPr id="9" name="Rectangle 8"/>
          <p:cNvSpPr/>
          <p:nvPr/>
        </p:nvSpPr>
        <p:spPr>
          <a:xfrm>
            <a:off x="6464300" y="4838700"/>
            <a:ext cx="4737100" cy="646331"/>
          </a:xfrm>
          <a:prstGeom prst="rect">
            <a:avLst/>
          </a:prstGeom>
        </p:spPr>
        <p:txBody>
          <a:bodyPr wrap="square">
            <a:spAutoFit/>
          </a:bodyPr>
          <a:lstStyle/>
          <a:p>
            <a:r>
              <a:rPr lang="en-US" b="1" dirty="0" smtClean="0"/>
              <a:t>Step 4 </a:t>
            </a:r>
            <a:r>
              <a:rPr lang="en-US" dirty="0"/>
              <a:t>Enter the vehicle through the window.</a:t>
            </a:r>
          </a:p>
          <a:p>
            <a:endParaRPr lang="en-US" dirty="0"/>
          </a:p>
        </p:txBody>
      </p:sp>
      <p:sp>
        <p:nvSpPr>
          <p:cNvPr id="10" name="Rectangle 9"/>
          <p:cNvSpPr/>
          <p:nvPr/>
        </p:nvSpPr>
        <p:spPr>
          <a:xfrm>
            <a:off x="6478692" y="5219700"/>
            <a:ext cx="2919308" cy="254000"/>
          </a:xfrm>
          <a:prstGeom prst="rect">
            <a:avLst/>
          </a:prstGeom>
        </p:spPr>
        <p:txBody>
          <a:bodyPr wrap="square">
            <a:spAutoFit/>
          </a:bodyPr>
          <a:lstStyle/>
          <a:p>
            <a:r>
              <a:rPr lang="en-US" sz="1000" dirty="0"/>
              <a:t>© Jones &amp; Bartlett Learning. Courtesy of MIEMSS. </a:t>
            </a:r>
          </a:p>
        </p:txBody>
      </p:sp>
      <p:pic>
        <p:nvPicPr>
          <p:cNvPr id="2050" name="Picture 2" descr="The photo shows an emergency responder wearing a helmet with a face shield and leather gloves removing the broken glass of a car window with his gloved hands.&#10;" title="A photo shows Step 3 of the process of accessing the vehicle through the wind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92" y="1911532"/>
            <a:ext cx="4517816" cy="292716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The photo shows an emergency responder wearing a helmet with a face shield and leather gloves leaning into the window of a car where the glass has been broken and removed.&#10;" title="A photo shows Step 4 of the process of accessing the vehicle through the wind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8692" y="1987732"/>
            <a:ext cx="4343400" cy="2814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539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20-2 </a:t>
            </a:r>
            <a:r>
              <a:rPr lang="en-US" sz="2800" dirty="0"/>
              <a:t>Airway Management in a Vehicle</a:t>
            </a:r>
            <a:endParaRPr lang="en-US" sz="2800" b="0" dirty="0"/>
          </a:p>
        </p:txBody>
      </p:sp>
      <p:sp>
        <p:nvSpPr>
          <p:cNvPr id="11" name="Rectangle 10"/>
          <p:cNvSpPr/>
          <p:nvPr/>
        </p:nvSpPr>
        <p:spPr>
          <a:xfrm>
            <a:off x="952500" y="4876800"/>
            <a:ext cx="4965700" cy="923330"/>
          </a:xfrm>
          <a:prstGeom prst="rect">
            <a:avLst/>
          </a:prstGeom>
        </p:spPr>
        <p:txBody>
          <a:bodyPr wrap="square">
            <a:spAutoFit/>
          </a:bodyPr>
          <a:lstStyle/>
          <a:p>
            <a:r>
              <a:rPr lang="en-US" b="1" dirty="0" smtClean="0"/>
              <a:t>Step 1 </a:t>
            </a:r>
            <a:r>
              <a:rPr lang="en-US" dirty="0"/>
              <a:t>Place one hand under the patient’s chin and your other hand on the back of the patient’s head.</a:t>
            </a:r>
          </a:p>
          <a:p>
            <a:endParaRPr lang="en-US" dirty="0"/>
          </a:p>
        </p:txBody>
      </p:sp>
      <p:sp>
        <p:nvSpPr>
          <p:cNvPr id="12" name="Rectangle 11"/>
          <p:cNvSpPr/>
          <p:nvPr/>
        </p:nvSpPr>
        <p:spPr>
          <a:xfrm>
            <a:off x="992292" y="5549900"/>
            <a:ext cx="2919308" cy="254000"/>
          </a:xfrm>
          <a:prstGeom prst="rect">
            <a:avLst/>
          </a:prstGeom>
        </p:spPr>
        <p:txBody>
          <a:bodyPr wrap="square">
            <a:spAutoFit/>
          </a:bodyPr>
          <a:lstStyle/>
          <a:p>
            <a:r>
              <a:rPr lang="en-US" sz="1000" dirty="0"/>
              <a:t>© Jones &amp; Bartlett Learning. Courtesy of MIEMSS. </a:t>
            </a:r>
          </a:p>
        </p:txBody>
      </p:sp>
      <p:sp>
        <p:nvSpPr>
          <p:cNvPr id="9" name="Rectangle 8"/>
          <p:cNvSpPr/>
          <p:nvPr/>
        </p:nvSpPr>
        <p:spPr>
          <a:xfrm>
            <a:off x="6464300" y="4838700"/>
            <a:ext cx="4965700" cy="923330"/>
          </a:xfrm>
          <a:prstGeom prst="rect">
            <a:avLst/>
          </a:prstGeom>
        </p:spPr>
        <p:txBody>
          <a:bodyPr wrap="square">
            <a:spAutoFit/>
          </a:bodyPr>
          <a:lstStyle/>
          <a:p>
            <a:r>
              <a:rPr lang="en-US" b="1" dirty="0" smtClean="0"/>
              <a:t>Step 2 </a:t>
            </a:r>
            <a:r>
              <a:rPr lang="en-US" dirty="0"/>
              <a:t>Raise the patient’s head to a neutral position to open the airway.</a:t>
            </a:r>
          </a:p>
          <a:p>
            <a:endParaRPr lang="en-US" dirty="0"/>
          </a:p>
        </p:txBody>
      </p:sp>
      <p:sp>
        <p:nvSpPr>
          <p:cNvPr id="10" name="Rectangle 9"/>
          <p:cNvSpPr/>
          <p:nvPr/>
        </p:nvSpPr>
        <p:spPr>
          <a:xfrm>
            <a:off x="6478692" y="5473700"/>
            <a:ext cx="2919308" cy="254000"/>
          </a:xfrm>
          <a:prstGeom prst="rect">
            <a:avLst/>
          </a:prstGeom>
        </p:spPr>
        <p:txBody>
          <a:bodyPr wrap="square">
            <a:spAutoFit/>
          </a:bodyPr>
          <a:lstStyle/>
          <a:p>
            <a:r>
              <a:rPr lang="en-US" sz="1000" dirty="0"/>
              <a:t>© Jones &amp; Bartlett Learning. Courtesy of MIEMSS. </a:t>
            </a:r>
          </a:p>
        </p:txBody>
      </p:sp>
      <p:pic>
        <p:nvPicPr>
          <p:cNvPr id="3074" name="Picture 2" descr="In the photo, an emergency responder's hands can be seen holding the face of a man sitting inside a car. With his hands still under the man's jaw and on the back of his head, the responder lifts up his head so that it is at a neutral position again.&#10;" title="A photo shows Step 2 of the process of airway management in a vehic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4300" y="1690450"/>
            <a:ext cx="4457700" cy="314825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In the photo, an emergency responder's hands can be seen holding the face of a man sitting inside a car. The man's head is slumped and the responder has one hand under his jaw and the other on the lower back part of his head. &#10;" title="A photo shows Step 1 of the process of airway management in a vehic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292" y="1690450"/>
            <a:ext cx="4457700" cy="314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57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20-3 </a:t>
            </a:r>
            <a:r>
              <a:rPr lang="en-US" sz="2800" dirty="0"/>
              <a:t>Turning a Patient in the Water</a:t>
            </a:r>
            <a:endParaRPr lang="en-US" sz="2800" b="0" dirty="0"/>
          </a:p>
        </p:txBody>
      </p:sp>
      <p:sp>
        <p:nvSpPr>
          <p:cNvPr id="11" name="Rectangle 10"/>
          <p:cNvSpPr/>
          <p:nvPr/>
        </p:nvSpPr>
        <p:spPr>
          <a:xfrm>
            <a:off x="546100" y="4806950"/>
            <a:ext cx="3733800" cy="1323439"/>
          </a:xfrm>
          <a:prstGeom prst="rect">
            <a:avLst/>
          </a:prstGeom>
        </p:spPr>
        <p:txBody>
          <a:bodyPr wrap="square">
            <a:spAutoFit/>
          </a:bodyPr>
          <a:lstStyle/>
          <a:p>
            <a:r>
              <a:rPr lang="en-US" sz="1600" b="1" dirty="0" smtClean="0"/>
              <a:t>Step 1 </a:t>
            </a:r>
            <a:r>
              <a:rPr lang="en-US" sz="1600" dirty="0"/>
              <a:t>Support the back and head with one hand. Place your other hand on the front of the patient to keep the head and neck stabilized.</a:t>
            </a:r>
          </a:p>
          <a:p>
            <a:endParaRPr lang="en-US" sz="1600" dirty="0"/>
          </a:p>
        </p:txBody>
      </p:sp>
      <p:sp>
        <p:nvSpPr>
          <p:cNvPr id="12" name="Rectangle 11"/>
          <p:cNvSpPr/>
          <p:nvPr/>
        </p:nvSpPr>
        <p:spPr>
          <a:xfrm>
            <a:off x="535092" y="5886450"/>
            <a:ext cx="2919308" cy="254000"/>
          </a:xfrm>
          <a:prstGeom prst="rect">
            <a:avLst/>
          </a:prstGeom>
        </p:spPr>
        <p:txBody>
          <a:bodyPr wrap="square">
            <a:spAutoFit/>
          </a:bodyPr>
          <a:lstStyle/>
          <a:p>
            <a:r>
              <a:rPr lang="en-US" sz="1000" dirty="0"/>
              <a:t>© Jones &amp; Bartlett </a:t>
            </a:r>
            <a:r>
              <a:rPr lang="en-US" sz="1000" dirty="0" smtClean="0"/>
              <a:t>Learning.</a:t>
            </a:r>
            <a:endParaRPr lang="en-US" sz="1000" dirty="0"/>
          </a:p>
        </p:txBody>
      </p:sp>
      <p:sp>
        <p:nvSpPr>
          <p:cNvPr id="9" name="Rectangle 8"/>
          <p:cNvSpPr/>
          <p:nvPr/>
        </p:nvSpPr>
        <p:spPr>
          <a:xfrm>
            <a:off x="4686300" y="4730750"/>
            <a:ext cx="3352800" cy="1200329"/>
          </a:xfrm>
          <a:prstGeom prst="rect">
            <a:avLst/>
          </a:prstGeom>
        </p:spPr>
        <p:txBody>
          <a:bodyPr wrap="square">
            <a:spAutoFit/>
          </a:bodyPr>
          <a:lstStyle/>
          <a:p>
            <a:r>
              <a:rPr lang="en-US" b="1" dirty="0" smtClean="0"/>
              <a:t>Step 2 </a:t>
            </a:r>
            <a:r>
              <a:rPr lang="en-US" dirty="0"/>
              <a:t>Keep the head in the neutral position and carefully turn the patient as a unit.</a:t>
            </a:r>
          </a:p>
          <a:p>
            <a:endParaRPr lang="en-US" dirty="0"/>
          </a:p>
        </p:txBody>
      </p:sp>
      <p:sp>
        <p:nvSpPr>
          <p:cNvPr id="10" name="Rectangle 9"/>
          <p:cNvSpPr/>
          <p:nvPr/>
        </p:nvSpPr>
        <p:spPr>
          <a:xfrm>
            <a:off x="4675292" y="5657850"/>
            <a:ext cx="2919308" cy="254000"/>
          </a:xfrm>
          <a:prstGeom prst="rect">
            <a:avLst/>
          </a:prstGeom>
        </p:spPr>
        <p:txBody>
          <a:bodyPr wrap="square">
            <a:spAutoFit/>
          </a:bodyPr>
          <a:lstStyle/>
          <a:p>
            <a:r>
              <a:rPr lang="en-US" sz="1000" dirty="0"/>
              <a:t>© Jones &amp; Bartlett </a:t>
            </a:r>
            <a:r>
              <a:rPr lang="en-US" sz="1000" dirty="0" smtClean="0"/>
              <a:t>Learning.</a:t>
            </a:r>
            <a:endParaRPr lang="en-US" sz="1000" dirty="0"/>
          </a:p>
        </p:txBody>
      </p:sp>
      <p:sp>
        <p:nvSpPr>
          <p:cNvPr id="7" name="Rectangle 6"/>
          <p:cNvSpPr/>
          <p:nvPr/>
        </p:nvSpPr>
        <p:spPr>
          <a:xfrm>
            <a:off x="8153400" y="4826000"/>
            <a:ext cx="3352800" cy="923330"/>
          </a:xfrm>
          <a:prstGeom prst="rect">
            <a:avLst/>
          </a:prstGeom>
        </p:spPr>
        <p:txBody>
          <a:bodyPr wrap="square">
            <a:spAutoFit/>
          </a:bodyPr>
          <a:lstStyle/>
          <a:p>
            <a:r>
              <a:rPr lang="en-US" b="1" dirty="0" smtClean="0"/>
              <a:t>Step 3 </a:t>
            </a:r>
            <a:r>
              <a:rPr lang="en-US" dirty="0"/>
              <a:t>Stabilize the patient’s head and neck.</a:t>
            </a:r>
          </a:p>
          <a:p>
            <a:endParaRPr lang="en-US" dirty="0"/>
          </a:p>
        </p:txBody>
      </p:sp>
      <p:sp>
        <p:nvSpPr>
          <p:cNvPr id="8" name="Rectangle 7"/>
          <p:cNvSpPr/>
          <p:nvPr/>
        </p:nvSpPr>
        <p:spPr>
          <a:xfrm>
            <a:off x="8155092" y="5461000"/>
            <a:ext cx="2919308" cy="254000"/>
          </a:xfrm>
          <a:prstGeom prst="rect">
            <a:avLst/>
          </a:prstGeom>
        </p:spPr>
        <p:txBody>
          <a:bodyPr wrap="square">
            <a:spAutoFit/>
          </a:bodyPr>
          <a:lstStyle/>
          <a:p>
            <a:r>
              <a:rPr lang="en-US" sz="1000" dirty="0"/>
              <a:t>© Jones &amp; Bartlett Learning</a:t>
            </a:r>
            <a:r>
              <a:rPr lang="en-US" sz="1000" dirty="0" smtClean="0"/>
              <a:t>.</a:t>
            </a:r>
            <a:endParaRPr lang="en-US" sz="1000" dirty="0"/>
          </a:p>
        </p:txBody>
      </p:sp>
      <p:pic>
        <p:nvPicPr>
          <p:cNvPr id="4098" name="Picture 2" descr="The illustration shows a rescuer standing in chest-deep water and supporting a patient who is floating face-upward in the water in front of him. The rescuer supports the back of the patient's head with one hand and the front of the chest with the other.&#10;" title="An illustration shows Step 3 of the process of turning a patient in the wa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2692" y="2203868"/>
            <a:ext cx="3352800" cy="2450682"/>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The illustration shows a rescuer standing in chest-deep water and grasping a patient who is slumped face-down in the water in front of him. The rescuer supports the back of the patient's head with one hand and the front of the chest with the other. An arrow indicates that the patient is to be turned clockwise.&#10;" title="An illustration shows Step 1 of the process of turning a patient in the wa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932" y="2338952"/>
            <a:ext cx="3190068" cy="237143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he illustration shows a rescuer standing in chest-deep water and grasping a patient who is slumped in the water in front of him. The rescuer supports the back of the patient's head with one hand and the front of the chest with the other as he turns the patient to his side (clockwise) in the water.&#10;" title="An illustration shows Step 2 of the process of turning a patient in the wa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2394" y="2125255"/>
            <a:ext cx="3249506" cy="2485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6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16x9</Template>
  <TotalTime>810</TotalTime>
  <Words>283</Words>
  <Application>Microsoft Office PowerPoint</Application>
  <PresentationFormat>Widescreen</PresentationFormat>
  <Paragraphs>25</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ＭＳ Ｐゴシック</vt:lpstr>
      <vt:lpstr>Arial</vt:lpstr>
      <vt:lpstr>Calibri</vt:lpstr>
      <vt:lpstr>Wingdings</vt:lpstr>
      <vt:lpstr>Educational subjects 16x9</vt:lpstr>
      <vt:lpstr>Vehicle Extrication and Special Rescue</vt:lpstr>
      <vt:lpstr>Skill Drill 20-1 Accessing the Vehicle Through the Window (1-2)</vt:lpstr>
      <vt:lpstr>Skill Drill 20-1 Accessing the Vehicle Through the Window (2-2)</vt:lpstr>
      <vt:lpstr>Skill Drill 20-2 Airway Management in a Vehicle</vt:lpstr>
      <vt:lpstr>Skill Drill 20-3 Turning a Patient in the Water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Bob Elling</dc:creator>
  <cp:lastModifiedBy>Ravi Shankar Jayavel</cp:lastModifiedBy>
  <cp:revision>141</cp:revision>
  <dcterms:created xsi:type="dcterms:W3CDTF">2020-07-20T18:35:12Z</dcterms:created>
  <dcterms:modified xsi:type="dcterms:W3CDTF">2020-11-30T10:10:53Z</dcterms:modified>
</cp:coreProperties>
</file>