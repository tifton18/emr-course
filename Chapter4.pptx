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8" r:id="rId2"/>
    <p:sldId id="257" r:id="rId3"/>
    <p:sldId id="271" r:id="rId4"/>
    <p:sldId id="272" r:id="rId5"/>
    <p:sldId id="273" r:id="rId6"/>
    <p:sldId id="275" r:id="rId7"/>
    <p:sldId id="264" r:id="rId8"/>
    <p:sldId id="26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2" r:id="rId35"/>
    <p:sldId id="303" r:id="rId36"/>
    <p:sldId id="304" r:id="rId37"/>
    <p:sldId id="305" r:id="rId38"/>
    <p:sldId id="306" r:id="rId39"/>
    <p:sldId id="307" r:id="rId40"/>
    <p:sldId id="308" r:id="rId41"/>
    <p:sldId id="309" r:id="rId42"/>
    <p:sldId id="31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E39714-0B39-42A3-8C58-25928D773750}" v="8" dt="2020-08-10T16:58:32.33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3129"/>
  </p:normalViewPr>
  <p:slideViewPr>
    <p:cSldViewPr snapToGrid="0">
      <p:cViewPr>
        <p:scale>
          <a:sx n="100" d="100"/>
          <a:sy n="100" d="100"/>
        </p:scale>
        <p:origin x="1864" y="280"/>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8DE39714-0B39-42A3-8C58-25928D773750}"/>
    <pc:docChg chg="modSld modMainMaster">
      <pc:chgData name="Paula-Yuan Gregory" userId="8839d734-a022-4f7a-aa1a-7ded42ea4e8b" providerId="ADAL" clId="{8DE39714-0B39-42A3-8C58-25928D773750}" dt="2020-08-10T16:58:37.218" v="63" actId="1076"/>
      <pc:docMkLst>
        <pc:docMk/>
      </pc:docMkLst>
      <pc:sldChg chg="addSp delSp modSp">
        <pc:chgData name="Paula-Yuan Gregory" userId="8839d734-a022-4f7a-aa1a-7ded42ea4e8b" providerId="ADAL" clId="{8DE39714-0B39-42A3-8C58-25928D773750}" dt="2020-08-10T16:56:59.107" v="21" actId="1076"/>
        <pc:sldMkLst>
          <pc:docMk/>
          <pc:sldMk cId="4251014142" sldId="273"/>
        </pc:sldMkLst>
        <pc:spChg chg="add mod">
          <ac:chgData name="Paula-Yuan Gregory" userId="8839d734-a022-4f7a-aa1a-7ded42ea4e8b" providerId="ADAL" clId="{8DE39714-0B39-42A3-8C58-25928D773750}" dt="2020-08-10T16:56:59.107" v="21" actId="1076"/>
          <ac:spMkLst>
            <pc:docMk/>
            <pc:sldMk cId="4251014142" sldId="273"/>
            <ac:spMk id="6" creationId="{AFA6017C-47FF-4F32-95FF-EE340E43139A}"/>
          </ac:spMkLst>
        </pc:spChg>
        <pc:picChg chg="del">
          <ac:chgData name="Paula-Yuan Gregory" userId="8839d734-a022-4f7a-aa1a-7ded42ea4e8b" providerId="ADAL" clId="{8DE39714-0B39-42A3-8C58-25928D773750}" dt="2020-08-10T16:56:54.019" v="8" actId="478"/>
          <ac:picMkLst>
            <pc:docMk/>
            <pc:sldMk cId="4251014142" sldId="273"/>
            <ac:picMk id="4" creationId="{F305D177-D9D9-0043-BF22-148D07E6ACD5}"/>
          </ac:picMkLst>
        </pc:picChg>
      </pc:sldChg>
      <pc:sldChg chg="addSp delSp modSp">
        <pc:chgData name="Paula-Yuan Gregory" userId="8839d734-a022-4f7a-aa1a-7ded42ea4e8b" providerId="ADAL" clId="{8DE39714-0B39-42A3-8C58-25928D773750}" dt="2020-08-10T16:57:18.646" v="35" actId="1076"/>
        <pc:sldMkLst>
          <pc:docMk/>
          <pc:sldMk cId="4075014377" sldId="279"/>
        </pc:sldMkLst>
        <pc:spChg chg="add mod">
          <ac:chgData name="Paula-Yuan Gregory" userId="8839d734-a022-4f7a-aa1a-7ded42ea4e8b" providerId="ADAL" clId="{8DE39714-0B39-42A3-8C58-25928D773750}" dt="2020-08-10T16:57:18.646" v="35" actId="1076"/>
          <ac:spMkLst>
            <pc:docMk/>
            <pc:sldMk cId="4075014377" sldId="279"/>
            <ac:spMk id="6" creationId="{AFA6017C-47FF-4F32-95FF-EE340E43139A}"/>
          </ac:spMkLst>
        </pc:spChg>
        <pc:picChg chg="del">
          <ac:chgData name="Paula-Yuan Gregory" userId="8839d734-a022-4f7a-aa1a-7ded42ea4e8b" providerId="ADAL" clId="{8DE39714-0B39-42A3-8C58-25928D773750}" dt="2020-08-10T16:57:11.155" v="22" actId="478"/>
          <ac:picMkLst>
            <pc:docMk/>
            <pc:sldMk cId="4075014377" sldId="279"/>
            <ac:picMk id="29699" creationId="{572BC0E9-C69B-FE41-9AAA-DC202A437D4A}"/>
          </ac:picMkLst>
        </pc:picChg>
      </pc:sldChg>
      <pc:sldChg chg="addSp delSp modSp">
        <pc:chgData name="Paula-Yuan Gregory" userId="8839d734-a022-4f7a-aa1a-7ded42ea4e8b" providerId="ADAL" clId="{8DE39714-0B39-42A3-8C58-25928D773750}" dt="2020-08-10T16:57:43.790" v="49" actId="1076"/>
        <pc:sldMkLst>
          <pc:docMk/>
          <pc:sldMk cId="4229660965" sldId="288"/>
        </pc:sldMkLst>
        <pc:spChg chg="add mod">
          <ac:chgData name="Paula-Yuan Gregory" userId="8839d734-a022-4f7a-aa1a-7ded42ea4e8b" providerId="ADAL" clId="{8DE39714-0B39-42A3-8C58-25928D773750}" dt="2020-08-10T16:57:43.790" v="49" actId="1076"/>
          <ac:spMkLst>
            <pc:docMk/>
            <pc:sldMk cId="4229660965" sldId="288"/>
            <ac:spMk id="6" creationId="{AFA6017C-47FF-4F32-95FF-EE340E43139A}"/>
          </ac:spMkLst>
        </pc:spChg>
        <pc:picChg chg="del">
          <ac:chgData name="Paula-Yuan Gregory" userId="8839d734-a022-4f7a-aa1a-7ded42ea4e8b" providerId="ADAL" clId="{8DE39714-0B39-42A3-8C58-25928D773750}" dt="2020-08-10T16:57:38.451" v="36" actId="478"/>
          <ac:picMkLst>
            <pc:docMk/>
            <pc:sldMk cId="4229660965" sldId="288"/>
            <ac:picMk id="48131" creationId="{058CA357-59A2-5F40-B1CC-D66CC905E623}"/>
          </ac:picMkLst>
        </pc:picChg>
      </pc:sldChg>
      <pc:sldChg chg="addSp delSp modSp">
        <pc:chgData name="Paula-Yuan Gregory" userId="8839d734-a022-4f7a-aa1a-7ded42ea4e8b" providerId="ADAL" clId="{8DE39714-0B39-42A3-8C58-25928D773750}" dt="2020-08-10T16:58:37.218" v="63" actId="1076"/>
        <pc:sldMkLst>
          <pc:docMk/>
          <pc:sldMk cId="3436121121" sldId="298"/>
        </pc:sldMkLst>
        <pc:spChg chg="add mod">
          <ac:chgData name="Paula-Yuan Gregory" userId="8839d734-a022-4f7a-aa1a-7ded42ea4e8b" providerId="ADAL" clId="{8DE39714-0B39-42A3-8C58-25928D773750}" dt="2020-08-10T16:58:37.218" v="63" actId="1076"/>
          <ac:spMkLst>
            <pc:docMk/>
            <pc:sldMk cId="3436121121" sldId="298"/>
            <ac:spMk id="6" creationId="{AFA6017C-47FF-4F32-95FF-EE340E43139A}"/>
          </ac:spMkLst>
        </pc:spChg>
        <pc:picChg chg="del">
          <ac:chgData name="Paula-Yuan Gregory" userId="8839d734-a022-4f7a-aa1a-7ded42ea4e8b" providerId="ADAL" clId="{8DE39714-0B39-42A3-8C58-25928D773750}" dt="2020-08-10T16:58:32.020" v="50" actId="478"/>
          <ac:picMkLst>
            <pc:docMk/>
            <pc:sldMk cId="3436121121" sldId="298"/>
            <ac:picMk id="68611" creationId="{5D3D6A30-3AF5-8443-A787-72D9E2AB6053}"/>
          </ac:picMkLst>
        </pc:picChg>
      </pc:sldChg>
      <pc:sldMasterChg chg="modSp modSldLayout">
        <pc:chgData name="Paula-Yuan Gregory" userId="8839d734-a022-4f7a-aa1a-7ded42ea4e8b" providerId="ADAL" clId="{8DE39714-0B39-42A3-8C58-25928D773750}" dt="2020-07-29T16:38:49.059" v="7" actId="20577"/>
        <pc:sldMasterMkLst>
          <pc:docMk/>
          <pc:sldMasterMk cId="2871921020" sldId="2147483648"/>
        </pc:sldMasterMkLst>
        <pc:spChg chg="mod">
          <ac:chgData name="Paula-Yuan Gregory" userId="8839d734-a022-4f7a-aa1a-7ded42ea4e8b" providerId="ADAL" clId="{8DE39714-0B39-42A3-8C58-25928D773750}" dt="2020-07-29T16:38:49.059" v="7" actId="20577"/>
          <ac:spMkLst>
            <pc:docMk/>
            <pc:sldMasterMk cId="2871921020" sldId="2147483648"/>
            <ac:spMk id="7" creationId="{21F38BD8-3F75-CE4C-AFEF-0C6B45F77F8C}"/>
          </ac:spMkLst>
        </pc:spChg>
        <pc:sldLayoutChg chg="modSp">
          <pc:chgData name="Paula-Yuan Gregory" userId="8839d734-a022-4f7a-aa1a-7ded42ea4e8b" providerId="ADAL" clId="{8DE39714-0B39-42A3-8C58-25928D773750}" dt="2020-07-29T16:38:41.848" v="3" actId="20577"/>
          <pc:sldLayoutMkLst>
            <pc:docMk/>
            <pc:sldMasterMk cId="2871921020" sldId="2147483648"/>
            <pc:sldLayoutMk cId="3047549913" sldId="2147483649"/>
          </pc:sldLayoutMkLst>
          <pc:spChg chg="mod">
            <ac:chgData name="Paula-Yuan Gregory" userId="8839d734-a022-4f7a-aa1a-7ded42ea4e8b" providerId="ADAL" clId="{8DE39714-0B39-42A3-8C58-25928D773750}" dt="2020-07-29T16:38:41.848" v="3"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7D784724-E1F4-AC49-A78E-8EA2BE8409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E2CD47C0-29A3-0147-B734-6FFAFC9780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a:t>Preparatory</a:t>
            </a:r>
          </a:p>
          <a:p>
            <a:pPr eaLnBrk="1" hangingPunct="1">
              <a:spcBef>
                <a:spcPct val="0"/>
              </a:spcBef>
            </a:pPr>
            <a:r>
              <a:rPr lang="en-US" altLang="en-US"/>
              <a:t>Uses simple knowledge of the emergency medical services (EMS) system, safety/well-being of the emergency medical responder (EMR), medical/legal issues at the scene of an emergency while awaiting a higher level of care.</a:t>
            </a:r>
          </a:p>
          <a:p>
            <a:pPr eaLnBrk="1" hangingPunct="1">
              <a:spcBef>
                <a:spcPct val="0"/>
              </a:spcBef>
            </a:pPr>
            <a:endParaRPr lang="en-US" altLang="en-US"/>
          </a:p>
        </p:txBody>
      </p:sp>
      <p:sp>
        <p:nvSpPr>
          <p:cNvPr id="6147" name="Slide Number Placeholder 3">
            <a:extLst>
              <a:ext uri="{FF2B5EF4-FFF2-40B4-BE49-F238E27FC236}">
                <a16:creationId xmlns:a16="http://schemas.microsoft.com/office/drawing/2014/main" id="{E8D773F5-6D1F-354C-8DC0-7C71A4A30E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1553170A-81E5-F54D-89FD-27ACDFD549D9}" type="slidenum">
              <a:rPr lang="en-US" altLang="en-US" sz="1200"/>
              <a:pPr/>
              <a:t>2</a:t>
            </a:fld>
            <a:endParaRPr lang="en-US" altLang="en-US" sz="1200"/>
          </a:p>
        </p:txBody>
      </p:sp>
    </p:spTree>
    <p:extLst>
      <p:ext uri="{BB962C8B-B14F-4D97-AF65-F5344CB8AC3E}">
        <p14:creationId xmlns:p14="http://schemas.microsoft.com/office/powerpoint/2010/main" val="1164260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a:extLst>
              <a:ext uri="{FF2B5EF4-FFF2-40B4-BE49-F238E27FC236}">
                <a16:creationId xmlns:a16="http://schemas.microsoft.com/office/drawing/2014/main" id="{A78C855F-19B8-0A4E-A67E-7AE1072FB2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4" name="Notes Placeholder 2">
            <a:extLst>
              <a:ext uri="{FF2B5EF4-FFF2-40B4-BE49-F238E27FC236}">
                <a16:creationId xmlns:a16="http://schemas.microsoft.com/office/drawing/2014/main" id="{1649D1E3-0123-7F4A-892F-BFECD1F884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i="1" dirty="0"/>
              <a:t>Medical/Legal and Ethics</a:t>
            </a:r>
          </a:p>
          <a:p>
            <a:pPr eaLnBrk="1" hangingPunct="1">
              <a:spcBef>
                <a:spcPct val="0"/>
              </a:spcBef>
            </a:pPr>
            <a:r>
              <a:rPr lang="en-US" altLang="en-US" dirty="0"/>
              <a:t>• Consent/refusal of care (pp 63-64)</a:t>
            </a:r>
          </a:p>
          <a:p>
            <a:pPr eaLnBrk="1" hangingPunct="1">
              <a:spcBef>
                <a:spcPct val="0"/>
              </a:spcBef>
            </a:pPr>
            <a:r>
              <a:rPr lang="en-US" altLang="en-US" dirty="0"/>
              <a:t>• Confidentiality (p 67)</a:t>
            </a:r>
          </a:p>
          <a:p>
            <a:pPr eaLnBrk="1" hangingPunct="1">
              <a:spcBef>
                <a:spcPct val="0"/>
              </a:spcBef>
            </a:pPr>
            <a:r>
              <a:rPr lang="en-US" altLang="en-US" dirty="0"/>
              <a:t>• Advance directives (p 64)</a:t>
            </a:r>
          </a:p>
          <a:p>
            <a:pPr eaLnBrk="1" hangingPunct="1">
              <a:spcBef>
                <a:spcPct val="0"/>
              </a:spcBef>
            </a:pPr>
            <a:r>
              <a:rPr lang="en-US" altLang="en-US" dirty="0"/>
              <a:t>• Tort and criminal actions (p 62)</a:t>
            </a:r>
          </a:p>
          <a:p>
            <a:pPr eaLnBrk="1" hangingPunct="1">
              <a:spcBef>
                <a:spcPct val="0"/>
              </a:spcBef>
            </a:pPr>
            <a:r>
              <a:rPr lang="en-US" altLang="en-US" dirty="0"/>
              <a:t>• Evidence preservation (p 68)</a:t>
            </a:r>
          </a:p>
          <a:p>
            <a:pPr eaLnBrk="1" hangingPunct="1">
              <a:spcBef>
                <a:spcPct val="0"/>
              </a:spcBef>
            </a:pPr>
            <a:r>
              <a:rPr lang="en-US" altLang="en-US" dirty="0"/>
              <a:t>• Statutory responsibilities (pp 62-65; pp 67-69)</a:t>
            </a:r>
          </a:p>
          <a:p>
            <a:pPr marL="171450" indent="-171450" eaLnBrk="1" hangingPunct="1">
              <a:spcBef>
                <a:spcPct val="0"/>
              </a:spcBef>
              <a:buFont typeface="Arial" panose="020B0604020202020204" pitchFamily="34" charset="0"/>
              <a:buChar char="•"/>
            </a:pPr>
            <a:r>
              <a:rPr lang="en-US" altLang="en-US" dirty="0"/>
              <a:t>Mandatory reporting (pp 68-69)</a:t>
            </a:r>
          </a:p>
          <a:p>
            <a:pPr eaLnBrk="1" hangingPunct="1">
              <a:spcBef>
                <a:spcPct val="0"/>
              </a:spcBef>
            </a:pPr>
            <a:r>
              <a:rPr lang="en-US" altLang="en-US" dirty="0"/>
              <a:t>• Ethical principles/moral obligations (p 63)</a:t>
            </a:r>
          </a:p>
          <a:p>
            <a:pPr eaLnBrk="1" hangingPunct="1">
              <a:spcBef>
                <a:spcPct val="0"/>
              </a:spcBef>
            </a:pPr>
            <a:r>
              <a:rPr lang="en-US" altLang="en-US" dirty="0"/>
              <a:t>• End-of-life issues (pp 64-65)</a:t>
            </a:r>
          </a:p>
          <a:p>
            <a:pPr eaLnBrk="1" hangingPunct="1">
              <a:spcBef>
                <a:spcPct val="0"/>
              </a:spcBef>
            </a:pPr>
            <a:endParaRPr lang="en-US" altLang="en-US" dirty="0"/>
          </a:p>
          <a:p>
            <a:pPr eaLnBrk="1" hangingPunct="1">
              <a:spcBef>
                <a:spcPct val="0"/>
              </a:spcBef>
            </a:pPr>
            <a:endParaRPr lang="en-US" altLang="en-US" dirty="0"/>
          </a:p>
        </p:txBody>
      </p:sp>
      <p:sp>
        <p:nvSpPr>
          <p:cNvPr id="8195" name="Slide Number Placeholder 3">
            <a:extLst>
              <a:ext uri="{FF2B5EF4-FFF2-40B4-BE49-F238E27FC236}">
                <a16:creationId xmlns:a16="http://schemas.microsoft.com/office/drawing/2014/main" id="{BA312536-48D9-8B46-857E-847A66E1C3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4FFDCCDE-7DD8-7F44-B3CF-2392E09A7390}" type="slidenum">
              <a:rPr lang="en-US" altLang="en-US" sz="1200"/>
              <a:pPr/>
              <a:t>3</a:t>
            </a:fld>
            <a:endParaRPr lang="en-US" altLang="en-US" sz="1200"/>
          </a:p>
        </p:txBody>
      </p:sp>
    </p:spTree>
    <p:extLst>
      <p:ext uri="{BB962C8B-B14F-4D97-AF65-F5344CB8AC3E}">
        <p14:creationId xmlns:p14="http://schemas.microsoft.com/office/powerpoint/2010/main" val="3053619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a:extLst>
              <a:ext uri="{FF2B5EF4-FFF2-40B4-BE49-F238E27FC236}">
                <a16:creationId xmlns:a16="http://schemas.microsoft.com/office/drawing/2014/main" id="{DA6579F9-765F-924E-80EF-43F8C987DE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Notes Placeholder 2">
            <a:extLst>
              <a:ext uri="{FF2B5EF4-FFF2-40B4-BE49-F238E27FC236}">
                <a16:creationId xmlns:a16="http://schemas.microsoft.com/office/drawing/2014/main" id="{E9914F14-22D1-B54B-8D8A-A5E1B7D1B1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I. Introduction</a:t>
            </a:r>
          </a:p>
          <a:p>
            <a:pPr eaLnBrk="1" hangingPunct="1">
              <a:spcBef>
                <a:spcPct val="0"/>
              </a:spcBef>
            </a:pPr>
            <a:r>
              <a:rPr lang="en-US" altLang="en-US" dirty="0"/>
              <a:t>A.	EMRs need to know some basic legal principles that guide how they provide care to patients. </a:t>
            </a:r>
          </a:p>
          <a:p>
            <a:pPr eaLnBrk="1" hangingPunct="1">
              <a:spcBef>
                <a:spcPct val="0"/>
              </a:spcBef>
            </a:pPr>
            <a:r>
              <a:rPr lang="en-US" altLang="en-US" dirty="0"/>
              <a:t>B.	Knowing these principles can help EMRs provide the best possible care. </a:t>
            </a:r>
          </a:p>
          <a:p>
            <a:pPr eaLnBrk="1" hangingPunct="1">
              <a:spcBef>
                <a:spcPct val="0"/>
              </a:spcBef>
            </a:pPr>
            <a:r>
              <a:rPr lang="en-US" altLang="en-US" dirty="0"/>
              <a:t>C.	Laws differ from one location to another, so EMRs should learn the specific laws of their state and local jurisdiction. </a:t>
            </a:r>
          </a:p>
          <a:p>
            <a:pPr eaLnBrk="1" hangingPunct="1">
              <a:spcBef>
                <a:spcPct val="0"/>
              </a:spcBef>
            </a:pPr>
            <a:r>
              <a:rPr lang="en-US" altLang="en-US" dirty="0"/>
              <a:t>D.	Do not lose sight of the following concepts when providing patient care:</a:t>
            </a:r>
          </a:p>
          <a:p>
            <a:pPr eaLnBrk="1" hangingPunct="1">
              <a:spcBef>
                <a:spcPct val="0"/>
              </a:spcBef>
            </a:pPr>
            <a:r>
              <a:rPr lang="en-US" altLang="en-US" dirty="0"/>
              <a:t>	1.	Above all else, do no harm.</a:t>
            </a:r>
          </a:p>
          <a:p>
            <a:pPr eaLnBrk="1" hangingPunct="1">
              <a:spcBef>
                <a:spcPct val="0"/>
              </a:spcBef>
            </a:pPr>
            <a:r>
              <a:rPr lang="en-US" altLang="en-US" dirty="0"/>
              <a:t>	2.	Provide all your care in good faith, keeping the patient’s best interest uppermost in your mind.</a:t>
            </a:r>
            <a:endParaRPr lang="en-US" altLang="en-US" b="1" dirty="0"/>
          </a:p>
          <a:p>
            <a:pPr eaLnBrk="1" hangingPunct="1">
              <a:spcBef>
                <a:spcPct val="0"/>
              </a:spcBef>
            </a:pPr>
            <a:r>
              <a:rPr lang="en-US" altLang="en-US" dirty="0"/>
              <a:t>	3.	Provide proper consistent care, be compassionate, and maintain your composure.</a:t>
            </a:r>
            <a:endParaRPr lang="en-US" altLang="en-US" b="1" dirty="0"/>
          </a:p>
          <a:p>
            <a:pPr eaLnBrk="1" hangingPunct="1">
              <a:spcBef>
                <a:spcPct val="0"/>
              </a:spcBef>
            </a:pPr>
            <a:endParaRPr lang="en-US" altLang="en-US" dirty="0"/>
          </a:p>
        </p:txBody>
      </p:sp>
      <p:sp>
        <p:nvSpPr>
          <p:cNvPr id="12291" name="Slide Number Placeholder 3">
            <a:extLst>
              <a:ext uri="{FF2B5EF4-FFF2-40B4-BE49-F238E27FC236}">
                <a16:creationId xmlns:a16="http://schemas.microsoft.com/office/drawing/2014/main" id="{4864495D-92EA-AB49-B5B2-DE688E6985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57071C6C-E545-9E47-BF5D-DA145A423CC9}" type="slidenum">
              <a:rPr lang="en-US" altLang="en-US" sz="1200"/>
              <a:pPr/>
              <a:t>4</a:t>
            </a:fld>
            <a:endParaRPr lang="en-US" altLang="en-US" sz="1200"/>
          </a:p>
        </p:txBody>
      </p:sp>
    </p:spTree>
    <p:extLst>
      <p:ext uri="{BB962C8B-B14F-4D97-AF65-F5344CB8AC3E}">
        <p14:creationId xmlns:p14="http://schemas.microsoft.com/office/powerpoint/2010/main" val="3786682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a:extLst>
              <a:ext uri="{FF2B5EF4-FFF2-40B4-BE49-F238E27FC236}">
                <a16:creationId xmlns:a16="http://schemas.microsoft.com/office/drawing/2014/main" id="{0D95198C-58AF-9F4F-B164-AF308A83C5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Notes Placeholder 2">
            <a:extLst>
              <a:ext uri="{FF2B5EF4-FFF2-40B4-BE49-F238E27FC236}">
                <a16:creationId xmlns:a16="http://schemas.microsoft.com/office/drawing/2014/main" id="{FC2FA2D0-2D91-2149-968C-DEEB1979AA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II. Duty to Act</a:t>
            </a:r>
          </a:p>
          <a:p>
            <a:pPr eaLnBrk="1" hangingPunct="1">
              <a:spcBef>
                <a:spcPct val="0"/>
              </a:spcBef>
            </a:pPr>
            <a:r>
              <a:rPr lang="en-US" altLang="en-US" dirty="0"/>
              <a:t>A. If you are employed by an agency that has designated you as an EMR and you are dispatched to the scene of an accident or illness, you have a duty to act.</a:t>
            </a:r>
          </a:p>
          <a:p>
            <a:pPr eaLnBrk="1" hangingPunct="1">
              <a:spcBef>
                <a:spcPct val="0"/>
              </a:spcBef>
            </a:pPr>
            <a:r>
              <a:rPr lang="en-US" altLang="en-US" dirty="0"/>
              <a:t>	1.	You must proceed quickly to the scene and provide emergency medical care within the limits of your training and available equipment.</a:t>
            </a:r>
            <a:endParaRPr lang="en-US" altLang="en-US" b="1" dirty="0"/>
          </a:p>
          <a:p>
            <a:pPr eaLnBrk="1" hangingPunct="1">
              <a:spcBef>
                <a:spcPct val="0"/>
              </a:spcBef>
            </a:pPr>
            <a:r>
              <a:rPr lang="en-US" altLang="en-US" dirty="0"/>
              <a:t>B.       Failure to respond or render necessary emergency care leaves you and your agency vulnerable to legal action.</a:t>
            </a:r>
          </a:p>
          <a:p>
            <a:pPr eaLnBrk="1" hangingPunct="1">
              <a:spcBef>
                <a:spcPct val="0"/>
              </a:spcBef>
            </a:pPr>
            <a:endParaRPr lang="en-US" altLang="en-US" dirty="0"/>
          </a:p>
          <a:p>
            <a:pPr eaLnBrk="1" hangingPunct="1">
              <a:spcBef>
                <a:spcPct val="0"/>
              </a:spcBef>
            </a:pPr>
            <a:r>
              <a:rPr lang="en-US" altLang="en-US" dirty="0"/>
              <a:t>Figure: EMRs dispatched to an emergency scene.</a:t>
            </a:r>
          </a:p>
          <a:p>
            <a:pPr eaLnBrk="1" hangingPunct="1">
              <a:spcBef>
                <a:spcPct val="0"/>
              </a:spcBef>
            </a:pPr>
            <a:endParaRPr lang="en-US" altLang="en-US" dirty="0"/>
          </a:p>
        </p:txBody>
      </p:sp>
      <p:sp>
        <p:nvSpPr>
          <p:cNvPr id="14339" name="Slide Number Placeholder 3">
            <a:extLst>
              <a:ext uri="{FF2B5EF4-FFF2-40B4-BE49-F238E27FC236}">
                <a16:creationId xmlns:a16="http://schemas.microsoft.com/office/drawing/2014/main" id="{34724D0F-9C02-924B-B35A-6F5AA1C0F6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E5656FD4-F31E-1A44-87C9-C6D7136B7687}" type="slidenum">
              <a:rPr lang="en-US" altLang="en-US" sz="1200"/>
              <a:pPr/>
              <a:t>5</a:t>
            </a:fld>
            <a:endParaRPr lang="en-US" altLang="en-US" sz="1200"/>
          </a:p>
        </p:txBody>
      </p:sp>
    </p:spTree>
    <p:extLst>
      <p:ext uri="{BB962C8B-B14F-4D97-AF65-F5344CB8AC3E}">
        <p14:creationId xmlns:p14="http://schemas.microsoft.com/office/powerpoint/2010/main" val="704812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F66B5F49-22AA-1947-A90C-B903A4D5E4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Notes Placeholder 2">
            <a:extLst>
              <a:ext uri="{FF2B5EF4-FFF2-40B4-BE49-F238E27FC236}">
                <a16:creationId xmlns:a16="http://schemas.microsoft.com/office/drawing/2014/main" id="{C9D33E7C-EFBA-5B48-8E54-8C2256AC51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III. Standard of Care</a:t>
            </a:r>
          </a:p>
          <a:p>
            <a:pPr eaLnBrk="1" hangingPunct="1">
              <a:spcBef>
                <a:spcPct val="0"/>
              </a:spcBef>
            </a:pPr>
            <a:r>
              <a:rPr lang="en-US" altLang="en-US" dirty="0"/>
              <a:t>A.	As a trained EMR, you are expected to use your knowledge and skills to the best of your ability under the circumstances.</a:t>
            </a:r>
          </a:p>
          <a:p>
            <a:pPr eaLnBrk="1" hangingPunct="1">
              <a:spcBef>
                <a:spcPct val="0"/>
              </a:spcBef>
            </a:pPr>
            <a:r>
              <a:rPr lang="en-US" altLang="en-US" dirty="0"/>
              <a:t>	1.	The standard of care is the manner in which you must act or behave.</a:t>
            </a:r>
          </a:p>
          <a:p>
            <a:pPr eaLnBrk="1" hangingPunct="1">
              <a:spcBef>
                <a:spcPct val="0"/>
              </a:spcBef>
            </a:pPr>
            <a:r>
              <a:rPr lang="en-US" altLang="en-US" dirty="0"/>
              <a:t>	2.	To comply with standard of care, you </a:t>
            </a:r>
            <a:r>
              <a:rPr lang="en-US" altLang="en-US" b="1" i="1" dirty="0"/>
              <a:t>must </a:t>
            </a:r>
            <a:r>
              <a:rPr lang="en-US" altLang="en-US" dirty="0"/>
              <a:t>meet two criteria:</a:t>
            </a:r>
          </a:p>
          <a:p>
            <a:pPr eaLnBrk="1" hangingPunct="1">
              <a:spcBef>
                <a:spcPct val="0"/>
              </a:spcBef>
            </a:pPr>
            <a:r>
              <a:rPr lang="en-US" altLang="en-US" dirty="0"/>
              <a:t>		a.	Treat the patient to the best of your ability.</a:t>
            </a:r>
          </a:p>
          <a:p>
            <a:pPr eaLnBrk="1" hangingPunct="1">
              <a:spcBef>
                <a:spcPct val="0"/>
              </a:spcBef>
            </a:pPr>
            <a:r>
              <a:rPr lang="en-US" altLang="en-US" dirty="0"/>
              <a:t>		b.	Provide care that a reasonable, prudent person with similar training would provide under similar circumstances.</a:t>
            </a:r>
          </a:p>
          <a:p>
            <a:pPr eaLnBrk="1" hangingPunct="1">
              <a:spcBef>
                <a:spcPct val="0"/>
              </a:spcBef>
            </a:pPr>
            <a:r>
              <a:rPr lang="en-US" altLang="en-US" dirty="0"/>
              <a:t>B.	It is important to know your local standards of care and what statutes affect your community.</a:t>
            </a:r>
          </a:p>
          <a:p>
            <a:pPr eaLnBrk="1" hangingPunct="1">
              <a:spcBef>
                <a:spcPct val="0"/>
              </a:spcBef>
            </a:pPr>
            <a:endParaRPr lang="en-US" altLang="en-US" dirty="0"/>
          </a:p>
        </p:txBody>
      </p:sp>
      <p:sp>
        <p:nvSpPr>
          <p:cNvPr id="18435" name="Slide Number Placeholder 3">
            <a:extLst>
              <a:ext uri="{FF2B5EF4-FFF2-40B4-BE49-F238E27FC236}">
                <a16:creationId xmlns:a16="http://schemas.microsoft.com/office/drawing/2014/main" id="{367B4407-6332-6140-8CBB-26D2F56759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12238ADC-7688-F743-BF58-39026221478D}" type="slidenum">
              <a:rPr lang="en-US" altLang="en-US" sz="1200"/>
              <a:pPr/>
              <a:t>6</a:t>
            </a:fld>
            <a:endParaRPr lang="en-US" altLang="en-US" sz="1200"/>
          </a:p>
        </p:txBody>
      </p:sp>
    </p:spTree>
    <p:extLst>
      <p:ext uri="{BB962C8B-B14F-4D97-AF65-F5344CB8AC3E}">
        <p14:creationId xmlns:p14="http://schemas.microsoft.com/office/powerpoint/2010/main" val="324242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3927A070-65FF-694D-9717-1B4C93ADB8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4A53BB4E-B56F-8F49-B0B5-1D17C66A80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IV. Scope of Care</a:t>
            </a:r>
          </a:p>
          <a:p>
            <a:pPr eaLnBrk="1" hangingPunct="1">
              <a:spcBef>
                <a:spcPct val="0"/>
              </a:spcBef>
            </a:pPr>
            <a:r>
              <a:rPr lang="en-US" altLang="en-US" dirty="0"/>
              <a:t>A.	Scope of care is defined by: </a:t>
            </a:r>
          </a:p>
          <a:p>
            <a:pPr eaLnBrk="1" hangingPunct="1">
              <a:spcBef>
                <a:spcPct val="0"/>
              </a:spcBef>
            </a:pPr>
            <a:r>
              <a:rPr lang="en-US" altLang="en-US" dirty="0"/>
              <a:t>1.	US Department of Transportation’s </a:t>
            </a:r>
            <a:r>
              <a:rPr lang="en-US" altLang="en-US" i="1" dirty="0"/>
              <a:t>Emergency Medical Responder Educational Standards</a:t>
            </a:r>
          </a:p>
          <a:p>
            <a:pPr eaLnBrk="1" hangingPunct="1">
              <a:spcBef>
                <a:spcPct val="0"/>
              </a:spcBef>
            </a:pPr>
            <a:r>
              <a:rPr lang="en-US" altLang="en-US" dirty="0"/>
              <a:t>	a.	These standards specify the skills taught in this course and the way those skills should be performed.</a:t>
            </a:r>
          </a:p>
          <a:p>
            <a:pPr eaLnBrk="1" hangingPunct="1">
              <a:spcBef>
                <a:spcPct val="0"/>
              </a:spcBef>
            </a:pPr>
            <a:r>
              <a:rPr lang="en-US" altLang="en-US" dirty="0"/>
              <a:t>	b.	State scope of care laws may modify parts of the specifications in the education standards. </a:t>
            </a:r>
          </a:p>
          <a:p>
            <a:pPr eaLnBrk="1" hangingPunct="1">
              <a:spcBef>
                <a:spcPct val="0"/>
              </a:spcBef>
            </a:pPr>
            <a:r>
              <a:rPr lang="en-US" altLang="en-US" dirty="0"/>
              <a:t>2.	Medical protocols or standing orders (regional or state)</a:t>
            </a:r>
          </a:p>
          <a:p>
            <a:pPr eaLnBrk="1" hangingPunct="1">
              <a:spcBef>
                <a:spcPct val="0"/>
              </a:spcBef>
            </a:pPr>
            <a:r>
              <a:rPr lang="en-US" altLang="en-US" dirty="0"/>
              <a:t>3.	Online medical direction </a:t>
            </a:r>
          </a:p>
          <a:p>
            <a:pPr eaLnBrk="1" hangingPunct="1">
              <a:spcBef>
                <a:spcPct val="0"/>
              </a:spcBef>
            </a:pPr>
            <a:endParaRPr lang="en-US" altLang="en-US" dirty="0"/>
          </a:p>
        </p:txBody>
      </p:sp>
      <p:sp>
        <p:nvSpPr>
          <p:cNvPr id="20483" name="Slide Number Placeholder 3">
            <a:extLst>
              <a:ext uri="{FF2B5EF4-FFF2-40B4-BE49-F238E27FC236}">
                <a16:creationId xmlns:a16="http://schemas.microsoft.com/office/drawing/2014/main" id="{84530FC0-7F77-C144-87F8-D465F4823E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CE0E7CE9-A59B-F24E-AB6E-1E7A0999C4CB}" type="slidenum">
              <a:rPr lang="en-US" altLang="en-US" sz="1200"/>
              <a:pPr/>
              <a:t>7</a:t>
            </a:fld>
            <a:endParaRPr lang="en-US" altLang="en-US" sz="1200"/>
          </a:p>
        </p:txBody>
      </p:sp>
    </p:spTree>
    <p:extLst>
      <p:ext uri="{BB962C8B-B14F-4D97-AF65-F5344CB8AC3E}">
        <p14:creationId xmlns:p14="http://schemas.microsoft.com/office/powerpoint/2010/main" val="2031214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4002D8CF-6825-9C43-9A63-A1C56070F2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23C22499-C686-6D42-94B6-BA20740C78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V. Ethical Responsibilities and Competence</a:t>
            </a:r>
          </a:p>
          <a:p>
            <a:pPr eaLnBrk="1" hangingPunct="1">
              <a:spcBef>
                <a:spcPct val="0"/>
              </a:spcBef>
            </a:pPr>
            <a:r>
              <a:rPr lang="en-US" altLang="en-US" dirty="0"/>
              <a:t>A.	The community expects you to conform to the established codes of what is right and wrong.</a:t>
            </a:r>
          </a:p>
          <a:p>
            <a:pPr eaLnBrk="1" hangingPunct="1">
              <a:spcBef>
                <a:spcPct val="0"/>
              </a:spcBef>
            </a:pPr>
            <a:r>
              <a:rPr lang="en-US" altLang="en-US" dirty="0"/>
              <a:t>1.	Treating a patient ethically means doing so in a manner that conforms to accepted professional standards of conduct.</a:t>
            </a:r>
            <a:endParaRPr lang="en-US" altLang="en-US" b="1" dirty="0"/>
          </a:p>
          <a:p>
            <a:pPr eaLnBrk="1" hangingPunct="1">
              <a:spcBef>
                <a:spcPct val="0"/>
              </a:spcBef>
            </a:pPr>
            <a:r>
              <a:rPr lang="en-US" altLang="en-US" dirty="0"/>
              <a:t>	a.	Stay up-to-date on EMR skills and knowledge.</a:t>
            </a:r>
            <a:endParaRPr lang="en-US" altLang="en-US" b="1" dirty="0"/>
          </a:p>
          <a:p>
            <a:pPr eaLnBrk="1" hangingPunct="1">
              <a:spcBef>
                <a:spcPct val="0"/>
              </a:spcBef>
            </a:pPr>
            <a:r>
              <a:rPr lang="en-US" altLang="en-US" dirty="0"/>
              <a:t>	b.	Review your performance and assess your techniques.</a:t>
            </a:r>
            <a:endParaRPr lang="en-US" altLang="en-US" b="1" dirty="0"/>
          </a:p>
          <a:p>
            <a:pPr eaLnBrk="1" hangingPunct="1">
              <a:spcBef>
                <a:spcPct val="0"/>
              </a:spcBef>
            </a:pPr>
            <a:r>
              <a:rPr lang="en-US" altLang="en-US" dirty="0"/>
              <a:t>	c.	Evaluate your response times.</a:t>
            </a:r>
            <a:endParaRPr lang="en-US" altLang="en-US" b="1" dirty="0"/>
          </a:p>
          <a:p>
            <a:pPr eaLnBrk="1" hangingPunct="1">
              <a:spcBef>
                <a:spcPct val="0"/>
              </a:spcBef>
            </a:pPr>
            <a:r>
              <a:rPr lang="en-US" altLang="en-US" dirty="0"/>
              <a:t>	d.	Try to follow up patient care outcomes with your medical director or hospital personnel. </a:t>
            </a:r>
            <a:endParaRPr lang="en-US" altLang="en-US" b="1" dirty="0"/>
          </a:p>
          <a:p>
            <a:pPr eaLnBrk="1" hangingPunct="1">
              <a:spcBef>
                <a:spcPct val="0"/>
              </a:spcBef>
            </a:pPr>
            <a:r>
              <a:rPr lang="en-US" altLang="en-US" dirty="0"/>
              <a:t>	e.	Take continuing education classes and refresher courses.</a:t>
            </a:r>
            <a:endParaRPr lang="en-US" altLang="en-US" b="1" dirty="0"/>
          </a:p>
          <a:p>
            <a:pPr eaLnBrk="1" hangingPunct="1">
              <a:spcBef>
                <a:spcPct val="0"/>
              </a:spcBef>
            </a:pPr>
            <a:r>
              <a:rPr lang="en-US" altLang="en-US" dirty="0"/>
              <a:t>	f.	Participate in quality improvement activities within your department.</a:t>
            </a:r>
            <a:endParaRPr lang="en-US" altLang="en-US" b="1" dirty="0"/>
          </a:p>
          <a:p>
            <a:pPr eaLnBrk="1" hangingPunct="1">
              <a:spcBef>
                <a:spcPct val="0"/>
              </a:spcBef>
            </a:pPr>
            <a:endParaRPr lang="en-US" altLang="en-US" dirty="0"/>
          </a:p>
        </p:txBody>
      </p:sp>
      <p:sp>
        <p:nvSpPr>
          <p:cNvPr id="22531" name="Slide Number Placeholder 3">
            <a:extLst>
              <a:ext uri="{FF2B5EF4-FFF2-40B4-BE49-F238E27FC236}">
                <a16:creationId xmlns:a16="http://schemas.microsoft.com/office/drawing/2014/main" id="{17AD7333-014B-4843-85CA-D0622E88FB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CB056E2C-6917-A541-8064-4B307940B199}" type="slidenum">
              <a:rPr lang="en-US" altLang="en-US" sz="1200"/>
              <a:pPr/>
              <a:t>8</a:t>
            </a:fld>
            <a:endParaRPr lang="en-US" altLang="en-US" sz="1200"/>
          </a:p>
        </p:txBody>
      </p:sp>
    </p:spTree>
    <p:extLst>
      <p:ext uri="{BB962C8B-B14F-4D97-AF65-F5344CB8AC3E}">
        <p14:creationId xmlns:p14="http://schemas.microsoft.com/office/powerpoint/2010/main" val="128378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8F8967C2-C9B3-9848-95C3-A2D8D89832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AC59AA7E-804B-4348-B85B-CFBC3265FE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B.	Ethical behavior requires honesty.</a:t>
            </a:r>
          </a:p>
          <a:p>
            <a:pPr eaLnBrk="1" hangingPunct="1">
              <a:spcBef>
                <a:spcPct val="0"/>
              </a:spcBef>
            </a:pPr>
            <a:r>
              <a:rPr lang="en-US" altLang="en-US"/>
              <a:t>	1.	Always provide complete and correct reports to other EMS providers.</a:t>
            </a:r>
            <a:endParaRPr lang="en-US" altLang="en-US" b="1"/>
          </a:p>
          <a:p>
            <a:pPr eaLnBrk="1" hangingPunct="1">
              <a:spcBef>
                <a:spcPct val="0"/>
              </a:spcBef>
            </a:pPr>
            <a:r>
              <a:rPr lang="en-US" altLang="en-US"/>
              <a:t>	2.	Never change a report except to correct an error.</a:t>
            </a:r>
            <a:endParaRPr lang="en-US" altLang="en-US" b="1"/>
          </a:p>
          <a:p>
            <a:pPr eaLnBrk="1" hangingPunct="1">
              <a:spcBef>
                <a:spcPct val="0"/>
              </a:spcBef>
            </a:pPr>
            <a:endParaRPr lang="en-US" altLang="en-US"/>
          </a:p>
        </p:txBody>
      </p:sp>
      <p:sp>
        <p:nvSpPr>
          <p:cNvPr id="24579" name="Slide Number Placeholder 3">
            <a:extLst>
              <a:ext uri="{FF2B5EF4-FFF2-40B4-BE49-F238E27FC236}">
                <a16:creationId xmlns:a16="http://schemas.microsoft.com/office/drawing/2014/main" id="{1CB43ED4-3C66-8F4C-B7AE-5B3F483043B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C70DB125-1C86-F54E-A177-11308CE83338}" type="slidenum">
              <a:rPr lang="en-US" altLang="en-US" sz="1200"/>
              <a:pPr/>
              <a:t>9</a:t>
            </a:fld>
            <a:endParaRPr lang="en-US" altLang="en-US" sz="1200"/>
          </a:p>
        </p:txBody>
      </p:sp>
    </p:spTree>
    <p:extLst>
      <p:ext uri="{BB962C8B-B14F-4D97-AF65-F5344CB8AC3E}">
        <p14:creationId xmlns:p14="http://schemas.microsoft.com/office/powerpoint/2010/main" val="1651123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01DB7D6A-9197-0048-A27A-104F25E161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Notes Placeholder 2">
            <a:extLst>
              <a:ext uri="{FF2B5EF4-FFF2-40B4-BE49-F238E27FC236}">
                <a16:creationId xmlns:a16="http://schemas.microsoft.com/office/drawing/2014/main" id="{2C950BAE-9597-3D44-9047-BCEF5EE1C3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VI. Consent for Treatment</a:t>
            </a:r>
          </a:p>
          <a:p>
            <a:pPr eaLnBrk="1" hangingPunct="1">
              <a:spcBef>
                <a:spcPct val="0"/>
              </a:spcBef>
            </a:pPr>
            <a:r>
              <a:rPr lang="en-US" altLang="en-US" dirty="0"/>
              <a:t>A.	Consent simply means giving approval or permission.</a:t>
            </a:r>
          </a:p>
          <a:p>
            <a:pPr eaLnBrk="1" hangingPunct="1">
              <a:spcBef>
                <a:spcPct val="0"/>
              </a:spcBef>
            </a:pPr>
            <a:r>
              <a:rPr lang="en-US" altLang="en-US" dirty="0"/>
              <a:t>B.	Legally, several types of consent exist.</a:t>
            </a:r>
          </a:p>
          <a:p>
            <a:pPr eaLnBrk="1" hangingPunct="1">
              <a:spcBef>
                <a:spcPct val="0"/>
              </a:spcBef>
            </a:pPr>
            <a:r>
              <a:rPr lang="en-US" altLang="en-US" dirty="0"/>
              <a:t>1.	In expressed consent, the patient actually lets you know—verbally or nonverbally—that he or she is willing to accept treatment.</a:t>
            </a:r>
            <a:endParaRPr lang="en-US" altLang="en-US" b="1" dirty="0"/>
          </a:p>
          <a:p>
            <a:pPr eaLnBrk="1" hangingPunct="1">
              <a:spcBef>
                <a:spcPct val="0"/>
              </a:spcBef>
            </a:pPr>
            <a:r>
              <a:rPr lang="en-US" altLang="en-US" dirty="0"/>
              <a:t>	a.	Expressed consent is based on the assumption that the patient has the right to determine what will be done to his or her body.  Should also be informed.</a:t>
            </a:r>
          </a:p>
          <a:p>
            <a:pPr eaLnBrk="1" hangingPunct="1">
              <a:spcBef>
                <a:spcPct val="0"/>
              </a:spcBef>
            </a:pPr>
            <a:r>
              <a:rPr lang="en-US" altLang="en-US" b="1" dirty="0"/>
              <a:t>	</a:t>
            </a:r>
            <a:r>
              <a:rPr lang="en-US" altLang="en-US" b="0" dirty="0"/>
              <a:t>b.	Sometimes called actual consent.</a:t>
            </a:r>
          </a:p>
          <a:p>
            <a:pPr eaLnBrk="1" hangingPunct="1">
              <a:spcBef>
                <a:spcPct val="0"/>
              </a:spcBef>
            </a:pPr>
            <a:r>
              <a:rPr lang="en-US" altLang="en-US" dirty="0"/>
              <a:t>	c.	The patient must be of legal age and able to make a rational decision.  Discuss “emancipated minor” as defined in your state law.</a:t>
            </a:r>
            <a:endParaRPr lang="en-US" altLang="en-US" b="1" dirty="0"/>
          </a:p>
          <a:p>
            <a:pPr eaLnBrk="1" hangingPunct="1">
              <a:spcBef>
                <a:spcPct val="0"/>
              </a:spcBef>
            </a:pPr>
            <a:endParaRPr lang="en-US" altLang="en-US" dirty="0"/>
          </a:p>
        </p:txBody>
      </p:sp>
      <p:sp>
        <p:nvSpPr>
          <p:cNvPr id="26627" name="Slide Number Placeholder 3">
            <a:extLst>
              <a:ext uri="{FF2B5EF4-FFF2-40B4-BE49-F238E27FC236}">
                <a16:creationId xmlns:a16="http://schemas.microsoft.com/office/drawing/2014/main" id="{CB371BB0-314F-5D4F-8B6F-A90EDD0173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DDDDFC7C-E945-4848-9F1A-505646683F85}" type="slidenum">
              <a:rPr lang="en-US" altLang="en-US" sz="1200"/>
              <a:pPr/>
              <a:t>10</a:t>
            </a:fld>
            <a:endParaRPr lang="en-US" altLang="en-US" sz="1200"/>
          </a:p>
        </p:txBody>
      </p:sp>
    </p:spTree>
    <p:extLst>
      <p:ext uri="{BB962C8B-B14F-4D97-AF65-F5344CB8AC3E}">
        <p14:creationId xmlns:p14="http://schemas.microsoft.com/office/powerpoint/2010/main" val="1635508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07C2E971-36AA-464F-BBEC-E57F7B415E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0B76AF87-1F18-5E48-ADC8-A227DD2558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	2.	Any patient who does not specifically refuse emergency care can be treated under the principle of implied consent.</a:t>
            </a:r>
            <a:endParaRPr lang="en-US" altLang="en-US" b="1" dirty="0"/>
          </a:p>
          <a:p>
            <a:pPr eaLnBrk="1" hangingPunct="1">
              <a:spcBef>
                <a:spcPct val="0"/>
              </a:spcBef>
            </a:pPr>
            <a:r>
              <a:rPr lang="en-US" altLang="en-US" dirty="0"/>
              <a:t>		a.	You should never hesitate to treat an unconscious patient.</a:t>
            </a:r>
            <a:endParaRPr lang="en-US" altLang="en-US" b="1" dirty="0"/>
          </a:p>
          <a:p>
            <a:pPr eaLnBrk="1" hangingPunct="1">
              <a:spcBef>
                <a:spcPct val="0"/>
              </a:spcBef>
            </a:pPr>
            <a:r>
              <a:rPr lang="en-US" altLang="en-US" dirty="0"/>
              <a:t>C.	Consent for minors</a:t>
            </a:r>
          </a:p>
          <a:p>
            <a:pPr eaLnBrk="1" hangingPunct="1">
              <a:spcBef>
                <a:spcPct val="0"/>
              </a:spcBef>
            </a:pPr>
            <a:r>
              <a:rPr lang="en-US" altLang="en-US" dirty="0"/>
              <a:t>	1.	A minor is a person who has not yet reached the legal age (usually 18) designated by a particular state.</a:t>
            </a:r>
          </a:p>
          <a:p>
            <a:pPr eaLnBrk="1" hangingPunct="1">
              <a:spcBef>
                <a:spcPct val="0"/>
              </a:spcBef>
            </a:pPr>
            <a:r>
              <a:rPr lang="en-US" altLang="en-US" dirty="0"/>
              <a:t>	2.	Under the law, minors are not considered capable of speaking for themselves.</a:t>
            </a:r>
          </a:p>
          <a:p>
            <a:pPr eaLnBrk="1" hangingPunct="1">
              <a:spcBef>
                <a:spcPct val="0"/>
              </a:spcBef>
            </a:pPr>
            <a:endParaRPr lang="en-US" altLang="en-US" dirty="0"/>
          </a:p>
        </p:txBody>
      </p:sp>
      <p:sp>
        <p:nvSpPr>
          <p:cNvPr id="28675" name="Slide Number Placeholder 3">
            <a:extLst>
              <a:ext uri="{FF2B5EF4-FFF2-40B4-BE49-F238E27FC236}">
                <a16:creationId xmlns:a16="http://schemas.microsoft.com/office/drawing/2014/main" id="{556C808D-1283-5B46-B318-7DB6B13C7D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DAB627CF-21C4-F04B-86A2-83AB01CF8CC9}" type="slidenum">
              <a:rPr lang="en-US" altLang="en-US" sz="1200"/>
              <a:pPr/>
              <a:t>11</a:t>
            </a:fld>
            <a:endParaRPr lang="en-US" altLang="en-US" sz="1200"/>
          </a:p>
        </p:txBody>
      </p:sp>
    </p:spTree>
    <p:extLst>
      <p:ext uri="{BB962C8B-B14F-4D97-AF65-F5344CB8AC3E}">
        <p14:creationId xmlns:p14="http://schemas.microsoft.com/office/powerpoint/2010/main" val="544512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BB03309D-61D6-AD43-BD2F-B5B478DECA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a:extLst>
              <a:ext uri="{FF2B5EF4-FFF2-40B4-BE49-F238E27FC236}">
                <a16:creationId xmlns:a16="http://schemas.microsoft.com/office/drawing/2014/main" id="{F7A8B52C-CE6F-584C-A186-AF7F7FD946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	3.	Emergency treatment of a minor by a physician must wait until a parent or legal guardian consents to the treatment.</a:t>
            </a:r>
          </a:p>
          <a:p>
            <a:pPr marL="1143000" lvl="2" indent="-228600" eaLnBrk="1" hangingPunct="1">
              <a:spcBef>
                <a:spcPct val="0"/>
              </a:spcBef>
              <a:buFontTx/>
              <a:buAutoNum type="arabicPeriod" startAt="4"/>
            </a:pPr>
            <a:r>
              <a:rPr lang="en-US" altLang="en-US" dirty="0"/>
              <a:t>               If permission cannot be quickly obtained, do not hesitate to give appropriate emergency medical care.</a:t>
            </a:r>
          </a:p>
          <a:p>
            <a:pPr eaLnBrk="1" hangingPunct="1">
              <a:spcBef>
                <a:spcPct val="0"/>
              </a:spcBef>
            </a:pPr>
            <a:endParaRPr lang="en-US" altLang="en-US" dirty="0"/>
          </a:p>
          <a:p>
            <a:r>
              <a:rPr lang="en-US" altLang="en-US" dirty="0"/>
              <a:t>Figure: Do not delay or withhold emergency medical treatment from a patient who is a minor.</a:t>
            </a:r>
          </a:p>
          <a:p>
            <a:pPr eaLnBrk="1" hangingPunct="1">
              <a:spcBef>
                <a:spcPct val="0"/>
              </a:spcBef>
            </a:pPr>
            <a:endParaRPr lang="en-US" altLang="en-US" dirty="0"/>
          </a:p>
        </p:txBody>
      </p:sp>
      <p:sp>
        <p:nvSpPr>
          <p:cNvPr id="30723" name="Slide Number Placeholder 3">
            <a:extLst>
              <a:ext uri="{FF2B5EF4-FFF2-40B4-BE49-F238E27FC236}">
                <a16:creationId xmlns:a16="http://schemas.microsoft.com/office/drawing/2014/main" id="{2595B5B7-C91F-1246-9394-56978FA68B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C3193484-A10A-4243-A9A4-F6358421D267}" type="slidenum">
              <a:rPr lang="en-US" altLang="en-US" sz="1200"/>
              <a:pPr/>
              <a:t>12</a:t>
            </a:fld>
            <a:endParaRPr lang="en-US" altLang="en-US" sz="1200"/>
          </a:p>
        </p:txBody>
      </p:sp>
    </p:spTree>
    <p:extLst>
      <p:ext uri="{BB962C8B-B14F-4D97-AF65-F5344CB8AC3E}">
        <p14:creationId xmlns:p14="http://schemas.microsoft.com/office/powerpoint/2010/main" val="2891459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6D9C60D6-C541-B249-A288-E1956C4BB7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Notes Placeholder 2">
            <a:extLst>
              <a:ext uri="{FF2B5EF4-FFF2-40B4-BE49-F238E27FC236}">
                <a16:creationId xmlns:a16="http://schemas.microsoft.com/office/drawing/2014/main" id="{39CCA892-8487-514D-86AA-8925CC7BFB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D.	Consent of patients with a mental illness</a:t>
            </a:r>
          </a:p>
          <a:p>
            <a:pPr eaLnBrk="1" hangingPunct="1">
              <a:spcBef>
                <a:spcPct val="0"/>
              </a:spcBef>
            </a:pPr>
            <a:r>
              <a:rPr lang="en-US" altLang="en-US" dirty="0"/>
              <a:t>	1.	Legal issues are more complicated if the patient who refused to be treated appears to be out of touch with reality.</a:t>
            </a:r>
          </a:p>
          <a:p>
            <a:pPr eaLnBrk="1" hangingPunct="1">
              <a:spcBef>
                <a:spcPct val="0"/>
              </a:spcBef>
            </a:pPr>
            <a:r>
              <a:rPr lang="en-US" altLang="en-US" dirty="0"/>
              <a:t>	2.	If person appears to be a threat to self or others, place this person under medical care.</a:t>
            </a:r>
          </a:p>
          <a:p>
            <a:pPr eaLnBrk="1" hangingPunct="1">
              <a:spcBef>
                <a:spcPct val="0"/>
              </a:spcBef>
            </a:pPr>
            <a:r>
              <a:rPr lang="en-US" altLang="en-US" dirty="0"/>
              <a:t>	3.	Know your state’s legal mechanisms for handling these patients.</a:t>
            </a:r>
          </a:p>
          <a:p>
            <a:pPr eaLnBrk="1" hangingPunct="1">
              <a:spcBef>
                <a:spcPct val="0"/>
              </a:spcBef>
            </a:pPr>
            <a:r>
              <a:rPr lang="en-US" altLang="en-US" dirty="0"/>
              <a:t>	4.	Do not hesitate to involve law enforcement agencies.</a:t>
            </a:r>
          </a:p>
          <a:p>
            <a:pPr eaLnBrk="1" hangingPunct="1">
              <a:spcBef>
                <a:spcPct val="0"/>
              </a:spcBef>
            </a:pPr>
            <a:endParaRPr lang="en-US" altLang="en-US" dirty="0"/>
          </a:p>
        </p:txBody>
      </p:sp>
      <p:sp>
        <p:nvSpPr>
          <p:cNvPr id="32771" name="Slide Number Placeholder 3">
            <a:extLst>
              <a:ext uri="{FF2B5EF4-FFF2-40B4-BE49-F238E27FC236}">
                <a16:creationId xmlns:a16="http://schemas.microsoft.com/office/drawing/2014/main" id="{1F19BC9E-1DDE-AC4A-87C8-158203234D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3988F19E-A8B1-804A-A9DE-2128C5F53167}" type="slidenum">
              <a:rPr lang="en-US" altLang="en-US" sz="1200"/>
              <a:pPr/>
              <a:t>13</a:t>
            </a:fld>
            <a:endParaRPr lang="en-US" altLang="en-US" sz="1200"/>
          </a:p>
        </p:txBody>
      </p:sp>
    </p:spTree>
    <p:extLst>
      <p:ext uri="{BB962C8B-B14F-4D97-AF65-F5344CB8AC3E}">
        <p14:creationId xmlns:p14="http://schemas.microsoft.com/office/powerpoint/2010/main" val="3829100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A58BDE1D-8928-0F41-B7AF-F89A53F6F8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a:extLst>
              <a:ext uri="{FF2B5EF4-FFF2-40B4-BE49-F238E27FC236}">
                <a16:creationId xmlns:a16="http://schemas.microsoft.com/office/drawing/2014/main" id="{287A8199-ADF1-494F-80E8-DD43C4EBC9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VII. Patient Refusal of Care</a:t>
            </a:r>
          </a:p>
          <a:p>
            <a:pPr eaLnBrk="1" hangingPunct="1">
              <a:spcBef>
                <a:spcPct val="0"/>
              </a:spcBef>
            </a:pPr>
            <a:r>
              <a:rPr lang="en-US" altLang="en-US" dirty="0"/>
              <a:t>A.	A competent adult has a legal right to refuse treatment.</a:t>
            </a:r>
          </a:p>
          <a:p>
            <a:pPr eaLnBrk="1" hangingPunct="1">
              <a:spcBef>
                <a:spcPct val="0"/>
              </a:spcBef>
            </a:pPr>
            <a:r>
              <a:rPr lang="en-US" altLang="en-US" dirty="0"/>
              <a:t>B.	You can continue to talk with a person who has refused care and try to help him or her understand the consequences of refusing care.</a:t>
            </a:r>
          </a:p>
          <a:p>
            <a:pPr eaLnBrk="1" hangingPunct="1">
              <a:spcBef>
                <a:spcPct val="0"/>
              </a:spcBef>
            </a:pPr>
            <a:r>
              <a:rPr lang="en-US" altLang="en-US" dirty="0"/>
              <a:t>	1.	Explain to the person:</a:t>
            </a:r>
            <a:endParaRPr lang="en-US" altLang="en-US" b="1" dirty="0"/>
          </a:p>
          <a:p>
            <a:pPr eaLnBrk="1" hangingPunct="1">
              <a:spcBef>
                <a:spcPct val="0"/>
              </a:spcBef>
            </a:pPr>
            <a:r>
              <a:rPr lang="en-US" altLang="en-US" dirty="0"/>
              <a:t>		a.	The treatment</a:t>
            </a:r>
            <a:endParaRPr lang="en-US" altLang="en-US" b="1" dirty="0"/>
          </a:p>
          <a:p>
            <a:pPr eaLnBrk="1" hangingPunct="1">
              <a:spcBef>
                <a:spcPct val="0"/>
              </a:spcBef>
            </a:pPr>
            <a:r>
              <a:rPr lang="en-US" altLang="en-US" dirty="0"/>
              <a:t>		b.	The reason that the treatment is needed</a:t>
            </a:r>
            <a:endParaRPr lang="en-US" altLang="en-US" b="1" dirty="0"/>
          </a:p>
          <a:p>
            <a:pPr eaLnBrk="1" hangingPunct="1">
              <a:spcBef>
                <a:spcPct val="0"/>
              </a:spcBef>
            </a:pPr>
            <a:r>
              <a:rPr lang="en-US" altLang="en-US" dirty="0"/>
              <a:t>		c.	The potential risks if the treatment is not provided</a:t>
            </a:r>
            <a:endParaRPr lang="en-US" altLang="en-US" b="1" dirty="0"/>
          </a:p>
          <a:p>
            <a:pPr eaLnBrk="1" hangingPunct="1">
              <a:spcBef>
                <a:spcPct val="0"/>
              </a:spcBef>
            </a:pPr>
            <a:r>
              <a:rPr lang="en-US" altLang="en-US" dirty="0"/>
              <a:t>		d.	Any alternative treatments that might help</a:t>
            </a:r>
            <a:endParaRPr lang="en-US" altLang="en-US" b="1" dirty="0"/>
          </a:p>
          <a:p>
            <a:pPr eaLnBrk="1" hangingPunct="1">
              <a:spcBef>
                <a:spcPct val="0"/>
              </a:spcBef>
            </a:pPr>
            <a:endParaRPr lang="en-US" altLang="en-US" dirty="0"/>
          </a:p>
        </p:txBody>
      </p:sp>
      <p:sp>
        <p:nvSpPr>
          <p:cNvPr id="34819" name="Slide Number Placeholder 3">
            <a:extLst>
              <a:ext uri="{FF2B5EF4-FFF2-40B4-BE49-F238E27FC236}">
                <a16:creationId xmlns:a16="http://schemas.microsoft.com/office/drawing/2014/main" id="{3BDEC1A1-6020-BF4B-9B2D-BC40537497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63999F1E-B20C-104B-8F87-E1C78DCF281E}" type="slidenum">
              <a:rPr lang="en-US" altLang="en-US" sz="1200"/>
              <a:pPr/>
              <a:t>14</a:t>
            </a:fld>
            <a:endParaRPr lang="en-US" altLang="en-US" sz="1200"/>
          </a:p>
        </p:txBody>
      </p:sp>
    </p:spTree>
    <p:extLst>
      <p:ext uri="{BB962C8B-B14F-4D97-AF65-F5344CB8AC3E}">
        <p14:creationId xmlns:p14="http://schemas.microsoft.com/office/powerpoint/2010/main" val="941706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4EE09EEA-9FF0-754E-82A7-048D45F85D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28AA4732-5A44-1244-A040-90B4587F1C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C.	Patient refusals should be documented on your patient care record according to your agency protocols.</a:t>
            </a:r>
          </a:p>
          <a:p>
            <a:pPr eaLnBrk="1" hangingPunct="1">
              <a:spcBef>
                <a:spcPct val="0"/>
              </a:spcBef>
            </a:pPr>
            <a:endParaRPr lang="en-US" altLang="en-US"/>
          </a:p>
        </p:txBody>
      </p:sp>
      <p:sp>
        <p:nvSpPr>
          <p:cNvPr id="36867" name="Slide Number Placeholder 3">
            <a:extLst>
              <a:ext uri="{FF2B5EF4-FFF2-40B4-BE49-F238E27FC236}">
                <a16:creationId xmlns:a16="http://schemas.microsoft.com/office/drawing/2014/main" id="{9D98EBDB-4AE2-C441-98A0-701F9D0D8B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D79A20D2-30DD-284D-8CF2-1FC618F1913C}" type="slidenum">
              <a:rPr lang="en-US" altLang="en-US" sz="1200"/>
              <a:pPr/>
              <a:t>15</a:t>
            </a:fld>
            <a:endParaRPr lang="en-US" altLang="en-US" sz="1200"/>
          </a:p>
        </p:txBody>
      </p:sp>
    </p:spTree>
    <p:extLst>
      <p:ext uri="{BB962C8B-B14F-4D97-AF65-F5344CB8AC3E}">
        <p14:creationId xmlns:p14="http://schemas.microsoft.com/office/powerpoint/2010/main" val="2821968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52FCB7D4-A917-9649-9161-CFC0D84D3B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Notes Placeholder 2">
            <a:extLst>
              <a:ext uri="{FF2B5EF4-FFF2-40B4-BE49-F238E27FC236}">
                <a16:creationId xmlns:a16="http://schemas.microsoft.com/office/drawing/2014/main" id="{9CFF04CF-3FB6-5740-95BD-EA01DA54AA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VIII. Advance Directives</a:t>
            </a:r>
          </a:p>
          <a:p>
            <a:pPr eaLnBrk="1" hangingPunct="1">
              <a:spcBef>
                <a:spcPct val="0"/>
              </a:spcBef>
            </a:pPr>
            <a:r>
              <a:rPr lang="en-US" altLang="en-US" dirty="0"/>
              <a:t>A.	An advance directive is a document that specifies what a person would like to be done if he or she becomes unable to make his or her own medical decisions.</a:t>
            </a:r>
          </a:p>
          <a:p>
            <a:pPr eaLnBrk="1" hangingPunct="1">
              <a:spcBef>
                <a:spcPct val="0"/>
              </a:spcBef>
            </a:pPr>
            <a:r>
              <a:rPr lang="en-US" altLang="en-US" dirty="0"/>
              <a:t>B.	Three kinds of advance directives exist.</a:t>
            </a:r>
          </a:p>
          <a:p>
            <a:pPr eaLnBrk="1" hangingPunct="1">
              <a:spcBef>
                <a:spcPct val="0"/>
              </a:spcBef>
            </a:pPr>
            <a:r>
              <a:rPr lang="en-US" altLang="en-US" dirty="0"/>
              <a:t>	1.	A living will</a:t>
            </a:r>
            <a:endParaRPr lang="en-US" altLang="en-US" b="1" dirty="0"/>
          </a:p>
          <a:p>
            <a:pPr eaLnBrk="1" hangingPunct="1">
              <a:spcBef>
                <a:spcPct val="0"/>
              </a:spcBef>
            </a:pPr>
            <a:r>
              <a:rPr lang="en-US" altLang="en-US" dirty="0"/>
              <a:t>		a.	Written document drawn up by a patient, a physician, and a lawyer</a:t>
            </a:r>
            <a:endParaRPr lang="en-US" altLang="en-US" b="1" dirty="0"/>
          </a:p>
          <a:p>
            <a:pPr eaLnBrk="1" hangingPunct="1">
              <a:spcBef>
                <a:spcPct val="0"/>
              </a:spcBef>
            </a:pPr>
            <a:r>
              <a:rPr lang="en-US" altLang="en-US" dirty="0"/>
              <a:t>		b.	States types of medical care person wants or wants withheld if he or she is unable to make treatment decisions</a:t>
            </a:r>
            <a:endParaRPr lang="en-US" altLang="en-US" b="1" dirty="0"/>
          </a:p>
          <a:p>
            <a:pPr eaLnBrk="1" hangingPunct="1">
              <a:spcBef>
                <a:spcPct val="0"/>
              </a:spcBef>
            </a:pPr>
            <a:r>
              <a:rPr lang="en-US" altLang="en-US" dirty="0"/>
              <a:t>		c.	Often written when a patient has a terminal condition</a:t>
            </a:r>
            <a:endParaRPr lang="en-US" altLang="en-US" b="1" dirty="0"/>
          </a:p>
          <a:p>
            <a:pPr eaLnBrk="1" hangingPunct="1">
              <a:spcBef>
                <a:spcPct val="0"/>
              </a:spcBef>
            </a:pPr>
            <a:endParaRPr lang="en-US" altLang="en-US" dirty="0"/>
          </a:p>
        </p:txBody>
      </p:sp>
      <p:sp>
        <p:nvSpPr>
          <p:cNvPr id="38915" name="Slide Number Placeholder 3">
            <a:extLst>
              <a:ext uri="{FF2B5EF4-FFF2-40B4-BE49-F238E27FC236}">
                <a16:creationId xmlns:a16="http://schemas.microsoft.com/office/drawing/2014/main" id="{D6A1F167-F552-AC4E-BFB5-A3FD14640D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EFD71A57-AA13-9B4C-9342-AFC19D820D6B}" type="slidenum">
              <a:rPr lang="en-US" altLang="en-US" sz="1200"/>
              <a:pPr/>
              <a:t>16</a:t>
            </a:fld>
            <a:endParaRPr lang="en-US" altLang="en-US" sz="1200"/>
          </a:p>
        </p:txBody>
      </p:sp>
    </p:spTree>
    <p:extLst>
      <p:ext uri="{BB962C8B-B14F-4D97-AF65-F5344CB8AC3E}">
        <p14:creationId xmlns:p14="http://schemas.microsoft.com/office/powerpoint/2010/main" val="3933540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23478D78-FC9D-C549-B190-7FA15FD81A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a:extLst>
              <a:ext uri="{FF2B5EF4-FFF2-40B4-BE49-F238E27FC236}">
                <a16:creationId xmlns:a16="http://schemas.microsoft.com/office/drawing/2014/main" id="{F8BF39CE-F7B1-D04D-AEAB-1C7C1F73E2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2.	A durable power of attorney for health care</a:t>
            </a:r>
            <a:endParaRPr lang="en-US" altLang="en-US" b="1" dirty="0"/>
          </a:p>
          <a:p>
            <a:pPr eaLnBrk="1" hangingPunct="1">
              <a:spcBef>
                <a:spcPct val="0"/>
              </a:spcBef>
            </a:pPr>
            <a:r>
              <a:rPr lang="en-US" altLang="en-US" dirty="0"/>
              <a:t>	a.	Allows a patient to designate another person to make decisions about medical care</a:t>
            </a:r>
            <a:endParaRPr lang="en-US" altLang="en-US" b="1" dirty="0"/>
          </a:p>
          <a:p>
            <a:pPr eaLnBrk="1" hangingPunct="1">
              <a:spcBef>
                <a:spcPct val="0"/>
              </a:spcBef>
            </a:pPr>
            <a:r>
              <a:rPr lang="en-US" altLang="en-US" dirty="0"/>
              <a:t>	b.	May refer to the representative as the patient’s health care agent or health care proxy</a:t>
            </a:r>
            <a:endParaRPr lang="en-US" altLang="en-US" b="1" dirty="0"/>
          </a:p>
          <a:p>
            <a:pPr eaLnBrk="1" hangingPunct="1">
              <a:spcBef>
                <a:spcPct val="0"/>
              </a:spcBef>
            </a:pPr>
            <a:r>
              <a:rPr lang="en-US" altLang="en-US" dirty="0"/>
              <a:t>3.	A do-not-resuscitate (DNR) order</a:t>
            </a:r>
            <a:endParaRPr lang="en-US" altLang="en-US" b="1" dirty="0"/>
          </a:p>
          <a:p>
            <a:pPr eaLnBrk="1" hangingPunct="1">
              <a:spcBef>
                <a:spcPct val="0"/>
              </a:spcBef>
            </a:pPr>
            <a:r>
              <a:rPr lang="en-US" altLang="en-US" dirty="0"/>
              <a:t>	a.	Written request giving permission to medical personnel to withhold resuscitation in the event of cardiac arrest.</a:t>
            </a:r>
            <a:endParaRPr lang="en-US" altLang="en-US" b="1" dirty="0"/>
          </a:p>
          <a:p>
            <a:pPr eaLnBrk="1" hangingPunct="1">
              <a:spcBef>
                <a:spcPct val="0"/>
              </a:spcBef>
            </a:pPr>
            <a:r>
              <a:rPr lang="en-US" altLang="en-US" dirty="0"/>
              <a:t>	b.	Most frequently used for patients who are in hospitals or nursing homes.</a:t>
            </a:r>
          </a:p>
          <a:p>
            <a:pPr eaLnBrk="1" hangingPunct="1">
              <a:spcBef>
                <a:spcPct val="0"/>
              </a:spcBef>
            </a:pPr>
            <a:r>
              <a:rPr lang="en-US" altLang="en-US" b="1" dirty="0"/>
              <a:t>	</a:t>
            </a:r>
            <a:r>
              <a:rPr lang="en-US" altLang="en-US" b="0" dirty="0"/>
              <a:t>c.	Additional terms: medical orders for life-sustaining treatment (MOLST) or physician’s orders for life sustaining treatment (POLST).</a:t>
            </a:r>
          </a:p>
          <a:p>
            <a:pPr eaLnBrk="1" hangingPunct="1">
              <a:spcBef>
                <a:spcPct val="0"/>
              </a:spcBef>
            </a:pPr>
            <a:endParaRPr lang="en-US" altLang="en-US" dirty="0"/>
          </a:p>
        </p:txBody>
      </p:sp>
      <p:sp>
        <p:nvSpPr>
          <p:cNvPr id="40963" name="Slide Number Placeholder 3">
            <a:extLst>
              <a:ext uri="{FF2B5EF4-FFF2-40B4-BE49-F238E27FC236}">
                <a16:creationId xmlns:a16="http://schemas.microsoft.com/office/drawing/2014/main" id="{D18B22BC-43E1-8F41-B02A-F417CC95AA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D7C60359-36B1-BB4A-A44D-720F6F6A2211}" type="slidenum">
              <a:rPr lang="en-US" altLang="en-US" sz="1200"/>
              <a:pPr/>
              <a:t>17</a:t>
            </a:fld>
            <a:endParaRPr lang="en-US" altLang="en-US" sz="1200"/>
          </a:p>
        </p:txBody>
      </p:sp>
    </p:spTree>
    <p:extLst>
      <p:ext uri="{BB962C8B-B14F-4D97-AF65-F5344CB8AC3E}">
        <p14:creationId xmlns:p14="http://schemas.microsoft.com/office/powerpoint/2010/main" val="669522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B5862C35-B623-E04E-851C-53145AADFA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a:extLst>
              <a:ext uri="{FF2B5EF4-FFF2-40B4-BE49-F238E27FC236}">
                <a16:creationId xmlns:a16="http://schemas.microsoft.com/office/drawing/2014/main" id="{5B35FD74-D2C8-F94A-97F6-372EAC5572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C.	If you are unable to determine if an advance directive is legally valid, begin appropriate medical care. </a:t>
            </a:r>
          </a:p>
          <a:p>
            <a:pPr eaLnBrk="1" hangingPunct="1">
              <a:spcBef>
                <a:spcPct val="0"/>
              </a:spcBef>
            </a:pPr>
            <a:r>
              <a:rPr lang="en-US" altLang="en-US"/>
              <a:t>D.	Some states have systems in place, such as bracelets, to identify patients with advance directives. </a:t>
            </a:r>
          </a:p>
          <a:p>
            <a:pPr eaLnBrk="1" hangingPunct="1">
              <a:spcBef>
                <a:spcPct val="0"/>
              </a:spcBef>
            </a:pPr>
            <a:endParaRPr lang="en-US" altLang="en-US"/>
          </a:p>
        </p:txBody>
      </p:sp>
      <p:sp>
        <p:nvSpPr>
          <p:cNvPr id="43011" name="Slide Number Placeholder 3">
            <a:extLst>
              <a:ext uri="{FF2B5EF4-FFF2-40B4-BE49-F238E27FC236}">
                <a16:creationId xmlns:a16="http://schemas.microsoft.com/office/drawing/2014/main" id="{FEC644B9-A825-D34A-946B-F36765D294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BBC00B0A-6503-1442-8EB7-B709595B1414}" type="slidenum">
              <a:rPr lang="en-US" altLang="en-US" sz="1200"/>
              <a:pPr/>
              <a:t>18</a:t>
            </a:fld>
            <a:endParaRPr lang="en-US" altLang="en-US" sz="1200"/>
          </a:p>
        </p:txBody>
      </p:sp>
    </p:spTree>
    <p:extLst>
      <p:ext uri="{BB962C8B-B14F-4D97-AF65-F5344CB8AC3E}">
        <p14:creationId xmlns:p14="http://schemas.microsoft.com/office/powerpoint/2010/main" val="341740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1EE767EC-5FA0-0046-9220-5C3D96D709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Notes Placeholder 2">
            <a:extLst>
              <a:ext uri="{FF2B5EF4-FFF2-40B4-BE49-F238E27FC236}">
                <a16:creationId xmlns:a16="http://schemas.microsoft.com/office/drawing/2014/main" id="{D90D83D4-684B-A841-B818-6F6FF7B899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IX. Legal Concepts</a:t>
            </a:r>
          </a:p>
          <a:p>
            <a:pPr eaLnBrk="1" hangingPunct="1">
              <a:spcBef>
                <a:spcPct val="0"/>
              </a:spcBef>
            </a:pPr>
            <a:r>
              <a:rPr lang="en-US" altLang="en-US" dirty="0"/>
              <a:t>A.	Abandonment</a:t>
            </a:r>
          </a:p>
          <a:p>
            <a:pPr eaLnBrk="1" hangingPunct="1">
              <a:spcBef>
                <a:spcPct val="0"/>
              </a:spcBef>
            </a:pPr>
            <a:r>
              <a:rPr lang="en-US" altLang="en-US" dirty="0"/>
              <a:t>	1.	Abandonment occurs when a trained person begins emergency care and then leaves patient before another trained person takes over.</a:t>
            </a:r>
          </a:p>
          <a:p>
            <a:pPr eaLnBrk="1" hangingPunct="1">
              <a:spcBef>
                <a:spcPct val="0"/>
              </a:spcBef>
            </a:pPr>
            <a:r>
              <a:rPr lang="en-US" altLang="en-US" dirty="0"/>
              <a:t>	2.	Once you have started treatment, you must continue treatment until a person who has at least as much training arrives and takes over.</a:t>
            </a:r>
          </a:p>
          <a:p>
            <a:pPr eaLnBrk="1" hangingPunct="1">
              <a:spcBef>
                <a:spcPct val="0"/>
              </a:spcBef>
            </a:pPr>
            <a:endParaRPr lang="en-US" altLang="en-US" dirty="0"/>
          </a:p>
        </p:txBody>
      </p:sp>
      <p:sp>
        <p:nvSpPr>
          <p:cNvPr id="45059" name="Slide Number Placeholder 3">
            <a:extLst>
              <a:ext uri="{FF2B5EF4-FFF2-40B4-BE49-F238E27FC236}">
                <a16:creationId xmlns:a16="http://schemas.microsoft.com/office/drawing/2014/main" id="{6899EC8B-5042-9E44-960D-AC2E086393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230CDAA1-1254-9C4B-9EA2-F41C1CF3C3F3}" type="slidenum">
              <a:rPr lang="en-US" altLang="en-US" sz="1200"/>
              <a:pPr/>
              <a:t>19</a:t>
            </a:fld>
            <a:endParaRPr lang="en-US" altLang="en-US" sz="1200"/>
          </a:p>
        </p:txBody>
      </p:sp>
    </p:spTree>
    <p:extLst>
      <p:ext uri="{BB962C8B-B14F-4D97-AF65-F5344CB8AC3E}">
        <p14:creationId xmlns:p14="http://schemas.microsoft.com/office/powerpoint/2010/main" val="227807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C6C419C0-ACC1-F643-8D00-71860FEFB5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a:extLst>
              <a:ext uri="{FF2B5EF4-FFF2-40B4-BE49-F238E27FC236}">
                <a16:creationId xmlns:a16="http://schemas.microsoft.com/office/drawing/2014/main" id="{CB6BA607-A516-AD45-BE18-9E8FF2A4BA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B.	People dead at the scene</a:t>
            </a:r>
          </a:p>
          <a:p>
            <a:pPr eaLnBrk="1" hangingPunct="1">
              <a:spcBef>
                <a:spcPct val="0"/>
              </a:spcBef>
            </a:pPr>
            <a:r>
              <a:rPr lang="en-US" altLang="en-US" dirty="0"/>
              <a:t>	1.	If you see any signs that a person is alive, you should begin providing necessary care.</a:t>
            </a:r>
          </a:p>
          <a:p>
            <a:pPr eaLnBrk="1" hangingPunct="1">
              <a:spcBef>
                <a:spcPct val="0"/>
              </a:spcBef>
            </a:pPr>
            <a:r>
              <a:rPr lang="en-US" altLang="en-US" dirty="0"/>
              <a:t>	2.	You cannot assume a person is dead unless one or more of these conditions exist:</a:t>
            </a:r>
          </a:p>
          <a:p>
            <a:pPr eaLnBrk="1" hangingPunct="1">
              <a:spcBef>
                <a:spcPct val="0"/>
              </a:spcBef>
            </a:pPr>
            <a:r>
              <a:rPr lang="en-US" altLang="en-US" dirty="0"/>
              <a:t>		a.	Decapitation: Head is separated from the body</a:t>
            </a:r>
          </a:p>
          <a:p>
            <a:pPr eaLnBrk="1" hangingPunct="1">
              <a:spcBef>
                <a:spcPct val="0"/>
              </a:spcBef>
            </a:pPr>
            <a:r>
              <a:rPr lang="en-US" altLang="en-US" dirty="0"/>
              <a:t>		b.	Rigor mortis: Temporary stiffening of muscles after death</a:t>
            </a:r>
          </a:p>
          <a:p>
            <a:pPr eaLnBrk="1" hangingPunct="1">
              <a:spcBef>
                <a:spcPct val="0"/>
              </a:spcBef>
            </a:pPr>
            <a:r>
              <a:rPr lang="en-US" altLang="en-US" dirty="0"/>
              <a:t>		c.	Tissue decomposition: Occurs after a person has been dead for more than a day</a:t>
            </a:r>
          </a:p>
          <a:p>
            <a:pPr eaLnBrk="1" hangingPunct="1">
              <a:spcBef>
                <a:spcPct val="0"/>
              </a:spcBef>
            </a:pPr>
            <a:r>
              <a:rPr lang="en-US" altLang="en-US" dirty="0"/>
              <a:t>		d.	Dependent lividity: Red or purple color found on the parts of the patient’s body that are closest to the ground</a:t>
            </a:r>
          </a:p>
          <a:p>
            <a:pPr eaLnBrk="1" hangingPunct="1">
              <a:spcBef>
                <a:spcPct val="0"/>
              </a:spcBef>
            </a:pPr>
            <a:endParaRPr lang="en-US" altLang="en-US" dirty="0"/>
          </a:p>
        </p:txBody>
      </p:sp>
      <p:sp>
        <p:nvSpPr>
          <p:cNvPr id="47107" name="Slide Number Placeholder 3">
            <a:extLst>
              <a:ext uri="{FF2B5EF4-FFF2-40B4-BE49-F238E27FC236}">
                <a16:creationId xmlns:a16="http://schemas.microsoft.com/office/drawing/2014/main" id="{07E79472-B5D2-5946-9B0F-1E4C11040A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C669B03A-54FB-6C4C-A9E8-2A526D36E665}" type="slidenum">
              <a:rPr lang="en-US" altLang="en-US" sz="1200"/>
              <a:pPr/>
              <a:t>20</a:t>
            </a:fld>
            <a:endParaRPr lang="en-US" altLang="en-US" sz="1200"/>
          </a:p>
        </p:txBody>
      </p:sp>
    </p:spTree>
    <p:extLst>
      <p:ext uri="{BB962C8B-B14F-4D97-AF65-F5344CB8AC3E}">
        <p14:creationId xmlns:p14="http://schemas.microsoft.com/office/powerpoint/2010/main" val="2915672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7305A5BA-3781-9243-933F-926EF6AB4C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es Placeholder 2">
            <a:extLst>
              <a:ext uri="{FF2B5EF4-FFF2-40B4-BE49-F238E27FC236}">
                <a16:creationId xmlns:a16="http://schemas.microsoft.com/office/drawing/2014/main" id="{198DA864-D4DA-534E-A106-197F4F49C1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3.	If any signs of death are present, consider the patient to be dead.</a:t>
            </a:r>
          </a:p>
          <a:p>
            <a:pPr eaLnBrk="1" hangingPunct="1">
              <a:spcBef>
                <a:spcPct val="0"/>
              </a:spcBef>
            </a:pPr>
            <a:r>
              <a:rPr lang="en-US" altLang="en-US" dirty="0"/>
              <a:t>4.	It is important that you know the protocol your department uses in dealing with patients who are dead on the scene.</a:t>
            </a:r>
          </a:p>
          <a:p>
            <a:pPr eaLnBrk="1" hangingPunct="1">
              <a:spcBef>
                <a:spcPct val="0"/>
              </a:spcBef>
            </a:pPr>
            <a:endParaRPr lang="en-US" altLang="en-US" dirty="0"/>
          </a:p>
          <a:p>
            <a:r>
              <a:rPr lang="en-US" altLang="en-US" dirty="0"/>
              <a:t>Figure: Learn the protocol for dealing with patients who are obviously dead at the scene.</a:t>
            </a:r>
          </a:p>
        </p:txBody>
      </p:sp>
      <p:sp>
        <p:nvSpPr>
          <p:cNvPr id="49155" name="Slide Number Placeholder 3">
            <a:extLst>
              <a:ext uri="{FF2B5EF4-FFF2-40B4-BE49-F238E27FC236}">
                <a16:creationId xmlns:a16="http://schemas.microsoft.com/office/drawing/2014/main" id="{6322E2D7-8F52-DC47-A6E9-13D934569B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1B91AA3F-E893-094F-B02D-8E0AF7F301C9}" type="slidenum">
              <a:rPr lang="en-US" altLang="en-US" sz="1200"/>
              <a:pPr/>
              <a:t>21</a:t>
            </a:fld>
            <a:endParaRPr lang="en-US" altLang="en-US" sz="1200"/>
          </a:p>
        </p:txBody>
      </p:sp>
    </p:spTree>
    <p:extLst>
      <p:ext uri="{BB962C8B-B14F-4D97-AF65-F5344CB8AC3E}">
        <p14:creationId xmlns:p14="http://schemas.microsoft.com/office/powerpoint/2010/main" val="1662057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7534CA20-2EAA-F842-9F4E-3034B60AD1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329619DA-9486-F74E-AEB1-F04AF6F70A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C.	Negligence</a:t>
            </a:r>
          </a:p>
          <a:p>
            <a:pPr eaLnBrk="1" hangingPunct="1">
              <a:spcBef>
                <a:spcPct val="0"/>
              </a:spcBef>
            </a:pPr>
            <a:r>
              <a:rPr lang="en-US" altLang="en-US" dirty="0"/>
              <a:t>1.	Occurs when a patient sustains further injury or harm because the care administered did not meet the standard of care.</a:t>
            </a:r>
          </a:p>
          <a:p>
            <a:pPr eaLnBrk="1" hangingPunct="1">
              <a:spcBef>
                <a:spcPct val="0"/>
              </a:spcBef>
            </a:pPr>
            <a:r>
              <a:rPr lang="en-US" altLang="en-US" dirty="0"/>
              <a:t>2.	For negligence to occur, four conditions must be present:</a:t>
            </a:r>
          </a:p>
          <a:p>
            <a:pPr eaLnBrk="1" hangingPunct="1">
              <a:spcBef>
                <a:spcPct val="0"/>
              </a:spcBef>
            </a:pPr>
            <a:r>
              <a:rPr lang="en-US" altLang="en-US" dirty="0"/>
              <a:t>	a.	Duty to act</a:t>
            </a:r>
          </a:p>
          <a:p>
            <a:pPr eaLnBrk="1" hangingPunct="1">
              <a:spcBef>
                <a:spcPct val="0"/>
              </a:spcBef>
            </a:pPr>
            <a:r>
              <a:rPr lang="en-US" altLang="en-US" dirty="0"/>
              <a:t>	b.	Breach of duty</a:t>
            </a:r>
          </a:p>
          <a:p>
            <a:pPr eaLnBrk="1" hangingPunct="1">
              <a:spcBef>
                <a:spcPct val="0"/>
              </a:spcBef>
            </a:pPr>
            <a:r>
              <a:rPr lang="en-US" altLang="en-US" dirty="0"/>
              <a:t>	c.	Resulting injuries</a:t>
            </a:r>
          </a:p>
          <a:p>
            <a:pPr eaLnBrk="1" hangingPunct="1">
              <a:spcBef>
                <a:spcPct val="0"/>
              </a:spcBef>
            </a:pPr>
            <a:r>
              <a:rPr lang="en-US" altLang="en-US" dirty="0"/>
              <a:t>	d.	Proximate cause</a:t>
            </a:r>
          </a:p>
          <a:p>
            <a:pPr eaLnBrk="1" hangingPunct="1">
              <a:spcBef>
                <a:spcPct val="0"/>
              </a:spcBef>
            </a:pPr>
            <a:endParaRPr lang="en-US" altLang="en-US" dirty="0"/>
          </a:p>
        </p:txBody>
      </p:sp>
      <p:sp>
        <p:nvSpPr>
          <p:cNvPr id="51203" name="Slide Number Placeholder 3">
            <a:extLst>
              <a:ext uri="{FF2B5EF4-FFF2-40B4-BE49-F238E27FC236}">
                <a16:creationId xmlns:a16="http://schemas.microsoft.com/office/drawing/2014/main" id="{25074E05-873E-104D-B57A-1AE62C464F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FD58990B-2ED8-C749-9805-AA6710336E99}" type="slidenum">
              <a:rPr lang="en-US" altLang="en-US" sz="1200"/>
              <a:pPr/>
              <a:t>22</a:t>
            </a:fld>
            <a:endParaRPr lang="en-US" altLang="en-US" sz="1200"/>
          </a:p>
        </p:txBody>
      </p:sp>
    </p:spTree>
    <p:extLst>
      <p:ext uri="{BB962C8B-B14F-4D97-AF65-F5344CB8AC3E}">
        <p14:creationId xmlns:p14="http://schemas.microsoft.com/office/powerpoint/2010/main" val="3858717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C71817C0-7162-6B4F-A6D4-E9CBC7648B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es Placeholder 2">
            <a:extLst>
              <a:ext uri="{FF2B5EF4-FFF2-40B4-BE49-F238E27FC236}">
                <a16:creationId xmlns:a16="http://schemas.microsoft.com/office/drawing/2014/main" id="{D34B6BCB-78B8-D445-A375-21889C8B13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D.	Confidentiality</a:t>
            </a:r>
          </a:p>
          <a:p>
            <a:pPr eaLnBrk="1" hangingPunct="1">
              <a:spcBef>
                <a:spcPct val="0"/>
              </a:spcBef>
            </a:pPr>
            <a:r>
              <a:rPr lang="en-US" altLang="en-US"/>
              <a:t>1.	Most patient information is confidential, including patient history, assessment findings, treatment provided, as well as your communication with the patient. </a:t>
            </a:r>
          </a:p>
          <a:p>
            <a:pPr eaLnBrk="1" hangingPunct="1">
              <a:spcBef>
                <a:spcPct val="0"/>
              </a:spcBef>
            </a:pPr>
            <a:r>
              <a:rPr lang="en-US" altLang="en-US"/>
              <a:t>2.	Information should be shared only with other medical personnel who are directly involved in the patient’s care.</a:t>
            </a:r>
          </a:p>
        </p:txBody>
      </p:sp>
      <p:sp>
        <p:nvSpPr>
          <p:cNvPr id="53251" name="Slide Number Placeholder 3">
            <a:extLst>
              <a:ext uri="{FF2B5EF4-FFF2-40B4-BE49-F238E27FC236}">
                <a16:creationId xmlns:a16="http://schemas.microsoft.com/office/drawing/2014/main" id="{CB180F97-E3E7-F54D-A135-E4DD020BDF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2BF7E2C0-1F36-0042-AD81-7FB71896FFD1}" type="slidenum">
              <a:rPr lang="en-US" altLang="en-US" sz="1200"/>
              <a:pPr/>
              <a:t>23</a:t>
            </a:fld>
            <a:endParaRPr lang="en-US" altLang="en-US" sz="1200"/>
          </a:p>
        </p:txBody>
      </p:sp>
    </p:spTree>
    <p:extLst>
      <p:ext uri="{BB962C8B-B14F-4D97-AF65-F5344CB8AC3E}">
        <p14:creationId xmlns:p14="http://schemas.microsoft.com/office/powerpoint/2010/main" val="776117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4D017789-3E50-6348-A148-FB4B37C497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Notes Placeholder 2">
            <a:extLst>
              <a:ext uri="{FF2B5EF4-FFF2-40B4-BE49-F238E27FC236}">
                <a16:creationId xmlns:a16="http://schemas.microsoft.com/office/drawing/2014/main" id="{B5B9FF40-2511-EF4B-AD39-55D78611B2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3.	In certain situations, you may release confidential information to designated individuals.</a:t>
            </a:r>
          </a:p>
          <a:p>
            <a:pPr eaLnBrk="1" hangingPunct="1">
              <a:spcBef>
                <a:spcPct val="0"/>
              </a:spcBef>
            </a:pPr>
            <a:r>
              <a:rPr lang="en-US" altLang="en-US" dirty="0"/>
              <a:t>4.	Some information about a patient’s care may be classified as public information, including the patient’s name, address, age, and the hospital to which he or she was transported.</a:t>
            </a:r>
          </a:p>
          <a:p>
            <a:pPr eaLnBrk="1" hangingPunct="1">
              <a:spcBef>
                <a:spcPct val="0"/>
              </a:spcBef>
            </a:pPr>
            <a:r>
              <a:rPr lang="en-US" altLang="en-US" dirty="0"/>
              <a:t>5.	Health Insurance Portability and Accountability Act of 1996 (HIPAA)</a:t>
            </a:r>
          </a:p>
          <a:p>
            <a:pPr eaLnBrk="1" hangingPunct="1">
              <a:spcBef>
                <a:spcPct val="0"/>
              </a:spcBef>
            </a:pPr>
            <a:r>
              <a:rPr lang="en-US" altLang="en-US" dirty="0"/>
              <a:t>	a.	HIPAA had many aims, including improving portability and continuity of health insurance coverage and combating waste and fraud in health insurance and in the provision of  health care. </a:t>
            </a:r>
          </a:p>
          <a:p>
            <a:pPr eaLnBrk="1" hangingPunct="1">
              <a:spcBef>
                <a:spcPct val="0"/>
              </a:spcBef>
            </a:pPr>
            <a:r>
              <a:rPr lang="en-US" altLang="en-US" dirty="0"/>
              <a:t>	b.	The section of the act that most affects EMS relates to patient privacy. </a:t>
            </a:r>
          </a:p>
          <a:p>
            <a:pPr eaLnBrk="1" hangingPunct="1">
              <a:spcBef>
                <a:spcPct val="0"/>
              </a:spcBef>
            </a:pPr>
            <a:r>
              <a:rPr lang="en-US" altLang="en-US" dirty="0"/>
              <a:t>		</a:t>
            </a:r>
            <a:r>
              <a:rPr lang="en-US" altLang="en-US" dirty="0" err="1"/>
              <a:t>i</a:t>
            </a:r>
            <a:r>
              <a:rPr lang="en-US" altLang="en-US" dirty="0"/>
              <a:t>.	The aim of this section is to strengthen laws for the protection of the privacy of health care information and to safeguard patient confidentiality. </a:t>
            </a:r>
          </a:p>
          <a:p>
            <a:pPr eaLnBrk="1" hangingPunct="1">
              <a:spcBef>
                <a:spcPct val="0"/>
              </a:spcBef>
            </a:pPr>
            <a:r>
              <a:rPr lang="en-US" altLang="en-US" dirty="0"/>
              <a:t>		ii.	HIPAA provides guidance on what type of information is protected, the responsibility of health care providers regarding that protection, and the penalties for breaching that protection.</a:t>
            </a:r>
          </a:p>
          <a:p>
            <a:pPr eaLnBrk="1" hangingPunct="1">
              <a:spcBef>
                <a:spcPct val="0"/>
              </a:spcBef>
            </a:pPr>
            <a:r>
              <a:rPr lang="en-US" altLang="en-US" dirty="0"/>
              <a:t>		iii.	Most personal health information is protected and should not be released without the patient’s permission. </a:t>
            </a:r>
          </a:p>
          <a:p>
            <a:pPr eaLnBrk="1" hangingPunct="1">
              <a:spcBef>
                <a:spcPct val="0"/>
              </a:spcBef>
            </a:pPr>
            <a:r>
              <a:rPr lang="en-US" altLang="en-US" dirty="0"/>
              <a:t>		iv.	When you are unsure whether information is protected, do not release it to anyone other than those directly involved in the care of the patient. </a:t>
            </a:r>
          </a:p>
          <a:p>
            <a:pPr eaLnBrk="1" hangingPunct="1">
              <a:spcBef>
                <a:spcPct val="0"/>
              </a:spcBef>
            </a:pPr>
            <a:r>
              <a:rPr lang="en-US" altLang="en-US" dirty="0"/>
              <a:t>		v.	Each service is required to have a manual and privacy officer who can answer questions. </a:t>
            </a:r>
          </a:p>
          <a:p>
            <a:pPr eaLnBrk="1" hangingPunct="1">
              <a:spcBef>
                <a:spcPct val="0"/>
              </a:spcBef>
            </a:pPr>
            <a:r>
              <a:rPr lang="en-US" altLang="en-US" dirty="0"/>
              <a:t>		vi.	You can expect to receive further training on how HIPAA affects your specific response agency and resource hospital.</a:t>
            </a:r>
          </a:p>
          <a:p>
            <a:pPr eaLnBrk="1" hangingPunct="1">
              <a:spcBef>
                <a:spcPct val="0"/>
              </a:spcBef>
            </a:pPr>
            <a:endParaRPr lang="en-US" altLang="en-US" dirty="0"/>
          </a:p>
        </p:txBody>
      </p:sp>
      <p:sp>
        <p:nvSpPr>
          <p:cNvPr id="55299" name="Slide Number Placeholder 3">
            <a:extLst>
              <a:ext uri="{FF2B5EF4-FFF2-40B4-BE49-F238E27FC236}">
                <a16:creationId xmlns:a16="http://schemas.microsoft.com/office/drawing/2014/main" id="{F50412E7-09AB-CC4F-8B63-20CF07120F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DC45DE0C-27DD-7347-807F-7FAC328448FE}" type="slidenum">
              <a:rPr lang="en-US" altLang="en-US" sz="1200"/>
              <a:pPr/>
              <a:t>24</a:t>
            </a:fld>
            <a:endParaRPr lang="en-US" altLang="en-US" sz="1200"/>
          </a:p>
        </p:txBody>
      </p:sp>
    </p:spTree>
    <p:extLst>
      <p:ext uri="{BB962C8B-B14F-4D97-AF65-F5344CB8AC3E}">
        <p14:creationId xmlns:p14="http://schemas.microsoft.com/office/powerpoint/2010/main" val="1586347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E2D3DEFF-A17D-3746-A443-59603C052F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Notes Placeholder 2">
            <a:extLst>
              <a:ext uri="{FF2B5EF4-FFF2-40B4-BE49-F238E27FC236}">
                <a16:creationId xmlns:a16="http://schemas.microsoft.com/office/drawing/2014/main" id="{83086164-37BE-1B44-BA86-1A2F10FEF2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X. Good Samaritan Laws</a:t>
            </a:r>
          </a:p>
          <a:p>
            <a:pPr eaLnBrk="1" hangingPunct="1">
              <a:spcBef>
                <a:spcPct val="0"/>
              </a:spcBef>
            </a:pPr>
            <a:r>
              <a:rPr lang="en-US" altLang="en-US" dirty="0"/>
              <a:t>A.	Good Samaritan laws protect citizens from liability for errors or omissions in giving good faith emergency care. </a:t>
            </a:r>
          </a:p>
          <a:p>
            <a:pPr eaLnBrk="1" hangingPunct="1">
              <a:spcBef>
                <a:spcPct val="0"/>
              </a:spcBef>
            </a:pPr>
            <a:r>
              <a:rPr lang="en-US" altLang="en-US" dirty="0"/>
              <a:t>B.	These laws vary considerably from state to state.</a:t>
            </a:r>
          </a:p>
          <a:p>
            <a:pPr eaLnBrk="1" hangingPunct="1">
              <a:spcBef>
                <a:spcPct val="0"/>
              </a:spcBef>
            </a:pPr>
            <a:r>
              <a:rPr lang="en-US" altLang="en-US" dirty="0"/>
              <a:t>C.	Legal experts have noted that Good Samaritan laws may no longer be needed.</a:t>
            </a:r>
          </a:p>
          <a:p>
            <a:pPr eaLnBrk="1" hangingPunct="1">
              <a:spcBef>
                <a:spcPct val="0"/>
              </a:spcBef>
            </a:pPr>
            <a:r>
              <a:rPr lang="en-US" altLang="en-US" dirty="0"/>
              <a:t>	1.	These laws provide little or no legal protection for an EMS provider.  Often, EMS provider levels are addressed in other sections of the State’s Public Health or Education Law.</a:t>
            </a:r>
          </a:p>
        </p:txBody>
      </p:sp>
      <p:sp>
        <p:nvSpPr>
          <p:cNvPr id="57347" name="Slide Number Placeholder 3">
            <a:extLst>
              <a:ext uri="{FF2B5EF4-FFF2-40B4-BE49-F238E27FC236}">
                <a16:creationId xmlns:a16="http://schemas.microsoft.com/office/drawing/2014/main" id="{AC543148-EC5A-9745-BFE3-4B20F95040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4E78409A-CEC5-9746-9801-A7B46A50D0E8}" type="slidenum">
              <a:rPr lang="en-US" altLang="en-US" sz="1200"/>
              <a:pPr/>
              <a:t>25</a:t>
            </a:fld>
            <a:endParaRPr lang="en-US" altLang="en-US" sz="1200"/>
          </a:p>
        </p:txBody>
      </p:sp>
    </p:spTree>
    <p:extLst>
      <p:ext uri="{BB962C8B-B14F-4D97-AF65-F5344CB8AC3E}">
        <p14:creationId xmlns:p14="http://schemas.microsoft.com/office/powerpoint/2010/main" val="3421718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3E4C2CE0-0FAD-6843-B8DB-BE62F8DF6A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a:extLst>
              <a:ext uri="{FF2B5EF4-FFF2-40B4-BE49-F238E27FC236}">
                <a16:creationId xmlns:a16="http://schemas.microsoft.com/office/drawing/2014/main" id="{4D30E143-B9F5-B849-A475-61563835BC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XI. Regulations</a:t>
            </a:r>
          </a:p>
          <a:p>
            <a:pPr eaLnBrk="1" hangingPunct="1">
              <a:spcBef>
                <a:spcPct val="0"/>
              </a:spcBef>
            </a:pPr>
            <a:r>
              <a:rPr lang="en-US" altLang="en-US" dirty="0"/>
              <a:t>A.	You should become familiar with the federal, state, local, and agency regulations that affect your job. </a:t>
            </a:r>
          </a:p>
          <a:p>
            <a:pPr eaLnBrk="1" hangingPunct="1">
              <a:spcBef>
                <a:spcPct val="0"/>
              </a:spcBef>
            </a:pPr>
            <a:r>
              <a:rPr lang="en-US" altLang="en-US" dirty="0"/>
              <a:t>B.	Certification or registration may be required to work as an EMR. </a:t>
            </a:r>
          </a:p>
          <a:p>
            <a:pPr eaLnBrk="1" hangingPunct="1">
              <a:spcBef>
                <a:spcPct val="0"/>
              </a:spcBef>
            </a:pPr>
            <a:r>
              <a:rPr lang="en-US" altLang="en-US" dirty="0"/>
              <a:t>C.	You are </a:t>
            </a:r>
            <a:r>
              <a:rPr lang="en-US" altLang="en-US" b="1" dirty="0"/>
              <a:t>always</a:t>
            </a:r>
            <a:r>
              <a:rPr lang="en-US" altLang="en-US" dirty="0"/>
              <a:t> responsible for keeping certifications or registrations current. </a:t>
            </a:r>
          </a:p>
          <a:p>
            <a:pPr eaLnBrk="1" hangingPunct="1">
              <a:spcBef>
                <a:spcPct val="0"/>
              </a:spcBef>
            </a:pPr>
            <a:endParaRPr lang="en-US" altLang="en-US" dirty="0"/>
          </a:p>
        </p:txBody>
      </p:sp>
      <p:sp>
        <p:nvSpPr>
          <p:cNvPr id="59395" name="Slide Number Placeholder 3">
            <a:extLst>
              <a:ext uri="{FF2B5EF4-FFF2-40B4-BE49-F238E27FC236}">
                <a16:creationId xmlns:a16="http://schemas.microsoft.com/office/drawing/2014/main" id="{4B2D835F-C65B-AD4E-8DD8-2E87B5CD88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BC9D44A6-2077-AD43-BB4E-AC381E415B16}" type="slidenum">
              <a:rPr lang="en-US" altLang="en-US" sz="1200"/>
              <a:pPr/>
              <a:t>26</a:t>
            </a:fld>
            <a:endParaRPr lang="en-US" altLang="en-US" sz="1200"/>
          </a:p>
        </p:txBody>
      </p:sp>
    </p:spTree>
    <p:extLst>
      <p:ext uri="{BB962C8B-B14F-4D97-AF65-F5344CB8AC3E}">
        <p14:creationId xmlns:p14="http://schemas.microsoft.com/office/powerpoint/2010/main" val="3199526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81793F16-C4FE-3244-A111-F1D9685523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1D40C3B4-9932-954F-8FA0-C0E40CAD7A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XII. Reportable Events</a:t>
            </a:r>
          </a:p>
          <a:p>
            <a:pPr eaLnBrk="1" hangingPunct="1">
              <a:spcBef>
                <a:spcPct val="0"/>
              </a:spcBef>
            </a:pPr>
            <a:r>
              <a:rPr lang="en-US" altLang="en-US" dirty="0"/>
              <a:t>A.	State and federal agencies have requirements for reporting certain events, including crimes and certain infectious diseases.</a:t>
            </a:r>
          </a:p>
          <a:p>
            <a:pPr eaLnBrk="1" hangingPunct="1">
              <a:spcBef>
                <a:spcPct val="0"/>
              </a:spcBef>
            </a:pPr>
            <a:r>
              <a:rPr lang="en-US" altLang="en-US" dirty="0"/>
              <a:t>	1.	Reportable crimes include</a:t>
            </a:r>
          </a:p>
          <a:p>
            <a:pPr eaLnBrk="1" hangingPunct="1">
              <a:spcBef>
                <a:spcPct val="0"/>
              </a:spcBef>
            </a:pPr>
            <a:r>
              <a:rPr lang="en-US" altLang="en-US" dirty="0"/>
              <a:t>		a.	Knife wounds</a:t>
            </a:r>
          </a:p>
          <a:p>
            <a:pPr eaLnBrk="1" hangingPunct="1">
              <a:spcBef>
                <a:spcPct val="0"/>
              </a:spcBef>
            </a:pPr>
            <a:r>
              <a:rPr lang="en-US" altLang="en-US" dirty="0"/>
              <a:t>		b.	Gunshot wounds</a:t>
            </a:r>
          </a:p>
          <a:p>
            <a:pPr eaLnBrk="1" hangingPunct="1">
              <a:spcBef>
                <a:spcPct val="0"/>
              </a:spcBef>
            </a:pPr>
            <a:r>
              <a:rPr lang="en-US" altLang="en-US" dirty="0"/>
              <a:t>		c.	Motor vehicle crashes</a:t>
            </a:r>
          </a:p>
          <a:p>
            <a:pPr eaLnBrk="1" hangingPunct="1">
              <a:spcBef>
                <a:spcPct val="0"/>
              </a:spcBef>
            </a:pPr>
            <a:r>
              <a:rPr lang="en-US" altLang="en-US" dirty="0"/>
              <a:t>		d.	Suspected child abuse</a:t>
            </a:r>
          </a:p>
          <a:p>
            <a:pPr eaLnBrk="1" hangingPunct="1">
              <a:spcBef>
                <a:spcPct val="0"/>
              </a:spcBef>
            </a:pPr>
            <a:r>
              <a:rPr lang="en-US" altLang="en-US" dirty="0"/>
              <a:t>		e.	Domestic violence</a:t>
            </a:r>
          </a:p>
          <a:p>
            <a:pPr eaLnBrk="1" hangingPunct="1">
              <a:spcBef>
                <a:spcPct val="0"/>
              </a:spcBef>
            </a:pPr>
            <a:r>
              <a:rPr lang="en-US" altLang="en-US" dirty="0"/>
              <a:t>		f.	Elder abuse</a:t>
            </a:r>
          </a:p>
          <a:p>
            <a:pPr eaLnBrk="1" hangingPunct="1">
              <a:spcBef>
                <a:spcPct val="0"/>
              </a:spcBef>
            </a:pPr>
            <a:r>
              <a:rPr lang="en-US" altLang="en-US" dirty="0"/>
              <a:t>		g.	Dog bites</a:t>
            </a:r>
          </a:p>
          <a:p>
            <a:pPr eaLnBrk="1" hangingPunct="1">
              <a:spcBef>
                <a:spcPct val="0"/>
              </a:spcBef>
            </a:pPr>
            <a:r>
              <a:rPr lang="en-US" altLang="en-US" dirty="0"/>
              <a:t>		h.	Rape</a:t>
            </a:r>
          </a:p>
          <a:p>
            <a:pPr eaLnBrk="1" hangingPunct="1">
              <a:spcBef>
                <a:spcPct val="0"/>
              </a:spcBef>
            </a:pPr>
            <a:endParaRPr lang="en-US" altLang="en-US" dirty="0"/>
          </a:p>
        </p:txBody>
      </p:sp>
      <p:sp>
        <p:nvSpPr>
          <p:cNvPr id="61443" name="Slide Number Placeholder 3">
            <a:extLst>
              <a:ext uri="{FF2B5EF4-FFF2-40B4-BE49-F238E27FC236}">
                <a16:creationId xmlns:a16="http://schemas.microsoft.com/office/drawing/2014/main" id="{1D3851F6-DED2-6A4E-92A8-6804F41375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3DEC3DCF-EA30-AB46-B9BD-BA56ECD7CED6}" type="slidenum">
              <a:rPr lang="en-US" altLang="en-US" sz="1200"/>
              <a:pPr/>
              <a:t>27</a:t>
            </a:fld>
            <a:endParaRPr lang="en-US" altLang="en-US" sz="1200"/>
          </a:p>
        </p:txBody>
      </p:sp>
    </p:spTree>
    <p:extLst>
      <p:ext uri="{BB962C8B-B14F-4D97-AF65-F5344CB8AC3E}">
        <p14:creationId xmlns:p14="http://schemas.microsoft.com/office/powerpoint/2010/main" val="1048078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C56854EB-275A-5940-A0CF-4E6C165049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a:extLst>
              <a:ext uri="{FF2B5EF4-FFF2-40B4-BE49-F238E27FC236}">
                <a16:creationId xmlns:a16="http://schemas.microsoft.com/office/drawing/2014/main" id="{65E844F6-3175-2F4A-922E-F1A131BB9E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B.	Learn which crimes are reportable in your area and know your agency’s procedures for reporting these crimes.</a:t>
            </a:r>
          </a:p>
          <a:p>
            <a:pPr eaLnBrk="1" hangingPunct="1">
              <a:spcBef>
                <a:spcPct val="0"/>
              </a:spcBef>
            </a:pPr>
            <a:r>
              <a:rPr lang="en-US" altLang="en-US" dirty="0"/>
              <a:t>C.	Failure to notify proper authorities of reportable events may result in penalties against you or your agency.</a:t>
            </a:r>
          </a:p>
          <a:p>
            <a:pPr eaLnBrk="1" hangingPunct="1">
              <a:spcBef>
                <a:spcPct val="0"/>
              </a:spcBef>
            </a:pPr>
            <a:endParaRPr lang="en-US" altLang="en-US" dirty="0"/>
          </a:p>
        </p:txBody>
      </p:sp>
      <p:sp>
        <p:nvSpPr>
          <p:cNvPr id="63491" name="Slide Number Placeholder 3">
            <a:extLst>
              <a:ext uri="{FF2B5EF4-FFF2-40B4-BE49-F238E27FC236}">
                <a16:creationId xmlns:a16="http://schemas.microsoft.com/office/drawing/2014/main" id="{E3566283-501A-2044-9C79-0877B7AB49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0B571A39-2B5A-B143-9EA1-83E4B6925FC0}" type="slidenum">
              <a:rPr lang="en-US" altLang="en-US" sz="1200"/>
              <a:pPr/>
              <a:t>28</a:t>
            </a:fld>
            <a:endParaRPr lang="en-US" altLang="en-US" sz="1200"/>
          </a:p>
        </p:txBody>
      </p:sp>
    </p:spTree>
    <p:extLst>
      <p:ext uri="{BB962C8B-B14F-4D97-AF65-F5344CB8AC3E}">
        <p14:creationId xmlns:p14="http://schemas.microsoft.com/office/powerpoint/2010/main" val="26506742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A27E329D-10A4-E44B-9741-63EECC53B8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Notes Placeholder 2">
            <a:extLst>
              <a:ext uri="{FF2B5EF4-FFF2-40B4-BE49-F238E27FC236}">
                <a16:creationId xmlns:a16="http://schemas.microsoft.com/office/drawing/2014/main" id="{DD2249E4-BA0C-6E4B-9ADF-ABE088DF50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XIII. Crime Scene Operations</a:t>
            </a:r>
          </a:p>
          <a:p>
            <a:pPr eaLnBrk="1" hangingPunct="1">
              <a:spcBef>
                <a:spcPct val="0"/>
              </a:spcBef>
            </a:pPr>
            <a:r>
              <a:rPr lang="en-US" altLang="en-US"/>
              <a:t>A.	Many emergency medical situations are also crime scenes.</a:t>
            </a:r>
          </a:p>
          <a:p>
            <a:pPr eaLnBrk="1" hangingPunct="1">
              <a:spcBef>
                <a:spcPct val="0"/>
              </a:spcBef>
            </a:pPr>
            <a:r>
              <a:rPr lang="en-US" altLang="en-US"/>
              <a:t>B.	As an EMR, you should keep the following considerations in mind:</a:t>
            </a:r>
          </a:p>
          <a:p>
            <a:pPr eaLnBrk="1" hangingPunct="1">
              <a:spcBef>
                <a:spcPct val="0"/>
              </a:spcBef>
            </a:pPr>
            <a:r>
              <a:rPr lang="en-US" altLang="en-US"/>
              <a:t>	1.	Protect yourself. Be sure the scene is safe before you try to enter.</a:t>
            </a:r>
            <a:endParaRPr lang="en-US" altLang="en-US" b="1"/>
          </a:p>
          <a:p>
            <a:pPr eaLnBrk="1" hangingPunct="1">
              <a:spcBef>
                <a:spcPct val="0"/>
              </a:spcBef>
            </a:pPr>
            <a:r>
              <a:rPr lang="en-US" altLang="en-US"/>
              <a:t>	2.	If you determine that a crime scene is unsafe, wait in a safe location until law enforcement personnel tell you the scene is safe for entry.</a:t>
            </a:r>
            <a:endParaRPr lang="en-US" altLang="en-US" b="1"/>
          </a:p>
          <a:p>
            <a:pPr eaLnBrk="1" hangingPunct="1">
              <a:spcBef>
                <a:spcPct val="0"/>
              </a:spcBef>
            </a:pPr>
            <a:r>
              <a:rPr lang="en-US" altLang="en-US"/>
              <a:t>	3.	Your first priority is patient care. Nothing except your personal safety should interfere with that effort.</a:t>
            </a:r>
            <a:endParaRPr lang="en-US" altLang="en-US" b="1"/>
          </a:p>
          <a:p>
            <a:pPr eaLnBrk="1" hangingPunct="1">
              <a:spcBef>
                <a:spcPct val="0"/>
              </a:spcBef>
            </a:pPr>
            <a:endParaRPr lang="en-US" altLang="en-US"/>
          </a:p>
        </p:txBody>
      </p:sp>
      <p:sp>
        <p:nvSpPr>
          <p:cNvPr id="65539" name="Slide Number Placeholder 3">
            <a:extLst>
              <a:ext uri="{FF2B5EF4-FFF2-40B4-BE49-F238E27FC236}">
                <a16:creationId xmlns:a16="http://schemas.microsoft.com/office/drawing/2014/main" id="{7C46BEE0-26E4-6A43-AC56-9E19E3CBF2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74E9EC3B-2AA4-D043-87E0-2B0393D736D6}" type="slidenum">
              <a:rPr lang="en-US" altLang="en-US" sz="1200"/>
              <a:pPr/>
              <a:t>29</a:t>
            </a:fld>
            <a:endParaRPr lang="en-US" altLang="en-US" sz="1200"/>
          </a:p>
        </p:txBody>
      </p:sp>
    </p:spTree>
    <p:extLst>
      <p:ext uri="{BB962C8B-B14F-4D97-AF65-F5344CB8AC3E}">
        <p14:creationId xmlns:p14="http://schemas.microsoft.com/office/powerpoint/2010/main" val="2278067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1FF161BA-73A5-204C-9E9B-3F8D18A3C2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a:extLst>
              <a:ext uri="{FF2B5EF4-FFF2-40B4-BE49-F238E27FC236}">
                <a16:creationId xmlns:a16="http://schemas.microsoft.com/office/drawing/2014/main" id="{546A455F-28E1-F243-9DAB-685E4E8E15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	4.	When you are assessing the scene, document anything you see that seems unusual.</a:t>
            </a:r>
            <a:endParaRPr lang="en-US" altLang="en-US" b="1" dirty="0"/>
          </a:p>
          <a:p>
            <a:pPr eaLnBrk="1" hangingPunct="1">
              <a:spcBef>
                <a:spcPct val="0"/>
              </a:spcBef>
            </a:pPr>
            <a:r>
              <a:rPr lang="en-US" altLang="en-US" dirty="0"/>
              <a:t>	5.	Move the patient only if necessary. If you must move patient, take a mental “snapshot” of the scene.</a:t>
            </a:r>
            <a:endParaRPr lang="en-US" altLang="en-US" b="1" dirty="0"/>
          </a:p>
          <a:p>
            <a:pPr eaLnBrk="1" hangingPunct="1">
              <a:spcBef>
                <a:spcPct val="0"/>
              </a:spcBef>
            </a:pPr>
            <a:r>
              <a:rPr lang="en-US" altLang="en-US" dirty="0"/>
              <a:t>	6.	Touch only what you need to touch to gain access to patient. </a:t>
            </a:r>
            <a:endParaRPr lang="en-US" altLang="en-US" b="1" dirty="0"/>
          </a:p>
          <a:p>
            <a:pPr eaLnBrk="1" hangingPunct="1">
              <a:spcBef>
                <a:spcPct val="0"/>
              </a:spcBef>
            </a:pPr>
            <a:r>
              <a:rPr lang="en-US" altLang="en-US" dirty="0"/>
              <a:t>	7.	Preserve crime scene for further investigation.</a:t>
            </a:r>
            <a:endParaRPr lang="en-US" altLang="en-US" b="1" dirty="0"/>
          </a:p>
          <a:p>
            <a:pPr eaLnBrk="1" hangingPunct="1">
              <a:spcBef>
                <a:spcPct val="0"/>
              </a:spcBef>
            </a:pPr>
            <a:r>
              <a:rPr lang="en-US" altLang="en-US" dirty="0"/>
              <a:t>	8.	Be careful not to cut through knife or bullet holes in patient’s clothing.</a:t>
            </a:r>
            <a:endParaRPr lang="en-US" altLang="en-US" b="1" dirty="0"/>
          </a:p>
          <a:p>
            <a:pPr eaLnBrk="1" hangingPunct="1">
              <a:spcBef>
                <a:spcPct val="0"/>
              </a:spcBef>
            </a:pPr>
            <a:endParaRPr lang="en-US" altLang="en-US" dirty="0"/>
          </a:p>
        </p:txBody>
      </p:sp>
      <p:sp>
        <p:nvSpPr>
          <p:cNvPr id="67587" name="Slide Number Placeholder 3">
            <a:extLst>
              <a:ext uri="{FF2B5EF4-FFF2-40B4-BE49-F238E27FC236}">
                <a16:creationId xmlns:a16="http://schemas.microsoft.com/office/drawing/2014/main" id="{BE17E296-ACD5-2940-A9F6-A60B4DA6D0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1FB0EC30-CE11-6646-BF00-E93A0CE4A5AC}" type="slidenum">
              <a:rPr lang="en-US" altLang="en-US" sz="1200"/>
              <a:pPr/>
              <a:t>30</a:t>
            </a:fld>
            <a:endParaRPr lang="en-US" altLang="en-US" sz="1200"/>
          </a:p>
        </p:txBody>
      </p:sp>
    </p:spTree>
    <p:extLst>
      <p:ext uri="{BB962C8B-B14F-4D97-AF65-F5344CB8AC3E}">
        <p14:creationId xmlns:p14="http://schemas.microsoft.com/office/powerpoint/2010/main" val="6592895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6D3CF2DC-4B53-A54B-BFB2-2D93D90F33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a:extLst>
              <a:ext uri="{FF2B5EF4-FFF2-40B4-BE49-F238E27FC236}">
                <a16:creationId xmlns:a16="http://schemas.microsoft.com/office/drawing/2014/main" id="{CF7949A0-FD63-A448-B50C-1131B7C9AE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	9.	Be careful where you place equipment to avoid changing or destroying evidence. </a:t>
            </a:r>
            <a:endParaRPr lang="en-US" altLang="en-US" b="1" dirty="0"/>
          </a:p>
          <a:p>
            <a:pPr eaLnBrk="1" hangingPunct="1">
              <a:spcBef>
                <a:spcPct val="0"/>
              </a:spcBef>
            </a:pPr>
            <a:r>
              <a:rPr lang="en-US" altLang="en-US" dirty="0"/>
              <a:t>	10.	Keep nonessential people away from the scene.</a:t>
            </a:r>
            <a:endParaRPr lang="en-US" altLang="en-US" b="1" dirty="0"/>
          </a:p>
          <a:p>
            <a:pPr eaLnBrk="1" hangingPunct="1">
              <a:spcBef>
                <a:spcPct val="0"/>
              </a:spcBef>
            </a:pPr>
            <a:r>
              <a:rPr lang="en-US" altLang="en-US" dirty="0"/>
              <a:t>	11.	Work with the appropriate law enforcement authorities on the scene to ensure that everyone has the information they need.</a:t>
            </a:r>
            <a:endParaRPr lang="en-US" altLang="en-US" b="1" dirty="0"/>
          </a:p>
          <a:p>
            <a:pPr eaLnBrk="1" hangingPunct="1">
              <a:spcBef>
                <a:spcPct val="0"/>
              </a:spcBef>
            </a:pPr>
            <a:r>
              <a:rPr lang="en-US" altLang="en-US" dirty="0"/>
              <a:t>	12.	After you have attended to a patient at a crime scene, consider writing a short report about incident as soon as possible and make a sketch of the scene that shows how and where you found patient.</a:t>
            </a:r>
            <a:endParaRPr lang="en-US" altLang="en-US" b="1" dirty="0"/>
          </a:p>
          <a:p>
            <a:pPr eaLnBrk="1" hangingPunct="1">
              <a:spcBef>
                <a:spcPct val="0"/>
              </a:spcBef>
            </a:pPr>
            <a:endParaRPr lang="en-US" altLang="en-US" dirty="0"/>
          </a:p>
          <a:p>
            <a:r>
              <a:rPr lang="en-US" altLang="en-US" dirty="0"/>
              <a:t>Figure: Crime scene operations require you to change scene as little as possible.</a:t>
            </a:r>
          </a:p>
        </p:txBody>
      </p:sp>
      <p:sp>
        <p:nvSpPr>
          <p:cNvPr id="69635" name="Slide Number Placeholder 3">
            <a:extLst>
              <a:ext uri="{FF2B5EF4-FFF2-40B4-BE49-F238E27FC236}">
                <a16:creationId xmlns:a16="http://schemas.microsoft.com/office/drawing/2014/main" id="{5619373A-284D-1F44-A833-59FE9604E8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45F923B1-27F2-F945-92E4-CD0F551E31D2}" type="slidenum">
              <a:rPr lang="en-US" altLang="en-US" sz="1200"/>
              <a:pPr/>
              <a:t>31</a:t>
            </a:fld>
            <a:endParaRPr lang="en-US" altLang="en-US" sz="1200"/>
          </a:p>
        </p:txBody>
      </p:sp>
    </p:spTree>
    <p:extLst>
      <p:ext uri="{BB962C8B-B14F-4D97-AF65-F5344CB8AC3E}">
        <p14:creationId xmlns:p14="http://schemas.microsoft.com/office/powerpoint/2010/main" val="22669284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C3F1973C-3C93-C140-AC48-79063D2ED3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Notes Placeholder 2">
            <a:extLst>
              <a:ext uri="{FF2B5EF4-FFF2-40B4-BE49-F238E27FC236}">
                <a16:creationId xmlns:a16="http://schemas.microsoft.com/office/drawing/2014/main" id="{CD10A37A-3007-C64A-BAF1-2BB435E1C3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XIV. Documentation</a:t>
            </a:r>
          </a:p>
          <a:p>
            <a:pPr eaLnBrk="1" hangingPunct="1">
              <a:spcBef>
                <a:spcPct val="0"/>
              </a:spcBef>
            </a:pPr>
            <a:r>
              <a:rPr lang="en-US" altLang="en-US" dirty="0"/>
              <a:t>A.	Documentation should be done according to the policies of your organization.</a:t>
            </a:r>
          </a:p>
          <a:p>
            <a:pPr eaLnBrk="1" hangingPunct="1">
              <a:spcBef>
                <a:spcPct val="0"/>
              </a:spcBef>
            </a:pPr>
            <a:r>
              <a:rPr lang="en-US" altLang="en-US" dirty="0"/>
              <a:t>B.	Policies should follow appropriate local and state laws. </a:t>
            </a:r>
          </a:p>
          <a:p>
            <a:pPr eaLnBrk="1" hangingPunct="1">
              <a:spcBef>
                <a:spcPct val="0"/>
              </a:spcBef>
            </a:pPr>
            <a:r>
              <a:rPr lang="en-US" altLang="en-US" dirty="0"/>
              <a:t>C.	Your documentation is the initial account describing patient’s condition and the care administered.</a:t>
            </a:r>
          </a:p>
          <a:p>
            <a:pPr eaLnBrk="1" hangingPunct="1">
              <a:spcBef>
                <a:spcPct val="0"/>
              </a:spcBef>
            </a:pPr>
            <a:r>
              <a:rPr lang="en-US" altLang="en-US" dirty="0"/>
              <a:t>	1.	Serves as a legal record of your treatment</a:t>
            </a:r>
            <a:endParaRPr lang="en-US" altLang="en-US" b="1" dirty="0"/>
          </a:p>
          <a:p>
            <a:pPr eaLnBrk="1" hangingPunct="1">
              <a:spcBef>
                <a:spcPct val="0"/>
              </a:spcBef>
            </a:pPr>
            <a:r>
              <a:rPr lang="en-US" altLang="en-US" dirty="0"/>
              <a:t>	2.	Provides a basis for evaluating the quality of care provided</a:t>
            </a:r>
            <a:endParaRPr lang="en-US" altLang="en-US" b="1" dirty="0"/>
          </a:p>
          <a:p>
            <a:pPr eaLnBrk="1" hangingPunct="1">
              <a:spcBef>
                <a:spcPct val="0"/>
              </a:spcBef>
            </a:pPr>
            <a:r>
              <a:rPr lang="en-US" altLang="en-US" dirty="0"/>
              <a:t>	3.	Should be clear, concise, accurate, and readable</a:t>
            </a:r>
            <a:endParaRPr lang="en-US" altLang="en-US" b="1" dirty="0"/>
          </a:p>
          <a:p>
            <a:pPr eaLnBrk="1" hangingPunct="1">
              <a:spcBef>
                <a:spcPct val="0"/>
              </a:spcBef>
            </a:pPr>
            <a:endParaRPr lang="en-US" altLang="en-US" dirty="0"/>
          </a:p>
        </p:txBody>
      </p:sp>
      <p:sp>
        <p:nvSpPr>
          <p:cNvPr id="71683" name="Slide Number Placeholder 3">
            <a:extLst>
              <a:ext uri="{FF2B5EF4-FFF2-40B4-BE49-F238E27FC236}">
                <a16:creationId xmlns:a16="http://schemas.microsoft.com/office/drawing/2014/main" id="{AA935502-0285-544D-B145-2C81ED8EB0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FF653588-6C34-0B49-ADD2-15EBD4D1DDAB}" type="slidenum">
              <a:rPr lang="en-US" altLang="en-US" sz="1200"/>
              <a:pPr/>
              <a:t>32</a:t>
            </a:fld>
            <a:endParaRPr lang="en-US" altLang="en-US" sz="1200"/>
          </a:p>
        </p:txBody>
      </p:sp>
    </p:spTree>
    <p:extLst>
      <p:ext uri="{BB962C8B-B14F-4D97-AF65-F5344CB8AC3E}">
        <p14:creationId xmlns:p14="http://schemas.microsoft.com/office/powerpoint/2010/main" val="24867454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69CAE64F-E94D-144D-B051-20764651F6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Notes Placeholder 2">
            <a:extLst>
              <a:ext uri="{FF2B5EF4-FFF2-40B4-BE49-F238E27FC236}">
                <a16:creationId xmlns:a16="http://schemas.microsoft.com/office/drawing/2014/main" id="{C38B0E9F-3961-C642-B27B-88289B139A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D.	Documentation should include:</a:t>
            </a:r>
          </a:p>
          <a:p>
            <a:pPr eaLnBrk="1" hangingPunct="1">
              <a:spcBef>
                <a:spcPct val="0"/>
              </a:spcBef>
            </a:pPr>
            <a:r>
              <a:rPr lang="en-US" altLang="en-US" dirty="0"/>
              <a:t>	1.	Condition of patient when found. </a:t>
            </a:r>
          </a:p>
          <a:p>
            <a:pPr eaLnBrk="1" hangingPunct="1">
              <a:spcBef>
                <a:spcPct val="0"/>
              </a:spcBef>
            </a:pPr>
            <a:r>
              <a:rPr lang="en-US" altLang="en-US" dirty="0"/>
              <a:t>	2.	Patient’s description of injury or illness.</a:t>
            </a:r>
          </a:p>
          <a:p>
            <a:pPr eaLnBrk="1" hangingPunct="1">
              <a:spcBef>
                <a:spcPct val="0"/>
              </a:spcBef>
            </a:pPr>
            <a:r>
              <a:rPr lang="en-US" altLang="en-US" dirty="0"/>
              <a:t>	3.	Patient’s initial and repeat vital signs.</a:t>
            </a:r>
          </a:p>
          <a:p>
            <a:pPr eaLnBrk="1" hangingPunct="1">
              <a:spcBef>
                <a:spcPct val="0"/>
              </a:spcBef>
            </a:pPr>
            <a:r>
              <a:rPr lang="en-US" altLang="en-US" dirty="0"/>
              <a:t>	4.	Treatment you gave patient. </a:t>
            </a:r>
          </a:p>
          <a:p>
            <a:pPr eaLnBrk="1" hangingPunct="1">
              <a:spcBef>
                <a:spcPct val="0"/>
              </a:spcBef>
            </a:pPr>
            <a:r>
              <a:rPr lang="en-US" altLang="en-US" dirty="0"/>
              <a:t>	5.	Agency and personnel who took over treatment of patient.</a:t>
            </a:r>
          </a:p>
          <a:p>
            <a:pPr eaLnBrk="1" hangingPunct="1">
              <a:spcBef>
                <a:spcPct val="0"/>
              </a:spcBef>
            </a:pPr>
            <a:r>
              <a:rPr lang="en-US" altLang="en-US" dirty="0"/>
              <a:t>	6.	Any reportable conditions present. </a:t>
            </a:r>
          </a:p>
          <a:p>
            <a:pPr eaLnBrk="1" hangingPunct="1">
              <a:spcBef>
                <a:spcPct val="0"/>
              </a:spcBef>
            </a:pPr>
            <a:r>
              <a:rPr lang="en-US" altLang="en-US" dirty="0"/>
              <a:t>	7.	Any infectious disease exposure.</a:t>
            </a:r>
          </a:p>
          <a:p>
            <a:pPr eaLnBrk="1" hangingPunct="1">
              <a:spcBef>
                <a:spcPct val="0"/>
              </a:spcBef>
            </a:pPr>
            <a:r>
              <a:rPr lang="en-US" altLang="en-US" dirty="0"/>
              <a:t>	8.	Anything unusual regarding the situation.</a:t>
            </a:r>
          </a:p>
          <a:p>
            <a:pPr eaLnBrk="1" hangingPunct="1">
              <a:spcBef>
                <a:spcPct val="0"/>
              </a:spcBef>
            </a:pPr>
            <a:endParaRPr lang="en-US" altLang="en-US" dirty="0"/>
          </a:p>
          <a:p>
            <a:pPr eaLnBrk="1" hangingPunct="1">
              <a:spcBef>
                <a:spcPct val="0"/>
              </a:spcBef>
            </a:pPr>
            <a:endParaRPr lang="en-US" altLang="en-US" dirty="0"/>
          </a:p>
        </p:txBody>
      </p:sp>
      <p:sp>
        <p:nvSpPr>
          <p:cNvPr id="73731" name="Slide Number Placeholder 3">
            <a:extLst>
              <a:ext uri="{FF2B5EF4-FFF2-40B4-BE49-F238E27FC236}">
                <a16:creationId xmlns:a16="http://schemas.microsoft.com/office/drawing/2014/main" id="{0D34EDE6-6717-AB4E-A92B-54D80DD560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28A27B10-53B3-DA41-90C0-B491B88A848B}" type="slidenum">
              <a:rPr lang="en-US" altLang="en-US" sz="1200"/>
              <a:pPr/>
              <a:t>33</a:t>
            </a:fld>
            <a:endParaRPr lang="en-US" altLang="en-US" sz="1200"/>
          </a:p>
        </p:txBody>
      </p:sp>
    </p:spTree>
    <p:extLst>
      <p:ext uri="{BB962C8B-B14F-4D97-AF65-F5344CB8AC3E}">
        <p14:creationId xmlns:p14="http://schemas.microsoft.com/office/powerpoint/2010/main" val="237811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2B3B2BD3-90CA-814D-B682-3C8D00145B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Notes Placeholder 2">
            <a:extLst>
              <a:ext uri="{FF2B5EF4-FFF2-40B4-BE49-F238E27FC236}">
                <a16:creationId xmlns:a16="http://schemas.microsoft.com/office/drawing/2014/main" id="{DAC7CC86-987C-524F-905E-6975B97024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XV. Summary</a:t>
            </a:r>
          </a:p>
          <a:p>
            <a:pPr eaLnBrk="1" hangingPunct="1">
              <a:spcBef>
                <a:spcPct val="0"/>
              </a:spcBef>
            </a:pPr>
            <a:r>
              <a:rPr lang="en-US" altLang="en-US" dirty="0"/>
              <a:t>A.	As an EMR, you have a duty to act when you are dispatched on a medical call as a part of your official duties.</a:t>
            </a:r>
          </a:p>
          <a:p>
            <a:pPr eaLnBrk="1" hangingPunct="1">
              <a:spcBef>
                <a:spcPct val="0"/>
              </a:spcBef>
            </a:pPr>
            <a:r>
              <a:rPr lang="en-US" altLang="en-US" dirty="0"/>
              <a:t>B.	You are held to a certain standard of care, which is related to your level of training, and you are expected to perform to the level to which a similarly trained person would perform under similar circumstances.</a:t>
            </a:r>
          </a:p>
          <a:p>
            <a:pPr eaLnBrk="1" hangingPunct="1">
              <a:spcBef>
                <a:spcPct val="0"/>
              </a:spcBef>
            </a:pPr>
            <a:r>
              <a:rPr lang="en-US" altLang="en-US" dirty="0"/>
              <a:t>C.	You should understand the differences between expressed consent, implied consent, consent for minors, consent of patients with mental illness, and right to refuse care.</a:t>
            </a:r>
          </a:p>
          <a:p>
            <a:pPr eaLnBrk="1" hangingPunct="1">
              <a:spcBef>
                <a:spcPct val="0"/>
              </a:spcBef>
            </a:pPr>
            <a:endParaRPr lang="en-US" altLang="en-US" dirty="0"/>
          </a:p>
        </p:txBody>
      </p:sp>
      <p:sp>
        <p:nvSpPr>
          <p:cNvPr id="77827" name="Slide Number Placeholder 3">
            <a:extLst>
              <a:ext uri="{FF2B5EF4-FFF2-40B4-BE49-F238E27FC236}">
                <a16:creationId xmlns:a16="http://schemas.microsoft.com/office/drawing/2014/main" id="{08233024-7F88-734F-AE72-2AE38261C2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13604154-F753-0C47-ADBA-82A0CEBE75D7}" type="slidenum">
              <a:rPr lang="en-US" altLang="en-US" sz="1200"/>
              <a:pPr/>
              <a:t>34</a:t>
            </a:fld>
            <a:endParaRPr lang="en-US" altLang="en-US" sz="1200"/>
          </a:p>
        </p:txBody>
      </p:sp>
    </p:spTree>
    <p:extLst>
      <p:ext uri="{BB962C8B-B14F-4D97-AF65-F5344CB8AC3E}">
        <p14:creationId xmlns:p14="http://schemas.microsoft.com/office/powerpoint/2010/main" val="1738728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0B8A43A3-C4D2-3E41-984B-F15DC467AD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Notes Placeholder 2">
            <a:extLst>
              <a:ext uri="{FF2B5EF4-FFF2-40B4-BE49-F238E27FC236}">
                <a16:creationId xmlns:a16="http://schemas.microsoft.com/office/drawing/2014/main" id="{14030B38-3170-D04B-A9B8-15B489FBE8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D.	Advance directives give a patient the right to have care withheld. Because emergency medical responders cannot determine the validity of these documents, it is best to begin treatment for these patients.</a:t>
            </a:r>
          </a:p>
          <a:p>
            <a:pPr eaLnBrk="1" hangingPunct="1">
              <a:spcBef>
                <a:spcPct val="0"/>
              </a:spcBef>
            </a:pPr>
            <a:r>
              <a:rPr lang="en-US" altLang="en-US" dirty="0"/>
              <a:t>E.	You should understand the concepts of abandonment, negligence, and confidentiality, as well as purpose of Good Samaritan laws.</a:t>
            </a:r>
          </a:p>
          <a:p>
            <a:pPr eaLnBrk="1" hangingPunct="1">
              <a:spcBef>
                <a:spcPct val="0"/>
              </a:spcBef>
            </a:pPr>
            <a:endParaRPr lang="en-US" altLang="en-US" dirty="0"/>
          </a:p>
        </p:txBody>
      </p:sp>
      <p:sp>
        <p:nvSpPr>
          <p:cNvPr id="79875" name="Slide Number Placeholder 3">
            <a:extLst>
              <a:ext uri="{FF2B5EF4-FFF2-40B4-BE49-F238E27FC236}">
                <a16:creationId xmlns:a16="http://schemas.microsoft.com/office/drawing/2014/main" id="{AC2916BE-1719-CF48-8837-EB87E2202B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9FDBE893-921F-D746-BD32-FBC150798E4E}" type="slidenum">
              <a:rPr lang="en-US" altLang="en-US" sz="1200"/>
              <a:pPr/>
              <a:t>35</a:t>
            </a:fld>
            <a:endParaRPr lang="en-US" altLang="en-US" sz="1200"/>
          </a:p>
        </p:txBody>
      </p:sp>
    </p:spTree>
    <p:extLst>
      <p:ext uri="{BB962C8B-B14F-4D97-AF65-F5344CB8AC3E}">
        <p14:creationId xmlns:p14="http://schemas.microsoft.com/office/powerpoint/2010/main" val="340042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a:extLst>
              <a:ext uri="{FF2B5EF4-FFF2-40B4-BE49-F238E27FC236}">
                <a16:creationId xmlns:a16="http://schemas.microsoft.com/office/drawing/2014/main" id="{2F177D66-87D7-144F-A93B-C45FE551B7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Notes Placeholder 2">
            <a:extLst>
              <a:ext uri="{FF2B5EF4-FFF2-40B4-BE49-F238E27FC236}">
                <a16:creationId xmlns:a16="http://schemas.microsoft.com/office/drawing/2014/main" id="{4DC8D82F-4935-4548-8CC0-DF5AA6F3F6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F.	You must understand the various federal and state regulations that govern your performance as an EMR. You must also understand your department’s operational regulations. Certain events that deal with contagious diseases, abuse, or illegal acts must be reported to the proper authorities; you should know how to deal with these reportable events.</a:t>
            </a:r>
          </a:p>
          <a:p>
            <a:pPr eaLnBrk="1" hangingPunct="1">
              <a:spcBef>
                <a:spcPct val="0"/>
              </a:spcBef>
            </a:pPr>
            <a:r>
              <a:rPr lang="en-US" altLang="en-US" dirty="0"/>
              <a:t>G.	Crime scene operations are a complex environment. Following proper procedures ensures that the patient receives good medical care and that the crime scene is not compromised for the law enforcement investigation.</a:t>
            </a:r>
          </a:p>
          <a:p>
            <a:pPr eaLnBrk="1" hangingPunct="1">
              <a:spcBef>
                <a:spcPct val="0"/>
              </a:spcBef>
            </a:pPr>
            <a:r>
              <a:rPr lang="en-US" altLang="en-US" dirty="0"/>
              <a:t>H.	Your job is not complete until paperwork (documentation) is done. It is important that EMRs document their findings and treatment. This provides good patient care and adequate legal documentation.</a:t>
            </a:r>
          </a:p>
          <a:p>
            <a:pPr eaLnBrk="1" hangingPunct="1">
              <a:spcBef>
                <a:spcPct val="0"/>
              </a:spcBef>
            </a:pPr>
            <a:r>
              <a:rPr lang="en-US" altLang="en-US" dirty="0"/>
              <a:t>I.	By understanding and following these legal concepts, you will build the foundation for the skills you need to be a good EMR.</a:t>
            </a:r>
          </a:p>
          <a:p>
            <a:pPr eaLnBrk="1" hangingPunct="1">
              <a:spcBef>
                <a:spcPct val="0"/>
              </a:spcBef>
            </a:pPr>
            <a:endParaRPr lang="en-US" altLang="en-US" dirty="0"/>
          </a:p>
        </p:txBody>
      </p:sp>
      <p:sp>
        <p:nvSpPr>
          <p:cNvPr id="81923" name="Slide Number Placeholder 3">
            <a:extLst>
              <a:ext uri="{FF2B5EF4-FFF2-40B4-BE49-F238E27FC236}">
                <a16:creationId xmlns:a16="http://schemas.microsoft.com/office/drawing/2014/main" id="{C9DE8E84-8972-E647-9558-29C34E789C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D7096A7F-D9A6-A84A-B152-559E482A8E20}" type="slidenum">
              <a:rPr lang="en-US" altLang="en-US" sz="1200"/>
              <a:pPr/>
              <a:t>36</a:t>
            </a:fld>
            <a:endParaRPr lang="en-US" altLang="en-US" sz="1200"/>
          </a:p>
        </p:txBody>
      </p:sp>
    </p:spTree>
    <p:extLst>
      <p:ext uri="{BB962C8B-B14F-4D97-AF65-F5344CB8AC3E}">
        <p14:creationId xmlns:p14="http://schemas.microsoft.com/office/powerpoint/2010/main" val="32545441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a:extLst>
              <a:ext uri="{FF2B5EF4-FFF2-40B4-BE49-F238E27FC236}">
                <a16:creationId xmlns:a16="http://schemas.microsoft.com/office/drawing/2014/main" id="{51C6B8B1-BC74-4142-BD51-2646C7EB7E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Notes Placeholder 2">
            <a:extLst>
              <a:ext uri="{FF2B5EF4-FFF2-40B4-BE49-F238E27FC236}">
                <a16:creationId xmlns:a16="http://schemas.microsoft.com/office/drawing/2014/main" id="{3A3D940D-FB4E-9940-9156-8D9289440E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83971" name="Slide Number Placeholder 3">
            <a:extLst>
              <a:ext uri="{FF2B5EF4-FFF2-40B4-BE49-F238E27FC236}">
                <a16:creationId xmlns:a16="http://schemas.microsoft.com/office/drawing/2014/main" id="{890AC8D6-A6DC-D346-86FE-FBEB01A967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483EAF1A-9BA0-4B49-916A-D8947B2D5FF9}" type="slidenum">
              <a:rPr lang="en-US" altLang="en-US" sz="1200"/>
              <a:pPr/>
              <a:t>37</a:t>
            </a:fld>
            <a:endParaRPr lang="en-US" altLang="en-US" sz="1200"/>
          </a:p>
        </p:txBody>
      </p:sp>
    </p:spTree>
    <p:extLst>
      <p:ext uri="{BB962C8B-B14F-4D97-AF65-F5344CB8AC3E}">
        <p14:creationId xmlns:p14="http://schemas.microsoft.com/office/powerpoint/2010/main" val="16815554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a:extLst>
              <a:ext uri="{FF2B5EF4-FFF2-40B4-BE49-F238E27FC236}">
                <a16:creationId xmlns:a16="http://schemas.microsoft.com/office/drawing/2014/main" id="{67DC0E2D-BD16-5247-B2D7-9BEB337368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Notes Placeholder 2">
            <a:extLst>
              <a:ext uri="{FF2B5EF4-FFF2-40B4-BE49-F238E27FC236}">
                <a16:creationId xmlns:a16="http://schemas.microsoft.com/office/drawing/2014/main" id="{B5BD3E39-33E1-3D4A-A493-84EE18910A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8067" name="Slide Number Placeholder 3">
            <a:extLst>
              <a:ext uri="{FF2B5EF4-FFF2-40B4-BE49-F238E27FC236}">
                <a16:creationId xmlns:a16="http://schemas.microsoft.com/office/drawing/2014/main" id="{8F46B456-DB2C-F940-B4F9-C23C5E749E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ヒラギノ角ゴ Pro W3" panose="020B0300000000000000" pitchFamily="34" charset="-128"/>
              </a:defRPr>
            </a:lvl1pPr>
            <a:lvl2pPr marL="742950" indent="-285750">
              <a:defRPr sz="2400" b="1">
                <a:solidFill>
                  <a:schemeClr val="tx1"/>
                </a:solidFill>
                <a:latin typeface="Times New Roman" panose="02020603050405020304" pitchFamily="18" charset="0"/>
                <a:ea typeface="ヒラギノ角ゴ Pro W3" panose="020B0300000000000000" pitchFamily="34" charset="-128"/>
              </a:defRPr>
            </a:lvl2pPr>
            <a:lvl3pPr marL="1143000" indent="-228600">
              <a:defRPr sz="2400" b="1">
                <a:solidFill>
                  <a:schemeClr val="tx1"/>
                </a:solidFill>
                <a:latin typeface="Times New Roman" panose="02020603050405020304" pitchFamily="18" charset="0"/>
                <a:ea typeface="ヒラギノ角ゴ Pro W3" panose="020B0300000000000000" pitchFamily="34" charset="-128"/>
              </a:defRPr>
            </a:lvl3pPr>
            <a:lvl4pPr marL="1600200" indent="-228600">
              <a:defRPr sz="2400" b="1">
                <a:solidFill>
                  <a:schemeClr val="tx1"/>
                </a:solidFill>
                <a:latin typeface="Times New Roman" panose="02020603050405020304" pitchFamily="18" charset="0"/>
                <a:ea typeface="ヒラギノ角ゴ Pro W3" panose="020B0300000000000000" pitchFamily="34" charset="-128"/>
              </a:defRPr>
            </a:lvl4pPr>
            <a:lvl5pPr marL="2057400" indent="-228600">
              <a:defRPr sz="2400" b="1">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ヒラギノ角ゴ Pro W3" panose="020B0300000000000000" pitchFamily="34" charset="-128"/>
              </a:defRPr>
            </a:lvl9pPr>
          </a:lstStyle>
          <a:p>
            <a:fld id="{AC142A9E-F726-9C45-8E71-D6F5A55FFDC8}" type="slidenum">
              <a:rPr lang="en-US" altLang="en-US" sz="1200"/>
              <a:pPr/>
              <a:t>40</a:t>
            </a:fld>
            <a:endParaRPr lang="en-US" altLang="en-US" sz="1200"/>
          </a:p>
        </p:txBody>
      </p:sp>
    </p:spTree>
    <p:extLst>
      <p:ext uri="{BB962C8B-B14F-4D97-AF65-F5344CB8AC3E}">
        <p14:creationId xmlns:p14="http://schemas.microsoft.com/office/powerpoint/2010/main" val="1194741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a:t>
            </a:r>
            <a:r>
              <a:rPr lang="en-US" sz="800">
                <a:latin typeface="Arial" panose="020B0604020202020204" pitchFamily="34" charset="0"/>
                <a:cs typeface="Arial" panose="020B0604020202020204" pitchFamily="34" charset="0"/>
              </a:rPr>
              <a:t>© 2022 </a:t>
            </a:r>
            <a:r>
              <a:rPr lang="en-US" sz="800" dirty="0">
                <a:latin typeface="Arial" panose="020B0604020202020204" pitchFamily="34" charset="0"/>
                <a:cs typeface="Arial" panose="020B0604020202020204" pitchFamily="34" charset="0"/>
              </a:rPr>
              <a:t>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4</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Medical, Legal, and Ethical Issues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A128C11-E687-DC48-A4D3-96F471F8686A}"/>
              </a:ext>
            </a:extLst>
          </p:cNvPr>
          <p:cNvSpPr>
            <a:spLocks noGrp="1" noChangeArrowheads="1"/>
          </p:cNvSpPr>
          <p:nvPr>
            <p:ph type="title"/>
          </p:nvPr>
        </p:nvSpPr>
        <p:spPr/>
        <p:txBody>
          <a:bodyPr/>
          <a:lstStyle/>
          <a:p>
            <a:pPr eaLnBrk="1" hangingPunct="1">
              <a:lnSpc>
                <a:spcPct val="85000"/>
              </a:lnSpc>
              <a:defRPr/>
            </a:pPr>
            <a:r>
              <a:rPr lang="en-US" altLang="en-US" dirty="0"/>
              <a:t>National EMS Education Standard Competencies </a:t>
            </a:r>
            <a:r>
              <a:rPr lang="en-US" altLang="en-US" sz="2800" b="0" dirty="0"/>
              <a:t>(1 of 2)</a:t>
            </a:r>
          </a:p>
        </p:txBody>
      </p:sp>
      <p:sp>
        <p:nvSpPr>
          <p:cNvPr id="5122" name="Rectangle 3">
            <a:extLst>
              <a:ext uri="{FF2B5EF4-FFF2-40B4-BE49-F238E27FC236}">
                <a16:creationId xmlns:a16="http://schemas.microsoft.com/office/drawing/2014/main" id="{D61458F6-EA79-6544-A3CE-52600E9C45A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Preparatory</a:t>
            </a:r>
          </a:p>
          <a:p>
            <a:pPr marL="0" indent="0">
              <a:spcBef>
                <a:spcPct val="35000"/>
              </a:spcBef>
              <a:buNone/>
            </a:pPr>
            <a:r>
              <a:rPr lang="en-US" altLang="en-US" dirty="0"/>
              <a:t>Uses simple knowledge of the EMS system, safety/well-being of the EMR, and medical/legal issues at scene of an emergency while awaiting a higher level of care.</a:t>
            </a:r>
          </a:p>
        </p:txBody>
      </p:sp>
    </p:spTree>
    <p:extLst>
      <p:ext uri="{BB962C8B-B14F-4D97-AF65-F5344CB8AC3E}">
        <p14:creationId xmlns:p14="http://schemas.microsoft.com/office/powerpoint/2010/main" val="302572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05AFFB9-3F67-B64D-A20F-C212CFBD1E14}"/>
              </a:ext>
            </a:extLst>
          </p:cNvPr>
          <p:cNvSpPr>
            <a:spLocks noGrp="1" noChangeArrowheads="1"/>
          </p:cNvSpPr>
          <p:nvPr>
            <p:ph type="title"/>
          </p:nvPr>
        </p:nvSpPr>
        <p:spPr/>
        <p:txBody>
          <a:bodyPr/>
          <a:lstStyle/>
          <a:p>
            <a:pPr eaLnBrk="1" hangingPunct="1">
              <a:lnSpc>
                <a:spcPct val="85000"/>
              </a:lnSpc>
              <a:defRPr/>
            </a:pPr>
            <a:r>
              <a:rPr lang="en-US" altLang="en-US" dirty="0"/>
              <a:t>National EMS Education Standard Competencies </a:t>
            </a:r>
            <a:r>
              <a:rPr lang="en-US" altLang="en-US" sz="2800" b="0" dirty="0"/>
              <a:t>(2 of 2)</a:t>
            </a:r>
          </a:p>
        </p:txBody>
      </p:sp>
      <p:sp>
        <p:nvSpPr>
          <p:cNvPr id="7170" name="Rectangle 3">
            <a:extLst>
              <a:ext uri="{FF2B5EF4-FFF2-40B4-BE49-F238E27FC236}">
                <a16:creationId xmlns:a16="http://schemas.microsoft.com/office/drawing/2014/main" id="{56E27B0E-B066-7F47-A4A9-9F67CD9B39BF}"/>
              </a:ext>
            </a:extLst>
          </p:cNvPr>
          <p:cNvSpPr>
            <a:spLocks noGrp="1" noChangeArrowheads="1"/>
          </p:cNvSpPr>
          <p:nvPr>
            <p:ph type="body" idx="1"/>
          </p:nvPr>
        </p:nvSpPr>
        <p:spPr>
          <a:xfrm>
            <a:off x="952500" y="1243734"/>
            <a:ext cx="10287000" cy="4699047"/>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solidFill>
                  <a:srgbClr val="FFFFFF"/>
                </a:solidFill>
              </a:rPr>
              <a:t>Medical/Legal and Ethics</a:t>
            </a:r>
          </a:p>
          <a:p>
            <a:pPr eaLnBrk="1" hangingPunct="1">
              <a:spcBef>
                <a:spcPct val="35000"/>
              </a:spcBef>
            </a:pPr>
            <a:r>
              <a:rPr lang="en-US" altLang="en-US" dirty="0"/>
              <a:t>Consent/refusal of care</a:t>
            </a:r>
          </a:p>
          <a:p>
            <a:pPr eaLnBrk="1" hangingPunct="1">
              <a:spcBef>
                <a:spcPct val="35000"/>
              </a:spcBef>
            </a:pPr>
            <a:r>
              <a:rPr lang="en-US" altLang="en-US" dirty="0"/>
              <a:t>Confidentiality</a:t>
            </a:r>
          </a:p>
          <a:p>
            <a:pPr eaLnBrk="1" hangingPunct="1">
              <a:spcBef>
                <a:spcPct val="35000"/>
              </a:spcBef>
            </a:pPr>
            <a:r>
              <a:rPr lang="en-US" altLang="en-US" dirty="0"/>
              <a:t>Advance directives</a:t>
            </a:r>
          </a:p>
          <a:p>
            <a:pPr eaLnBrk="1" hangingPunct="1">
              <a:spcBef>
                <a:spcPct val="35000"/>
              </a:spcBef>
            </a:pPr>
            <a:r>
              <a:rPr lang="en-US" altLang="en-US" dirty="0"/>
              <a:t>Tort and criminal actions</a:t>
            </a:r>
          </a:p>
          <a:p>
            <a:pPr eaLnBrk="1" hangingPunct="1">
              <a:spcBef>
                <a:spcPct val="35000"/>
              </a:spcBef>
            </a:pPr>
            <a:r>
              <a:rPr lang="en-US" altLang="en-US" dirty="0"/>
              <a:t>Evidence preservation</a:t>
            </a:r>
          </a:p>
          <a:p>
            <a:pPr eaLnBrk="1" hangingPunct="1">
              <a:spcBef>
                <a:spcPct val="35000"/>
              </a:spcBef>
            </a:pPr>
            <a:r>
              <a:rPr lang="en-US" altLang="en-US" dirty="0"/>
              <a:t>Statutory responsibilities</a:t>
            </a:r>
          </a:p>
          <a:p>
            <a:pPr>
              <a:spcBef>
                <a:spcPct val="35000"/>
              </a:spcBef>
            </a:pPr>
            <a:r>
              <a:rPr lang="en-US" altLang="en-US" dirty="0"/>
              <a:t>Mandatory reporting</a:t>
            </a:r>
          </a:p>
          <a:p>
            <a:pPr>
              <a:spcBef>
                <a:spcPct val="35000"/>
              </a:spcBef>
            </a:pPr>
            <a:r>
              <a:rPr lang="en-US" altLang="en-US" dirty="0"/>
              <a:t>Ethical principles/moral obligations</a:t>
            </a:r>
          </a:p>
          <a:p>
            <a:pPr>
              <a:spcBef>
                <a:spcPct val="35000"/>
              </a:spcBef>
            </a:pPr>
            <a:r>
              <a:rPr lang="en-US" altLang="en-US" dirty="0"/>
              <a:t>End-of-life issues</a:t>
            </a:r>
          </a:p>
        </p:txBody>
      </p:sp>
    </p:spTree>
    <p:extLst>
      <p:ext uri="{BB962C8B-B14F-4D97-AF65-F5344CB8AC3E}">
        <p14:creationId xmlns:p14="http://schemas.microsoft.com/office/powerpoint/2010/main" val="283862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B750B9-6D83-8846-9A0D-A0546701A3B6}"/>
              </a:ext>
            </a:extLst>
          </p:cNvPr>
          <p:cNvSpPr>
            <a:spLocks noGrp="1" noChangeArrowheads="1"/>
          </p:cNvSpPr>
          <p:nvPr>
            <p:ph type="title"/>
          </p:nvPr>
        </p:nvSpPr>
        <p:spPr/>
        <p:txBody>
          <a:bodyPr/>
          <a:lstStyle/>
          <a:p>
            <a:pPr eaLnBrk="1" hangingPunct="1">
              <a:lnSpc>
                <a:spcPct val="85000"/>
              </a:lnSpc>
              <a:defRPr/>
            </a:pPr>
            <a:r>
              <a:rPr lang="en-US" dirty="0"/>
              <a:t>Introduction</a:t>
            </a:r>
          </a:p>
        </p:txBody>
      </p:sp>
      <p:sp>
        <p:nvSpPr>
          <p:cNvPr id="11266" name="Rectangle 3">
            <a:extLst>
              <a:ext uri="{FF2B5EF4-FFF2-40B4-BE49-F238E27FC236}">
                <a16:creationId xmlns:a16="http://schemas.microsoft.com/office/drawing/2014/main" id="{7F766A71-2C40-3146-A6E4-303AE77F8E7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Laws differ from one location to another, so EMRs should learn specific laws that apply in their state and local jurisdiction.</a:t>
            </a:r>
          </a:p>
          <a:p>
            <a:pPr eaLnBrk="1" hangingPunct="1">
              <a:spcBef>
                <a:spcPct val="35000"/>
              </a:spcBef>
            </a:pPr>
            <a:r>
              <a:rPr lang="en-US" altLang="en-US" dirty="0"/>
              <a:t>Do not lose sight of these concepts:</a:t>
            </a:r>
          </a:p>
          <a:p>
            <a:pPr lvl="1" eaLnBrk="1" hangingPunct="1">
              <a:spcBef>
                <a:spcPct val="35000"/>
              </a:spcBef>
            </a:pPr>
            <a:r>
              <a:rPr lang="en-US" altLang="en-US" dirty="0"/>
              <a:t>Above all else, do no harm.</a:t>
            </a:r>
          </a:p>
          <a:p>
            <a:pPr lvl="1" eaLnBrk="1" hangingPunct="1">
              <a:spcBef>
                <a:spcPct val="35000"/>
              </a:spcBef>
            </a:pPr>
            <a:r>
              <a:rPr lang="en-US" altLang="en-US" dirty="0"/>
              <a:t>Provide all your care in good faith.</a:t>
            </a:r>
          </a:p>
          <a:p>
            <a:pPr lvl="1" eaLnBrk="1" hangingPunct="1">
              <a:spcBef>
                <a:spcPct val="35000"/>
              </a:spcBef>
            </a:pPr>
            <a:r>
              <a:rPr lang="en-US" altLang="en-US" dirty="0"/>
              <a:t>Provide proper consistent care, be compassionate, and maintain your composure.</a:t>
            </a:r>
          </a:p>
        </p:txBody>
      </p:sp>
    </p:spTree>
    <p:extLst>
      <p:ext uri="{BB962C8B-B14F-4D97-AF65-F5344CB8AC3E}">
        <p14:creationId xmlns:p14="http://schemas.microsoft.com/office/powerpoint/2010/main" val="405373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B189060-5E32-AC4E-8227-08E78F07BF58}"/>
              </a:ext>
            </a:extLst>
          </p:cNvPr>
          <p:cNvSpPr>
            <a:spLocks noGrp="1" noChangeArrowheads="1"/>
          </p:cNvSpPr>
          <p:nvPr>
            <p:ph type="title"/>
          </p:nvPr>
        </p:nvSpPr>
        <p:spPr/>
        <p:txBody>
          <a:bodyPr/>
          <a:lstStyle/>
          <a:p>
            <a:pPr eaLnBrk="1" hangingPunct="1">
              <a:lnSpc>
                <a:spcPct val="85000"/>
              </a:lnSpc>
              <a:defRPr/>
            </a:pPr>
            <a:r>
              <a:rPr lang="en-US" dirty="0"/>
              <a:t>Duty to Act </a:t>
            </a:r>
            <a:endParaRPr lang="en-US" sz="2800" b="0" dirty="0"/>
          </a:p>
        </p:txBody>
      </p:sp>
      <p:sp>
        <p:nvSpPr>
          <p:cNvPr id="13314" name="Rectangle 3">
            <a:extLst>
              <a:ext uri="{FF2B5EF4-FFF2-40B4-BE49-F238E27FC236}">
                <a16:creationId xmlns:a16="http://schemas.microsoft.com/office/drawing/2014/main" id="{D60782D7-54AA-9645-B14F-FFC8AF880015}"/>
              </a:ext>
            </a:extLst>
          </p:cNvPr>
          <p:cNvSpPr>
            <a:spLocks noGrp="1" noChangeArrowheads="1"/>
          </p:cNvSpPr>
          <p:nvPr>
            <p:ph type="body" idx="1"/>
          </p:nvPr>
        </p:nvSpPr>
        <p:spPr>
          <a:xfrm>
            <a:off x="369776" y="1381579"/>
            <a:ext cx="6399068" cy="3944183"/>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you are employed by an agency as an EMR and you are dispatched to scene of an accident or illness, you have a duty to act.</a:t>
            </a:r>
          </a:p>
          <a:p>
            <a:pPr lvl="1">
              <a:spcBef>
                <a:spcPct val="35000"/>
              </a:spcBef>
            </a:pPr>
            <a:r>
              <a:rPr lang="en-US" altLang="en-US" dirty="0"/>
              <a:t>You must proceed quickly to the scene and provide emergency medical care within the limits of your training and available equipment.</a:t>
            </a:r>
          </a:p>
          <a:p>
            <a:pPr>
              <a:spcBef>
                <a:spcPct val="35000"/>
              </a:spcBef>
            </a:pPr>
            <a:r>
              <a:rPr lang="en-US" altLang="en-US" dirty="0"/>
              <a:t>Failure to respond or render necessary emergency care leaves you and your agency vulnerable to legal action.</a:t>
            </a:r>
          </a:p>
          <a:p>
            <a:pPr marL="0" indent="0" eaLnBrk="1" hangingPunct="1">
              <a:spcBef>
                <a:spcPct val="35000"/>
              </a:spcBef>
              <a:buNone/>
            </a:pPr>
            <a:endParaRPr lang="en-US" altLang="en-US" dirty="0"/>
          </a:p>
        </p:txBody>
      </p:sp>
      <p:sp>
        <p:nvSpPr>
          <p:cNvPr id="7" name="Rectangle 6"/>
          <p:cNvSpPr/>
          <p:nvPr/>
        </p:nvSpPr>
        <p:spPr>
          <a:xfrm>
            <a:off x="7266092" y="4799996"/>
            <a:ext cx="4925908" cy="646331"/>
          </a:xfrm>
          <a:prstGeom prst="rect">
            <a:avLst/>
          </a:prstGeom>
        </p:spPr>
        <p:txBody>
          <a:bodyPr wrap="square">
            <a:spAutoFit/>
          </a:bodyPr>
          <a:lstStyle/>
          <a:p>
            <a:r>
              <a:rPr lang="en-US" b="1" cap="all" dirty="0"/>
              <a:t>Figure</a:t>
            </a:r>
            <a:r>
              <a:rPr lang="en-US" b="1" dirty="0"/>
              <a:t> 4-1 </a:t>
            </a:r>
            <a:r>
              <a:rPr lang="en-US" dirty="0"/>
              <a:t>EMRs dispatched to an emergency scene. </a:t>
            </a:r>
          </a:p>
        </p:txBody>
      </p:sp>
      <p:sp>
        <p:nvSpPr>
          <p:cNvPr id="8" name="Rectangle 7"/>
          <p:cNvSpPr/>
          <p:nvPr/>
        </p:nvSpPr>
        <p:spPr>
          <a:xfrm>
            <a:off x="7265918" y="5427221"/>
            <a:ext cx="4456008" cy="246221"/>
          </a:xfrm>
          <a:prstGeom prst="rect">
            <a:avLst/>
          </a:prstGeom>
        </p:spPr>
        <p:txBody>
          <a:bodyPr wrap="square">
            <a:spAutoFit/>
          </a:bodyPr>
          <a:lstStyle/>
          <a:p>
            <a:r>
              <a:rPr lang="en-US" sz="1000" dirty="0"/>
              <a:t>Courtesy of Captain David Jackson, Saginaw Township Fire Department. </a:t>
            </a:r>
          </a:p>
        </p:txBody>
      </p:sp>
      <p:pic>
        <p:nvPicPr>
          <p:cNvPr id="1026" name="Picture 2" descr="A photo shows emergency medical responders dressed in protective gear at the site of an emergency, with a car nearby and a truck in the background.&#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100" y="1487301"/>
            <a:ext cx="4114800" cy="3248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014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CB56FE3-5311-1145-8A75-F9352B587FCA}"/>
              </a:ext>
            </a:extLst>
          </p:cNvPr>
          <p:cNvSpPr>
            <a:spLocks noGrp="1" noChangeArrowheads="1"/>
          </p:cNvSpPr>
          <p:nvPr>
            <p:ph type="title"/>
          </p:nvPr>
        </p:nvSpPr>
        <p:spPr/>
        <p:txBody>
          <a:bodyPr/>
          <a:lstStyle/>
          <a:p>
            <a:pPr eaLnBrk="1" hangingPunct="1">
              <a:lnSpc>
                <a:spcPct val="85000"/>
              </a:lnSpc>
              <a:defRPr/>
            </a:pPr>
            <a:r>
              <a:rPr lang="en-US" dirty="0"/>
              <a:t>Standard of Care</a:t>
            </a:r>
          </a:p>
        </p:txBody>
      </p:sp>
      <p:sp>
        <p:nvSpPr>
          <p:cNvPr id="17410" name="Rectangle 3">
            <a:extLst>
              <a:ext uri="{FF2B5EF4-FFF2-40B4-BE49-F238E27FC236}">
                <a16:creationId xmlns:a16="http://schemas.microsoft.com/office/drawing/2014/main" id="{90DA3C7B-8417-E748-83F1-1300A2DDD5D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Standard of care is the manner in which you must act or behave.</a:t>
            </a:r>
          </a:p>
          <a:p>
            <a:pPr eaLnBrk="1" hangingPunct="1">
              <a:spcBef>
                <a:spcPct val="35000"/>
              </a:spcBef>
            </a:pPr>
            <a:r>
              <a:rPr lang="en-US" altLang="en-US" dirty="0"/>
              <a:t>You </a:t>
            </a:r>
            <a:r>
              <a:rPr lang="en-US" altLang="en-US" b="1" i="1" dirty="0"/>
              <a:t>must</a:t>
            </a:r>
            <a:r>
              <a:rPr lang="en-US" altLang="en-US" dirty="0"/>
              <a:t> meet two criteria:</a:t>
            </a:r>
          </a:p>
          <a:p>
            <a:pPr lvl="1" eaLnBrk="1" hangingPunct="1">
              <a:spcBef>
                <a:spcPct val="35000"/>
              </a:spcBef>
            </a:pPr>
            <a:r>
              <a:rPr lang="en-US" altLang="en-US" dirty="0"/>
              <a:t>Treat patient to the best of your ability.</a:t>
            </a:r>
          </a:p>
          <a:p>
            <a:pPr lvl="1" eaLnBrk="1" hangingPunct="1">
              <a:spcBef>
                <a:spcPct val="35000"/>
              </a:spcBef>
            </a:pPr>
            <a:r>
              <a:rPr lang="en-US" altLang="en-US" dirty="0"/>
              <a:t>Provide care that a reasonable, prudent person with similar training would provide under similar circumstances.</a:t>
            </a:r>
          </a:p>
        </p:txBody>
      </p:sp>
    </p:spTree>
    <p:extLst>
      <p:ext uri="{BB962C8B-B14F-4D97-AF65-F5344CB8AC3E}">
        <p14:creationId xmlns:p14="http://schemas.microsoft.com/office/powerpoint/2010/main" val="276446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2B7F020-96E1-E543-A4D2-73704D7378B9}"/>
              </a:ext>
            </a:extLst>
          </p:cNvPr>
          <p:cNvSpPr>
            <a:spLocks noGrp="1" noChangeArrowheads="1"/>
          </p:cNvSpPr>
          <p:nvPr>
            <p:ph type="title"/>
          </p:nvPr>
        </p:nvSpPr>
        <p:spPr/>
        <p:txBody>
          <a:bodyPr/>
          <a:lstStyle/>
          <a:p>
            <a:pPr eaLnBrk="1" hangingPunct="1">
              <a:lnSpc>
                <a:spcPct val="85000"/>
              </a:lnSpc>
              <a:defRPr/>
            </a:pPr>
            <a:r>
              <a:rPr lang="en-US" dirty="0"/>
              <a:t>Scope of Care</a:t>
            </a:r>
          </a:p>
        </p:txBody>
      </p:sp>
      <p:sp>
        <p:nvSpPr>
          <p:cNvPr id="19458" name="Rectangle 3">
            <a:extLst>
              <a:ext uri="{FF2B5EF4-FFF2-40B4-BE49-F238E27FC236}">
                <a16:creationId xmlns:a16="http://schemas.microsoft.com/office/drawing/2014/main" id="{40A4EB51-8560-6E4B-9F58-27CF50E8932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Scope of care is defined by</a:t>
            </a:r>
          </a:p>
          <a:p>
            <a:pPr lvl="1" eaLnBrk="1" hangingPunct="1">
              <a:spcBef>
                <a:spcPct val="35000"/>
              </a:spcBef>
            </a:pPr>
            <a:r>
              <a:rPr lang="en-US" altLang="en-US" dirty="0"/>
              <a:t>US Department of Transportation’s </a:t>
            </a:r>
            <a:r>
              <a:rPr lang="en-US" altLang="en-US" i="1" dirty="0"/>
              <a:t>Emergency Medical Responder Educational Standards</a:t>
            </a:r>
          </a:p>
          <a:p>
            <a:pPr lvl="1" eaLnBrk="1" hangingPunct="1">
              <a:spcBef>
                <a:spcPct val="35000"/>
              </a:spcBef>
            </a:pPr>
            <a:r>
              <a:rPr lang="en-US" altLang="en-US" dirty="0"/>
              <a:t>Medical protocols or standing orders (regional or state)</a:t>
            </a:r>
          </a:p>
          <a:p>
            <a:pPr lvl="1" eaLnBrk="1" hangingPunct="1">
              <a:spcBef>
                <a:spcPct val="35000"/>
              </a:spcBef>
            </a:pPr>
            <a:r>
              <a:rPr lang="en-US" altLang="en-US" dirty="0"/>
              <a:t>Online medical direction</a:t>
            </a:r>
          </a:p>
        </p:txBody>
      </p:sp>
    </p:spTree>
    <p:extLst>
      <p:ext uri="{BB962C8B-B14F-4D97-AF65-F5344CB8AC3E}">
        <p14:creationId xmlns:p14="http://schemas.microsoft.com/office/powerpoint/2010/main" val="2554034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40C5D8F-7E56-BF48-AA41-207554033368}"/>
              </a:ext>
            </a:extLst>
          </p:cNvPr>
          <p:cNvSpPr>
            <a:spLocks noGrp="1" noChangeArrowheads="1"/>
          </p:cNvSpPr>
          <p:nvPr>
            <p:ph type="title"/>
          </p:nvPr>
        </p:nvSpPr>
        <p:spPr/>
        <p:txBody>
          <a:bodyPr/>
          <a:lstStyle/>
          <a:p>
            <a:pPr eaLnBrk="1" hangingPunct="1">
              <a:lnSpc>
                <a:spcPct val="85000"/>
              </a:lnSpc>
              <a:defRPr/>
            </a:pPr>
            <a:r>
              <a:rPr lang="en-US" dirty="0"/>
              <a:t>Ethical Responsibilities and Competence </a:t>
            </a:r>
            <a:r>
              <a:rPr lang="en-US" sz="2800" b="0" dirty="0"/>
              <a:t>(1 of 2)</a:t>
            </a:r>
          </a:p>
        </p:txBody>
      </p:sp>
      <p:sp>
        <p:nvSpPr>
          <p:cNvPr id="21506" name="Rectangle 3">
            <a:extLst>
              <a:ext uri="{FF2B5EF4-FFF2-40B4-BE49-F238E27FC236}">
                <a16:creationId xmlns:a16="http://schemas.microsoft.com/office/drawing/2014/main" id="{FA5BC3EF-5685-A543-801C-DCCACA70C36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Treating a patient ethically means doing so in a manner that conforms to accepted professional standards of conduct.</a:t>
            </a:r>
          </a:p>
          <a:p>
            <a:pPr lvl="1" eaLnBrk="1" hangingPunct="1">
              <a:spcBef>
                <a:spcPct val="35000"/>
              </a:spcBef>
            </a:pPr>
            <a:r>
              <a:rPr lang="en-US" altLang="en-US" dirty="0"/>
              <a:t>Stay up-to-date on skills and knowledge.</a:t>
            </a:r>
          </a:p>
          <a:p>
            <a:pPr lvl="1" eaLnBrk="1" hangingPunct="1">
              <a:spcBef>
                <a:spcPct val="35000"/>
              </a:spcBef>
            </a:pPr>
            <a:r>
              <a:rPr lang="en-US" altLang="en-US" dirty="0"/>
              <a:t>Review your performance and assess your techniques.</a:t>
            </a:r>
          </a:p>
          <a:p>
            <a:pPr lvl="1" eaLnBrk="1" hangingPunct="1">
              <a:spcBef>
                <a:spcPct val="35000"/>
              </a:spcBef>
            </a:pPr>
            <a:r>
              <a:rPr lang="en-US" altLang="en-US" dirty="0"/>
              <a:t>Evaluate your response times.</a:t>
            </a:r>
          </a:p>
          <a:p>
            <a:pPr lvl="1" eaLnBrk="1" hangingPunct="1">
              <a:spcBef>
                <a:spcPct val="35000"/>
              </a:spcBef>
            </a:pPr>
            <a:r>
              <a:rPr lang="en-US" altLang="en-US" dirty="0"/>
              <a:t>Try to follow up patient outcomes. </a:t>
            </a:r>
          </a:p>
          <a:p>
            <a:pPr lvl="1" eaLnBrk="1" hangingPunct="1">
              <a:spcBef>
                <a:spcPct val="35000"/>
              </a:spcBef>
            </a:pPr>
            <a:r>
              <a:rPr lang="en-US" altLang="en-US" dirty="0"/>
              <a:t>Take continuing education classes.</a:t>
            </a:r>
          </a:p>
          <a:p>
            <a:pPr lvl="1" eaLnBrk="1" hangingPunct="1">
              <a:spcBef>
                <a:spcPct val="35000"/>
              </a:spcBef>
            </a:pPr>
            <a:r>
              <a:rPr lang="en-US" altLang="en-US" dirty="0"/>
              <a:t>Participate in quality improvement activities.</a:t>
            </a:r>
          </a:p>
        </p:txBody>
      </p:sp>
    </p:spTree>
    <p:extLst>
      <p:ext uri="{BB962C8B-B14F-4D97-AF65-F5344CB8AC3E}">
        <p14:creationId xmlns:p14="http://schemas.microsoft.com/office/powerpoint/2010/main" val="228165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4EFA730-3556-AD41-8B33-DE079CACC3F2}"/>
              </a:ext>
            </a:extLst>
          </p:cNvPr>
          <p:cNvSpPr>
            <a:spLocks noGrp="1" noChangeArrowheads="1"/>
          </p:cNvSpPr>
          <p:nvPr>
            <p:ph type="title"/>
          </p:nvPr>
        </p:nvSpPr>
        <p:spPr/>
        <p:txBody>
          <a:bodyPr/>
          <a:lstStyle/>
          <a:p>
            <a:pPr eaLnBrk="1" hangingPunct="1">
              <a:lnSpc>
                <a:spcPct val="85000"/>
              </a:lnSpc>
              <a:defRPr/>
            </a:pPr>
            <a:r>
              <a:rPr lang="en-US" dirty="0"/>
              <a:t>Ethical Responsibilities and Competence </a:t>
            </a:r>
            <a:r>
              <a:rPr lang="en-US" sz="2800" b="0" dirty="0"/>
              <a:t>(2 of 2)</a:t>
            </a:r>
          </a:p>
        </p:txBody>
      </p:sp>
      <p:sp>
        <p:nvSpPr>
          <p:cNvPr id="23554" name="Rectangle 3">
            <a:extLst>
              <a:ext uri="{FF2B5EF4-FFF2-40B4-BE49-F238E27FC236}">
                <a16:creationId xmlns:a16="http://schemas.microsoft.com/office/drawing/2014/main" id="{1EA01C75-E405-094E-96D3-2CB2938D1A4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Ethical behavior requires honesty.</a:t>
            </a:r>
          </a:p>
          <a:p>
            <a:pPr lvl="1" eaLnBrk="1" hangingPunct="1">
              <a:spcBef>
                <a:spcPct val="35000"/>
              </a:spcBef>
            </a:pPr>
            <a:r>
              <a:rPr lang="en-US" altLang="en-US"/>
              <a:t>Always provide complete and correct reports to other EMS providers.</a:t>
            </a:r>
          </a:p>
          <a:p>
            <a:pPr lvl="1" eaLnBrk="1" hangingPunct="1">
              <a:spcBef>
                <a:spcPct val="35000"/>
              </a:spcBef>
            </a:pPr>
            <a:r>
              <a:rPr lang="en-US" altLang="en-US"/>
              <a:t>Never change a report except to correct an error.</a:t>
            </a:r>
          </a:p>
        </p:txBody>
      </p:sp>
    </p:spTree>
    <p:extLst>
      <p:ext uri="{BB962C8B-B14F-4D97-AF65-F5344CB8AC3E}">
        <p14:creationId xmlns:p14="http://schemas.microsoft.com/office/powerpoint/2010/main" val="42737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89F81C0-B6BE-AD4C-B016-824F1488D7AD}"/>
              </a:ext>
            </a:extLst>
          </p:cNvPr>
          <p:cNvSpPr>
            <a:spLocks noGrp="1" noChangeArrowheads="1"/>
          </p:cNvSpPr>
          <p:nvPr>
            <p:ph type="title"/>
          </p:nvPr>
        </p:nvSpPr>
        <p:spPr/>
        <p:txBody>
          <a:bodyPr/>
          <a:lstStyle/>
          <a:p>
            <a:pPr eaLnBrk="1" hangingPunct="1">
              <a:lnSpc>
                <a:spcPct val="85000"/>
              </a:lnSpc>
              <a:defRPr/>
            </a:pPr>
            <a:r>
              <a:rPr lang="en-US" dirty="0"/>
              <a:t>Consent for Treatment </a:t>
            </a:r>
            <a:r>
              <a:rPr lang="en-US" sz="2800" b="0" dirty="0"/>
              <a:t>(1 of 4)</a:t>
            </a:r>
          </a:p>
        </p:txBody>
      </p:sp>
      <p:sp>
        <p:nvSpPr>
          <p:cNvPr id="25602" name="Rectangle 3">
            <a:extLst>
              <a:ext uri="{FF2B5EF4-FFF2-40B4-BE49-F238E27FC236}">
                <a16:creationId xmlns:a16="http://schemas.microsoft.com/office/drawing/2014/main" id="{758E7CD3-AEE4-484A-AD15-C6CC6871A29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Consent simply means giving approval or permission.</a:t>
            </a:r>
          </a:p>
          <a:p>
            <a:pPr eaLnBrk="1" hangingPunct="1">
              <a:spcBef>
                <a:spcPct val="35000"/>
              </a:spcBef>
            </a:pPr>
            <a:r>
              <a:rPr lang="en-US" altLang="en-US" dirty="0"/>
              <a:t>Expressed consent</a:t>
            </a:r>
          </a:p>
          <a:p>
            <a:pPr lvl="1" eaLnBrk="1" hangingPunct="1">
              <a:spcBef>
                <a:spcPct val="35000"/>
              </a:spcBef>
            </a:pPr>
            <a:r>
              <a:rPr lang="en-US" altLang="en-US" dirty="0"/>
              <a:t>Patient actually lets you know—verbally or nonverbally—that he or she is willing to accept treatment.  Ideally the consent will be expressed and also informed.</a:t>
            </a:r>
          </a:p>
          <a:p>
            <a:pPr lvl="1" eaLnBrk="1" hangingPunct="1">
              <a:spcBef>
                <a:spcPct val="35000"/>
              </a:spcBef>
            </a:pPr>
            <a:r>
              <a:rPr lang="en-US" altLang="en-US" dirty="0"/>
              <a:t>Sometimes called actual consent.</a:t>
            </a:r>
          </a:p>
          <a:p>
            <a:pPr lvl="1" eaLnBrk="1" hangingPunct="1">
              <a:spcBef>
                <a:spcPct val="35000"/>
              </a:spcBef>
            </a:pPr>
            <a:r>
              <a:rPr lang="en-US" altLang="en-US" dirty="0"/>
              <a:t>Patient must be of legal age and able to make a rational decision.</a:t>
            </a:r>
          </a:p>
          <a:p>
            <a:pPr lvl="2">
              <a:spcBef>
                <a:spcPct val="35000"/>
              </a:spcBef>
            </a:pPr>
            <a:r>
              <a:rPr lang="en-US" altLang="en-US" dirty="0"/>
              <a:t>Discuss “emancipated minor” as defined in your state law.</a:t>
            </a:r>
          </a:p>
        </p:txBody>
      </p:sp>
    </p:spTree>
    <p:extLst>
      <p:ext uri="{BB962C8B-B14F-4D97-AF65-F5344CB8AC3E}">
        <p14:creationId xmlns:p14="http://schemas.microsoft.com/office/powerpoint/2010/main" val="381466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CE61EAF-1A24-E84B-B69E-B5D1CDA768B3}"/>
              </a:ext>
            </a:extLst>
          </p:cNvPr>
          <p:cNvSpPr>
            <a:spLocks noGrp="1" noChangeArrowheads="1"/>
          </p:cNvSpPr>
          <p:nvPr>
            <p:ph type="title"/>
          </p:nvPr>
        </p:nvSpPr>
        <p:spPr/>
        <p:txBody>
          <a:bodyPr/>
          <a:lstStyle/>
          <a:p>
            <a:pPr eaLnBrk="1" hangingPunct="1">
              <a:lnSpc>
                <a:spcPct val="85000"/>
              </a:lnSpc>
              <a:defRPr/>
            </a:pPr>
            <a:r>
              <a:rPr lang="en-US" dirty="0"/>
              <a:t>Consent for Treatment </a:t>
            </a:r>
            <a:r>
              <a:rPr lang="en-US" sz="2800" b="0" dirty="0"/>
              <a:t>(2 of 4)</a:t>
            </a:r>
          </a:p>
        </p:txBody>
      </p:sp>
      <p:sp>
        <p:nvSpPr>
          <p:cNvPr id="27650" name="Rectangle 3">
            <a:extLst>
              <a:ext uri="{FF2B5EF4-FFF2-40B4-BE49-F238E27FC236}">
                <a16:creationId xmlns:a16="http://schemas.microsoft.com/office/drawing/2014/main" id="{2AB7FF57-04F4-C946-9048-B6580C4ECD3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Implied consent</a:t>
            </a:r>
          </a:p>
          <a:p>
            <a:pPr lvl="1" eaLnBrk="1" hangingPunct="1">
              <a:spcBef>
                <a:spcPct val="35000"/>
              </a:spcBef>
            </a:pPr>
            <a:r>
              <a:rPr lang="en-US" altLang="en-US" dirty="0"/>
              <a:t>Patient does not specifically refuse emergency care.</a:t>
            </a:r>
          </a:p>
          <a:p>
            <a:pPr lvl="1" eaLnBrk="1" hangingPunct="1">
              <a:spcBef>
                <a:spcPct val="35000"/>
              </a:spcBef>
            </a:pPr>
            <a:r>
              <a:rPr lang="en-US" altLang="en-US" dirty="0"/>
              <a:t>Do not hesitate to treat an unconscious patient.</a:t>
            </a:r>
          </a:p>
          <a:p>
            <a:pPr eaLnBrk="1" hangingPunct="1">
              <a:spcBef>
                <a:spcPct val="35000"/>
              </a:spcBef>
            </a:pPr>
            <a:r>
              <a:rPr lang="en-US" altLang="en-US" dirty="0"/>
              <a:t>Consent for minors</a:t>
            </a:r>
          </a:p>
          <a:p>
            <a:pPr lvl="1" eaLnBrk="1" hangingPunct="1">
              <a:spcBef>
                <a:spcPct val="35000"/>
              </a:spcBef>
            </a:pPr>
            <a:r>
              <a:rPr lang="en-US" altLang="en-US" dirty="0"/>
              <a:t>Under the law, minors are not considered capable of speaking for themselves.</a:t>
            </a:r>
          </a:p>
        </p:txBody>
      </p:sp>
    </p:spTree>
    <p:extLst>
      <p:ext uri="{BB962C8B-B14F-4D97-AF65-F5344CB8AC3E}">
        <p14:creationId xmlns:p14="http://schemas.microsoft.com/office/powerpoint/2010/main" val="282171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7A2AE1B-CF41-E248-BBFB-4860A58BA556}"/>
              </a:ext>
            </a:extLst>
          </p:cNvPr>
          <p:cNvSpPr>
            <a:spLocks noGrp="1" noChangeArrowheads="1"/>
          </p:cNvSpPr>
          <p:nvPr>
            <p:ph type="title"/>
          </p:nvPr>
        </p:nvSpPr>
        <p:spPr/>
        <p:txBody>
          <a:bodyPr/>
          <a:lstStyle/>
          <a:p>
            <a:pPr eaLnBrk="1" hangingPunct="1">
              <a:lnSpc>
                <a:spcPct val="85000"/>
              </a:lnSpc>
              <a:defRPr/>
            </a:pPr>
            <a:r>
              <a:rPr lang="en-US" dirty="0"/>
              <a:t>Consent for Treatment </a:t>
            </a:r>
            <a:r>
              <a:rPr lang="en-US" sz="2800" b="0" dirty="0"/>
              <a:t>(3 of 4)</a:t>
            </a:r>
          </a:p>
        </p:txBody>
      </p:sp>
      <p:sp>
        <p:nvSpPr>
          <p:cNvPr id="29698" name="Rectangle 3">
            <a:extLst>
              <a:ext uri="{FF2B5EF4-FFF2-40B4-BE49-F238E27FC236}">
                <a16:creationId xmlns:a16="http://schemas.microsoft.com/office/drawing/2014/main" id="{7E263C23-B1BE-B443-B2B6-F8B2DA78D451}"/>
              </a:ext>
            </a:extLst>
          </p:cNvPr>
          <p:cNvSpPr>
            <a:spLocks noGrp="1" noChangeArrowheads="1"/>
          </p:cNvSpPr>
          <p:nvPr>
            <p:ph type="body" idx="1"/>
          </p:nvPr>
        </p:nvSpPr>
        <p:spPr>
          <a:xfrm>
            <a:off x="6095999" y="1447800"/>
            <a:ext cx="4827373"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Consent for minors (cont’d)</a:t>
            </a:r>
          </a:p>
          <a:p>
            <a:pPr lvl="1" eaLnBrk="1" hangingPunct="1">
              <a:spcBef>
                <a:spcPct val="35000"/>
              </a:spcBef>
            </a:pPr>
            <a:r>
              <a:rPr lang="en-US" altLang="en-US" sz="2100" dirty="0"/>
              <a:t>Emergency treatment must wait until a patient or legal guardian consents to treatment.</a:t>
            </a:r>
          </a:p>
          <a:p>
            <a:pPr lvl="1" eaLnBrk="1" hangingPunct="1">
              <a:spcBef>
                <a:spcPct val="35000"/>
              </a:spcBef>
            </a:pPr>
            <a:r>
              <a:rPr lang="en-US" altLang="en-US" sz="2100" dirty="0"/>
              <a:t>If permission cannot be quickly obtained, do not hesitate to give appropriate medical care.</a:t>
            </a:r>
          </a:p>
        </p:txBody>
      </p:sp>
      <p:sp>
        <p:nvSpPr>
          <p:cNvPr id="7" name="Rectangle 6"/>
          <p:cNvSpPr/>
          <p:nvPr/>
        </p:nvSpPr>
        <p:spPr>
          <a:xfrm>
            <a:off x="677416" y="4799996"/>
            <a:ext cx="4925908" cy="646331"/>
          </a:xfrm>
          <a:prstGeom prst="rect">
            <a:avLst/>
          </a:prstGeom>
        </p:spPr>
        <p:txBody>
          <a:bodyPr wrap="square">
            <a:spAutoFit/>
          </a:bodyPr>
          <a:lstStyle/>
          <a:p>
            <a:r>
              <a:rPr lang="en-US" b="1" cap="all" dirty="0"/>
              <a:t>Figure</a:t>
            </a:r>
            <a:r>
              <a:rPr lang="en-US" b="1" dirty="0"/>
              <a:t> 4-2 </a:t>
            </a:r>
            <a:r>
              <a:rPr lang="en-US" dirty="0"/>
              <a:t>Do not delay or withhold emergency medical treatment from a patient who is a minor. </a:t>
            </a:r>
          </a:p>
        </p:txBody>
      </p:sp>
      <p:sp>
        <p:nvSpPr>
          <p:cNvPr id="8" name="Rectangle 7"/>
          <p:cNvSpPr/>
          <p:nvPr/>
        </p:nvSpPr>
        <p:spPr>
          <a:xfrm>
            <a:off x="677242" y="5427221"/>
            <a:ext cx="4456008" cy="246221"/>
          </a:xfrm>
          <a:prstGeom prst="rect">
            <a:avLst/>
          </a:prstGeom>
        </p:spPr>
        <p:txBody>
          <a:bodyPr wrap="square">
            <a:spAutoFit/>
          </a:bodyPr>
          <a:lstStyle/>
          <a:p>
            <a:r>
              <a:rPr lang="en-US" sz="1000" dirty="0"/>
              <a:t>© Jones &amp; Bartlett Learning. Courtesy of MIEMSS. </a:t>
            </a:r>
          </a:p>
        </p:txBody>
      </p:sp>
      <p:pic>
        <p:nvPicPr>
          <p:cNvPr id="2050" name="Picture 2" descr="A photo shows two officers wearing gloves and protective masks attending to a little girl sitting on a woman's lap and holding a stuffed toy.&#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032" y="1543195"/>
            <a:ext cx="4817368" cy="3212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501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E15C1DC-F33E-9C42-87B3-9EC301F306AA}"/>
              </a:ext>
            </a:extLst>
          </p:cNvPr>
          <p:cNvSpPr>
            <a:spLocks noGrp="1" noChangeArrowheads="1"/>
          </p:cNvSpPr>
          <p:nvPr>
            <p:ph type="title"/>
          </p:nvPr>
        </p:nvSpPr>
        <p:spPr/>
        <p:txBody>
          <a:bodyPr/>
          <a:lstStyle/>
          <a:p>
            <a:pPr eaLnBrk="1" hangingPunct="1">
              <a:lnSpc>
                <a:spcPct val="85000"/>
              </a:lnSpc>
              <a:defRPr/>
            </a:pPr>
            <a:r>
              <a:rPr lang="en-US" dirty="0"/>
              <a:t>Consent for Treatment </a:t>
            </a:r>
            <a:r>
              <a:rPr lang="en-US" sz="2800" b="0" dirty="0"/>
              <a:t>(4 of 4)</a:t>
            </a:r>
          </a:p>
        </p:txBody>
      </p:sp>
      <p:sp>
        <p:nvSpPr>
          <p:cNvPr id="31746" name="Rectangle 3">
            <a:extLst>
              <a:ext uri="{FF2B5EF4-FFF2-40B4-BE49-F238E27FC236}">
                <a16:creationId xmlns:a16="http://schemas.microsoft.com/office/drawing/2014/main" id="{22C34714-CB94-1A41-B71C-6C3C9139EC2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Consent of patients with a mental illness</a:t>
            </a:r>
          </a:p>
          <a:p>
            <a:pPr lvl="1" eaLnBrk="1" hangingPunct="1">
              <a:spcBef>
                <a:spcPct val="35000"/>
              </a:spcBef>
            </a:pPr>
            <a:r>
              <a:rPr lang="en-US" altLang="en-US" dirty="0"/>
              <a:t>If person appears to be a threat to self or others, place this person under medical care.</a:t>
            </a:r>
          </a:p>
          <a:p>
            <a:pPr lvl="1" eaLnBrk="1" hangingPunct="1">
              <a:spcBef>
                <a:spcPct val="35000"/>
              </a:spcBef>
            </a:pPr>
            <a:r>
              <a:rPr lang="en-US" altLang="en-US" dirty="0"/>
              <a:t>Know your state’s legal mechanisms for handling these patients.</a:t>
            </a:r>
          </a:p>
          <a:p>
            <a:pPr lvl="1" eaLnBrk="1" hangingPunct="1">
              <a:spcBef>
                <a:spcPct val="35000"/>
              </a:spcBef>
            </a:pPr>
            <a:r>
              <a:rPr lang="en-US" altLang="en-US" dirty="0"/>
              <a:t>Do not hesitate to involve law enforcement agencies.</a:t>
            </a:r>
          </a:p>
        </p:txBody>
      </p:sp>
    </p:spTree>
    <p:extLst>
      <p:ext uri="{BB962C8B-B14F-4D97-AF65-F5344CB8AC3E}">
        <p14:creationId xmlns:p14="http://schemas.microsoft.com/office/powerpoint/2010/main" val="298805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FA2EFCD-5223-E046-BB89-0B649B4F8900}"/>
              </a:ext>
            </a:extLst>
          </p:cNvPr>
          <p:cNvSpPr>
            <a:spLocks noGrp="1" noChangeArrowheads="1"/>
          </p:cNvSpPr>
          <p:nvPr>
            <p:ph type="title"/>
          </p:nvPr>
        </p:nvSpPr>
        <p:spPr/>
        <p:txBody>
          <a:bodyPr/>
          <a:lstStyle/>
          <a:p>
            <a:pPr eaLnBrk="1" hangingPunct="1">
              <a:lnSpc>
                <a:spcPct val="85000"/>
              </a:lnSpc>
              <a:defRPr/>
            </a:pPr>
            <a:r>
              <a:rPr lang="en-US" dirty="0"/>
              <a:t>Patient Refusal of Care </a:t>
            </a:r>
            <a:r>
              <a:rPr lang="en-US" sz="2800" b="0" dirty="0"/>
              <a:t>(1 of 2)</a:t>
            </a:r>
          </a:p>
        </p:txBody>
      </p:sp>
      <p:sp>
        <p:nvSpPr>
          <p:cNvPr id="33794" name="Rectangle 3">
            <a:extLst>
              <a:ext uri="{FF2B5EF4-FFF2-40B4-BE49-F238E27FC236}">
                <a16:creationId xmlns:a16="http://schemas.microsoft.com/office/drawing/2014/main" id="{2F29E884-EBBB-5A4F-9FEE-7A3EB1DA362C}"/>
              </a:ext>
            </a:extLst>
          </p:cNvPr>
          <p:cNvSpPr>
            <a:spLocks noGrp="1" noChangeArrowheads="1"/>
          </p:cNvSpPr>
          <p:nvPr>
            <p:ph type="body" idx="1"/>
          </p:nvPr>
        </p:nvSpPr>
        <p:spPr>
          <a:xfrm>
            <a:off x="913263" y="1504666"/>
            <a:ext cx="77724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competent adult has a legal right to refuse treatment.</a:t>
            </a:r>
          </a:p>
          <a:p>
            <a:pPr eaLnBrk="1" hangingPunct="1">
              <a:spcBef>
                <a:spcPct val="35000"/>
              </a:spcBef>
            </a:pPr>
            <a:r>
              <a:rPr lang="en-US" altLang="en-US" dirty="0"/>
              <a:t>Help person understand consequences of refusing care by explaining:</a:t>
            </a:r>
          </a:p>
          <a:p>
            <a:pPr lvl="1" eaLnBrk="1" hangingPunct="1">
              <a:spcBef>
                <a:spcPct val="35000"/>
              </a:spcBef>
            </a:pPr>
            <a:r>
              <a:rPr lang="en-US" altLang="en-US" dirty="0"/>
              <a:t>Treatment</a:t>
            </a:r>
          </a:p>
          <a:p>
            <a:pPr lvl="1" eaLnBrk="1" hangingPunct="1">
              <a:spcBef>
                <a:spcPct val="35000"/>
              </a:spcBef>
            </a:pPr>
            <a:r>
              <a:rPr lang="en-US" altLang="en-US" dirty="0"/>
              <a:t>Reason that the treatment is needed</a:t>
            </a:r>
          </a:p>
          <a:p>
            <a:pPr lvl="1" eaLnBrk="1" hangingPunct="1">
              <a:spcBef>
                <a:spcPct val="35000"/>
              </a:spcBef>
            </a:pPr>
            <a:r>
              <a:rPr lang="en-US" altLang="en-US" dirty="0"/>
              <a:t>Potential risks if treatment is not provided</a:t>
            </a:r>
          </a:p>
          <a:p>
            <a:pPr lvl="1" eaLnBrk="1" hangingPunct="1">
              <a:spcBef>
                <a:spcPct val="35000"/>
              </a:spcBef>
            </a:pPr>
            <a:r>
              <a:rPr lang="en-US" altLang="en-US" dirty="0"/>
              <a:t>Alternative treatments that might help</a:t>
            </a:r>
          </a:p>
        </p:txBody>
      </p:sp>
    </p:spTree>
    <p:extLst>
      <p:ext uri="{BB962C8B-B14F-4D97-AF65-F5344CB8AC3E}">
        <p14:creationId xmlns:p14="http://schemas.microsoft.com/office/powerpoint/2010/main" val="102119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A9E8A46-0611-8749-AE88-76D82DF8390F}"/>
              </a:ext>
            </a:extLst>
          </p:cNvPr>
          <p:cNvSpPr>
            <a:spLocks noGrp="1" noChangeArrowheads="1"/>
          </p:cNvSpPr>
          <p:nvPr>
            <p:ph type="title"/>
          </p:nvPr>
        </p:nvSpPr>
        <p:spPr/>
        <p:txBody>
          <a:bodyPr/>
          <a:lstStyle/>
          <a:p>
            <a:pPr eaLnBrk="1" hangingPunct="1">
              <a:lnSpc>
                <a:spcPct val="85000"/>
              </a:lnSpc>
              <a:defRPr/>
            </a:pPr>
            <a:r>
              <a:rPr lang="en-US" dirty="0"/>
              <a:t>Patient Refusal of Care </a:t>
            </a:r>
            <a:r>
              <a:rPr lang="en-US" sz="2800" b="0" dirty="0"/>
              <a:t>(2 of 2)</a:t>
            </a:r>
          </a:p>
        </p:txBody>
      </p:sp>
      <p:sp>
        <p:nvSpPr>
          <p:cNvPr id="35842" name="Rectangle 3">
            <a:extLst>
              <a:ext uri="{FF2B5EF4-FFF2-40B4-BE49-F238E27FC236}">
                <a16:creationId xmlns:a16="http://schemas.microsoft.com/office/drawing/2014/main" id="{F1CB24A3-F94D-ED44-A3E1-C9AA876D5AE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Patient refusals should be documented on your patient care record according to your agency protocols.</a:t>
            </a:r>
          </a:p>
        </p:txBody>
      </p:sp>
    </p:spTree>
    <p:extLst>
      <p:ext uri="{BB962C8B-B14F-4D97-AF65-F5344CB8AC3E}">
        <p14:creationId xmlns:p14="http://schemas.microsoft.com/office/powerpoint/2010/main" val="2360379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9259420-8FD6-1D40-9C90-8F5935D97369}"/>
              </a:ext>
            </a:extLst>
          </p:cNvPr>
          <p:cNvSpPr>
            <a:spLocks noGrp="1" noChangeArrowheads="1"/>
          </p:cNvSpPr>
          <p:nvPr>
            <p:ph type="title"/>
          </p:nvPr>
        </p:nvSpPr>
        <p:spPr/>
        <p:txBody>
          <a:bodyPr/>
          <a:lstStyle/>
          <a:p>
            <a:pPr eaLnBrk="1" hangingPunct="1">
              <a:lnSpc>
                <a:spcPct val="85000"/>
              </a:lnSpc>
              <a:defRPr/>
            </a:pPr>
            <a:r>
              <a:rPr lang="en-US" dirty="0"/>
              <a:t>Advance Directives </a:t>
            </a:r>
            <a:r>
              <a:rPr lang="en-US" sz="2800" b="0" dirty="0"/>
              <a:t>(1 of 3)</a:t>
            </a:r>
          </a:p>
        </p:txBody>
      </p:sp>
      <p:sp>
        <p:nvSpPr>
          <p:cNvPr id="37890" name="Rectangle 3">
            <a:extLst>
              <a:ext uri="{FF2B5EF4-FFF2-40B4-BE49-F238E27FC236}">
                <a16:creationId xmlns:a16="http://schemas.microsoft.com/office/drawing/2014/main" id="{7504EE2E-4282-3C4F-AEE2-1CAB8209CF6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An advance directive is a document that specifies what a person would like to be done if he or she becomes unable to make his or her own medical decisions.</a:t>
            </a:r>
          </a:p>
          <a:p>
            <a:pPr eaLnBrk="1" hangingPunct="1">
              <a:spcBef>
                <a:spcPct val="35000"/>
              </a:spcBef>
            </a:pPr>
            <a:r>
              <a:rPr lang="en-US" altLang="en-US" dirty="0"/>
              <a:t>A living will</a:t>
            </a:r>
          </a:p>
          <a:p>
            <a:pPr lvl="1" eaLnBrk="1" hangingPunct="1">
              <a:spcBef>
                <a:spcPct val="35000"/>
              </a:spcBef>
            </a:pPr>
            <a:r>
              <a:rPr lang="en-US" altLang="en-US" dirty="0"/>
              <a:t>Written document drawn up by a patient, a physician, and a lawyer.</a:t>
            </a:r>
          </a:p>
          <a:p>
            <a:pPr lvl="1" eaLnBrk="1" hangingPunct="1">
              <a:spcBef>
                <a:spcPct val="35000"/>
              </a:spcBef>
            </a:pPr>
            <a:r>
              <a:rPr lang="en-US" altLang="en-US" dirty="0"/>
              <a:t>States types of medical care person wants or wants withheld.</a:t>
            </a:r>
          </a:p>
        </p:txBody>
      </p:sp>
    </p:spTree>
    <p:extLst>
      <p:ext uri="{BB962C8B-B14F-4D97-AF65-F5344CB8AC3E}">
        <p14:creationId xmlns:p14="http://schemas.microsoft.com/office/powerpoint/2010/main" val="287801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3EF95A7-6B1B-CE42-A0C5-299D5640CFD4}"/>
              </a:ext>
            </a:extLst>
          </p:cNvPr>
          <p:cNvSpPr>
            <a:spLocks noGrp="1" noChangeArrowheads="1"/>
          </p:cNvSpPr>
          <p:nvPr>
            <p:ph type="title"/>
          </p:nvPr>
        </p:nvSpPr>
        <p:spPr/>
        <p:txBody>
          <a:bodyPr/>
          <a:lstStyle/>
          <a:p>
            <a:pPr eaLnBrk="1" hangingPunct="1">
              <a:lnSpc>
                <a:spcPct val="85000"/>
              </a:lnSpc>
              <a:defRPr/>
            </a:pPr>
            <a:r>
              <a:rPr lang="en-US" dirty="0"/>
              <a:t>Advance Directives </a:t>
            </a:r>
            <a:r>
              <a:rPr lang="en-US" sz="2800" b="0" dirty="0"/>
              <a:t>(2 of 3)</a:t>
            </a:r>
          </a:p>
        </p:txBody>
      </p:sp>
      <p:sp>
        <p:nvSpPr>
          <p:cNvPr id="39938" name="Rectangle 3">
            <a:extLst>
              <a:ext uri="{FF2B5EF4-FFF2-40B4-BE49-F238E27FC236}">
                <a16:creationId xmlns:a16="http://schemas.microsoft.com/office/drawing/2014/main" id="{0DFA846F-2F45-534B-9194-9844C9A26C25}"/>
              </a:ext>
            </a:extLst>
          </p:cNvPr>
          <p:cNvSpPr>
            <a:spLocks noGrp="1" noChangeArrowheads="1"/>
          </p:cNvSpPr>
          <p:nvPr>
            <p:ph type="body" idx="1"/>
          </p:nvPr>
        </p:nvSpPr>
        <p:spPr>
          <a:xfrm>
            <a:off x="1270685" y="1536357"/>
            <a:ext cx="8849497"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durable power of attorney for health care</a:t>
            </a:r>
          </a:p>
          <a:p>
            <a:pPr lvl="1" eaLnBrk="1" hangingPunct="1">
              <a:spcBef>
                <a:spcPct val="35000"/>
              </a:spcBef>
            </a:pPr>
            <a:r>
              <a:rPr lang="en-US" altLang="en-US" dirty="0"/>
              <a:t>Allows a patient to designate another person to make decisions about medical care.</a:t>
            </a:r>
          </a:p>
          <a:p>
            <a:pPr eaLnBrk="1" hangingPunct="1">
              <a:spcBef>
                <a:spcPct val="35000"/>
              </a:spcBef>
            </a:pPr>
            <a:r>
              <a:rPr lang="en-US" altLang="en-US" dirty="0"/>
              <a:t>A do</a:t>
            </a:r>
            <a:r>
              <a:rPr lang="en-US" altLang="en-US" dirty="0">
                <a:solidFill>
                  <a:srgbClr val="FF0000"/>
                </a:solidFill>
              </a:rPr>
              <a:t>-</a:t>
            </a:r>
            <a:r>
              <a:rPr lang="en-US" altLang="en-US" dirty="0"/>
              <a:t>not</a:t>
            </a:r>
            <a:r>
              <a:rPr lang="en-US" altLang="en-US" dirty="0">
                <a:solidFill>
                  <a:srgbClr val="FF0000"/>
                </a:solidFill>
              </a:rPr>
              <a:t>-</a:t>
            </a:r>
            <a:r>
              <a:rPr lang="en-US" altLang="en-US" dirty="0"/>
              <a:t>resuscitate (DNR) order</a:t>
            </a:r>
          </a:p>
          <a:p>
            <a:pPr lvl="1">
              <a:spcBef>
                <a:spcPct val="35000"/>
              </a:spcBef>
            </a:pPr>
            <a:r>
              <a:rPr lang="en-US" altLang="en-US" dirty="0"/>
              <a:t>Written request giving permission to medical personnel to withhold resuscitation in the event of cardiac arrest.</a:t>
            </a:r>
          </a:p>
          <a:p>
            <a:pPr eaLnBrk="1" hangingPunct="1">
              <a:spcBef>
                <a:spcPct val="35000"/>
              </a:spcBef>
            </a:pPr>
            <a:r>
              <a:rPr lang="en-US" altLang="en-US" dirty="0"/>
              <a:t>Additional terms for these types of orders:</a:t>
            </a:r>
          </a:p>
          <a:p>
            <a:pPr lvl="1" eaLnBrk="1" hangingPunct="1">
              <a:spcBef>
                <a:spcPct val="35000"/>
              </a:spcBef>
            </a:pPr>
            <a:r>
              <a:rPr lang="en-US" altLang="en-US" dirty="0"/>
              <a:t>MOLST or POLST</a:t>
            </a:r>
          </a:p>
        </p:txBody>
      </p:sp>
    </p:spTree>
    <p:extLst>
      <p:ext uri="{BB962C8B-B14F-4D97-AF65-F5344CB8AC3E}">
        <p14:creationId xmlns:p14="http://schemas.microsoft.com/office/powerpoint/2010/main" val="343957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986DEE9-DAF8-964F-A334-4F96272E9C9F}"/>
              </a:ext>
            </a:extLst>
          </p:cNvPr>
          <p:cNvSpPr>
            <a:spLocks noGrp="1" noChangeArrowheads="1"/>
          </p:cNvSpPr>
          <p:nvPr>
            <p:ph type="title"/>
          </p:nvPr>
        </p:nvSpPr>
        <p:spPr/>
        <p:txBody>
          <a:bodyPr/>
          <a:lstStyle/>
          <a:p>
            <a:pPr eaLnBrk="1" hangingPunct="1">
              <a:lnSpc>
                <a:spcPct val="85000"/>
              </a:lnSpc>
              <a:defRPr/>
            </a:pPr>
            <a:r>
              <a:rPr lang="en-US" dirty="0"/>
              <a:t>Advance Directives </a:t>
            </a:r>
            <a:r>
              <a:rPr lang="en-US" sz="2800" b="0" dirty="0"/>
              <a:t>(3 of 3)</a:t>
            </a:r>
          </a:p>
        </p:txBody>
      </p:sp>
      <p:sp>
        <p:nvSpPr>
          <p:cNvPr id="41986" name="Rectangle 3">
            <a:extLst>
              <a:ext uri="{FF2B5EF4-FFF2-40B4-BE49-F238E27FC236}">
                <a16:creationId xmlns:a16="http://schemas.microsoft.com/office/drawing/2014/main" id="{BE950A5E-E8B1-DB43-820F-4CC2C8187FF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If you are unable to determine if an advance directive is legally valid, begin appropriate medical care.</a:t>
            </a:r>
          </a:p>
          <a:p>
            <a:pPr lvl="1" eaLnBrk="1" hangingPunct="1">
              <a:spcBef>
                <a:spcPct val="35000"/>
              </a:spcBef>
            </a:pPr>
            <a:r>
              <a:rPr lang="en-US" altLang="en-US"/>
              <a:t>Some states have systems in place, such as bracelets, to identify patients with advance directives.</a:t>
            </a:r>
          </a:p>
        </p:txBody>
      </p:sp>
    </p:spTree>
    <p:extLst>
      <p:ext uri="{BB962C8B-B14F-4D97-AF65-F5344CB8AC3E}">
        <p14:creationId xmlns:p14="http://schemas.microsoft.com/office/powerpoint/2010/main" val="3457848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154A96D-21F8-F846-ABD4-FE3E78F629AA}"/>
              </a:ext>
            </a:extLst>
          </p:cNvPr>
          <p:cNvSpPr>
            <a:spLocks noGrp="1" noChangeArrowheads="1"/>
          </p:cNvSpPr>
          <p:nvPr>
            <p:ph type="title"/>
          </p:nvPr>
        </p:nvSpPr>
        <p:spPr/>
        <p:txBody>
          <a:bodyPr/>
          <a:lstStyle/>
          <a:p>
            <a:pPr eaLnBrk="1" hangingPunct="1">
              <a:lnSpc>
                <a:spcPct val="85000"/>
              </a:lnSpc>
              <a:defRPr/>
            </a:pPr>
            <a:r>
              <a:rPr lang="en-US" dirty="0"/>
              <a:t>Abandonment</a:t>
            </a:r>
          </a:p>
        </p:txBody>
      </p:sp>
      <p:sp>
        <p:nvSpPr>
          <p:cNvPr id="44034" name="Rectangle 3">
            <a:extLst>
              <a:ext uri="{FF2B5EF4-FFF2-40B4-BE49-F238E27FC236}">
                <a16:creationId xmlns:a16="http://schemas.microsoft.com/office/drawing/2014/main" id="{AD2847B9-112E-2441-856B-2A0838C4868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Abandonment occurs when a trained person begins emergency care and then leaves the patient before another trained person takes over.</a:t>
            </a:r>
          </a:p>
          <a:p>
            <a:pPr eaLnBrk="1" hangingPunct="1">
              <a:spcBef>
                <a:spcPct val="35000"/>
              </a:spcBef>
            </a:pPr>
            <a:r>
              <a:rPr lang="en-US" altLang="en-US" dirty="0"/>
              <a:t>Once you have started treatment, you must continue it until a person who has at least as much training arrives and takes over.</a:t>
            </a:r>
          </a:p>
        </p:txBody>
      </p:sp>
    </p:spTree>
    <p:extLst>
      <p:ext uri="{BB962C8B-B14F-4D97-AF65-F5344CB8AC3E}">
        <p14:creationId xmlns:p14="http://schemas.microsoft.com/office/powerpoint/2010/main" val="229110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0F0DCA8-7768-D74D-A771-8CC01A58D0D6}"/>
              </a:ext>
            </a:extLst>
          </p:cNvPr>
          <p:cNvSpPr>
            <a:spLocks noGrp="1" noChangeArrowheads="1"/>
          </p:cNvSpPr>
          <p:nvPr>
            <p:ph type="title"/>
          </p:nvPr>
        </p:nvSpPr>
        <p:spPr/>
        <p:txBody>
          <a:bodyPr/>
          <a:lstStyle/>
          <a:p>
            <a:pPr eaLnBrk="1" hangingPunct="1">
              <a:lnSpc>
                <a:spcPct val="85000"/>
              </a:lnSpc>
              <a:defRPr/>
            </a:pPr>
            <a:r>
              <a:rPr lang="en-US" dirty="0"/>
              <a:t>People Dead at Scene </a:t>
            </a:r>
            <a:r>
              <a:rPr lang="en-US" sz="2800" b="0" dirty="0"/>
              <a:t>(1 of 2)</a:t>
            </a:r>
          </a:p>
        </p:txBody>
      </p:sp>
      <p:sp>
        <p:nvSpPr>
          <p:cNvPr id="46082" name="Rectangle 3">
            <a:extLst>
              <a:ext uri="{FF2B5EF4-FFF2-40B4-BE49-F238E27FC236}">
                <a16:creationId xmlns:a16="http://schemas.microsoft.com/office/drawing/2014/main" id="{2B29C95F-D606-DA42-8011-D493E4BB1EB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If you see any signs that a person is alive, you should begin providing care.</a:t>
            </a:r>
          </a:p>
          <a:p>
            <a:pPr eaLnBrk="1" hangingPunct="1">
              <a:spcBef>
                <a:spcPct val="35000"/>
              </a:spcBef>
            </a:pPr>
            <a:r>
              <a:rPr lang="en-US" altLang="en-US"/>
              <a:t>You cannot assume a person is dead unless one of these conditions exists:</a:t>
            </a:r>
          </a:p>
          <a:p>
            <a:pPr lvl="1" eaLnBrk="1" hangingPunct="1">
              <a:spcBef>
                <a:spcPct val="35000"/>
              </a:spcBef>
            </a:pPr>
            <a:r>
              <a:rPr lang="en-US" altLang="en-US"/>
              <a:t>Decapitation</a:t>
            </a:r>
          </a:p>
          <a:p>
            <a:pPr lvl="1" eaLnBrk="1" hangingPunct="1">
              <a:spcBef>
                <a:spcPct val="35000"/>
              </a:spcBef>
            </a:pPr>
            <a:r>
              <a:rPr lang="en-US" altLang="en-US"/>
              <a:t>Rigor mortis</a:t>
            </a:r>
          </a:p>
          <a:p>
            <a:pPr lvl="1" eaLnBrk="1" hangingPunct="1">
              <a:spcBef>
                <a:spcPct val="35000"/>
              </a:spcBef>
            </a:pPr>
            <a:r>
              <a:rPr lang="en-US" altLang="en-US"/>
              <a:t>Tissue decomposition</a:t>
            </a:r>
          </a:p>
          <a:p>
            <a:pPr lvl="1" eaLnBrk="1" hangingPunct="1">
              <a:spcBef>
                <a:spcPct val="35000"/>
              </a:spcBef>
            </a:pPr>
            <a:r>
              <a:rPr lang="en-US" altLang="en-US"/>
              <a:t>Dependent lividity</a:t>
            </a:r>
          </a:p>
        </p:txBody>
      </p:sp>
    </p:spTree>
    <p:extLst>
      <p:ext uri="{BB962C8B-B14F-4D97-AF65-F5344CB8AC3E}">
        <p14:creationId xmlns:p14="http://schemas.microsoft.com/office/powerpoint/2010/main" val="4219741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FD44EEC-9F23-ED45-A0EE-2A8EDB8BE00F}"/>
              </a:ext>
            </a:extLst>
          </p:cNvPr>
          <p:cNvSpPr>
            <a:spLocks noGrp="1" noChangeArrowheads="1"/>
          </p:cNvSpPr>
          <p:nvPr>
            <p:ph type="title"/>
          </p:nvPr>
        </p:nvSpPr>
        <p:spPr/>
        <p:txBody>
          <a:bodyPr/>
          <a:lstStyle/>
          <a:p>
            <a:pPr eaLnBrk="1" hangingPunct="1">
              <a:lnSpc>
                <a:spcPct val="85000"/>
              </a:lnSpc>
              <a:defRPr/>
            </a:pPr>
            <a:r>
              <a:rPr lang="en-US" dirty="0"/>
              <a:t>People Dead at Scene </a:t>
            </a:r>
            <a:r>
              <a:rPr lang="en-US" sz="2800" b="0" dirty="0"/>
              <a:t>(2 of 2)</a:t>
            </a:r>
          </a:p>
        </p:txBody>
      </p:sp>
      <p:sp>
        <p:nvSpPr>
          <p:cNvPr id="48130" name="Rectangle 3">
            <a:extLst>
              <a:ext uri="{FF2B5EF4-FFF2-40B4-BE49-F238E27FC236}">
                <a16:creationId xmlns:a16="http://schemas.microsoft.com/office/drawing/2014/main" id="{9E172385-5C32-2843-A71E-A8AA1747D557}"/>
              </a:ext>
            </a:extLst>
          </p:cNvPr>
          <p:cNvSpPr>
            <a:spLocks noGrp="1" noChangeArrowheads="1"/>
          </p:cNvSpPr>
          <p:nvPr>
            <p:ph type="body" idx="1"/>
          </p:nvPr>
        </p:nvSpPr>
        <p:spPr>
          <a:xfrm>
            <a:off x="1171831" y="1497227"/>
            <a:ext cx="4086225"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any signs of death are present, consider the patient to be dead.</a:t>
            </a:r>
          </a:p>
          <a:p>
            <a:pPr eaLnBrk="1" hangingPunct="1">
              <a:spcBef>
                <a:spcPct val="35000"/>
              </a:spcBef>
            </a:pPr>
            <a:r>
              <a:rPr lang="en-US" altLang="en-US" dirty="0"/>
              <a:t>It is important that you know the protocol your department uses in dealing with patients who are dead at scene.</a:t>
            </a:r>
            <a:endParaRPr lang="en-US" altLang="en-US" b="1" dirty="0">
              <a:solidFill>
                <a:srgbClr val="FFFFFF"/>
              </a:solidFill>
            </a:endParaRPr>
          </a:p>
        </p:txBody>
      </p:sp>
      <p:sp>
        <p:nvSpPr>
          <p:cNvPr id="7" name="Rectangle 6"/>
          <p:cNvSpPr/>
          <p:nvPr/>
        </p:nvSpPr>
        <p:spPr>
          <a:xfrm>
            <a:off x="6489480" y="4799996"/>
            <a:ext cx="4925908" cy="646331"/>
          </a:xfrm>
          <a:prstGeom prst="rect">
            <a:avLst/>
          </a:prstGeom>
        </p:spPr>
        <p:txBody>
          <a:bodyPr wrap="square">
            <a:spAutoFit/>
          </a:bodyPr>
          <a:lstStyle/>
          <a:p>
            <a:r>
              <a:rPr lang="en-US" b="1" cap="all" dirty="0"/>
              <a:t>Figure</a:t>
            </a:r>
            <a:r>
              <a:rPr lang="en-US" b="1" dirty="0"/>
              <a:t> 4-3 </a:t>
            </a:r>
            <a:r>
              <a:rPr lang="en-US" dirty="0"/>
              <a:t>Learn the protocol for dealing with patients who are obviously dead at the scene. </a:t>
            </a:r>
          </a:p>
        </p:txBody>
      </p:sp>
      <p:sp>
        <p:nvSpPr>
          <p:cNvPr id="8" name="Rectangle 7"/>
          <p:cNvSpPr/>
          <p:nvPr/>
        </p:nvSpPr>
        <p:spPr>
          <a:xfrm>
            <a:off x="6489306" y="5427221"/>
            <a:ext cx="4456008" cy="246221"/>
          </a:xfrm>
          <a:prstGeom prst="rect">
            <a:avLst/>
          </a:prstGeom>
        </p:spPr>
        <p:txBody>
          <a:bodyPr wrap="square">
            <a:spAutoFit/>
          </a:bodyPr>
          <a:lstStyle/>
          <a:p>
            <a:r>
              <a:rPr lang="en-US" sz="1000" dirty="0"/>
              <a:t>© Corbis/Getty. </a:t>
            </a:r>
          </a:p>
        </p:txBody>
      </p:sp>
      <p:pic>
        <p:nvPicPr>
          <p:cNvPr id="3074" name="Picture 2" descr="A photo shows officers gathered beside a damaged vehicle and a dead body in a body bag on a stretcher.&#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306" y="1561354"/>
            <a:ext cx="4796868" cy="3200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6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9EF88EE-842A-1944-AEAE-B88F22096D72}"/>
              </a:ext>
            </a:extLst>
          </p:cNvPr>
          <p:cNvSpPr>
            <a:spLocks noGrp="1" noChangeArrowheads="1"/>
          </p:cNvSpPr>
          <p:nvPr>
            <p:ph type="title"/>
          </p:nvPr>
        </p:nvSpPr>
        <p:spPr/>
        <p:txBody>
          <a:bodyPr/>
          <a:lstStyle/>
          <a:p>
            <a:pPr eaLnBrk="1" hangingPunct="1">
              <a:lnSpc>
                <a:spcPct val="85000"/>
              </a:lnSpc>
              <a:defRPr/>
            </a:pPr>
            <a:r>
              <a:rPr lang="en-US" dirty="0"/>
              <a:t>Negligence</a:t>
            </a:r>
          </a:p>
        </p:txBody>
      </p:sp>
      <p:sp>
        <p:nvSpPr>
          <p:cNvPr id="50178" name="Rectangle 3">
            <a:extLst>
              <a:ext uri="{FF2B5EF4-FFF2-40B4-BE49-F238E27FC236}">
                <a16:creationId xmlns:a16="http://schemas.microsoft.com/office/drawing/2014/main" id="{07D17571-7626-5144-A49C-C8BFA74109D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Negligence occurs when a patient sustains further injury or harm because care administered did not meet the standard of care.</a:t>
            </a:r>
          </a:p>
          <a:p>
            <a:pPr eaLnBrk="1" hangingPunct="1">
              <a:spcBef>
                <a:spcPct val="35000"/>
              </a:spcBef>
            </a:pPr>
            <a:r>
              <a:rPr lang="en-US" altLang="en-US" dirty="0"/>
              <a:t>These</a:t>
            </a:r>
            <a:r>
              <a:rPr lang="en-US" altLang="en-US" dirty="0">
                <a:solidFill>
                  <a:srgbClr val="FF0000"/>
                </a:solidFill>
              </a:rPr>
              <a:t> </a:t>
            </a:r>
            <a:r>
              <a:rPr lang="en-US" altLang="en-US" dirty="0"/>
              <a:t>four</a:t>
            </a:r>
            <a:r>
              <a:rPr lang="en-US" altLang="en-US" dirty="0">
                <a:solidFill>
                  <a:srgbClr val="FF0000"/>
                </a:solidFill>
              </a:rPr>
              <a:t> </a:t>
            </a:r>
            <a:r>
              <a:rPr lang="en-US" altLang="en-US" dirty="0"/>
              <a:t>conditions must be present:</a:t>
            </a:r>
          </a:p>
          <a:p>
            <a:pPr lvl="1" eaLnBrk="1" hangingPunct="1">
              <a:spcBef>
                <a:spcPct val="35000"/>
              </a:spcBef>
            </a:pPr>
            <a:r>
              <a:rPr lang="en-US" altLang="en-US" dirty="0"/>
              <a:t>Duty to act</a:t>
            </a:r>
          </a:p>
          <a:p>
            <a:pPr lvl="1" eaLnBrk="1" hangingPunct="1">
              <a:spcBef>
                <a:spcPct val="35000"/>
              </a:spcBef>
            </a:pPr>
            <a:r>
              <a:rPr lang="en-US" altLang="en-US" dirty="0"/>
              <a:t>Breach of duty</a:t>
            </a:r>
          </a:p>
          <a:p>
            <a:pPr lvl="1" eaLnBrk="1" hangingPunct="1">
              <a:spcBef>
                <a:spcPct val="35000"/>
              </a:spcBef>
            </a:pPr>
            <a:r>
              <a:rPr lang="en-US" altLang="en-US" dirty="0"/>
              <a:t>Resulting injuries</a:t>
            </a:r>
          </a:p>
          <a:p>
            <a:pPr lvl="1" eaLnBrk="1" hangingPunct="1">
              <a:spcBef>
                <a:spcPct val="35000"/>
              </a:spcBef>
            </a:pPr>
            <a:r>
              <a:rPr lang="en-US" altLang="en-US" dirty="0"/>
              <a:t>Proximate cause</a:t>
            </a:r>
          </a:p>
        </p:txBody>
      </p:sp>
    </p:spTree>
    <p:extLst>
      <p:ext uri="{BB962C8B-B14F-4D97-AF65-F5344CB8AC3E}">
        <p14:creationId xmlns:p14="http://schemas.microsoft.com/office/powerpoint/2010/main" val="332567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3C24085-D4A0-164E-852D-1906053ABCD0}"/>
              </a:ext>
            </a:extLst>
          </p:cNvPr>
          <p:cNvSpPr>
            <a:spLocks noGrp="1" noChangeArrowheads="1"/>
          </p:cNvSpPr>
          <p:nvPr>
            <p:ph type="title"/>
          </p:nvPr>
        </p:nvSpPr>
        <p:spPr/>
        <p:txBody>
          <a:bodyPr/>
          <a:lstStyle/>
          <a:p>
            <a:pPr eaLnBrk="1" hangingPunct="1">
              <a:lnSpc>
                <a:spcPct val="85000"/>
              </a:lnSpc>
              <a:defRPr/>
            </a:pPr>
            <a:r>
              <a:rPr lang="en-US" dirty="0"/>
              <a:t>Confidentiality </a:t>
            </a:r>
            <a:r>
              <a:rPr lang="en-US" sz="2800" b="0" dirty="0"/>
              <a:t>(1 of 2)</a:t>
            </a:r>
          </a:p>
        </p:txBody>
      </p:sp>
      <p:sp>
        <p:nvSpPr>
          <p:cNvPr id="52226" name="Rectangle 3">
            <a:extLst>
              <a:ext uri="{FF2B5EF4-FFF2-40B4-BE49-F238E27FC236}">
                <a16:creationId xmlns:a16="http://schemas.microsoft.com/office/drawing/2014/main" id="{DE5C74D0-21B7-6644-BDD3-A5A2F2D0F0A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Most patient information is confidential.</a:t>
            </a:r>
          </a:p>
          <a:p>
            <a:pPr lvl="1" eaLnBrk="1" hangingPunct="1">
              <a:spcBef>
                <a:spcPct val="35000"/>
              </a:spcBef>
            </a:pPr>
            <a:r>
              <a:rPr lang="en-US" altLang="en-US" dirty="0"/>
              <a:t>Patient history</a:t>
            </a:r>
          </a:p>
          <a:p>
            <a:pPr lvl="1" eaLnBrk="1" hangingPunct="1">
              <a:spcBef>
                <a:spcPct val="35000"/>
              </a:spcBef>
            </a:pPr>
            <a:r>
              <a:rPr lang="en-US" altLang="en-US" dirty="0"/>
              <a:t>Assessment findings</a:t>
            </a:r>
          </a:p>
          <a:p>
            <a:pPr lvl="1" eaLnBrk="1" hangingPunct="1">
              <a:spcBef>
                <a:spcPct val="35000"/>
              </a:spcBef>
            </a:pPr>
            <a:r>
              <a:rPr lang="en-US" altLang="en-US" dirty="0"/>
              <a:t>Treatment provided</a:t>
            </a:r>
          </a:p>
          <a:p>
            <a:pPr lvl="1" eaLnBrk="1" hangingPunct="1">
              <a:spcBef>
                <a:spcPct val="35000"/>
              </a:spcBef>
            </a:pPr>
            <a:r>
              <a:rPr lang="en-US" altLang="en-US" dirty="0"/>
              <a:t>Your communication with patient</a:t>
            </a:r>
          </a:p>
          <a:p>
            <a:pPr eaLnBrk="1" hangingPunct="1">
              <a:spcBef>
                <a:spcPct val="35000"/>
              </a:spcBef>
            </a:pPr>
            <a:r>
              <a:rPr lang="en-US" altLang="en-US" dirty="0"/>
              <a:t>Information should be shared only with other medical personnel who are directly involved in the patient’s care.</a:t>
            </a:r>
          </a:p>
        </p:txBody>
      </p:sp>
    </p:spTree>
    <p:extLst>
      <p:ext uri="{BB962C8B-B14F-4D97-AF65-F5344CB8AC3E}">
        <p14:creationId xmlns:p14="http://schemas.microsoft.com/office/powerpoint/2010/main" val="106701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D2241A8-91A4-2941-AAF3-975FE07380D8}"/>
              </a:ext>
            </a:extLst>
          </p:cNvPr>
          <p:cNvSpPr>
            <a:spLocks noGrp="1" noChangeArrowheads="1"/>
          </p:cNvSpPr>
          <p:nvPr>
            <p:ph type="title"/>
          </p:nvPr>
        </p:nvSpPr>
        <p:spPr/>
        <p:txBody>
          <a:bodyPr/>
          <a:lstStyle/>
          <a:p>
            <a:pPr eaLnBrk="1" hangingPunct="1">
              <a:lnSpc>
                <a:spcPct val="85000"/>
              </a:lnSpc>
              <a:defRPr/>
            </a:pPr>
            <a:r>
              <a:rPr lang="en-US" dirty="0"/>
              <a:t>Confidentiality </a:t>
            </a:r>
            <a:r>
              <a:rPr lang="en-US" sz="2800" b="0" dirty="0"/>
              <a:t>(2 of 2)</a:t>
            </a:r>
          </a:p>
        </p:txBody>
      </p:sp>
      <p:sp>
        <p:nvSpPr>
          <p:cNvPr id="54274" name="Rectangle 3">
            <a:extLst>
              <a:ext uri="{FF2B5EF4-FFF2-40B4-BE49-F238E27FC236}">
                <a16:creationId xmlns:a16="http://schemas.microsoft.com/office/drawing/2014/main" id="{C605B23C-8A1A-9B41-A559-ED41F5214A9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 certain situations, you may release confidential information to designated individuals.</a:t>
            </a:r>
          </a:p>
          <a:p>
            <a:pPr eaLnBrk="1" hangingPunct="1">
              <a:spcBef>
                <a:spcPct val="35000"/>
              </a:spcBef>
            </a:pPr>
            <a:r>
              <a:rPr lang="en-US" altLang="en-US" dirty="0"/>
              <a:t>Health Insurance Portability and Accountability Act of 1996 (HIPAA)</a:t>
            </a:r>
          </a:p>
          <a:p>
            <a:pPr lvl="1" eaLnBrk="1" hangingPunct="1">
              <a:spcBef>
                <a:spcPct val="35000"/>
              </a:spcBef>
            </a:pPr>
            <a:r>
              <a:rPr lang="en-US" altLang="en-US" dirty="0"/>
              <a:t>Strengthens laws for the protection of privacy of health</a:t>
            </a:r>
            <a:r>
              <a:rPr lang="en-US" altLang="en-US" dirty="0">
                <a:solidFill>
                  <a:srgbClr val="FF0000"/>
                </a:solidFill>
              </a:rPr>
              <a:t> </a:t>
            </a:r>
            <a:r>
              <a:rPr lang="en-US" altLang="en-US" dirty="0"/>
              <a:t>care information and safeguards patient confidentiality.</a:t>
            </a:r>
          </a:p>
        </p:txBody>
      </p:sp>
    </p:spTree>
    <p:extLst>
      <p:ext uri="{BB962C8B-B14F-4D97-AF65-F5344CB8AC3E}">
        <p14:creationId xmlns:p14="http://schemas.microsoft.com/office/powerpoint/2010/main" val="212033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450A661-ADCE-FB4A-A168-48D3CB7FFBFF}"/>
              </a:ext>
            </a:extLst>
          </p:cNvPr>
          <p:cNvSpPr>
            <a:spLocks noGrp="1" noChangeArrowheads="1"/>
          </p:cNvSpPr>
          <p:nvPr>
            <p:ph type="title"/>
          </p:nvPr>
        </p:nvSpPr>
        <p:spPr/>
        <p:txBody>
          <a:bodyPr/>
          <a:lstStyle/>
          <a:p>
            <a:pPr eaLnBrk="1" hangingPunct="1">
              <a:lnSpc>
                <a:spcPct val="85000"/>
              </a:lnSpc>
              <a:defRPr/>
            </a:pPr>
            <a:r>
              <a:rPr lang="en-US" dirty="0"/>
              <a:t>Good Samaritan Laws</a:t>
            </a:r>
          </a:p>
        </p:txBody>
      </p:sp>
      <p:sp>
        <p:nvSpPr>
          <p:cNvPr id="56322" name="Rectangle 3">
            <a:extLst>
              <a:ext uri="{FF2B5EF4-FFF2-40B4-BE49-F238E27FC236}">
                <a16:creationId xmlns:a16="http://schemas.microsoft.com/office/drawing/2014/main" id="{6A104CF2-973D-DB45-811F-6F9821CCF8A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Protect citizens from liability for errors or omissions in giving good-faith emergency care.</a:t>
            </a:r>
          </a:p>
          <a:p>
            <a:pPr eaLnBrk="1" hangingPunct="1">
              <a:spcBef>
                <a:spcPct val="35000"/>
              </a:spcBef>
            </a:pPr>
            <a:r>
              <a:rPr lang="en-US" altLang="en-US" dirty="0"/>
              <a:t>Vary considerably from state to state.</a:t>
            </a:r>
          </a:p>
          <a:p>
            <a:pPr eaLnBrk="1" hangingPunct="1">
              <a:spcBef>
                <a:spcPct val="35000"/>
              </a:spcBef>
            </a:pPr>
            <a:r>
              <a:rPr lang="en-US" altLang="en-US" dirty="0"/>
              <a:t>May no longer be needed.</a:t>
            </a:r>
          </a:p>
          <a:p>
            <a:pPr lvl="1" eaLnBrk="1" hangingPunct="1">
              <a:spcBef>
                <a:spcPct val="35000"/>
              </a:spcBef>
            </a:pPr>
            <a:r>
              <a:rPr lang="en-US" altLang="en-US" dirty="0"/>
              <a:t>Provide little or no legal protection for an EMS provider.</a:t>
            </a:r>
          </a:p>
        </p:txBody>
      </p:sp>
    </p:spTree>
    <p:extLst>
      <p:ext uri="{BB962C8B-B14F-4D97-AF65-F5344CB8AC3E}">
        <p14:creationId xmlns:p14="http://schemas.microsoft.com/office/powerpoint/2010/main" val="1883376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B3910B3-D6B0-F246-A2A9-B9C7F7632726}"/>
              </a:ext>
            </a:extLst>
          </p:cNvPr>
          <p:cNvSpPr>
            <a:spLocks noGrp="1" noChangeArrowheads="1"/>
          </p:cNvSpPr>
          <p:nvPr>
            <p:ph type="title"/>
          </p:nvPr>
        </p:nvSpPr>
        <p:spPr/>
        <p:txBody>
          <a:bodyPr/>
          <a:lstStyle/>
          <a:p>
            <a:pPr eaLnBrk="1" hangingPunct="1">
              <a:lnSpc>
                <a:spcPct val="85000"/>
              </a:lnSpc>
              <a:defRPr/>
            </a:pPr>
            <a:r>
              <a:rPr lang="en-US" dirty="0"/>
              <a:t>Regulations</a:t>
            </a:r>
          </a:p>
        </p:txBody>
      </p:sp>
      <p:sp>
        <p:nvSpPr>
          <p:cNvPr id="58370" name="Rectangle 3">
            <a:extLst>
              <a:ext uri="{FF2B5EF4-FFF2-40B4-BE49-F238E27FC236}">
                <a16:creationId xmlns:a16="http://schemas.microsoft.com/office/drawing/2014/main" id="{8FF5A106-3145-DE43-9A3E-8DF42505B4B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Become familiar with federal, state, local, and agency regulations that affect your job.</a:t>
            </a:r>
          </a:p>
          <a:p>
            <a:pPr eaLnBrk="1" hangingPunct="1">
              <a:spcBef>
                <a:spcPct val="35000"/>
              </a:spcBef>
            </a:pPr>
            <a:r>
              <a:rPr lang="en-US" altLang="en-US" dirty="0"/>
              <a:t>Certification or registration may be required to work as an EMR.</a:t>
            </a:r>
          </a:p>
          <a:p>
            <a:pPr eaLnBrk="1" hangingPunct="1">
              <a:spcBef>
                <a:spcPct val="35000"/>
              </a:spcBef>
            </a:pPr>
            <a:r>
              <a:rPr lang="en-US" altLang="en-US" dirty="0"/>
              <a:t>You are </a:t>
            </a:r>
            <a:r>
              <a:rPr lang="en-US" altLang="en-US" b="1" dirty="0"/>
              <a:t>always</a:t>
            </a:r>
            <a:r>
              <a:rPr lang="en-US" altLang="en-US" dirty="0"/>
              <a:t> responsible for keeping certifications or registrations current.</a:t>
            </a:r>
          </a:p>
        </p:txBody>
      </p:sp>
    </p:spTree>
    <p:extLst>
      <p:ext uri="{BB962C8B-B14F-4D97-AF65-F5344CB8AC3E}">
        <p14:creationId xmlns:p14="http://schemas.microsoft.com/office/powerpoint/2010/main" val="213093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0AACB1A-99A9-2041-A760-D45F9382E407}"/>
              </a:ext>
            </a:extLst>
          </p:cNvPr>
          <p:cNvSpPr>
            <a:spLocks noGrp="1" noChangeArrowheads="1"/>
          </p:cNvSpPr>
          <p:nvPr>
            <p:ph type="title"/>
          </p:nvPr>
        </p:nvSpPr>
        <p:spPr/>
        <p:txBody>
          <a:bodyPr/>
          <a:lstStyle/>
          <a:p>
            <a:pPr eaLnBrk="1" hangingPunct="1">
              <a:lnSpc>
                <a:spcPct val="85000"/>
              </a:lnSpc>
              <a:defRPr/>
            </a:pPr>
            <a:r>
              <a:rPr lang="en-US" dirty="0"/>
              <a:t>Reportable Events </a:t>
            </a:r>
            <a:r>
              <a:rPr lang="en-US" sz="2800" b="0" dirty="0"/>
              <a:t>(1 of 2)</a:t>
            </a:r>
          </a:p>
        </p:txBody>
      </p:sp>
      <p:sp>
        <p:nvSpPr>
          <p:cNvPr id="60418" name="Rectangle 3">
            <a:extLst>
              <a:ext uri="{FF2B5EF4-FFF2-40B4-BE49-F238E27FC236}">
                <a16:creationId xmlns:a16="http://schemas.microsoft.com/office/drawing/2014/main" id="{B0902731-48CD-5F4B-BAA4-BAF257E4AA6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Reportable crimes include: </a:t>
            </a:r>
          </a:p>
          <a:p>
            <a:pPr lvl="1" eaLnBrk="1" hangingPunct="1">
              <a:spcBef>
                <a:spcPct val="35000"/>
              </a:spcBef>
            </a:pPr>
            <a:r>
              <a:rPr lang="en-US" altLang="en-US" dirty="0"/>
              <a:t>Knife wounds</a:t>
            </a:r>
          </a:p>
          <a:p>
            <a:pPr lvl="1" eaLnBrk="1" hangingPunct="1">
              <a:spcBef>
                <a:spcPct val="35000"/>
              </a:spcBef>
            </a:pPr>
            <a:r>
              <a:rPr lang="en-US" altLang="en-US" dirty="0"/>
              <a:t>Gunshot wounds</a:t>
            </a:r>
          </a:p>
          <a:p>
            <a:pPr lvl="1" eaLnBrk="1" hangingPunct="1">
              <a:spcBef>
                <a:spcPct val="35000"/>
              </a:spcBef>
            </a:pPr>
            <a:r>
              <a:rPr lang="en-US" altLang="en-US" dirty="0"/>
              <a:t>Motor vehicle crashes</a:t>
            </a:r>
          </a:p>
          <a:p>
            <a:pPr lvl="1" eaLnBrk="1" hangingPunct="1">
              <a:spcBef>
                <a:spcPct val="35000"/>
              </a:spcBef>
            </a:pPr>
            <a:r>
              <a:rPr lang="en-US" altLang="en-US" dirty="0"/>
              <a:t>Suspected child or elder abuse</a:t>
            </a:r>
          </a:p>
          <a:p>
            <a:pPr lvl="1" eaLnBrk="1" hangingPunct="1">
              <a:spcBef>
                <a:spcPct val="35000"/>
              </a:spcBef>
            </a:pPr>
            <a:r>
              <a:rPr lang="en-US" altLang="en-US" dirty="0"/>
              <a:t>Domestic violence</a:t>
            </a:r>
          </a:p>
          <a:p>
            <a:pPr lvl="1" eaLnBrk="1" hangingPunct="1">
              <a:spcBef>
                <a:spcPct val="35000"/>
              </a:spcBef>
            </a:pPr>
            <a:r>
              <a:rPr lang="en-US" altLang="en-US" dirty="0"/>
              <a:t>Dog bites</a:t>
            </a:r>
          </a:p>
          <a:p>
            <a:pPr lvl="1" eaLnBrk="1" hangingPunct="1">
              <a:spcBef>
                <a:spcPct val="35000"/>
              </a:spcBef>
            </a:pPr>
            <a:r>
              <a:rPr lang="en-US" altLang="en-US" dirty="0"/>
              <a:t>Rape</a:t>
            </a:r>
          </a:p>
        </p:txBody>
      </p:sp>
    </p:spTree>
    <p:extLst>
      <p:ext uri="{BB962C8B-B14F-4D97-AF65-F5344CB8AC3E}">
        <p14:creationId xmlns:p14="http://schemas.microsoft.com/office/powerpoint/2010/main" val="238240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809DB03-3230-874D-9A14-716EC26AD8D3}"/>
              </a:ext>
            </a:extLst>
          </p:cNvPr>
          <p:cNvSpPr>
            <a:spLocks noGrp="1" noChangeArrowheads="1"/>
          </p:cNvSpPr>
          <p:nvPr>
            <p:ph type="title"/>
          </p:nvPr>
        </p:nvSpPr>
        <p:spPr/>
        <p:txBody>
          <a:bodyPr/>
          <a:lstStyle/>
          <a:p>
            <a:pPr eaLnBrk="1" hangingPunct="1">
              <a:lnSpc>
                <a:spcPct val="85000"/>
              </a:lnSpc>
              <a:defRPr/>
            </a:pPr>
            <a:r>
              <a:rPr lang="en-US" dirty="0"/>
              <a:t>Reportable Events </a:t>
            </a:r>
            <a:r>
              <a:rPr lang="en-US" sz="2800" b="0" dirty="0"/>
              <a:t>(2 of 2)</a:t>
            </a:r>
          </a:p>
        </p:txBody>
      </p:sp>
      <p:sp>
        <p:nvSpPr>
          <p:cNvPr id="62466" name="Rectangle 3">
            <a:extLst>
              <a:ext uri="{FF2B5EF4-FFF2-40B4-BE49-F238E27FC236}">
                <a16:creationId xmlns:a16="http://schemas.microsoft.com/office/drawing/2014/main" id="{03A74010-EFE1-5445-976A-47B1E7ADB89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Learn which crimes are reportable in your area and know your agency’s procedures for reporting these crimes.</a:t>
            </a:r>
          </a:p>
          <a:p>
            <a:pPr eaLnBrk="1" hangingPunct="1">
              <a:spcBef>
                <a:spcPct val="35000"/>
              </a:spcBef>
            </a:pPr>
            <a:r>
              <a:rPr lang="en-US" altLang="en-US" dirty="0"/>
              <a:t>Failure to notify proper authorities of reportable events may result in penalties against you or your agency.</a:t>
            </a:r>
          </a:p>
        </p:txBody>
      </p:sp>
    </p:spTree>
    <p:extLst>
      <p:ext uri="{BB962C8B-B14F-4D97-AF65-F5344CB8AC3E}">
        <p14:creationId xmlns:p14="http://schemas.microsoft.com/office/powerpoint/2010/main" val="4091750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8B3803D-260B-8E4A-AE9A-7750F042E5CE}"/>
              </a:ext>
            </a:extLst>
          </p:cNvPr>
          <p:cNvSpPr>
            <a:spLocks noGrp="1" noChangeArrowheads="1"/>
          </p:cNvSpPr>
          <p:nvPr>
            <p:ph type="title"/>
          </p:nvPr>
        </p:nvSpPr>
        <p:spPr/>
        <p:txBody>
          <a:bodyPr/>
          <a:lstStyle/>
          <a:p>
            <a:pPr eaLnBrk="1" hangingPunct="1">
              <a:lnSpc>
                <a:spcPct val="85000"/>
              </a:lnSpc>
              <a:defRPr/>
            </a:pPr>
            <a:r>
              <a:rPr lang="en-US" dirty="0"/>
              <a:t>Crime Scene Operations </a:t>
            </a:r>
            <a:r>
              <a:rPr lang="en-US" sz="2800" b="0" dirty="0"/>
              <a:t>(1 of 3)</a:t>
            </a:r>
          </a:p>
        </p:txBody>
      </p:sp>
      <p:sp>
        <p:nvSpPr>
          <p:cNvPr id="64514" name="Rectangle 3">
            <a:extLst>
              <a:ext uri="{FF2B5EF4-FFF2-40B4-BE49-F238E27FC236}">
                <a16:creationId xmlns:a16="http://schemas.microsoft.com/office/drawing/2014/main" id="{AB797BF7-4EB7-2D4E-83C8-968EDBB89BB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Many emergency medical situations are also crime scenes.</a:t>
            </a:r>
          </a:p>
          <a:p>
            <a:pPr eaLnBrk="1" hangingPunct="1">
              <a:spcBef>
                <a:spcPct val="35000"/>
              </a:spcBef>
            </a:pPr>
            <a:r>
              <a:rPr lang="en-US" altLang="en-US"/>
              <a:t>Keep these</a:t>
            </a:r>
            <a:r>
              <a:rPr lang="en-US" altLang="en-US">
                <a:solidFill>
                  <a:srgbClr val="FF0000"/>
                </a:solidFill>
              </a:rPr>
              <a:t> </a:t>
            </a:r>
            <a:r>
              <a:rPr lang="en-US" altLang="en-US"/>
              <a:t>considerations in mind:</a:t>
            </a:r>
          </a:p>
          <a:p>
            <a:pPr lvl="1" eaLnBrk="1" hangingPunct="1">
              <a:spcBef>
                <a:spcPct val="35000"/>
              </a:spcBef>
            </a:pPr>
            <a:r>
              <a:rPr lang="en-US" altLang="en-US"/>
              <a:t>Protect yourself.</a:t>
            </a:r>
          </a:p>
          <a:p>
            <a:pPr lvl="1" eaLnBrk="1" hangingPunct="1">
              <a:spcBef>
                <a:spcPct val="35000"/>
              </a:spcBef>
            </a:pPr>
            <a:r>
              <a:rPr lang="en-US" altLang="en-US"/>
              <a:t>If you determine that a crime scene is unsafe, wait in a safe location until law enforcement personnel tell you that the scene is safe for entry.</a:t>
            </a:r>
          </a:p>
          <a:p>
            <a:pPr lvl="1" eaLnBrk="1" hangingPunct="1">
              <a:spcBef>
                <a:spcPct val="35000"/>
              </a:spcBef>
            </a:pPr>
            <a:r>
              <a:rPr lang="en-US" altLang="en-US"/>
              <a:t>Your first priority is patient care.</a:t>
            </a:r>
          </a:p>
        </p:txBody>
      </p:sp>
    </p:spTree>
    <p:extLst>
      <p:ext uri="{BB962C8B-B14F-4D97-AF65-F5344CB8AC3E}">
        <p14:creationId xmlns:p14="http://schemas.microsoft.com/office/powerpoint/2010/main" val="357261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4705720-53F7-DA46-A27F-E4174041CCF7}"/>
              </a:ext>
            </a:extLst>
          </p:cNvPr>
          <p:cNvSpPr>
            <a:spLocks noGrp="1" noChangeArrowheads="1"/>
          </p:cNvSpPr>
          <p:nvPr>
            <p:ph type="title"/>
          </p:nvPr>
        </p:nvSpPr>
        <p:spPr/>
        <p:txBody>
          <a:bodyPr/>
          <a:lstStyle/>
          <a:p>
            <a:pPr eaLnBrk="1" hangingPunct="1">
              <a:lnSpc>
                <a:spcPct val="85000"/>
              </a:lnSpc>
              <a:defRPr/>
            </a:pPr>
            <a:r>
              <a:rPr lang="en-US" dirty="0"/>
              <a:t>Crime Scene Operations </a:t>
            </a:r>
            <a:r>
              <a:rPr lang="en-US" sz="2800" b="0" dirty="0"/>
              <a:t>(2 of 3)</a:t>
            </a:r>
          </a:p>
        </p:txBody>
      </p:sp>
      <p:sp>
        <p:nvSpPr>
          <p:cNvPr id="66562" name="Rectangle 3">
            <a:extLst>
              <a:ext uri="{FF2B5EF4-FFF2-40B4-BE49-F238E27FC236}">
                <a16:creationId xmlns:a16="http://schemas.microsoft.com/office/drawing/2014/main" id="{08A3667C-0341-AD43-80FB-6139C04447A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Considerations (cont’d):</a:t>
            </a:r>
          </a:p>
          <a:p>
            <a:pPr lvl="1" eaLnBrk="1" hangingPunct="1">
              <a:spcBef>
                <a:spcPct val="35000"/>
              </a:spcBef>
            </a:pPr>
            <a:r>
              <a:rPr lang="en-US" altLang="en-US" dirty="0"/>
              <a:t>When you are assessing the scene, document anything that seems unusual.</a:t>
            </a:r>
          </a:p>
          <a:p>
            <a:pPr lvl="1" eaLnBrk="1" hangingPunct="1">
              <a:spcBef>
                <a:spcPct val="35000"/>
              </a:spcBef>
            </a:pPr>
            <a:r>
              <a:rPr lang="en-US" altLang="en-US" dirty="0"/>
              <a:t>Move patient only if necessary.</a:t>
            </a:r>
          </a:p>
          <a:p>
            <a:pPr lvl="1" eaLnBrk="1" hangingPunct="1">
              <a:spcBef>
                <a:spcPct val="35000"/>
              </a:spcBef>
            </a:pPr>
            <a:r>
              <a:rPr lang="en-US" altLang="en-US" dirty="0"/>
              <a:t>Touch only what you need to touch to gain access to patient.</a:t>
            </a:r>
          </a:p>
          <a:p>
            <a:pPr lvl="1" eaLnBrk="1" hangingPunct="1">
              <a:spcBef>
                <a:spcPct val="35000"/>
              </a:spcBef>
            </a:pPr>
            <a:r>
              <a:rPr lang="en-US" altLang="en-US" dirty="0"/>
              <a:t>Preserve crime scene for investigation.</a:t>
            </a:r>
          </a:p>
          <a:p>
            <a:pPr lvl="1" eaLnBrk="1" hangingPunct="1">
              <a:spcBef>
                <a:spcPct val="35000"/>
              </a:spcBef>
            </a:pPr>
            <a:r>
              <a:rPr lang="en-US" altLang="en-US" dirty="0"/>
              <a:t>Do not cut through knife or bullet holes in patient’s clothing.</a:t>
            </a:r>
          </a:p>
        </p:txBody>
      </p:sp>
    </p:spTree>
    <p:extLst>
      <p:ext uri="{BB962C8B-B14F-4D97-AF65-F5344CB8AC3E}">
        <p14:creationId xmlns:p14="http://schemas.microsoft.com/office/powerpoint/2010/main" val="271301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8C604A4-9457-EB4B-84CF-8B81EBA1E0EC}"/>
              </a:ext>
            </a:extLst>
          </p:cNvPr>
          <p:cNvSpPr>
            <a:spLocks noGrp="1" noChangeArrowheads="1"/>
          </p:cNvSpPr>
          <p:nvPr>
            <p:ph type="title"/>
          </p:nvPr>
        </p:nvSpPr>
        <p:spPr/>
        <p:txBody>
          <a:bodyPr/>
          <a:lstStyle/>
          <a:p>
            <a:pPr eaLnBrk="1" hangingPunct="1">
              <a:lnSpc>
                <a:spcPct val="85000"/>
              </a:lnSpc>
              <a:defRPr/>
            </a:pPr>
            <a:r>
              <a:rPr lang="en-US" dirty="0"/>
              <a:t>Crime Scene Operations </a:t>
            </a:r>
            <a:r>
              <a:rPr lang="en-US" sz="2800" b="0" dirty="0"/>
              <a:t>(3 of 3)</a:t>
            </a:r>
          </a:p>
        </p:txBody>
      </p:sp>
      <p:sp>
        <p:nvSpPr>
          <p:cNvPr id="68610" name="Rectangle 3">
            <a:extLst>
              <a:ext uri="{FF2B5EF4-FFF2-40B4-BE49-F238E27FC236}">
                <a16:creationId xmlns:a16="http://schemas.microsoft.com/office/drawing/2014/main" id="{52DA40CF-C891-2A4F-ABB7-BBA34BCB3E93}"/>
              </a:ext>
            </a:extLst>
          </p:cNvPr>
          <p:cNvSpPr>
            <a:spLocks noGrp="1" noChangeArrowheads="1"/>
          </p:cNvSpPr>
          <p:nvPr>
            <p:ph type="body" idx="1"/>
          </p:nvPr>
        </p:nvSpPr>
        <p:spPr>
          <a:xfrm>
            <a:off x="5791199" y="1447800"/>
            <a:ext cx="5552303"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Considerations (cont’d):</a:t>
            </a:r>
          </a:p>
          <a:p>
            <a:pPr lvl="1" eaLnBrk="1" hangingPunct="1">
              <a:spcBef>
                <a:spcPct val="35000"/>
              </a:spcBef>
            </a:pPr>
            <a:r>
              <a:rPr lang="en-US" altLang="en-US" sz="2100" dirty="0"/>
              <a:t>Be careful where you place equipment.</a:t>
            </a:r>
          </a:p>
          <a:p>
            <a:pPr lvl="1" eaLnBrk="1" hangingPunct="1">
              <a:spcBef>
                <a:spcPct val="35000"/>
              </a:spcBef>
            </a:pPr>
            <a:r>
              <a:rPr lang="en-US" altLang="en-US" sz="2100" dirty="0"/>
              <a:t>Keep nonessential people away.</a:t>
            </a:r>
          </a:p>
          <a:p>
            <a:pPr lvl="1" eaLnBrk="1" hangingPunct="1">
              <a:spcBef>
                <a:spcPct val="35000"/>
              </a:spcBef>
            </a:pPr>
            <a:r>
              <a:rPr lang="en-US" altLang="en-US" sz="2100" dirty="0"/>
              <a:t>Work with the appropriate law enforcement authorities on scene.</a:t>
            </a:r>
          </a:p>
          <a:p>
            <a:pPr lvl="1" eaLnBrk="1" hangingPunct="1">
              <a:spcBef>
                <a:spcPct val="35000"/>
              </a:spcBef>
            </a:pPr>
            <a:r>
              <a:rPr lang="en-US" altLang="en-US" sz="2100" dirty="0"/>
              <a:t>Consider writing a short report about incident.</a:t>
            </a:r>
          </a:p>
        </p:txBody>
      </p:sp>
      <p:sp>
        <p:nvSpPr>
          <p:cNvPr id="7" name="Rectangle 6"/>
          <p:cNvSpPr/>
          <p:nvPr/>
        </p:nvSpPr>
        <p:spPr>
          <a:xfrm>
            <a:off x="652364" y="4774944"/>
            <a:ext cx="4658672" cy="923330"/>
          </a:xfrm>
          <a:prstGeom prst="rect">
            <a:avLst/>
          </a:prstGeom>
        </p:spPr>
        <p:txBody>
          <a:bodyPr wrap="square">
            <a:spAutoFit/>
          </a:bodyPr>
          <a:lstStyle/>
          <a:p>
            <a:r>
              <a:rPr lang="en-US" b="1" cap="all" dirty="0"/>
              <a:t>Figure</a:t>
            </a:r>
            <a:r>
              <a:rPr lang="en-US" b="1" dirty="0"/>
              <a:t> 4-4 </a:t>
            </a:r>
            <a:r>
              <a:rPr lang="en-US" dirty="0"/>
              <a:t>Try to cause as little disruption to a crime scene as possible without compromising patient care. </a:t>
            </a:r>
          </a:p>
        </p:txBody>
      </p:sp>
      <p:sp>
        <p:nvSpPr>
          <p:cNvPr id="8" name="Rectangle 7"/>
          <p:cNvSpPr/>
          <p:nvPr/>
        </p:nvSpPr>
        <p:spPr>
          <a:xfrm>
            <a:off x="652190" y="5690267"/>
            <a:ext cx="4456008" cy="246221"/>
          </a:xfrm>
          <a:prstGeom prst="rect">
            <a:avLst/>
          </a:prstGeom>
        </p:spPr>
        <p:txBody>
          <a:bodyPr wrap="square">
            <a:spAutoFit/>
          </a:bodyPr>
          <a:lstStyle/>
          <a:p>
            <a:r>
              <a:rPr lang="en-US" sz="1000" dirty="0"/>
              <a:t>© Steve Sanchez Photos/</a:t>
            </a:r>
            <a:r>
              <a:rPr lang="en-US" sz="1000" dirty="0" err="1"/>
              <a:t>Shutterstock</a:t>
            </a:r>
            <a:r>
              <a:rPr lang="en-US" sz="1000" dirty="0"/>
              <a:t> </a:t>
            </a:r>
          </a:p>
        </p:txBody>
      </p:sp>
      <p:pic>
        <p:nvPicPr>
          <p:cNvPr id="4098" name="Picture 2" descr="A photo shows two officers standing guard at a crime scene sealed off with tape on a sidewalk near a parked car.&#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814" y="1573334"/>
            <a:ext cx="4570308" cy="3163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612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8730879-615C-4B43-88E2-130F7F86384F}"/>
              </a:ext>
            </a:extLst>
          </p:cNvPr>
          <p:cNvSpPr>
            <a:spLocks noGrp="1" noChangeArrowheads="1"/>
          </p:cNvSpPr>
          <p:nvPr>
            <p:ph type="title"/>
          </p:nvPr>
        </p:nvSpPr>
        <p:spPr/>
        <p:txBody>
          <a:bodyPr/>
          <a:lstStyle/>
          <a:p>
            <a:pPr eaLnBrk="1" hangingPunct="1">
              <a:lnSpc>
                <a:spcPct val="85000"/>
              </a:lnSpc>
              <a:defRPr/>
            </a:pPr>
            <a:r>
              <a:rPr lang="en-US" dirty="0"/>
              <a:t>Documentation </a:t>
            </a:r>
            <a:r>
              <a:rPr lang="en-US" sz="2800" b="0" dirty="0"/>
              <a:t>(1 of 2)</a:t>
            </a:r>
          </a:p>
        </p:txBody>
      </p:sp>
      <p:sp>
        <p:nvSpPr>
          <p:cNvPr id="70658" name="Rectangle 3">
            <a:extLst>
              <a:ext uri="{FF2B5EF4-FFF2-40B4-BE49-F238E27FC236}">
                <a16:creationId xmlns:a16="http://schemas.microsoft.com/office/drawing/2014/main" id="{08BFAC37-F2AB-324C-BADD-16280147DB4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Your documentation is the initial account describing patient’s condition and care administered.</a:t>
            </a:r>
          </a:p>
          <a:p>
            <a:pPr lvl="1" eaLnBrk="1" hangingPunct="1">
              <a:spcBef>
                <a:spcPct val="35000"/>
              </a:spcBef>
            </a:pPr>
            <a:r>
              <a:rPr lang="en-US" altLang="en-US" dirty="0"/>
              <a:t>Serves as a legal record of your treatment.</a:t>
            </a:r>
          </a:p>
          <a:p>
            <a:pPr lvl="1" eaLnBrk="1" hangingPunct="1">
              <a:spcBef>
                <a:spcPct val="35000"/>
              </a:spcBef>
            </a:pPr>
            <a:r>
              <a:rPr lang="en-US" altLang="en-US" dirty="0"/>
              <a:t>Provides a basis for evaluating the quality of care provided.</a:t>
            </a:r>
          </a:p>
          <a:p>
            <a:pPr lvl="1" eaLnBrk="1" hangingPunct="1">
              <a:spcBef>
                <a:spcPct val="35000"/>
              </a:spcBef>
            </a:pPr>
            <a:r>
              <a:rPr lang="en-US" altLang="en-US" dirty="0"/>
              <a:t>Should be clear, concise, accurate, and readable.</a:t>
            </a:r>
          </a:p>
        </p:txBody>
      </p:sp>
    </p:spTree>
    <p:extLst>
      <p:ext uri="{BB962C8B-B14F-4D97-AF65-F5344CB8AC3E}">
        <p14:creationId xmlns:p14="http://schemas.microsoft.com/office/powerpoint/2010/main" val="3732760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1D85E35-14F6-EB4F-8A23-F612C39D9287}"/>
              </a:ext>
            </a:extLst>
          </p:cNvPr>
          <p:cNvSpPr>
            <a:spLocks noGrp="1" noChangeArrowheads="1"/>
          </p:cNvSpPr>
          <p:nvPr>
            <p:ph type="title"/>
          </p:nvPr>
        </p:nvSpPr>
        <p:spPr/>
        <p:txBody>
          <a:bodyPr/>
          <a:lstStyle/>
          <a:p>
            <a:pPr eaLnBrk="1" hangingPunct="1">
              <a:lnSpc>
                <a:spcPct val="85000"/>
              </a:lnSpc>
              <a:defRPr/>
            </a:pPr>
            <a:r>
              <a:rPr lang="en-US" dirty="0"/>
              <a:t>Documentation </a:t>
            </a:r>
            <a:r>
              <a:rPr lang="en-US" sz="2800" b="0" dirty="0"/>
              <a:t>(2 of 2)</a:t>
            </a:r>
          </a:p>
        </p:txBody>
      </p:sp>
      <p:sp>
        <p:nvSpPr>
          <p:cNvPr id="72706" name="Rectangle 3">
            <a:extLst>
              <a:ext uri="{FF2B5EF4-FFF2-40B4-BE49-F238E27FC236}">
                <a16:creationId xmlns:a16="http://schemas.microsoft.com/office/drawing/2014/main" id="{47349B54-6D2D-C04E-8040-286B50FD7D4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Documentation should include: </a:t>
            </a:r>
            <a:r>
              <a:rPr lang="en-US" altLang="en-US" dirty="0">
                <a:solidFill>
                  <a:srgbClr val="FFFFFF"/>
                </a:solidFill>
              </a:rPr>
              <a:t>include </a:t>
            </a:r>
          </a:p>
          <a:p>
            <a:pPr lvl="1" eaLnBrk="1" hangingPunct="1">
              <a:spcBef>
                <a:spcPct val="35000"/>
              </a:spcBef>
            </a:pPr>
            <a:r>
              <a:rPr lang="en-US" altLang="en-US" dirty="0"/>
              <a:t>Condition of patient when found.</a:t>
            </a:r>
          </a:p>
          <a:p>
            <a:pPr lvl="1" eaLnBrk="1" hangingPunct="1">
              <a:spcBef>
                <a:spcPct val="35000"/>
              </a:spcBef>
            </a:pPr>
            <a:r>
              <a:rPr lang="en-US" altLang="en-US" dirty="0"/>
              <a:t>Patient’s description of injury/illness.</a:t>
            </a:r>
          </a:p>
          <a:p>
            <a:pPr lvl="1" eaLnBrk="1" hangingPunct="1">
              <a:spcBef>
                <a:spcPct val="35000"/>
              </a:spcBef>
            </a:pPr>
            <a:r>
              <a:rPr lang="en-US" altLang="en-US" dirty="0"/>
              <a:t>Patient’s initial and repeat vital signs.</a:t>
            </a:r>
          </a:p>
          <a:p>
            <a:pPr lvl="1" eaLnBrk="1" hangingPunct="1">
              <a:spcBef>
                <a:spcPct val="35000"/>
              </a:spcBef>
            </a:pPr>
            <a:r>
              <a:rPr lang="en-US" altLang="en-US" dirty="0"/>
              <a:t>Treatment you gave patient.</a:t>
            </a:r>
          </a:p>
          <a:p>
            <a:pPr lvl="1" eaLnBrk="1" hangingPunct="1">
              <a:spcBef>
                <a:spcPct val="35000"/>
              </a:spcBef>
            </a:pPr>
            <a:r>
              <a:rPr lang="en-US" altLang="en-US" dirty="0"/>
              <a:t>Agency and personnel who took over treatment of patient.</a:t>
            </a:r>
          </a:p>
          <a:p>
            <a:pPr lvl="1" eaLnBrk="1" hangingPunct="1">
              <a:spcBef>
                <a:spcPct val="35000"/>
              </a:spcBef>
            </a:pPr>
            <a:r>
              <a:rPr lang="en-US" altLang="en-US" dirty="0"/>
              <a:t>Any reportable conditions present.</a:t>
            </a:r>
          </a:p>
          <a:p>
            <a:pPr lvl="1">
              <a:spcBef>
                <a:spcPct val="35000"/>
              </a:spcBef>
            </a:pPr>
            <a:r>
              <a:rPr lang="en-US" altLang="en-US" dirty="0"/>
              <a:t>Any infectious disease exposure.</a:t>
            </a:r>
          </a:p>
          <a:p>
            <a:pPr lvl="1">
              <a:spcBef>
                <a:spcPct val="35000"/>
              </a:spcBef>
            </a:pPr>
            <a:r>
              <a:rPr lang="en-US" altLang="en-US" dirty="0"/>
              <a:t>Anything unusual regarding situation.</a:t>
            </a:r>
          </a:p>
          <a:p>
            <a:pPr marL="457200" lvl="1" indent="0" eaLnBrk="1" hangingPunct="1">
              <a:spcBef>
                <a:spcPct val="35000"/>
              </a:spcBef>
              <a:buNone/>
            </a:pPr>
            <a:endParaRPr lang="en-US" altLang="en-US" dirty="0"/>
          </a:p>
        </p:txBody>
      </p:sp>
    </p:spTree>
    <p:extLst>
      <p:ext uri="{BB962C8B-B14F-4D97-AF65-F5344CB8AC3E}">
        <p14:creationId xmlns:p14="http://schemas.microsoft.com/office/powerpoint/2010/main" val="38579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72FC9E8-B311-6B4B-9659-623E3F4A83A2}"/>
              </a:ext>
            </a:extLst>
          </p:cNvPr>
          <p:cNvSpPr>
            <a:spLocks noGrp="1" noChangeArrowheads="1"/>
          </p:cNvSpPr>
          <p:nvPr>
            <p:ph type="title"/>
          </p:nvPr>
        </p:nvSpPr>
        <p:spPr/>
        <p:txBody>
          <a:bodyPr/>
          <a:lstStyle/>
          <a:p>
            <a:pPr eaLnBrk="1" hangingPunct="1">
              <a:lnSpc>
                <a:spcPct val="85000"/>
              </a:lnSpc>
              <a:defRPr/>
            </a:pPr>
            <a:r>
              <a:rPr lang="en-US" altLang="en-US" dirty="0"/>
              <a:t>Summary </a:t>
            </a:r>
            <a:r>
              <a:rPr lang="en-US" altLang="en-US" sz="2800" b="0" dirty="0"/>
              <a:t>(1 of 3)</a:t>
            </a:r>
          </a:p>
        </p:txBody>
      </p:sp>
      <p:sp>
        <p:nvSpPr>
          <p:cNvPr id="76802" name="Rectangle 3">
            <a:extLst>
              <a:ext uri="{FF2B5EF4-FFF2-40B4-BE49-F238E27FC236}">
                <a16:creationId xmlns:a16="http://schemas.microsoft.com/office/drawing/2014/main" id="{7F0C267F-0815-0D48-9A68-A0BD9579988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 an EMR, you have a duty to act when you are dispatched on a medical call as a part of your official duties.</a:t>
            </a:r>
          </a:p>
          <a:p>
            <a:pPr eaLnBrk="1" hangingPunct="1">
              <a:spcBef>
                <a:spcPct val="35000"/>
              </a:spcBef>
            </a:pPr>
            <a:r>
              <a:rPr lang="en-US" altLang="en-US" dirty="0"/>
              <a:t>You should understand differences between expressed consent, implied consent, consent for minors, consent of patients with mental illness, and right to refuse care.</a:t>
            </a:r>
          </a:p>
        </p:txBody>
      </p:sp>
    </p:spTree>
    <p:extLst>
      <p:ext uri="{BB962C8B-B14F-4D97-AF65-F5344CB8AC3E}">
        <p14:creationId xmlns:p14="http://schemas.microsoft.com/office/powerpoint/2010/main" val="281637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2ECC6F3-3919-424E-BF58-30BA77EF3B06}"/>
              </a:ext>
            </a:extLst>
          </p:cNvPr>
          <p:cNvSpPr>
            <a:spLocks noGrp="1" noChangeArrowheads="1"/>
          </p:cNvSpPr>
          <p:nvPr>
            <p:ph type="title"/>
          </p:nvPr>
        </p:nvSpPr>
        <p:spPr/>
        <p:txBody>
          <a:bodyPr/>
          <a:lstStyle/>
          <a:p>
            <a:pPr eaLnBrk="1" hangingPunct="1">
              <a:lnSpc>
                <a:spcPct val="85000"/>
              </a:lnSpc>
              <a:defRPr/>
            </a:pPr>
            <a:r>
              <a:rPr lang="en-US" altLang="en-US" dirty="0"/>
              <a:t>Summary </a:t>
            </a:r>
            <a:r>
              <a:rPr lang="en-US" altLang="en-US" sz="2800" b="0" dirty="0"/>
              <a:t>(2 of 3)</a:t>
            </a:r>
          </a:p>
        </p:txBody>
      </p:sp>
      <p:sp>
        <p:nvSpPr>
          <p:cNvPr id="78850" name="Rectangle 3">
            <a:extLst>
              <a:ext uri="{FF2B5EF4-FFF2-40B4-BE49-F238E27FC236}">
                <a16:creationId xmlns:a16="http://schemas.microsoft.com/office/drawing/2014/main" id="{6866CF30-EC54-DD40-8EFD-0BE5CBBAFBE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Advance directives give a patient the right to have care withheld.</a:t>
            </a:r>
          </a:p>
          <a:p>
            <a:pPr eaLnBrk="1" hangingPunct="1">
              <a:spcBef>
                <a:spcPct val="35000"/>
              </a:spcBef>
            </a:pPr>
            <a:r>
              <a:rPr lang="en-US" altLang="en-US" dirty="0"/>
              <a:t>You should understand the concepts of abandonment, negligence, and confidentiality, as well as purpose of Good Samaritan laws.</a:t>
            </a:r>
          </a:p>
        </p:txBody>
      </p:sp>
    </p:spTree>
    <p:extLst>
      <p:ext uri="{BB962C8B-B14F-4D97-AF65-F5344CB8AC3E}">
        <p14:creationId xmlns:p14="http://schemas.microsoft.com/office/powerpoint/2010/main" val="731964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03CF660-A6B3-3348-8079-CF518FC992CA}"/>
              </a:ext>
            </a:extLst>
          </p:cNvPr>
          <p:cNvSpPr>
            <a:spLocks noGrp="1" noChangeArrowheads="1"/>
          </p:cNvSpPr>
          <p:nvPr>
            <p:ph type="title"/>
          </p:nvPr>
        </p:nvSpPr>
        <p:spPr/>
        <p:txBody>
          <a:bodyPr/>
          <a:lstStyle/>
          <a:p>
            <a:pPr eaLnBrk="1" hangingPunct="1">
              <a:lnSpc>
                <a:spcPct val="85000"/>
              </a:lnSpc>
              <a:defRPr/>
            </a:pPr>
            <a:r>
              <a:rPr lang="en-US" altLang="en-US" dirty="0"/>
              <a:t>Summary </a:t>
            </a:r>
            <a:r>
              <a:rPr lang="en-US" altLang="en-US" sz="2800" b="0" dirty="0"/>
              <a:t>(3 of 3)</a:t>
            </a:r>
          </a:p>
        </p:txBody>
      </p:sp>
      <p:sp>
        <p:nvSpPr>
          <p:cNvPr id="80898" name="Rectangle 3">
            <a:extLst>
              <a:ext uri="{FF2B5EF4-FFF2-40B4-BE49-F238E27FC236}">
                <a16:creationId xmlns:a16="http://schemas.microsoft.com/office/drawing/2014/main" id="{74B1438E-D02C-EE48-9392-C78F01348DE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Certain events that deal with contagious diseases, abuse, or illegal acts must be reported to the proper authorities.</a:t>
            </a:r>
          </a:p>
          <a:p>
            <a:pPr eaLnBrk="1" hangingPunct="1">
              <a:spcBef>
                <a:spcPct val="35000"/>
              </a:spcBef>
            </a:pPr>
            <a:r>
              <a:rPr lang="en-US" altLang="en-US" dirty="0"/>
              <a:t>Crime scene operations are a complex environment. </a:t>
            </a:r>
          </a:p>
          <a:p>
            <a:pPr eaLnBrk="1" hangingPunct="1">
              <a:spcBef>
                <a:spcPct val="35000"/>
              </a:spcBef>
            </a:pPr>
            <a:r>
              <a:rPr lang="en-US" altLang="en-US" dirty="0"/>
              <a:t>Your job is not complete until paperwork (documentation) is done. </a:t>
            </a:r>
          </a:p>
          <a:p>
            <a:pPr eaLnBrk="1" hangingPunct="1">
              <a:spcBef>
                <a:spcPct val="35000"/>
              </a:spcBef>
            </a:pPr>
            <a:r>
              <a:rPr lang="en-US" altLang="en-US" dirty="0"/>
              <a:t>Understanding and following these concepts will help you to be a good EMR. </a:t>
            </a:r>
          </a:p>
        </p:txBody>
      </p:sp>
    </p:spTree>
    <p:extLst>
      <p:ext uri="{BB962C8B-B14F-4D97-AF65-F5344CB8AC3E}">
        <p14:creationId xmlns:p14="http://schemas.microsoft.com/office/powerpoint/2010/main" val="123544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C5F446-7B41-5145-AF56-CEE4F9D3CA59}"/>
              </a:ext>
            </a:extLst>
          </p:cNvPr>
          <p:cNvSpPr>
            <a:spLocks noGrp="1" noChangeArrowheads="1"/>
          </p:cNvSpPr>
          <p:nvPr>
            <p:ph type="title"/>
          </p:nvPr>
        </p:nvSpPr>
        <p:spPr/>
        <p:txBody>
          <a:bodyPr/>
          <a:lstStyle/>
          <a:p>
            <a:pPr eaLnBrk="1" hangingPunct="1">
              <a:lnSpc>
                <a:spcPct val="85000"/>
              </a:lnSpc>
              <a:defRPr/>
            </a:pPr>
            <a:r>
              <a:rPr lang="en-US" altLang="en-US" dirty="0"/>
              <a:t>Review </a:t>
            </a:r>
          </a:p>
        </p:txBody>
      </p:sp>
      <p:sp>
        <p:nvSpPr>
          <p:cNvPr id="82946" name="Rectangle 3">
            <a:extLst>
              <a:ext uri="{FF2B5EF4-FFF2-40B4-BE49-F238E27FC236}">
                <a16:creationId xmlns:a16="http://schemas.microsoft.com/office/drawing/2014/main" id="{AC744BE4-02CD-B045-8DD8-25756C99661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06400" indent="-406400">
              <a:spcBef>
                <a:spcPct val="35000"/>
              </a:spcBef>
              <a:buFontTx/>
              <a:buAutoNum type="arabicPeriod"/>
            </a:pPr>
            <a:r>
              <a:rPr lang="en-US" altLang="en-US" dirty="0"/>
              <a:t>Emergency medical responders have the legal duty to act: </a:t>
            </a:r>
          </a:p>
          <a:p>
            <a:pPr marL="927100" lvl="1" indent="-406400">
              <a:spcBef>
                <a:spcPct val="35000"/>
              </a:spcBef>
              <a:buFontTx/>
              <a:buAutoNum type="alphaUcPeriod"/>
            </a:pPr>
            <a:r>
              <a:rPr lang="en-US" altLang="en-US" dirty="0"/>
              <a:t>only when they are being compensated by a certified agency. </a:t>
            </a:r>
          </a:p>
          <a:p>
            <a:pPr marL="927100" lvl="1" indent="-406400">
              <a:spcBef>
                <a:spcPct val="35000"/>
              </a:spcBef>
              <a:buFontTx/>
              <a:buAutoNum type="alphaUcPeriod"/>
            </a:pPr>
            <a:r>
              <a:rPr lang="en-US" altLang="en-US" dirty="0"/>
              <a:t>if they witness an emergency scene while not on duty. </a:t>
            </a:r>
          </a:p>
          <a:p>
            <a:pPr marL="927100" lvl="1" indent="-406400">
              <a:spcBef>
                <a:spcPct val="35000"/>
              </a:spcBef>
              <a:buFontTx/>
              <a:buAutoNum type="alphaUcPeriod"/>
            </a:pPr>
            <a:r>
              <a:rPr lang="en-US" altLang="en-US" dirty="0"/>
              <a:t>even when outside of their response jurisdiction. </a:t>
            </a:r>
          </a:p>
          <a:p>
            <a:pPr marL="927100" lvl="1" indent="-406400">
              <a:spcBef>
                <a:spcPct val="35000"/>
              </a:spcBef>
              <a:buFontTx/>
              <a:buAutoNum type="alphaUcPeriod"/>
            </a:pPr>
            <a:r>
              <a:rPr lang="en-US" altLang="en-US" dirty="0"/>
              <a:t>if they are employed by an agency as EMRs.</a:t>
            </a:r>
          </a:p>
        </p:txBody>
      </p:sp>
    </p:spTree>
    <p:extLst>
      <p:ext uri="{BB962C8B-B14F-4D97-AF65-F5344CB8AC3E}">
        <p14:creationId xmlns:p14="http://schemas.microsoft.com/office/powerpoint/2010/main" val="408345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62AD653-A853-EC45-AD1C-46C0708E3933}"/>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44035" name="Rectangle 3">
            <a:extLst>
              <a:ext uri="{FF2B5EF4-FFF2-40B4-BE49-F238E27FC236}">
                <a16:creationId xmlns:a16="http://schemas.microsoft.com/office/drawing/2014/main" id="{1B08C605-9F9D-3448-8FB5-F9F85A90FB07}"/>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t>D.</a:t>
            </a:r>
            <a:r>
              <a:rPr lang="en-US" altLang="en-US" b="1" dirty="0">
                <a:solidFill>
                  <a:srgbClr val="8C2F01"/>
                </a:solidFill>
              </a:rPr>
              <a:t>	</a:t>
            </a:r>
            <a:r>
              <a:rPr lang="en-US" altLang="en-US" b="1" dirty="0"/>
              <a:t>if they are employed by an agency as EMRs</a:t>
            </a:r>
            <a:r>
              <a:rPr lang="en-US" altLang="en-US" b="1" dirty="0">
                <a:solidFill>
                  <a:schemeClr val="accent3"/>
                </a:solidFill>
              </a:rPr>
              <a:t>.</a:t>
            </a:r>
          </a:p>
        </p:txBody>
      </p:sp>
    </p:spTree>
    <p:extLst>
      <p:ext uri="{BB962C8B-B14F-4D97-AF65-F5344CB8AC3E}">
        <p14:creationId xmlns:p14="http://schemas.microsoft.com/office/powerpoint/2010/main" val="393024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5">
            <a:extLst>
              <a:ext uri="{FF2B5EF4-FFF2-40B4-BE49-F238E27FC236}">
                <a16:creationId xmlns:a16="http://schemas.microsoft.com/office/drawing/2014/main" id="{F386B0C4-254B-7147-9A86-C00D44C71C5D}"/>
              </a:ext>
            </a:extLst>
          </p:cNvPr>
          <p:cNvSpPr>
            <a:spLocks noGrp="1" noChangeArrowheads="1"/>
          </p:cNvSpPr>
          <p:nvPr>
            <p:ph type="title"/>
          </p:nvPr>
        </p:nvSpPr>
        <p:spPr/>
        <p:txBody>
          <a:bodyPr/>
          <a:lstStyle/>
          <a:p>
            <a:pPr>
              <a:defRPr/>
            </a:pPr>
            <a:r>
              <a:rPr lang="en-US" altLang="en-US" dirty="0"/>
              <a:t>Review</a:t>
            </a:r>
          </a:p>
        </p:txBody>
      </p:sp>
      <p:sp>
        <p:nvSpPr>
          <p:cNvPr id="86018" name="Rectangle 6">
            <a:extLst>
              <a:ext uri="{FF2B5EF4-FFF2-40B4-BE49-F238E27FC236}">
                <a16:creationId xmlns:a16="http://schemas.microsoft.com/office/drawing/2014/main" id="{BFFBFF05-EAA8-7443-B0D9-B51E48425C9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a:lstStyle/>
          <a:p>
            <a:pPr marL="406400" indent="-406400">
              <a:buFontTx/>
              <a:buAutoNum type="arabicPeriod" startAt="2"/>
            </a:pPr>
            <a:r>
              <a:rPr lang="en-US" altLang="en-US" dirty="0"/>
              <a:t>Patients are legally able to make a decision regarding their care if they:</a:t>
            </a:r>
          </a:p>
          <a:p>
            <a:pPr marL="1028700" lvl="1" indent="-457200">
              <a:buFontTx/>
              <a:buAutoNum type="alphaUcPeriod"/>
            </a:pPr>
            <a:r>
              <a:rPr lang="en-US" altLang="en-US" dirty="0"/>
              <a:t>are of legal age according to state law. </a:t>
            </a:r>
          </a:p>
          <a:p>
            <a:pPr marL="1028700" lvl="1" indent="-457200">
              <a:buFontTx/>
              <a:buAutoNum type="alphaUcPeriod"/>
            </a:pPr>
            <a:r>
              <a:rPr lang="en-US" altLang="en-US" dirty="0"/>
              <a:t>have injuries that are life-threatening. </a:t>
            </a:r>
          </a:p>
          <a:p>
            <a:pPr marL="1028700" lvl="1" indent="-457200">
              <a:buFontTx/>
              <a:buAutoNum type="alphaUcPeriod"/>
            </a:pPr>
            <a:r>
              <a:rPr lang="en-US" altLang="en-US" dirty="0"/>
              <a:t>refused transport to the hospital prior to becoming unresponsive. </a:t>
            </a:r>
          </a:p>
          <a:p>
            <a:pPr marL="1028700" lvl="1" indent="-457200">
              <a:buFontTx/>
              <a:buAutoNum type="alphaUcPeriod"/>
            </a:pPr>
            <a:r>
              <a:rPr lang="en-US" altLang="en-US" dirty="0"/>
              <a:t>have bystanders who can verify their competency. </a:t>
            </a:r>
          </a:p>
        </p:txBody>
      </p:sp>
    </p:spTree>
    <p:extLst>
      <p:ext uri="{BB962C8B-B14F-4D97-AF65-F5344CB8AC3E}">
        <p14:creationId xmlns:p14="http://schemas.microsoft.com/office/powerpoint/2010/main" val="105873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7563A79-764C-9841-A779-A8B87632D281}"/>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87042" name="Rectangle 3">
            <a:extLst>
              <a:ext uri="{FF2B5EF4-FFF2-40B4-BE49-F238E27FC236}">
                <a16:creationId xmlns:a16="http://schemas.microsoft.com/office/drawing/2014/main" id="{72DE310B-8BC0-534B-873D-D2913CB3E18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buNone/>
              <a:tabLst>
                <a:tab pos="457200" algn="l"/>
              </a:tabLst>
            </a:pPr>
            <a:r>
              <a:rPr lang="en-US" altLang="en-US" b="1"/>
              <a:t>Answer: </a:t>
            </a:r>
          </a:p>
          <a:p>
            <a:pPr marL="457200" indent="-457200">
              <a:spcBef>
                <a:spcPct val="35000"/>
              </a:spcBef>
              <a:buNone/>
              <a:tabLst>
                <a:tab pos="457200" algn="l"/>
              </a:tabLst>
            </a:pPr>
            <a:r>
              <a:rPr lang="en-US" altLang="en-US" b="1"/>
              <a:t>A.	are of legal age according to state law. </a:t>
            </a:r>
          </a:p>
        </p:txBody>
      </p:sp>
    </p:spTree>
    <p:extLst>
      <p:ext uri="{BB962C8B-B14F-4D97-AF65-F5344CB8AC3E}">
        <p14:creationId xmlns:p14="http://schemas.microsoft.com/office/powerpoint/2010/main" val="3496924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5">
            <a:extLst>
              <a:ext uri="{FF2B5EF4-FFF2-40B4-BE49-F238E27FC236}">
                <a16:creationId xmlns:a16="http://schemas.microsoft.com/office/drawing/2014/main" id="{C800202B-792D-204C-AFCE-45027DD6141E}"/>
              </a:ext>
            </a:extLst>
          </p:cNvPr>
          <p:cNvSpPr>
            <a:spLocks noGrp="1" noChangeArrowheads="1"/>
          </p:cNvSpPr>
          <p:nvPr>
            <p:ph type="title"/>
          </p:nvPr>
        </p:nvSpPr>
        <p:spPr/>
        <p:txBody>
          <a:bodyPr/>
          <a:lstStyle/>
          <a:p>
            <a:pPr>
              <a:defRPr/>
            </a:pPr>
            <a:r>
              <a:rPr lang="en-US" altLang="en-US" dirty="0"/>
              <a:t>Review</a:t>
            </a:r>
          </a:p>
        </p:txBody>
      </p:sp>
      <p:sp>
        <p:nvSpPr>
          <p:cNvPr id="89090" name="Rectangle 6">
            <a:extLst>
              <a:ext uri="{FF2B5EF4-FFF2-40B4-BE49-F238E27FC236}">
                <a16:creationId xmlns:a16="http://schemas.microsoft.com/office/drawing/2014/main" id="{41128326-305C-4A47-AD22-1B603CD8DFD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a:lstStyle/>
          <a:p>
            <a:pPr marL="406400" indent="-406400">
              <a:buFontTx/>
              <a:buAutoNum type="arabicPeriod" startAt="3"/>
            </a:pPr>
            <a:r>
              <a:rPr lang="en-US" altLang="en-US" dirty="0"/>
              <a:t>EMRs have the ethical responsibility to:</a:t>
            </a:r>
          </a:p>
          <a:p>
            <a:pPr marL="1028700" lvl="1" indent="-457200">
              <a:buFontTx/>
              <a:buAutoNum type="alphaUcPeriod"/>
            </a:pPr>
            <a:r>
              <a:rPr lang="en-US" altLang="en-US" dirty="0"/>
              <a:t>provide care only when a paramedic is present. </a:t>
            </a:r>
          </a:p>
          <a:p>
            <a:pPr marL="1028700" lvl="1" indent="-457200">
              <a:buFontTx/>
              <a:buAutoNum type="alphaUcPeriod"/>
            </a:pPr>
            <a:r>
              <a:rPr lang="en-US" altLang="en-US" dirty="0"/>
              <a:t>discuss details of each case with their coworkers and families. </a:t>
            </a:r>
          </a:p>
          <a:p>
            <a:pPr marL="1028700" lvl="1" indent="-457200">
              <a:buFontTx/>
              <a:buAutoNum type="alphaUcPeriod"/>
            </a:pPr>
            <a:r>
              <a:rPr lang="en-US" altLang="en-US" dirty="0"/>
              <a:t>transport all patients to the closest hospital. </a:t>
            </a:r>
          </a:p>
          <a:p>
            <a:pPr marL="1028700" lvl="1" indent="-457200">
              <a:buFontTx/>
              <a:buAutoNum type="alphaUcPeriod"/>
            </a:pPr>
            <a:r>
              <a:rPr lang="en-US" altLang="en-US" dirty="0"/>
              <a:t>conform to accepted professional standards of conduct. </a:t>
            </a:r>
          </a:p>
        </p:txBody>
      </p:sp>
    </p:spTree>
    <p:extLst>
      <p:ext uri="{BB962C8B-B14F-4D97-AF65-F5344CB8AC3E}">
        <p14:creationId xmlns:p14="http://schemas.microsoft.com/office/powerpoint/2010/main" val="1283831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9C98D51-F434-2947-996B-D42BD545CCDE}"/>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90114" name="Rectangle 3">
            <a:extLst>
              <a:ext uri="{FF2B5EF4-FFF2-40B4-BE49-F238E27FC236}">
                <a16:creationId xmlns:a16="http://schemas.microsoft.com/office/drawing/2014/main" id="{31D8E043-7154-EC45-BF3E-D171AD1AD81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buNone/>
              <a:tabLst>
                <a:tab pos="457200" algn="l"/>
              </a:tabLst>
            </a:pPr>
            <a:r>
              <a:rPr lang="en-US" altLang="en-US" b="1"/>
              <a:t>Answer: </a:t>
            </a:r>
          </a:p>
          <a:p>
            <a:pPr marL="457200" indent="-457200">
              <a:spcBef>
                <a:spcPct val="35000"/>
              </a:spcBef>
              <a:buNone/>
              <a:tabLst>
                <a:tab pos="457200" algn="l"/>
              </a:tabLst>
            </a:pPr>
            <a:r>
              <a:rPr lang="en-US" altLang="en-US" b="1"/>
              <a:t>D.	conform to accepted professional standards of conduct. </a:t>
            </a:r>
          </a:p>
        </p:txBody>
      </p:sp>
    </p:spTree>
    <p:extLst>
      <p:ext uri="{BB962C8B-B14F-4D97-AF65-F5344CB8AC3E}">
        <p14:creationId xmlns:p14="http://schemas.microsoft.com/office/powerpoint/2010/main" val="193555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290</TotalTime>
  <Words>5271</Words>
  <Application>Microsoft Macintosh PowerPoint</Application>
  <PresentationFormat>Widescreen</PresentationFormat>
  <Paragraphs>462</Paragraphs>
  <Slides>42</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Black</vt:lpstr>
      <vt:lpstr>Calibri</vt:lpstr>
      <vt:lpstr>Times New Roman</vt:lpstr>
      <vt:lpstr>Wingdings</vt:lpstr>
      <vt:lpstr>Educational subjects 16x9</vt:lpstr>
      <vt:lpstr>Medical, Legal, and Ethical Issues</vt:lpstr>
      <vt:lpstr>National EMS Education Standard Competencies (1 of 2)</vt:lpstr>
      <vt:lpstr>National EMS Education Standard Competencies (2 of 2)</vt:lpstr>
      <vt:lpstr>Introduction</vt:lpstr>
      <vt:lpstr>Duty to Act </vt:lpstr>
      <vt:lpstr>Standard of Care</vt:lpstr>
      <vt:lpstr>Scope of Care</vt:lpstr>
      <vt:lpstr>Ethical Responsibilities and Competence (1 of 2)</vt:lpstr>
      <vt:lpstr>Ethical Responsibilities and Competence (2 of 2)</vt:lpstr>
      <vt:lpstr>Consent for Treatment (1 of 4)</vt:lpstr>
      <vt:lpstr>Consent for Treatment (2 of 4)</vt:lpstr>
      <vt:lpstr>Consent for Treatment (3 of 4)</vt:lpstr>
      <vt:lpstr>Consent for Treatment (4 of 4)</vt:lpstr>
      <vt:lpstr>Patient Refusal of Care (1 of 2)</vt:lpstr>
      <vt:lpstr>Patient Refusal of Care (2 of 2)</vt:lpstr>
      <vt:lpstr>Advance Directives (1 of 3)</vt:lpstr>
      <vt:lpstr>Advance Directives (2 of 3)</vt:lpstr>
      <vt:lpstr>Advance Directives (3 of 3)</vt:lpstr>
      <vt:lpstr>Abandonment</vt:lpstr>
      <vt:lpstr>People Dead at Scene (1 of 2)</vt:lpstr>
      <vt:lpstr>People Dead at Scene (2 of 2)</vt:lpstr>
      <vt:lpstr>Negligence</vt:lpstr>
      <vt:lpstr>Confidentiality (1 of 2)</vt:lpstr>
      <vt:lpstr>Confidentiality (2 of 2)</vt:lpstr>
      <vt:lpstr>Good Samaritan Laws</vt:lpstr>
      <vt:lpstr>Regulations</vt:lpstr>
      <vt:lpstr>Reportable Events (1 of 2)</vt:lpstr>
      <vt:lpstr>Reportable Events (2 of 2)</vt:lpstr>
      <vt:lpstr>Crime Scene Operations (1 of 3)</vt:lpstr>
      <vt:lpstr>Crime Scene Operations (2 of 3)</vt:lpstr>
      <vt:lpstr>Crime Scene Operations (3 of 3)</vt:lpstr>
      <vt:lpstr>Documentation (1 of 2)</vt:lpstr>
      <vt:lpstr>Documentation (2 of 2)</vt:lpstr>
      <vt:lpstr>Summary (1 of 3)</vt:lpstr>
      <vt:lpstr>Summary (2 of 3)</vt:lpstr>
      <vt:lpstr>Summary (3 of 3)</vt:lpstr>
      <vt:lpstr>Review </vt:lpstr>
      <vt:lpstr>Review</vt:lpstr>
      <vt:lpstr>Review</vt:lpstr>
      <vt:lpstr>Review</vt:lpstr>
      <vt:lpstr>Review</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46</cp:revision>
  <dcterms:created xsi:type="dcterms:W3CDTF">2019-03-08T18:11:57Z</dcterms:created>
  <dcterms:modified xsi:type="dcterms:W3CDTF">2020-11-30T21:48:49Z</dcterms:modified>
</cp:coreProperties>
</file>