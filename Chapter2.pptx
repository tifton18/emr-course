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2"/>
  </p:notesMasterIdLst>
  <p:handoutMasterIdLst>
    <p:handoutMasterId r:id="rId53"/>
  </p:handoutMasterIdLst>
  <p:sldIdLst>
    <p:sldId id="258" r:id="rId2"/>
    <p:sldId id="735" r:id="rId3"/>
    <p:sldId id="736" r:id="rId4"/>
    <p:sldId id="737" r:id="rId5"/>
    <p:sldId id="738" r:id="rId6"/>
    <p:sldId id="739" r:id="rId7"/>
    <p:sldId id="740" r:id="rId8"/>
    <p:sldId id="741" r:id="rId9"/>
    <p:sldId id="742" r:id="rId10"/>
    <p:sldId id="743" r:id="rId11"/>
    <p:sldId id="745" r:id="rId12"/>
    <p:sldId id="746" r:id="rId13"/>
    <p:sldId id="747" r:id="rId14"/>
    <p:sldId id="748" r:id="rId15"/>
    <p:sldId id="749" r:id="rId16"/>
    <p:sldId id="750" r:id="rId17"/>
    <p:sldId id="751" r:id="rId18"/>
    <p:sldId id="785" r:id="rId19"/>
    <p:sldId id="752" r:id="rId20"/>
    <p:sldId id="753" r:id="rId21"/>
    <p:sldId id="754" r:id="rId22"/>
    <p:sldId id="755" r:id="rId23"/>
    <p:sldId id="756" r:id="rId24"/>
    <p:sldId id="786" r:id="rId25"/>
    <p:sldId id="757" r:id="rId26"/>
    <p:sldId id="758" r:id="rId27"/>
    <p:sldId id="759" r:id="rId28"/>
    <p:sldId id="787" r:id="rId29"/>
    <p:sldId id="788" r:id="rId30"/>
    <p:sldId id="760" r:id="rId31"/>
    <p:sldId id="761" r:id="rId32"/>
    <p:sldId id="762" r:id="rId33"/>
    <p:sldId id="763" r:id="rId34"/>
    <p:sldId id="764" r:id="rId35"/>
    <p:sldId id="765" r:id="rId36"/>
    <p:sldId id="766" r:id="rId37"/>
    <p:sldId id="767" r:id="rId38"/>
    <p:sldId id="769" r:id="rId39"/>
    <p:sldId id="770" r:id="rId40"/>
    <p:sldId id="771" r:id="rId41"/>
    <p:sldId id="773" r:id="rId42"/>
    <p:sldId id="774" r:id="rId43"/>
    <p:sldId id="775" r:id="rId44"/>
    <p:sldId id="776" r:id="rId45"/>
    <p:sldId id="777" r:id="rId46"/>
    <p:sldId id="778" r:id="rId47"/>
    <p:sldId id="779" r:id="rId48"/>
    <p:sldId id="780" r:id="rId49"/>
    <p:sldId id="781" r:id="rId50"/>
    <p:sldId id="782"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5AA47-199E-4CBF-B21D-5F186A0A99E7}" v="99" dt="2020-08-10T16:05:51.470"/>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82041"/>
  </p:normalViewPr>
  <p:slideViewPr>
    <p:cSldViewPr snapToGrid="0">
      <p:cViewPr>
        <p:scale>
          <a:sx n="100" d="100"/>
          <a:sy n="100" d="100"/>
        </p:scale>
        <p:origin x="1856" y="248"/>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07E5AA47-199E-4CBF-B21D-5F186A0A99E7}"/>
    <pc:docChg chg="custSel modSld modMainMaster">
      <pc:chgData name="Paula-Yuan Gregory" userId="8839d734-a022-4f7a-aa1a-7ded42ea4e8b" providerId="ADAL" clId="{07E5AA47-199E-4CBF-B21D-5F186A0A99E7}" dt="2020-08-11T15:39:11.160" v="208" actId="20577"/>
      <pc:docMkLst>
        <pc:docMk/>
      </pc:docMkLst>
      <pc:sldChg chg="modSp">
        <pc:chgData name="Paula-Yuan Gregory" userId="8839d734-a022-4f7a-aa1a-7ded42ea4e8b" providerId="ADAL" clId="{07E5AA47-199E-4CBF-B21D-5F186A0A99E7}" dt="2020-08-11T15:39:11.160" v="208" actId="20577"/>
        <pc:sldMkLst>
          <pc:docMk/>
          <pc:sldMk cId="1732698309" sldId="258"/>
        </pc:sldMkLst>
        <pc:spChg chg="mod">
          <ac:chgData name="Paula-Yuan Gregory" userId="8839d734-a022-4f7a-aa1a-7ded42ea4e8b" providerId="ADAL" clId="{07E5AA47-199E-4CBF-B21D-5F186A0A99E7}" dt="2020-08-11T15:39:11.160" v="208" actId="20577"/>
          <ac:spMkLst>
            <pc:docMk/>
            <pc:sldMk cId="1732698309" sldId="258"/>
            <ac:spMk id="15" creationId="{CF4F1586-DE6A-1A40-AEF4-23ADA41937E4}"/>
          </ac:spMkLst>
        </pc:spChg>
      </pc:sldChg>
      <pc:sldChg chg="addSp delSp modSp">
        <pc:chgData name="Paula-Yuan Gregory" userId="8839d734-a022-4f7a-aa1a-7ded42ea4e8b" providerId="ADAL" clId="{07E5AA47-199E-4CBF-B21D-5F186A0A99E7}" dt="2020-08-10T15:59:45.998" v="112" actId="1076"/>
        <pc:sldMkLst>
          <pc:docMk/>
          <pc:sldMk cId="2021669146" sldId="741"/>
        </pc:sldMkLst>
        <pc:spChg chg="add mod">
          <ac:chgData name="Paula-Yuan Gregory" userId="8839d734-a022-4f7a-aa1a-7ded42ea4e8b" providerId="ADAL" clId="{07E5AA47-199E-4CBF-B21D-5F186A0A99E7}" dt="2020-08-10T15:59:45.998" v="112" actId="1076"/>
          <ac:spMkLst>
            <pc:docMk/>
            <pc:sldMk cId="2021669146" sldId="741"/>
            <ac:spMk id="6" creationId="{AFA6017C-47FF-4F32-95FF-EE340E43139A}"/>
          </ac:spMkLst>
        </pc:spChg>
        <pc:picChg chg="del">
          <ac:chgData name="Paula-Yuan Gregory" userId="8839d734-a022-4f7a-aa1a-7ded42ea4e8b" providerId="ADAL" clId="{07E5AA47-199E-4CBF-B21D-5F186A0A99E7}" dt="2020-08-10T15:59:36.204" v="93" actId="478"/>
          <ac:picMkLst>
            <pc:docMk/>
            <pc:sldMk cId="2021669146" sldId="741"/>
            <ac:picMk id="17411" creationId="{9A2F8220-5196-3549-97B2-7C2940D01BA1}"/>
          </ac:picMkLst>
        </pc:picChg>
      </pc:sldChg>
      <pc:sldChg chg="addSp delSp modSp">
        <pc:chgData name="Paula-Yuan Gregory" userId="8839d734-a022-4f7a-aa1a-7ded42ea4e8b" providerId="ADAL" clId="{07E5AA47-199E-4CBF-B21D-5F186A0A99E7}" dt="2020-08-10T16:00:10.395" v="132" actId="1076"/>
        <pc:sldMkLst>
          <pc:docMk/>
          <pc:sldMk cId="4068059589" sldId="747"/>
        </pc:sldMkLst>
        <pc:spChg chg="add mod">
          <ac:chgData name="Paula-Yuan Gregory" userId="8839d734-a022-4f7a-aa1a-7ded42ea4e8b" providerId="ADAL" clId="{07E5AA47-199E-4CBF-B21D-5F186A0A99E7}" dt="2020-08-10T16:00:10.395" v="132" actId="1076"/>
          <ac:spMkLst>
            <pc:docMk/>
            <pc:sldMk cId="4068059589" sldId="747"/>
            <ac:spMk id="6" creationId="{AFA6017C-47FF-4F32-95FF-EE340E43139A}"/>
          </ac:spMkLst>
        </pc:spChg>
        <pc:picChg chg="del">
          <ac:chgData name="Paula-Yuan Gregory" userId="8839d734-a022-4f7a-aa1a-7ded42ea4e8b" providerId="ADAL" clId="{07E5AA47-199E-4CBF-B21D-5F186A0A99E7}" dt="2020-08-10T16:00:02.956" v="113" actId="478"/>
          <ac:picMkLst>
            <pc:docMk/>
            <pc:sldMk cId="4068059589" sldId="747"/>
            <ac:picMk id="29699" creationId="{8B8F1A46-6573-9C4E-815F-07063B1B6E88}"/>
          </ac:picMkLst>
        </pc:picChg>
      </pc:sldChg>
      <pc:sldChg chg="addSp delSp modSp">
        <pc:chgData name="Paula-Yuan Gregory" userId="8839d734-a022-4f7a-aa1a-7ded42ea4e8b" providerId="ADAL" clId="{07E5AA47-199E-4CBF-B21D-5F186A0A99E7}" dt="2020-08-10T16:03:14.260" v="145" actId="20577"/>
        <pc:sldMkLst>
          <pc:docMk/>
          <pc:sldMk cId="1458110044" sldId="748"/>
        </pc:sldMkLst>
        <pc:spChg chg="add mod">
          <ac:chgData name="Paula-Yuan Gregory" userId="8839d734-a022-4f7a-aa1a-7ded42ea4e8b" providerId="ADAL" clId="{07E5AA47-199E-4CBF-B21D-5F186A0A99E7}" dt="2020-08-10T16:03:14.260" v="145" actId="20577"/>
          <ac:spMkLst>
            <pc:docMk/>
            <pc:sldMk cId="1458110044" sldId="748"/>
            <ac:spMk id="5" creationId="{AFA6017C-47FF-4F32-95FF-EE340E43139A}"/>
          </ac:spMkLst>
        </pc:spChg>
        <pc:spChg chg="mod">
          <ac:chgData name="Paula-Yuan Gregory" userId="8839d734-a022-4f7a-aa1a-7ded42ea4e8b" providerId="ADAL" clId="{07E5AA47-199E-4CBF-B21D-5F186A0A99E7}" dt="2020-08-06T16:18:30.625" v="66" actId="1036"/>
          <ac:spMkLst>
            <pc:docMk/>
            <pc:sldMk cId="1458110044" sldId="748"/>
            <ac:spMk id="31748" creationId="{8B04988E-E865-CF43-827C-7D5AB287D363}"/>
          </ac:spMkLst>
        </pc:spChg>
        <pc:picChg chg="del mod">
          <ac:chgData name="Paula-Yuan Gregory" userId="8839d734-a022-4f7a-aa1a-7ded42ea4e8b" providerId="ADAL" clId="{07E5AA47-199E-4CBF-B21D-5F186A0A99E7}" dt="2020-08-10T16:03:08.742" v="133" actId="478"/>
          <ac:picMkLst>
            <pc:docMk/>
            <pc:sldMk cId="1458110044" sldId="748"/>
            <ac:picMk id="31747" creationId="{6F45AB12-2F18-8447-BA0B-73C7B2C07B7B}"/>
          </ac:picMkLst>
        </pc:picChg>
      </pc:sldChg>
      <pc:sldChg chg="addSp delSp modSp">
        <pc:chgData name="Paula-Yuan Gregory" userId="8839d734-a022-4f7a-aa1a-7ded42ea4e8b" providerId="ADAL" clId="{07E5AA47-199E-4CBF-B21D-5F186A0A99E7}" dt="2020-08-10T16:03:30.781" v="159" actId="1076"/>
        <pc:sldMkLst>
          <pc:docMk/>
          <pc:sldMk cId="2476686328" sldId="749"/>
        </pc:sldMkLst>
        <pc:spChg chg="add mod">
          <ac:chgData name="Paula-Yuan Gregory" userId="8839d734-a022-4f7a-aa1a-7ded42ea4e8b" providerId="ADAL" clId="{07E5AA47-199E-4CBF-B21D-5F186A0A99E7}" dt="2020-08-10T16:03:30.781" v="159" actId="1076"/>
          <ac:spMkLst>
            <pc:docMk/>
            <pc:sldMk cId="2476686328" sldId="749"/>
            <ac:spMk id="6" creationId="{AFA6017C-47FF-4F32-95FF-EE340E43139A}"/>
          </ac:spMkLst>
        </pc:spChg>
        <pc:picChg chg="del">
          <ac:chgData name="Paula-Yuan Gregory" userId="8839d734-a022-4f7a-aa1a-7ded42ea4e8b" providerId="ADAL" clId="{07E5AA47-199E-4CBF-B21D-5F186A0A99E7}" dt="2020-08-10T16:03:21.986" v="146" actId="478"/>
          <ac:picMkLst>
            <pc:docMk/>
            <pc:sldMk cId="2476686328" sldId="749"/>
            <ac:picMk id="33795" creationId="{5AFD9C67-3243-7B4D-94C5-B95CFFC6C447}"/>
          </ac:picMkLst>
        </pc:picChg>
      </pc:sldChg>
      <pc:sldChg chg="addSp delSp modSp">
        <pc:chgData name="Paula-Yuan Gregory" userId="8839d734-a022-4f7a-aa1a-7ded42ea4e8b" providerId="ADAL" clId="{07E5AA47-199E-4CBF-B21D-5F186A0A99E7}" dt="2020-08-10T16:04:21.152" v="174" actId="1076"/>
        <pc:sldMkLst>
          <pc:docMk/>
          <pc:sldMk cId="1709711209" sldId="757"/>
        </pc:sldMkLst>
        <pc:spChg chg="add mod">
          <ac:chgData name="Paula-Yuan Gregory" userId="8839d734-a022-4f7a-aa1a-7ded42ea4e8b" providerId="ADAL" clId="{07E5AA47-199E-4CBF-B21D-5F186A0A99E7}" dt="2020-08-10T16:04:21.152" v="174" actId="1076"/>
          <ac:spMkLst>
            <pc:docMk/>
            <pc:sldMk cId="1709711209" sldId="757"/>
            <ac:spMk id="6" creationId="{AFA6017C-47FF-4F32-95FF-EE340E43139A}"/>
          </ac:spMkLst>
        </pc:spChg>
        <pc:picChg chg="del">
          <ac:chgData name="Paula-Yuan Gregory" userId="8839d734-a022-4f7a-aa1a-7ded42ea4e8b" providerId="ADAL" clId="{07E5AA47-199E-4CBF-B21D-5F186A0A99E7}" dt="2020-08-10T16:04:10.933" v="160" actId="478"/>
          <ac:picMkLst>
            <pc:docMk/>
            <pc:sldMk cId="1709711209" sldId="757"/>
            <ac:picMk id="4" creationId="{09DEA73D-5A8B-EC45-8116-54FF69F09FC1}"/>
          </ac:picMkLst>
        </pc:picChg>
      </pc:sldChg>
      <pc:sldChg chg="addSp delSp modSp">
        <pc:chgData name="Paula-Yuan Gregory" userId="8839d734-a022-4f7a-aa1a-7ded42ea4e8b" providerId="ADAL" clId="{07E5AA47-199E-4CBF-B21D-5F186A0A99E7}" dt="2020-08-10T16:05:00.206" v="189" actId="1076"/>
        <pc:sldMkLst>
          <pc:docMk/>
          <pc:sldMk cId="3251773752" sldId="763"/>
        </pc:sldMkLst>
        <pc:spChg chg="add mod">
          <ac:chgData name="Paula-Yuan Gregory" userId="8839d734-a022-4f7a-aa1a-7ded42ea4e8b" providerId="ADAL" clId="{07E5AA47-199E-4CBF-B21D-5F186A0A99E7}" dt="2020-08-10T16:05:00.206" v="189" actId="1076"/>
          <ac:spMkLst>
            <pc:docMk/>
            <pc:sldMk cId="3251773752" sldId="763"/>
            <ac:spMk id="6" creationId="{AFA6017C-47FF-4F32-95FF-EE340E43139A}"/>
          </ac:spMkLst>
        </pc:spChg>
        <pc:picChg chg="del">
          <ac:chgData name="Paula-Yuan Gregory" userId="8839d734-a022-4f7a-aa1a-7ded42ea4e8b" providerId="ADAL" clId="{07E5AA47-199E-4CBF-B21D-5F186A0A99E7}" dt="2020-08-10T16:04:53.182" v="175" actId="478"/>
          <ac:picMkLst>
            <pc:docMk/>
            <pc:sldMk cId="3251773752" sldId="763"/>
            <ac:picMk id="62467" creationId="{B5E0193B-DEF4-C24E-B39F-40659D813B92}"/>
          </ac:picMkLst>
        </pc:picChg>
      </pc:sldChg>
      <pc:sldChg chg="addSp delSp modSp">
        <pc:chgData name="Paula-Yuan Gregory" userId="8839d734-a022-4f7a-aa1a-7ded42ea4e8b" providerId="ADAL" clId="{07E5AA47-199E-4CBF-B21D-5F186A0A99E7}" dt="2020-08-10T16:05:58.708" v="206" actId="1076"/>
        <pc:sldMkLst>
          <pc:docMk/>
          <pc:sldMk cId="1797629057" sldId="767"/>
        </pc:sldMkLst>
        <pc:spChg chg="add mod">
          <ac:chgData name="Paula-Yuan Gregory" userId="8839d734-a022-4f7a-aa1a-7ded42ea4e8b" providerId="ADAL" clId="{07E5AA47-199E-4CBF-B21D-5F186A0A99E7}" dt="2020-08-10T16:05:58.708" v="206" actId="1076"/>
          <ac:spMkLst>
            <pc:docMk/>
            <pc:sldMk cId="1797629057" sldId="767"/>
            <ac:spMk id="5" creationId="{AFA6017C-47FF-4F32-95FF-EE340E43139A}"/>
          </ac:spMkLst>
        </pc:spChg>
        <pc:picChg chg="del">
          <ac:chgData name="Paula-Yuan Gregory" userId="8839d734-a022-4f7a-aa1a-7ded42ea4e8b" providerId="ADAL" clId="{07E5AA47-199E-4CBF-B21D-5F186A0A99E7}" dt="2020-08-10T16:05:51.111" v="190" actId="478"/>
          <ac:picMkLst>
            <pc:docMk/>
            <pc:sldMk cId="1797629057" sldId="767"/>
            <ac:picMk id="4" creationId="{B1EBDCDD-FFA7-8D43-885E-1C222A3005F2}"/>
          </ac:picMkLst>
        </pc:picChg>
      </pc:sldChg>
      <pc:sldMasterChg chg="modSp modSldLayout">
        <pc:chgData name="Paula-Yuan Gregory" userId="8839d734-a022-4f7a-aa1a-7ded42ea4e8b" providerId="ADAL" clId="{07E5AA47-199E-4CBF-B21D-5F186A0A99E7}" dt="2020-07-29T16:36:33.145" v="7" actId="20577"/>
        <pc:sldMasterMkLst>
          <pc:docMk/>
          <pc:sldMasterMk cId="2871921020" sldId="2147483648"/>
        </pc:sldMasterMkLst>
        <pc:spChg chg="mod">
          <ac:chgData name="Paula-Yuan Gregory" userId="8839d734-a022-4f7a-aa1a-7ded42ea4e8b" providerId="ADAL" clId="{07E5AA47-199E-4CBF-B21D-5F186A0A99E7}" dt="2020-07-29T16:36:27.074" v="3" actId="20577"/>
          <ac:spMkLst>
            <pc:docMk/>
            <pc:sldMasterMk cId="2871921020" sldId="2147483648"/>
            <ac:spMk id="7" creationId="{21F38BD8-3F75-CE4C-AFEF-0C6B45F77F8C}"/>
          </ac:spMkLst>
        </pc:spChg>
        <pc:sldLayoutChg chg="modSp">
          <pc:chgData name="Paula-Yuan Gregory" userId="8839d734-a022-4f7a-aa1a-7ded42ea4e8b" providerId="ADAL" clId="{07E5AA47-199E-4CBF-B21D-5F186A0A99E7}" dt="2020-07-29T16:36:33.145" v="7" actId="20577"/>
          <pc:sldLayoutMkLst>
            <pc:docMk/>
            <pc:sldMasterMk cId="2871921020" sldId="2147483648"/>
            <pc:sldLayoutMk cId="3047549913" sldId="2147483649"/>
          </pc:sldLayoutMkLst>
          <pc:spChg chg="mod">
            <ac:chgData name="Paula-Yuan Gregory" userId="8839d734-a022-4f7a-aa1a-7ded42ea4e8b" providerId="ADAL" clId="{07E5AA47-199E-4CBF-B21D-5F186A0A99E7}" dt="2020-07-29T16:36:33.145" v="7"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en-US" smtClean="0"/>
              <a:pPr/>
              <a:t>1</a:t>
            </a:fld>
            <a:endParaRPr lang="en-US" dirty="0"/>
          </a:p>
        </p:txBody>
      </p:sp>
    </p:spTree>
    <p:extLst>
      <p:ext uri="{BB962C8B-B14F-4D97-AF65-F5344CB8AC3E}">
        <p14:creationId xmlns:p14="http://schemas.microsoft.com/office/powerpoint/2010/main" val="1806271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40B23848-1F0A-564B-9C2F-A6BA82971B0D}"/>
              </a:ext>
            </a:extLst>
          </p:cNvPr>
          <p:cNvSpPr>
            <a:spLocks noGrp="1" noChangeArrowheads="1"/>
          </p:cNvSpPr>
          <p:nvPr>
            <p:ph type="body" idx="1"/>
          </p:nvPr>
        </p:nvSpPr>
        <p:spPr/>
        <p:txBody>
          <a:bodyPr/>
          <a:lstStyle/>
          <a:p>
            <a:pPr>
              <a:defRPr/>
            </a:pPr>
            <a:r>
              <a:rPr lang="en-US" b="1" dirty="0">
                <a:ea typeface="ＭＳ Ｐゴシック" charset="0"/>
              </a:rPr>
              <a:t>Preparatory</a:t>
            </a:r>
          </a:p>
          <a:p>
            <a:pPr>
              <a:defRPr/>
            </a:pPr>
            <a:r>
              <a:rPr lang="en-US" dirty="0">
                <a:ea typeface="ＭＳ Ｐゴシック" charset="0"/>
              </a:rPr>
              <a:t>Uses simple knowledge of the emergency medical services (EMS) system, safety/well-being of the emergency medical responder (EMR), and medical/legal issues at scene of an emergency while awaiting a higher level of care.</a:t>
            </a:r>
          </a:p>
        </p:txBody>
      </p:sp>
    </p:spTree>
    <p:extLst>
      <p:ext uri="{BB962C8B-B14F-4D97-AF65-F5344CB8AC3E}">
        <p14:creationId xmlns:p14="http://schemas.microsoft.com/office/powerpoint/2010/main" val="3871565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AD89344E-B856-E04E-B589-8B015AF84739}"/>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AF306CDE-0BBA-674E-BDDD-F83C081851F0}"/>
              </a:ext>
            </a:extLst>
          </p:cNvPr>
          <p:cNvSpPr>
            <a:spLocks noGrp="1" noChangeArrowheads="1"/>
          </p:cNvSpPr>
          <p:nvPr>
            <p:ph type="body" idx="1"/>
          </p:nvPr>
        </p:nvSpPr>
        <p:spPr/>
        <p:txBody>
          <a:bodyPr/>
          <a:lstStyle/>
          <a:p>
            <a:pPr>
              <a:defRPr/>
            </a:pPr>
            <a:r>
              <a:rPr lang="en-US" altLang="en-US" b="1" i="1" dirty="0">
                <a:latin typeface="Calibri" pitchFamily="34" charset="0"/>
              </a:rPr>
              <a:t>Workforce Safety and Wellness</a:t>
            </a:r>
          </a:p>
          <a:p>
            <a:pPr>
              <a:defRPr/>
            </a:pPr>
            <a:r>
              <a:rPr lang="en-US" altLang="en-US" dirty="0">
                <a:latin typeface="Calibri" pitchFamily="34" charset="0"/>
              </a:rPr>
              <a:t>• Standard safety precautions (pp 23-29)</a:t>
            </a:r>
          </a:p>
          <a:p>
            <a:pPr>
              <a:defRPr/>
            </a:pPr>
            <a:r>
              <a:rPr lang="en-US" altLang="en-US" dirty="0">
                <a:latin typeface="Calibri" pitchFamily="34" charset="0"/>
              </a:rPr>
              <a:t>• Personal protective equipment (pp 24-25)</a:t>
            </a:r>
          </a:p>
          <a:p>
            <a:pPr>
              <a:defRPr/>
            </a:pPr>
            <a:r>
              <a:rPr lang="en-US" altLang="en-US" dirty="0">
                <a:latin typeface="Calibri" pitchFamily="34" charset="0"/>
              </a:rPr>
              <a:t>• Stress management (pp 19-21)</a:t>
            </a:r>
          </a:p>
          <a:p>
            <a:pPr>
              <a:defRPr/>
            </a:pPr>
            <a:r>
              <a:rPr lang="en-US" altLang="en-US" dirty="0">
                <a:latin typeface="Calibri" pitchFamily="34" charset="0"/>
              </a:rPr>
              <a:t>• Dealing with death and dying (p 18)</a:t>
            </a:r>
          </a:p>
          <a:p>
            <a:pPr>
              <a:defRPr/>
            </a:pPr>
            <a:r>
              <a:rPr lang="en-US" altLang="en-US" dirty="0">
                <a:latin typeface="Calibri" pitchFamily="34" charset="0"/>
              </a:rPr>
              <a:t>• Crew resource management (pp 22-23) </a:t>
            </a:r>
          </a:p>
          <a:p>
            <a:pPr>
              <a:defRPr/>
            </a:pPr>
            <a:r>
              <a:rPr lang="en-US" altLang="en-US" dirty="0">
                <a:latin typeface="Calibri" pitchFamily="34" charset="0"/>
              </a:rPr>
              <a:t>• Prevention of work-related injuries and illnesses (pp 25-29)</a:t>
            </a:r>
          </a:p>
        </p:txBody>
      </p:sp>
    </p:spTree>
    <p:extLst>
      <p:ext uri="{BB962C8B-B14F-4D97-AF65-F5344CB8AC3E}">
        <p14:creationId xmlns:p14="http://schemas.microsoft.com/office/powerpoint/2010/main" val="410099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0823590C-E0F1-EE46-9C44-176F14A63E0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E8C2F99B-A5A4-2F48-8ED1-9B35F2EC0DF6}"/>
              </a:ext>
            </a:extLst>
          </p:cNvPr>
          <p:cNvSpPr>
            <a:spLocks noGrp="1" noChangeArrowheads="1"/>
          </p:cNvSpPr>
          <p:nvPr>
            <p:ph type="body" idx="1"/>
          </p:nvPr>
        </p:nvSpPr>
        <p:spPr/>
        <p:txBody>
          <a:bodyPr/>
          <a:lstStyle/>
          <a:p>
            <a:pPr>
              <a:defRPr/>
            </a:pPr>
            <a:r>
              <a:rPr lang="en-US" b="1">
                <a:ea typeface="ＭＳ Ｐゴシック" charset="0"/>
              </a:rPr>
              <a:t>Medicine</a:t>
            </a:r>
          </a:p>
          <a:p>
            <a:pPr>
              <a:defRPr/>
            </a:pPr>
            <a:r>
              <a:rPr lang="en-US">
                <a:ea typeface="ＭＳ Ｐゴシック" charset="0"/>
              </a:rPr>
              <a:t>Recognizes and manages life threats based on assessment findings of a patient with a medical emergency while awaiting additional emergency response.</a:t>
            </a:r>
          </a:p>
        </p:txBody>
      </p:sp>
    </p:spTree>
    <p:extLst>
      <p:ext uri="{BB962C8B-B14F-4D97-AF65-F5344CB8AC3E}">
        <p14:creationId xmlns:p14="http://schemas.microsoft.com/office/powerpoint/2010/main" val="597043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438E95B-C672-6D44-B848-EBD255C63148}"/>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0DDC570F-BC8D-1C4E-B153-E40ABE78EF28}"/>
              </a:ext>
            </a:extLst>
          </p:cNvPr>
          <p:cNvSpPr>
            <a:spLocks noGrp="1" noChangeArrowheads="1"/>
          </p:cNvSpPr>
          <p:nvPr>
            <p:ph type="body" idx="1"/>
          </p:nvPr>
        </p:nvSpPr>
        <p:spPr/>
        <p:txBody>
          <a:bodyPr/>
          <a:lstStyle/>
          <a:p>
            <a:pPr>
              <a:defRPr/>
            </a:pPr>
            <a:r>
              <a:rPr lang="en-US" altLang="en-US" b="1" i="1">
                <a:latin typeface="Calibri" pitchFamily="34" charset="0"/>
              </a:rPr>
              <a:t>Infectious Diseases</a:t>
            </a:r>
          </a:p>
          <a:p>
            <a:pPr>
              <a:defRPr/>
            </a:pPr>
            <a:r>
              <a:rPr lang="en-US" altLang="en-US">
                <a:latin typeface="Calibri" pitchFamily="34" charset="0"/>
              </a:rPr>
              <a:t>Awareness of </a:t>
            </a:r>
          </a:p>
          <a:p>
            <a:pPr>
              <a:defRPr/>
            </a:pPr>
            <a:r>
              <a:rPr lang="en-US" altLang="en-US">
                <a:latin typeface="Calibri" pitchFamily="34" charset="0"/>
              </a:rPr>
              <a:t>• A patient who may have an infectious disease (pp 23-26)</a:t>
            </a:r>
          </a:p>
          <a:p>
            <a:pPr>
              <a:defRPr/>
            </a:pPr>
            <a:r>
              <a:rPr lang="en-US" altLang="en-US">
                <a:latin typeface="Calibri" pitchFamily="34" charset="0"/>
              </a:rPr>
              <a:t>• How to decontaminate equipment after treating a patient (p 29)</a:t>
            </a:r>
          </a:p>
        </p:txBody>
      </p:sp>
    </p:spTree>
    <p:extLst>
      <p:ext uri="{BB962C8B-B14F-4D97-AF65-F5344CB8AC3E}">
        <p14:creationId xmlns:p14="http://schemas.microsoft.com/office/powerpoint/2010/main" val="1339698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B2F8A008-AA58-8044-8B4B-6CDBB92BC439}"/>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F9F57A31-204E-9B4F-A80C-1CF52DF02BE6}"/>
              </a:ext>
            </a:extLst>
          </p:cNvPr>
          <p:cNvSpPr>
            <a:spLocks noGrp="1" noChangeArrowheads="1"/>
          </p:cNvSpPr>
          <p:nvPr>
            <p:ph type="body" idx="1"/>
          </p:nvPr>
        </p:nvSpPr>
        <p:spPr/>
        <p:txBody>
          <a:bodyPr/>
          <a:lstStyle/>
          <a:p>
            <a:pPr>
              <a:defRPr/>
            </a:pPr>
            <a:r>
              <a:rPr lang="en-US" dirty="0">
                <a:ea typeface="ＭＳ Ｐゴシック" charset="0"/>
              </a:rPr>
              <a:t>I. Introduction</a:t>
            </a:r>
          </a:p>
          <a:p>
            <a:pPr>
              <a:defRPr/>
            </a:pPr>
            <a:r>
              <a:rPr lang="en-US" dirty="0">
                <a:ea typeface="ＭＳ Ｐゴシック" charset="0"/>
              </a:rPr>
              <a:t>A.	You, your patients, and their families can experience various degrees of stress and grief during and following a medical emergency.</a:t>
            </a:r>
          </a:p>
          <a:p>
            <a:pPr>
              <a:defRPr/>
            </a:pPr>
            <a:r>
              <a:rPr lang="en-US" dirty="0">
                <a:ea typeface="ＭＳ Ｐゴシック" charset="0"/>
              </a:rPr>
              <a:t>B.	To fulfill your duties as an EMR, you need to be in good physical condition.</a:t>
            </a:r>
          </a:p>
          <a:p>
            <a:pPr>
              <a:defRPr/>
            </a:pPr>
            <a:r>
              <a:rPr lang="en-US" dirty="0">
                <a:ea typeface="ＭＳ Ｐゴシック" charset="0"/>
              </a:rPr>
              <a:t>	1.	As a new EMR, you should have a complete physical exam to ensure that you are healthy enough to do your job.</a:t>
            </a:r>
          </a:p>
        </p:txBody>
      </p:sp>
    </p:spTree>
    <p:extLst>
      <p:ext uri="{BB962C8B-B14F-4D97-AF65-F5344CB8AC3E}">
        <p14:creationId xmlns:p14="http://schemas.microsoft.com/office/powerpoint/2010/main" val="3067591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9991F93-C0F5-574F-9A48-1E5EEB982FF5}"/>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3C640472-E1C0-9B48-8FA6-84D99EBAA6E5}"/>
              </a:ext>
            </a:extLst>
          </p:cNvPr>
          <p:cNvSpPr>
            <a:spLocks noGrp="1" noChangeArrowheads="1"/>
          </p:cNvSpPr>
          <p:nvPr>
            <p:ph type="body" idx="1"/>
          </p:nvPr>
        </p:nvSpPr>
        <p:spPr/>
        <p:txBody>
          <a:bodyPr/>
          <a:lstStyle/>
          <a:p>
            <a:pPr>
              <a:defRPr/>
            </a:pPr>
            <a:r>
              <a:rPr lang="en-US" dirty="0">
                <a:ea typeface="ＭＳ Ｐゴシック" charset="0"/>
              </a:rPr>
              <a:t>II. Emotional Aspects of Emergency Medical Care</a:t>
            </a:r>
          </a:p>
          <a:p>
            <a:pPr>
              <a:defRPr/>
            </a:pPr>
            <a:r>
              <a:rPr lang="en-US" dirty="0">
                <a:ea typeface="ＭＳ Ｐゴシック" charset="0"/>
              </a:rPr>
              <a:t>A.	Providing emergency medical care as an EMR is stressful. </a:t>
            </a:r>
          </a:p>
          <a:p>
            <a:pPr>
              <a:defRPr/>
            </a:pPr>
            <a:r>
              <a:rPr lang="en-US" dirty="0">
                <a:ea typeface="ＭＳ Ｐゴシック" charset="0"/>
              </a:rPr>
              <a:t>	1.	You must learn how to avoid unnecessary stress and how to prevent your stress level from getting too high.</a:t>
            </a:r>
          </a:p>
          <a:p>
            <a:pPr>
              <a:defRPr/>
            </a:pPr>
            <a:r>
              <a:rPr lang="en-US" dirty="0">
                <a:ea typeface="ＭＳ Ｐゴシック" charset="0"/>
              </a:rPr>
              <a:t>	2.	Some calls are more stressful than others, including:</a:t>
            </a:r>
          </a:p>
          <a:p>
            <a:pPr>
              <a:defRPr/>
            </a:pPr>
            <a:r>
              <a:rPr lang="en-US" dirty="0">
                <a:ea typeface="ＭＳ Ｐゴシック" charset="0"/>
              </a:rPr>
              <a:t>		a.	A patient who reminds you of a close family member</a:t>
            </a:r>
          </a:p>
          <a:p>
            <a:pPr>
              <a:defRPr/>
            </a:pPr>
            <a:r>
              <a:rPr lang="en-US" dirty="0">
                <a:ea typeface="ＭＳ Ｐゴシック" charset="0"/>
              </a:rPr>
              <a:t>		b.	Very young or very old patients</a:t>
            </a:r>
          </a:p>
          <a:p>
            <a:pPr>
              <a:defRPr/>
            </a:pPr>
            <a:r>
              <a:rPr lang="en-US" dirty="0">
                <a:ea typeface="ＭＳ Ｐゴシック" charset="0"/>
              </a:rPr>
              <a:t>		c.	Critical patients</a:t>
            </a:r>
          </a:p>
          <a:p>
            <a:pPr>
              <a:defRPr/>
            </a:pPr>
            <a:r>
              <a:rPr lang="en-US" dirty="0">
                <a:ea typeface="ＭＳ Ｐゴシック" charset="0"/>
              </a:rPr>
              <a:t>		d.	Death</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392322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E4EDD4D-D36B-EC4A-BA53-6FA5B2360CB7}"/>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6CB1B17C-819B-EC47-9149-1A8F221EA4CE}"/>
              </a:ext>
            </a:extLst>
          </p:cNvPr>
          <p:cNvSpPr>
            <a:spLocks noGrp="1" noChangeArrowheads="1"/>
          </p:cNvSpPr>
          <p:nvPr>
            <p:ph type="body" idx="1"/>
          </p:nvPr>
        </p:nvSpPr>
        <p:spPr/>
        <p:txBody>
          <a:bodyPr/>
          <a:lstStyle/>
          <a:p>
            <a:pPr>
              <a:defRPr/>
            </a:pPr>
            <a:r>
              <a:rPr lang="en-US">
                <a:ea typeface="ＭＳ Ｐゴシック" charset="0"/>
              </a:rPr>
              <a:t>		e.	Unusual danger</a:t>
            </a:r>
          </a:p>
          <a:p>
            <a:pPr>
              <a:defRPr/>
            </a:pPr>
            <a:r>
              <a:rPr lang="en-US">
                <a:ea typeface="ＭＳ Ｐゴシック" charset="0"/>
              </a:rPr>
              <a:t>		f.	Violence</a:t>
            </a:r>
          </a:p>
          <a:p>
            <a:pPr>
              <a:defRPr/>
            </a:pPr>
            <a:r>
              <a:rPr lang="en-US">
                <a:ea typeface="ＭＳ Ｐゴシック" charset="0"/>
              </a:rPr>
              <a:t>		g.	Unusual sights, smells, or sounds</a:t>
            </a:r>
          </a:p>
          <a:p>
            <a:pPr>
              <a:defRPr/>
            </a:pPr>
            <a:r>
              <a:rPr lang="en-US">
                <a:ea typeface="ＭＳ Ｐゴシック" charset="0"/>
              </a:rPr>
              <a:t>		h.	Mass casualties</a:t>
            </a:r>
          </a:p>
          <a:p>
            <a:pPr eaLnBrk="1" hangingPunct="1">
              <a:defRPr/>
            </a:pPr>
            <a:endParaRPr lang="en-US">
              <a:ea typeface="ＭＳ Ｐゴシック" charset="0"/>
            </a:endParaRPr>
          </a:p>
          <a:p>
            <a:pPr>
              <a:defRPr/>
            </a:pPr>
            <a:r>
              <a:rPr lang="en-US">
                <a:ea typeface="ＭＳ Ｐゴシック" charset="0"/>
              </a:rPr>
              <a:t>Figure: Certain kinds of patients may produce a high level of stress</a:t>
            </a:r>
          </a:p>
        </p:txBody>
      </p:sp>
    </p:spTree>
    <p:extLst>
      <p:ext uri="{BB962C8B-B14F-4D97-AF65-F5344CB8AC3E}">
        <p14:creationId xmlns:p14="http://schemas.microsoft.com/office/powerpoint/2010/main" val="2706936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87D49FE-FD60-084F-9467-1F911B16D633}"/>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A0BA21A6-AB92-EE41-B301-1B01F00C1E10}"/>
              </a:ext>
            </a:extLst>
          </p:cNvPr>
          <p:cNvSpPr>
            <a:spLocks noGrp="1" noChangeArrowheads="1"/>
          </p:cNvSpPr>
          <p:nvPr>
            <p:ph type="body" idx="1"/>
          </p:nvPr>
        </p:nvSpPr>
        <p:spPr/>
        <p:txBody>
          <a:bodyPr/>
          <a:lstStyle/>
          <a:p>
            <a:pPr>
              <a:defRPr/>
            </a:pPr>
            <a:r>
              <a:rPr lang="en-US" dirty="0">
                <a:ea typeface="ＭＳ Ｐゴシック" charset="0"/>
              </a:rPr>
              <a:t>3.	Because you work in a stressful environment, you must make a conscious effort to prevent and reduce unnecessary stress.</a:t>
            </a:r>
            <a:endParaRPr lang="en-US" b="1" dirty="0">
              <a:ea typeface="ＭＳ Ｐゴシック" charset="0"/>
            </a:endParaRPr>
          </a:p>
          <a:p>
            <a:pPr>
              <a:defRPr/>
            </a:pPr>
            <a:r>
              <a:rPr lang="en-US" dirty="0">
                <a:ea typeface="ＭＳ Ｐゴシック" charset="0"/>
              </a:rPr>
              <a:t>	a.	Learn to recognize signs and symptoms of stress.</a:t>
            </a:r>
          </a:p>
          <a:p>
            <a:pPr>
              <a:defRPr/>
            </a:pPr>
            <a:r>
              <a:rPr lang="en-US" dirty="0">
                <a:ea typeface="ＭＳ Ｐゴシック" charset="0"/>
              </a:rPr>
              <a:t>	b.	Adjust your lifestyle to include stress-reducing activities.</a:t>
            </a:r>
          </a:p>
          <a:p>
            <a:pPr>
              <a:defRPr/>
            </a:pPr>
            <a:r>
              <a:rPr lang="en-US" dirty="0">
                <a:ea typeface="ＭＳ Ｐゴシック" charset="0"/>
              </a:rPr>
              <a:t>	c.	Learn which services and resources are available to help you.</a:t>
            </a:r>
          </a:p>
          <a:p>
            <a:pPr>
              <a:defRPr/>
            </a:pPr>
            <a:r>
              <a:rPr lang="en-US" dirty="0">
                <a:ea typeface="ＭＳ Ｐゴシック" charset="0"/>
              </a:rPr>
              <a:t>4.	Grief reaction triggers include:</a:t>
            </a:r>
          </a:p>
          <a:p>
            <a:pPr>
              <a:defRPr/>
            </a:pPr>
            <a:r>
              <a:rPr lang="en-US" dirty="0">
                <a:ea typeface="ＭＳ Ｐゴシック" charset="0"/>
              </a:rPr>
              <a:t>	a. Death of a loved one</a:t>
            </a:r>
          </a:p>
          <a:p>
            <a:pPr>
              <a:defRPr/>
            </a:pPr>
            <a:r>
              <a:rPr lang="en-US" dirty="0">
                <a:ea typeface="ＭＳ Ｐゴシック" charset="0"/>
              </a:rPr>
              <a:t>	b. Major injury or traumatic experience</a:t>
            </a:r>
          </a:p>
          <a:p>
            <a:pPr>
              <a:defRPr/>
            </a:pPr>
            <a:r>
              <a:rPr lang="en-US" dirty="0">
                <a:ea typeface="ＭＳ Ｐゴシック" charset="0"/>
              </a:rPr>
              <a:t>	c. Serious illness</a:t>
            </a:r>
          </a:p>
          <a:p>
            <a:pPr>
              <a:defRPr/>
            </a:pPr>
            <a:r>
              <a:rPr lang="en-US" dirty="0">
                <a:ea typeface="ＭＳ Ｐゴシック" charset="0"/>
              </a:rPr>
              <a:t>	d. Drug or alcohol addiction</a:t>
            </a:r>
          </a:p>
          <a:p>
            <a:pPr>
              <a:defRPr/>
            </a:pPr>
            <a:r>
              <a:rPr lang="en-US" dirty="0">
                <a:ea typeface="ＭＳ Ｐゴシック" charset="0"/>
              </a:rPr>
              <a:t>	e. Incarceration</a:t>
            </a:r>
          </a:p>
          <a:p>
            <a:pPr>
              <a:defRPr/>
            </a:pPr>
            <a:r>
              <a:rPr lang="en-US" dirty="0">
                <a:ea typeface="ＭＳ Ｐゴシック" charset="0"/>
              </a:rPr>
              <a:t>	f. End of a relationship or divorce</a:t>
            </a:r>
          </a:p>
          <a:p>
            <a:pPr>
              <a:defRPr/>
            </a:pPr>
            <a:r>
              <a:rPr lang="en-US" dirty="0">
                <a:ea typeface="ＭＳ Ｐゴシック" charset="0"/>
              </a:rPr>
              <a:t>	g. Major personal rejection</a:t>
            </a:r>
          </a:p>
          <a:p>
            <a:pPr>
              <a:defRPr/>
            </a:pPr>
            <a:r>
              <a:rPr lang="en-US" dirty="0">
                <a:ea typeface="ＭＳ Ｐゴシック" charset="0"/>
              </a:rPr>
              <a:t>	h. Loss of a job or income</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41545756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C6F7B50-C167-2741-8E51-36A5ECF0798F}"/>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B08BF841-776E-214A-8868-8FE558C68294}"/>
              </a:ext>
            </a:extLst>
          </p:cNvPr>
          <p:cNvSpPr>
            <a:spLocks noGrp="1" noChangeArrowheads="1"/>
          </p:cNvSpPr>
          <p:nvPr>
            <p:ph type="body" idx="1"/>
          </p:nvPr>
        </p:nvSpPr>
        <p:spPr/>
        <p:txBody>
          <a:bodyPr/>
          <a:lstStyle/>
          <a:p>
            <a:pPr>
              <a:defRPr/>
            </a:pPr>
            <a:r>
              <a:rPr lang="en-US" altLang="en-US" dirty="0">
                <a:latin typeface="Calibri" pitchFamily="34" charset="0"/>
              </a:rPr>
              <a:t>III. Normal Reactions to Stress</a:t>
            </a:r>
          </a:p>
          <a:p>
            <a:pPr>
              <a:defRPr/>
            </a:pPr>
            <a:r>
              <a:rPr lang="en-US" altLang="en-US" dirty="0">
                <a:latin typeface="Calibri" pitchFamily="34" charset="0"/>
              </a:rPr>
              <a:t>A.	EMRs need to know how stress can affect them and the people for whom they provide emergency medical care. </a:t>
            </a:r>
          </a:p>
          <a:p>
            <a:pPr>
              <a:defRPr/>
            </a:pPr>
            <a:r>
              <a:rPr lang="en-US" altLang="en-US" dirty="0">
                <a:latin typeface="Calibri" pitchFamily="34" charset="0"/>
              </a:rPr>
              <a:t>	1.	Because dying is one of the most stressful experiences that people may have, the grief reaction to death and dying provides a basis for looking at stress. </a:t>
            </a:r>
          </a:p>
          <a:p>
            <a:pPr>
              <a:defRPr/>
            </a:pPr>
            <a:r>
              <a:rPr lang="en-US" altLang="en-US" dirty="0">
                <a:latin typeface="Calibri" pitchFamily="34" charset="0"/>
              </a:rPr>
              <a:t>	2.	Five stages of reaction to death and dying proposed by Dr. Elisabeth Kübler-Ross:</a:t>
            </a:r>
          </a:p>
          <a:p>
            <a:pPr>
              <a:defRPr/>
            </a:pPr>
            <a:r>
              <a:rPr lang="en-US" altLang="en-US" dirty="0">
                <a:latin typeface="Calibri" pitchFamily="34" charset="0"/>
              </a:rPr>
              <a:t>		a.	Denial (“Not me!”): Person experiencing denial cannot believe what is happening. </a:t>
            </a:r>
          </a:p>
          <a:p>
            <a:pPr>
              <a:defRPr/>
            </a:pPr>
            <a:r>
              <a:rPr lang="en-US" altLang="en-US" dirty="0">
                <a:latin typeface="Calibri" pitchFamily="34" charset="0"/>
              </a:rPr>
              <a:t>		b.	Anger (“Why me?”): Understanding that anger is a normal reaction to stress should help EMRs deal with anger that is directed at them by a patient or a patient’s family. </a:t>
            </a:r>
          </a:p>
          <a:p>
            <a:pPr>
              <a:defRPr/>
            </a:pPr>
            <a:r>
              <a:rPr lang="en-US" altLang="en-US" dirty="0">
                <a:latin typeface="Calibri" pitchFamily="34" charset="0"/>
              </a:rPr>
              <a:t>		c.	Bargaining (“Okay, but…”): Bargaining is act of trying to make a deal to postpone death and dying. </a:t>
            </a:r>
          </a:p>
          <a:p>
            <a:pPr>
              <a:defRPr/>
            </a:pPr>
            <a:r>
              <a:rPr lang="en-US" altLang="en-US" dirty="0">
                <a:latin typeface="Calibri" pitchFamily="34" charset="0"/>
              </a:rPr>
              <a:t>		d.	Depression (“Heavy-hearted”): Person who is unusually silent or who seems to retreat into his or her own world may have reached this stage. </a:t>
            </a:r>
          </a:p>
          <a:p>
            <a:pPr>
              <a:defRPr/>
            </a:pPr>
            <a:r>
              <a:rPr lang="en-US" altLang="en-US" dirty="0">
                <a:latin typeface="Calibri" pitchFamily="34" charset="0"/>
              </a:rPr>
              <a:t>		e.	Acceptance: Acceptance does not mean that you are satisfied with the situation; it means that you understand that death and dying cannot be changed. </a:t>
            </a:r>
          </a:p>
          <a:p>
            <a:pPr>
              <a:defRPr/>
            </a:pPr>
            <a:endParaRPr lang="en-US" altLang="en-US"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681685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D5998FF-46D0-734B-BEDB-E181D19E63F4}"/>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121D8923-AD34-3241-A0BB-7B54E15F42B1}"/>
              </a:ext>
            </a:extLst>
          </p:cNvPr>
          <p:cNvSpPr>
            <a:spLocks noGrp="1" noChangeArrowheads="1"/>
          </p:cNvSpPr>
          <p:nvPr>
            <p:ph type="body" idx="1"/>
          </p:nvPr>
        </p:nvSpPr>
        <p:spPr/>
        <p:txBody>
          <a:bodyPr/>
          <a:lstStyle/>
          <a:p>
            <a:pPr>
              <a:defRPr/>
            </a:pPr>
            <a:r>
              <a:rPr lang="en-US" dirty="0">
                <a:ea typeface="ＭＳ Ｐゴシック" charset="0"/>
              </a:rPr>
              <a:t>B.	Stress management</a:t>
            </a:r>
          </a:p>
          <a:p>
            <a:pPr>
              <a:defRPr/>
            </a:pPr>
            <a:r>
              <a:rPr lang="en-US" dirty="0">
                <a:ea typeface="ＭＳ Ｐゴシック" charset="0"/>
              </a:rPr>
              <a:t>1.	Recognizing stress</a:t>
            </a:r>
          </a:p>
          <a:p>
            <a:pPr>
              <a:defRPr/>
            </a:pPr>
            <a:r>
              <a:rPr lang="en-US" dirty="0">
                <a:ea typeface="ＭＳ Ｐゴシック" charset="0"/>
              </a:rPr>
              <a:t>	a.	An important step in managing stress in yourself and others is ability to recognize its signs and symptoms.</a:t>
            </a:r>
          </a:p>
          <a:p>
            <a:pPr>
              <a:defRPr/>
            </a:pPr>
            <a:r>
              <a:rPr lang="en-US" dirty="0">
                <a:ea typeface="ＭＳ Ｐゴシック" charset="0"/>
              </a:rPr>
              <a:t>	b.	Once you recognize that stressors are present, you can take steps to prevent or reduce stress.</a:t>
            </a:r>
          </a:p>
          <a:p>
            <a:pPr>
              <a:defRPr/>
            </a:pPr>
            <a:r>
              <a:rPr lang="en-US" dirty="0">
                <a:ea typeface="ＭＳ Ｐゴシック" charset="0"/>
              </a:rPr>
              <a:t>	c.	Warning signs to help you recognize stress:</a:t>
            </a:r>
          </a:p>
          <a:p>
            <a:pPr>
              <a:defRPr/>
            </a:pPr>
            <a:r>
              <a:rPr lang="en-US" dirty="0">
                <a:ea typeface="ＭＳ Ｐゴシック" charset="0"/>
              </a:rPr>
              <a:t>		</a:t>
            </a:r>
            <a:r>
              <a:rPr lang="en-US" dirty="0" err="1">
                <a:ea typeface="ＭＳ Ｐゴシック" charset="0"/>
              </a:rPr>
              <a:t>i</a:t>
            </a:r>
            <a:r>
              <a:rPr lang="en-US" dirty="0">
                <a:ea typeface="ＭＳ Ｐゴシック" charset="0"/>
              </a:rPr>
              <a:t>.	Irritability</a:t>
            </a:r>
          </a:p>
          <a:p>
            <a:pPr>
              <a:defRPr/>
            </a:pPr>
            <a:r>
              <a:rPr lang="en-US" dirty="0">
                <a:ea typeface="ＭＳ Ｐゴシック" charset="0"/>
              </a:rPr>
              <a:t>		ii.	Inability to concentrate</a:t>
            </a:r>
          </a:p>
          <a:p>
            <a:pPr>
              <a:defRPr/>
            </a:pPr>
            <a:r>
              <a:rPr lang="en-US" dirty="0">
                <a:ea typeface="ＭＳ Ｐゴシック" charset="0"/>
              </a:rPr>
              <a:t>		iii.	Change in normal disposition</a:t>
            </a:r>
          </a:p>
          <a:p>
            <a:pPr>
              <a:defRPr/>
            </a:pPr>
            <a:r>
              <a:rPr lang="en-US" dirty="0">
                <a:ea typeface="ＭＳ Ｐゴシック" charset="0"/>
              </a:rPr>
              <a:t>		iv.	Difficulty in sleeping or nightmares</a:t>
            </a:r>
          </a:p>
          <a:p>
            <a:pPr>
              <a:defRPr/>
            </a:pPr>
            <a:r>
              <a:rPr lang="en-US" dirty="0">
                <a:ea typeface="ＭＳ Ｐゴシック" charset="0"/>
              </a:rPr>
              <a:t>		v.	Anxiety</a:t>
            </a:r>
          </a:p>
          <a:p>
            <a:pPr>
              <a:defRPr/>
            </a:pPr>
            <a:r>
              <a:rPr lang="en-US" dirty="0">
                <a:ea typeface="ＭＳ Ｐゴシック" charset="0"/>
              </a:rPr>
              <a:t>		vi.	Indecisiveness</a:t>
            </a:r>
          </a:p>
          <a:p>
            <a:pPr>
              <a:defRPr/>
            </a:pPr>
            <a:r>
              <a:rPr lang="en-US" dirty="0">
                <a:ea typeface="ＭＳ Ｐゴシック" charset="0"/>
              </a:rPr>
              <a:t>		vii.	Guilt</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762443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BD68A12-5FFE-FB48-9526-14280EDE4B0D}"/>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4FB01F2A-6068-A64F-898C-4612127CBDC9}"/>
              </a:ext>
            </a:extLst>
          </p:cNvPr>
          <p:cNvSpPr>
            <a:spLocks noGrp="1" noChangeArrowheads="1"/>
          </p:cNvSpPr>
          <p:nvPr>
            <p:ph type="body" idx="1"/>
          </p:nvPr>
        </p:nvSpPr>
        <p:spPr/>
        <p:txBody>
          <a:bodyPr/>
          <a:lstStyle/>
          <a:p>
            <a:pPr>
              <a:defRPr/>
            </a:pPr>
            <a:r>
              <a:rPr lang="en-US" dirty="0">
                <a:ea typeface="ＭＳ Ｐゴシック" charset="0"/>
              </a:rPr>
              <a:t>		viii. 	Loss of appetite or overeating</a:t>
            </a:r>
          </a:p>
          <a:p>
            <a:pPr>
              <a:defRPr/>
            </a:pPr>
            <a:r>
              <a:rPr lang="en-US" dirty="0">
                <a:ea typeface="ＭＳ Ｐゴシック" charset="0"/>
              </a:rPr>
              <a:t>		ix.	Loss of interest in sexual relations</a:t>
            </a:r>
          </a:p>
          <a:p>
            <a:pPr>
              <a:defRPr/>
            </a:pPr>
            <a:r>
              <a:rPr lang="en-US" dirty="0">
                <a:ea typeface="ＭＳ Ｐゴシック" charset="0"/>
              </a:rPr>
              <a:t>		x.	Loss of interest in work</a:t>
            </a:r>
          </a:p>
          <a:p>
            <a:pPr>
              <a:defRPr/>
            </a:pPr>
            <a:r>
              <a:rPr lang="en-US" dirty="0">
                <a:ea typeface="ＭＳ Ｐゴシック" charset="0"/>
              </a:rPr>
              <a:t>		xi.	Isolation</a:t>
            </a:r>
          </a:p>
          <a:p>
            <a:pPr>
              <a:defRPr/>
            </a:pPr>
            <a:r>
              <a:rPr lang="en-US" dirty="0">
                <a:ea typeface="ＭＳ Ｐゴシック" charset="0"/>
              </a:rPr>
              <a:t>		xii.	Feelings of hopelessness</a:t>
            </a:r>
          </a:p>
          <a:p>
            <a:pPr>
              <a:defRPr/>
            </a:pPr>
            <a:r>
              <a:rPr lang="en-US" dirty="0">
                <a:ea typeface="ＭＳ Ｐゴシック" charset="0"/>
              </a:rPr>
              <a:t>		xiii.	Alcohol or drug misuse or abuse</a:t>
            </a:r>
          </a:p>
          <a:p>
            <a:pPr>
              <a:defRPr/>
            </a:pPr>
            <a:r>
              <a:rPr lang="en-US" dirty="0">
                <a:ea typeface="ＭＳ Ｐゴシック" charset="0"/>
              </a:rPr>
              <a:t>		xiv.	Physical symptoms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480284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779226F5-5806-BF4E-8AB5-74E4E88B091F}"/>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606F32D1-265B-FE47-897E-9BAF9D449C66}"/>
              </a:ext>
            </a:extLst>
          </p:cNvPr>
          <p:cNvSpPr>
            <a:spLocks noGrp="1" noChangeArrowheads="1"/>
          </p:cNvSpPr>
          <p:nvPr>
            <p:ph type="body" idx="1"/>
          </p:nvPr>
        </p:nvSpPr>
        <p:spPr/>
        <p:txBody>
          <a:bodyPr/>
          <a:lstStyle/>
          <a:p>
            <a:pPr>
              <a:defRPr/>
            </a:pPr>
            <a:r>
              <a:rPr lang="en-US" dirty="0">
                <a:ea typeface="ＭＳ Ｐゴシック" charset="0"/>
              </a:rPr>
              <a:t>C.	Preventing stress</a:t>
            </a:r>
          </a:p>
          <a:p>
            <a:pPr>
              <a:defRPr/>
            </a:pPr>
            <a:r>
              <a:rPr lang="en-US" dirty="0">
                <a:ea typeface="ＭＳ Ｐゴシック" charset="0"/>
              </a:rPr>
              <a:t>1.	Three simple-to-remember techniques can help prevent stress.	</a:t>
            </a:r>
          </a:p>
          <a:p>
            <a:pPr marL="685800" lvl="1" indent="-228600">
              <a:buFontTx/>
              <a:buAutoNum type="alphaLcPeriod"/>
              <a:defRPr/>
            </a:pPr>
            <a:r>
              <a:rPr lang="en-US" dirty="0">
                <a:ea typeface="ＭＳ Ｐゴシック" charset="0"/>
              </a:rPr>
              <a:t>Eat: A healthy, well-balanced diet helps prevent and reduce stress.</a:t>
            </a:r>
          </a:p>
          <a:p>
            <a:pPr>
              <a:defRPr/>
            </a:pPr>
            <a:endParaRPr lang="en-US" dirty="0">
              <a:ea typeface="ＭＳ Ｐゴシック" charset="0"/>
            </a:endParaRPr>
          </a:p>
          <a:p>
            <a:pPr>
              <a:defRPr/>
            </a:pPr>
            <a:r>
              <a:rPr lang="en-US" dirty="0">
                <a:ea typeface="ＭＳ Ｐゴシック" charset="0"/>
              </a:rPr>
              <a:t>Figure: A healthy diet is illustrated by the USDA MyPlate food guidance system.</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950624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1D8DE6B3-F9D5-EB48-875E-B56AEE3B03B3}"/>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78F5F259-CA13-984A-9302-73CDA4EC4AF3}"/>
              </a:ext>
            </a:extLst>
          </p:cNvPr>
          <p:cNvSpPr>
            <a:spLocks noGrp="1" noChangeArrowheads="1"/>
          </p:cNvSpPr>
          <p:nvPr>
            <p:ph type="body" idx="1"/>
          </p:nvPr>
        </p:nvSpPr>
        <p:spPr/>
        <p:txBody>
          <a:bodyPr/>
          <a:lstStyle/>
          <a:p>
            <a:pPr eaLnBrk="1" hangingPunct="1">
              <a:defRPr/>
            </a:pPr>
            <a:r>
              <a:rPr lang="en-US" dirty="0">
                <a:ea typeface="ＭＳ Ｐゴシック" charset="0"/>
              </a:rPr>
              <a:t>Figure: Steps you can take to plan a healthy diet. A healthy, well-balanced diet helps prevent and reduce stress. Healthy eating pattern includes:</a:t>
            </a:r>
          </a:p>
          <a:p>
            <a:pPr marL="285750" indent="-285750" eaLnBrk="1" hangingPunct="1">
              <a:buAutoNum type="romanLcPeriod"/>
              <a:defRPr/>
            </a:pPr>
            <a:r>
              <a:rPr lang="en-US" dirty="0">
                <a:ea typeface="ＭＳ Ｐゴシック" charset="0"/>
              </a:rPr>
              <a:t>A variety of vegetables from all of the subgroups-dark green, red and orange, legumes (beans and peas), starchy, and other.</a:t>
            </a:r>
          </a:p>
          <a:p>
            <a:pPr marL="285750" indent="-285750" eaLnBrk="1" hangingPunct="1">
              <a:buAutoNum type="romanLcPeriod"/>
              <a:defRPr/>
            </a:pPr>
            <a:r>
              <a:rPr lang="en-US" dirty="0">
                <a:ea typeface="ＭＳ Ｐゴシック" charset="0"/>
              </a:rPr>
              <a:t>Fruits, especially whole fruits.</a:t>
            </a:r>
          </a:p>
          <a:p>
            <a:pPr marL="285750" indent="-285750" eaLnBrk="1" hangingPunct="1">
              <a:buAutoNum type="romanLcPeriod"/>
              <a:defRPr/>
            </a:pPr>
            <a:r>
              <a:rPr lang="en-US" dirty="0">
                <a:ea typeface="ＭＳ Ｐゴシック" charset="0"/>
              </a:rPr>
              <a:t>Grains, at least half of which are whole grains.</a:t>
            </a:r>
          </a:p>
          <a:p>
            <a:pPr marL="285750" indent="-285750" eaLnBrk="1" hangingPunct="1">
              <a:buAutoNum type="romanLcPeriod"/>
              <a:defRPr/>
            </a:pPr>
            <a:r>
              <a:rPr lang="en-US" dirty="0">
                <a:ea typeface="ＭＳ Ｐゴシック" charset="0"/>
              </a:rPr>
              <a:t>Fat-free or low-fat dairy, including milk, yogurt, cheese, and/or fortified soy beverages.</a:t>
            </a:r>
          </a:p>
          <a:p>
            <a:pPr marL="285750" indent="-285750" eaLnBrk="1" hangingPunct="1">
              <a:buAutoNum type="romanLcPeriod"/>
              <a:defRPr/>
            </a:pPr>
            <a:r>
              <a:rPr lang="en-US" dirty="0">
                <a:ea typeface="ＭＳ Ｐゴシック" charset="0"/>
              </a:rPr>
              <a:t>A variety of protein foods, including seafood, lean meats and poultry, eggs, legumes (beans and peas), nuts, seeds, and soy products.</a:t>
            </a:r>
          </a:p>
          <a:p>
            <a:pPr marL="285750" indent="-285750" eaLnBrk="1" hangingPunct="1">
              <a:buAutoNum type="romanLcPeriod"/>
              <a:defRPr/>
            </a:pPr>
            <a:r>
              <a:rPr lang="en-US" dirty="0">
                <a:ea typeface="ＭＳ Ｐゴシック" charset="0"/>
              </a:rPr>
              <a:t>Oils </a:t>
            </a:r>
          </a:p>
        </p:txBody>
      </p:sp>
    </p:spTree>
    <p:extLst>
      <p:ext uri="{BB962C8B-B14F-4D97-AF65-F5344CB8AC3E}">
        <p14:creationId xmlns:p14="http://schemas.microsoft.com/office/powerpoint/2010/main" val="2815049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4C0451F-D99D-B642-ABD9-44A3E2A3DEE7}"/>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9A0626B9-0E4C-7D46-A934-8808B3C26309}"/>
              </a:ext>
            </a:extLst>
          </p:cNvPr>
          <p:cNvSpPr>
            <a:spLocks noGrp="1" noChangeArrowheads="1"/>
          </p:cNvSpPr>
          <p:nvPr>
            <p:ph type="body" idx="1"/>
          </p:nvPr>
        </p:nvSpPr>
        <p:spPr/>
        <p:txBody>
          <a:bodyPr/>
          <a:lstStyle/>
          <a:p>
            <a:pPr>
              <a:defRPr/>
            </a:pPr>
            <a:r>
              <a:rPr lang="en-US">
                <a:ea typeface="ＭＳ Ｐゴシック" charset="0"/>
              </a:rPr>
              <a:t>	b.	Drink: Active EMS providers need to drink adequate amounts of fluid every day and avoid consuming excessive caffeine and alcohol.</a:t>
            </a:r>
          </a:p>
          <a:p>
            <a:pPr>
              <a:defRPr/>
            </a:pPr>
            <a:r>
              <a:rPr lang="en-US">
                <a:ea typeface="ＭＳ Ｐゴシック" charset="0"/>
              </a:rPr>
              <a:t>	c.	Be merry: When a person is happy, he or she generally is not experiencing an elevated level of stress; therefore, it is important to learn to balance your lifestyle.</a:t>
            </a:r>
          </a:p>
          <a:p>
            <a:pPr eaLnBrk="1" hangingPunct="1">
              <a:defRPr/>
            </a:pPr>
            <a:endParaRPr lang="en-US">
              <a:ea typeface="ＭＳ Ｐゴシック" charset="0"/>
            </a:endParaRPr>
          </a:p>
          <a:p>
            <a:pPr eaLnBrk="1" hangingPunct="1">
              <a:defRPr/>
            </a:pPr>
            <a:r>
              <a:rPr lang="en-US">
                <a:ea typeface="ＭＳ Ｐゴシック" charset="0"/>
              </a:rPr>
              <a:t>Figure: Drinking adequate quantities of water is important.</a:t>
            </a:r>
          </a:p>
        </p:txBody>
      </p:sp>
    </p:spTree>
    <p:extLst>
      <p:ext uri="{BB962C8B-B14F-4D97-AF65-F5344CB8AC3E}">
        <p14:creationId xmlns:p14="http://schemas.microsoft.com/office/powerpoint/2010/main" val="1119232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DD62F7A-2D8F-0F46-B7C7-21CCD763A254}"/>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802B9501-D3F2-534E-864E-A07F0E678B1B}"/>
              </a:ext>
            </a:extLst>
          </p:cNvPr>
          <p:cNvSpPr>
            <a:spLocks noGrp="1" noChangeArrowheads="1"/>
          </p:cNvSpPr>
          <p:nvPr>
            <p:ph type="body" idx="1"/>
          </p:nvPr>
        </p:nvSpPr>
        <p:spPr/>
        <p:txBody>
          <a:bodyPr/>
          <a:lstStyle/>
          <a:p>
            <a:pPr>
              <a:defRPr/>
            </a:pPr>
            <a:r>
              <a:rPr lang="en-US" dirty="0">
                <a:ea typeface="ＭＳ Ｐゴシック" charset="0"/>
              </a:rPr>
              <a:t>2.	Other ways to prevent stress:</a:t>
            </a:r>
          </a:p>
          <a:p>
            <a:pPr>
              <a:defRPr/>
            </a:pPr>
            <a:r>
              <a:rPr lang="en-US" dirty="0">
                <a:ea typeface="ＭＳ Ｐゴシック" charset="0"/>
              </a:rPr>
              <a:t>	a.	Spend time with your friends and family</a:t>
            </a:r>
          </a:p>
          <a:p>
            <a:pPr>
              <a:defRPr/>
            </a:pPr>
            <a:r>
              <a:rPr lang="en-US" dirty="0">
                <a:ea typeface="ＭＳ Ｐゴシック" charset="0"/>
              </a:rPr>
              <a:t>	b.	Develop hobbies or activities that are not related to your job</a:t>
            </a:r>
          </a:p>
          <a:p>
            <a:pPr>
              <a:defRPr/>
            </a:pPr>
            <a:r>
              <a:rPr lang="en-US" dirty="0">
                <a:ea typeface="ＭＳ Ｐゴシック" charset="0"/>
              </a:rPr>
              <a:t>	c.	Exercise regularly</a:t>
            </a:r>
          </a:p>
          <a:p>
            <a:pPr>
              <a:defRPr/>
            </a:pPr>
            <a:r>
              <a:rPr lang="en-US" dirty="0">
                <a:ea typeface="ＭＳ Ｐゴシック" charset="0"/>
              </a:rPr>
              <a:t>	d.	Meditation or religious activities</a:t>
            </a:r>
          </a:p>
          <a:p>
            <a:pPr>
              <a:defRPr/>
            </a:pPr>
            <a:r>
              <a:rPr lang="en-US" dirty="0">
                <a:ea typeface="ＭＳ Ｐゴシック" charset="0"/>
              </a:rPr>
              <a:t>	e.	Assistance from a mental health professional – stress is not a sign of weakness that suggests you can’t handle the job; it is a natural human reaction and can be managed.</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6843484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7FFB3347-C1A8-484A-AF3C-0210A536A047}"/>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83842DA8-3ED3-9F46-A288-B21D4C374832}"/>
              </a:ext>
            </a:extLst>
          </p:cNvPr>
          <p:cNvSpPr>
            <a:spLocks noGrp="1" noChangeArrowheads="1"/>
          </p:cNvSpPr>
          <p:nvPr>
            <p:ph type="body" idx="1"/>
          </p:nvPr>
        </p:nvSpPr>
        <p:spPr/>
        <p:txBody>
          <a:bodyPr/>
          <a:lstStyle/>
          <a:p>
            <a:pPr>
              <a:defRPr/>
            </a:pPr>
            <a:r>
              <a:rPr lang="en-US" dirty="0">
                <a:ea typeface="ＭＳ Ｐゴシック" charset="0"/>
              </a:rPr>
              <a:t>2.	Reducing stress</a:t>
            </a:r>
          </a:p>
          <a:p>
            <a:pPr>
              <a:defRPr/>
            </a:pPr>
            <a:r>
              <a:rPr lang="en-US" dirty="0">
                <a:ea typeface="ＭＳ Ｐゴシック" charset="0"/>
              </a:rPr>
              <a:t>	a.	You may benefit from the help of a mental health professional.</a:t>
            </a:r>
          </a:p>
          <a:p>
            <a:pPr>
              <a:defRPr/>
            </a:pPr>
            <a:r>
              <a:rPr lang="en-US" dirty="0">
                <a:ea typeface="ＭＳ Ｐゴシック" charset="0"/>
              </a:rPr>
              <a:t>		</a:t>
            </a:r>
            <a:r>
              <a:rPr lang="en-US" dirty="0" err="1">
                <a:ea typeface="ＭＳ Ｐゴシック" charset="0"/>
              </a:rPr>
              <a:t>i</a:t>
            </a:r>
            <a:r>
              <a:rPr lang="en-US" dirty="0">
                <a:ea typeface="ＭＳ Ｐゴシック" charset="0"/>
              </a:rPr>
              <a:t>.	Psychologists</a:t>
            </a:r>
          </a:p>
          <a:p>
            <a:pPr>
              <a:defRPr/>
            </a:pPr>
            <a:r>
              <a:rPr lang="en-US" dirty="0">
                <a:ea typeface="ＭＳ Ｐゴシック" charset="0"/>
              </a:rPr>
              <a:t>		ii.	Psychiatrists</a:t>
            </a:r>
          </a:p>
          <a:p>
            <a:pPr>
              <a:defRPr/>
            </a:pPr>
            <a:r>
              <a:rPr lang="en-US" dirty="0">
                <a:ea typeface="ＭＳ Ｐゴシック" charset="0"/>
              </a:rPr>
              <a:t>		iii.	Social workers</a:t>
            </a:r>
          </a:p>
          <a:p>
            <a:pPr>
              <a:defRPr/>
            </a:pPr>
            <a:r>
              <a:rPr lang="en-US" dirty="0">
                <a:ea typeface="ＭＳ Ｐゴシック" charset="0"/>
              </a:rPr>
              <a:t>		iv.	Specially trained clergy</a:t>
            </a:r>
          </a:p>
          <a:p>
            <a:pPr>
              <a:defRPr/>
            </a:pPr>
            <a:r>
              <a:rPr lang="en-US" dirty="0">
                <a:ea typeface="ＭＳ Ｐゴシック" charset="0"/>
              </a:rPr>
              <a:t>	b.	They are trained to listen in a nonjudgmental way and to help you find ways to diminish your stress.</a:t>
            </a:r>
          </a:p>
          <a:p>
            <a:pPr>
              <a:defRPr/>
            </a:pPr>
            <a:r>
              <a:rPr lang="en-US" dirty="0">
                <a:ea typeface="ＭＳ Ｐゴシック" charset="0"/>
              </a:rPr>
              <a:t>	c.	Critical incident stress management (CISM) is a program available through some public safety departments.</a:t>
            </a:r>
          </a:p>
          <a:p>
            <a:pPr>
              <a:defRPr/>
            </a:pPr>
            <a:r>
              <a:rPr lang="en-US" dirty="0">
                <a:ea typeface="ＭＳ Ｐゴシック" charset="0"/>
              </a:rPr>
              <a:t>		</a:t>
            </a:r>
            <a:r>
              <a:rPr lang="en-US" dirty="0" err="1">
                <a:ea typeface="ＭＳ Ｐゴシック" charset="0"/>
              </a:rPr>
              <a:t>i</a:t>
            </a:r>
            <a:r>
              <a:rPr lang="en-US" dirty="0">
                <a:ea typeface="ＭＳ Ｐゴシック" charset="0"/>
              </a:rPr>
              <a:t>.	</a:t>
            </a:r>
            <a:r>
              <a:rPr lang="en-US" dirty="0" err="1">
                <a:ea typeface="ＭＳ Ｐゴシック" charset="0"/>
              </a:rPr>
              <a:t>Preincident</a:t>
            </a:r>
            <a:r>
              <a:rPr lang="en-US" dirty="0">
                <a:ea typeface="ＭＳ Ｐゴシック" charset="0"/>
              </a:rPr>
              <a:t> stress education provides information about the stresses that you will encounter and the reactions you may experience.</a:t>
            </a:r>
          </a:p>
          <a:p>
            <a:pPr>
              <a:defRPr/>
            </a:pPr>
            <a:r>
              <a:rPr lang="en-US" dirty="0">
                <a:ea typeface="ＭＳ Ｐゴシック" charset="0"/>
              </a:rPr>
              <a:t>		ii.	On-scene peer support and disaster support services provide aid for you on the scene of especially stressful incidents.</a:t>
            </a:r>
          </a:p>
          <a:p>
            <a:pPr>
              <a:defRPr/>
            </a:pPr>
            <a:r>
              <a:rPr lang="en-US" dirty="0">
                <a:ea typeface="ＭＳ Ｐゴシック" charset="0"/>
              </a:rPr>
              <a:t>		iii.	A debriefing may help to alleviate the stress reactions caused by high-stress emergency situations by allowing an open discussion of feelings, fears, and reactions. </a:t>
            </a:r>
          </a:p>
          <a:p>
            <a:pPr>
              <a:defRPr/>
            </a:pPr>
            <a:r>
              <a:rPr lang="en-US" dirty="0">
                <a:ea typeface="ＭＳ Ｐゴシック" charset="0"/>
              </a:rPr>
              <a:t>		iv.	Contact the CISM team if you are involved in a high-stress incident. </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308671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9C24E9B9-99B8-9B4E-9A24-EB0BBA08317D}"/>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6CAAF7D5-BB6F-884B-B84A-6E2E1B5A9A26}"/>
              </a:ext>
            </a:extLst>
          </p:cNvPr>
          <p:cNvSpPr>
            <a:spLocks noGrp="1" noChangeArrowheads="1"/>
          </p:cNvSpPr>
          <p:nvPr>
            <p:ph type="body" idx="1"/>
          </p:nvPr>
        </p:nvSpPr>
        <p:spPr/>
        <p:txBody>
          <a:bodyPr/>
          <a:lstStyle/>
          <a:p>
            <a:pPr>
              <a:defRPr/>
            </a:pPr>
            <a:r>
              <a:rPr lang="en-US" dirty="0">
                <a:ea typeface="ＭＳ Ｐゴシック" charset="0"/>
              </a:rPr>
              <a:t>Crew Resource Management (CRM) </a:t>
            </a:r>
          </a:p>
          <a:p>
            <a:pPr marL="228600" indent="-228600">
              <a:buAutoNum type="alphaUcPeriod"/>
              <a:defRPr/>
            </a:pPr>
            <a:r>
              <a:rPr lang="en-US" dirty="0">
                <a:ea typeface="ＭＳ Ｐゴシック" charset="0"/>
              </a:rPr>
              <a:t>CRM is a way for team members to work together with leader to develop and maintain a shared understanding of emergency situation</a:t>
            </a:r>
          </a:p>
          <a:p>
            <a:pPr marL="228600" indent="-228600">
              <a:buAutoNum type="alphaUcPeriod"/>
              <a:defRPr/>
            </a:pPr>
            <a:r>
              <a:rPr lang="en-US" dirty="0">
                <a:ea typeface="ＭＳ Ｐゴシック" charset="0"/>
              </a:rPr>
              <a:t>In the loud and often hectic environment of EMS, it is easy for errors to occur. When you believe there is an immediate or potential problem brought to team leader’s attention use PACE:</a:t>
            </a:r>
          </a:p>
          <a:p>
            <a:pPr>
              <a:defRPr/>
            </a:pPr>
            <a:r>
              <a:rPr lang="en-US" dirty="0">
                <a:ea typeface="ＭＳ Ｐゴシック" charset="0"/>
              </a:rPr>
              <a:t>	1.	P – Probe. Look or ask to confirm the problem or make sense of the situation.</a:t>
            </a:r>
          </a:p>
          <a:p>
            <a:pPr>
              <a:defRPr/>
            </a:pPr>
            <a:r>
              <a:rPr lang="en-US" b="1" dirty="0">
                <a:ea typeface="ＭＳ Ｐゴシック" charset="0"/>
              </a:rPr>
              <a:t>	</a:t>
            </a:r>
            <a:r>
              <a:rPr lang="en-US" b="0" dirty="0">
                <a:ea typeface="ＭＳ Ｐゴシック" charset="0"/>
              </a:rPr>
              <a:t>2.	A – Alert. Communicate the problem to the team leader.</a:t>
            </a:r>
          </a:p>
          <a:p>
            <a:pPr>
              <a:defRPr/>
            </a:pPr>
            <a:r>
              <a:rPr lang="en-US" b="0" dirty="0">
                <a:ea typeface="ＭＳ Ｐゴシック" charset="0"/>
              </a:rPr>
              <a:t>	3.	C – Challenge. If the issue is not corrected, then clearly challenge the team’s present course of action that is leading to the problem and suggest an alternative plan.</a:t>
            </a:r>
          </a:p>
          <a:p>
            <a:pPr>
              <a:defRPr/>
            </a:pPr>
            <a:r>
              <a:rPr lang="en-US" b="0" dirty="0">
                <a:ea typeface="ＭＳ Ｐゴシック" charset="0"/>
              </a:rPr>
              <a:t>	4.	E – Emergency. If the problem is clear and critical (such as an immediate safety issue), then immediately communicate the emergency to the entire team.</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283346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9C24E9B9-99B8-9B4E-9A24-EB0BBA08317D}"/>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6CAAF7D5-BB6F-884B-B84A-6E2E1B5A9A26}"/>
              </a:ext>
            </a:extLst>
          </p:cNvPr>
          <p:cNvSpPr>
            <a:spLocks noGrp="1" noChangeArrowheads="1"/>
          </p:cNvSpPr>
          <p:nvPr>
            <p:ph type="body" idx="1"/>
          </p:nvPr>
        </p:nvSpPr>
        <p:spPr/>
        <p:txBody>
          <a:bodyPr/>
          <a:lstStyle/>
          <a:p>
            <a:pPr>
              <a:defRPr/>
            </a:pPr>
            <a:r>
              <a:rPr lang="en-US" dirty="0">
                <a:ea typeface="ＭＳ Ｐゴシック" charset="0"/>
              </a:rPr>
              <a:t>IV. Workforce Safety</a:t>
            </a:r>
          </a:p>
          <a:p>
            <a:pPr>
              <a:defRPr/>
            </a:pPr>
            <a:r>
              <a:rPr lang="en-US" dirty="0">
                <a:ea typeface="ＭＳ Ｐゴシック" charset="0"/>
              </a:rPr>
              <a:t>A.	As an EMR, you will encounter a wide variety of hazards at emergency scenes.</a:t>
            </a:r>
          </a:p>
          <a:p>
            <a:pPr>
              <a:defRPr/>
            </a:pPr>
            <a:r>
              <a:rPr lang="en-US" dirty="0">
                <a:ea typeface="ＭＳ Ｐゴシック" charset="0"/>
              </a:rPr>
              <a:t>	1.	It is important for you to recognize these hazards and to know which steps you need to take to minimize the risk they pose to your patients, your partners, and yourself.</a:t>
            </a:r>
          </a:p>
          <a:p>
            <a:pPr>
              <a:defRPr/>
            </a:pPr>
            <a:r>
              <a:rPr lang="en-US" b="1" dirty="0">
                <a:ea typeface="ＭＳ Ｐゴシック" charset="0"/>
              </a:rPr>
              <a:t>	</a:t>
            </a:r>
            <a:r>
              <a:rPr lang="en-US" b="0" dirty="0">
                <a:ea typeface="ＭＳ Ｐゴシック" charset="0"/>
              </a:rPr>
              <a:t>2.	This section covers common hazards you will encounter, including infectious diseases, traffic, crime and violence, crowds, electrical hazards, fire, hazardous materials, unstable objects, sharp objects, animals, environmental conditions, and special rescue situations.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6547528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C8CCF73E-EEEE-6048-8BF8-CF3209632DB9}"/>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100E5FC3-28E7-D84C-9326-069A7C1ECE6C}"/>
              </a:ext>
            </a:extLst>
          </p:cNvPr>
          <p:cNvSpPr>
            <a:spLocks noGrp="1" noChangeArrowheads="1"/>
          </p:cNvSpPr>
          <p:nvPr>
            <p:ph type="body" idx="1"/>
          </p:nvPr>
        </p:nvSpPr>
        <p:spPr/>
        <p:txBody>
          <a:bodyPr/>
          <a:lstStyle/>
          <a:p>
            <a:pPr>
              <a:defRPr/>
            </a:pPr>
            <a:r>
              <a:rPr lang="en-US" dirty="0">
                <a:ea typeface="ＭＳ Ｐゴシック" charset="0"/>
              </a:rPr>
              <a:t>B.	Infectious diseases – illnesses that are caused by germs such as bacteria, viruses, or fungi that can enter the body, multiply, and cause an infection.</a:t>
            </a:r>
          </a:p>
          <a:p>
            <a:pPr>
              <a:defRPr/>
            </a:pPr>
            <a:r>
              <a:rPr lang="en-US" dirty="0">
                <a:ea typeface="ＭＳ Ｐゴシック" charset="0"/>
              </a:rPr>
              <a:t>	1.	They can spread from one person to another. The EMR should understand how these diseases are spread in order to protect yourself, your partners, and other caregivers from contracting a disease. This knowledge will also prevent you from becoming unduly alarmed when you encounter these diseases.</a:t>
            </a:r>
          </a:p>
          <a:p>
            <a:pPr>
              <a:defRPr/>
            </a:pPr>
            <a:r>
              <a:rPr lang="en-US" dirty="0">
                <a:ea typeface="ＭＳ Ｐゴシック" charset="0"/>
              </a:rPr>
              <a:t>	2.	In recent years, diseases such as methicillin-resistant </a:t>
            </a:r>
            <a:r>
              <a:rPr lang="en-US" i="1" dirty="0">
                <a:ea typeface="ＭＳ Ｐゴシック" charset="0"/>
              </a:rPr>
              <a:t>Staphylococcus aureus </a:t>
            </a:r>
            <a:r>
              <a:rPr lang="en-US" dirty="0">
                <a:ea typeface="ＭＳ Ｐゴシック" charset="0"/>
              </a:rPr>
              <a:t>(MRSA), COVID-19 (coronavirus), Middle East respiratory syndrome (MERS), H1N1 virus, AIDS, and the growing concern about hepatitis and tuberculosis (TB) have increased awareness of infectious (communicable) diseases.</a:t>
            </a:r>
          </a:p>
          <a:p>
            <a:pPr>
              <a:defRPr/>
            </a:pPr>
            <a:r>
              <a:rPr lang="en-US" dirty="0">
                <a:ea typeface="ＭＳ Ｐゴシック" charset="0"/>
              </a:rPr>
              <a:t>		</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6125730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ABCB021D-86A8-2B4B-9671-286C57893A68}"/>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C256D1ED-50A5-E044-A733-2FAFC452AE98}"/>
              </a:ext>
            </a:extLst>
          </p:cNvPr>
          <p:cNvSpPr>
            <a:spLocks noGrp="1" noChangeArrowheads="1"/>
          </p:cNvSpPr>
          <p:nvPr>
            <p:ph type="body" idx="1"/>
          </p:nvPr>
        </p:nvSpPr>
        <p:spPr/>
        <p:txBody>
          <a:bodyPr/>
          <a:lstStyle/>
          <a:p>
            <a:pPr marL="228600" indent="-228600">
              <a:buAutoNum type="alphaUcPeriod" startAt="3"/>
              <a:defRPr/>
            </a:pPr>
            <a:r>
              <a:rPr lang="en-US" altLang="en-US" dirty="0">
                <a:latin typeface="Calibri" pitchFamily="34" charset="0"/>
              </a:rPr>
              <a:t>Methods of Disease Transmission – three most common routes of transmission are direct contact with infectious agents, indirect contact with airborne droplets, and contact with infected blood.</a:t>
            </a:r>
          </a:p>
          <a:p>
            <a:pPr marL="228600" indent="-228600">
              <a:buAutoNum type="alphaUcPeriod" startAt="3"/>
              <a:defRPr/>
            </a:pPr>
            <a:r>
              <a:rPr lang="en-US" altLang="en-US" dirty="0">
                <a:latin typeface="Calibri" pitchFamily="34" charset="0"/>
              </a:rPr>
              <a:t>Direct contact </a:t>
            </a:r>
          </a:p>
          <a:p>
            <a:pPr>
              <a:defRPr/>
            </a:pPr>
            <a:r>
              <a:rPr lang="en-US" altLang="en-US" dirty="0">
                <a:latin typeface="Calibri" pitchFamily="34" charset="0"/>
              </a:rPr>
              <a:t>	a.	Methicillin-resistant </a:t>
            </a:r>
            <a:r>
              <a:rPr lang="en-US" altLang="en-US" i="1" dirty="0">
                <a:latin typeface="Calibri" pitchFamily="34" charset="0"/>
              </a:rPr>
              <a:t>Staphylococcus aureus </a:t>
            </a:r>
            <a:r>
              <a:rPr lang="en-US" altLang="en-US" dirty="0">
                <a:latin typeface="Calibri" pitchFamily="34" charset="0"/>
              </a:rPr>
              <a:t>(MRSA) infection is caused by the bacterium </a:t>
            </a:r>
            <a:r>
              <a:rPr lang="en-US" altLang="en-US" i="1" dirty="0">
                <a:latin typeface="Calibri" pitchFamily="34" charset="0"/>
              </a:rPr>
              <a:t>Staphylococcus aureus </a:t>
            </a:r>
            <a:r>
              <a:rPr lang="en-US" altLang="en-US" dirty="0">
                <a:latin typeface="Calibri" pitchFamily="34" charset="0"/>
              </a:rPr>
              <a:t>– often called staph – and spread by direct contact.</a:t>
            </a:r>
          </a:p>
          <a:p>
            <a:pPr>
              <a:defRPr/>
            </a:pPr>
            <a:r>
              <a:rPr lang="en-US" altLang="en-US" dirty="0">
                <a:latin typeface="Calibri" pitchFamily="34" charset="0"/>
              </a:rPr>
              <a:t>	b.	Most MRSA infections occur in health care settings such as hospitals, dialysis centers, and nursing homes.</a:t>
            </a:r>
          </a:p>
          <a:p>
            <a:pPr>
              <a:defRPr/>
            </a:pPr>
            <a:r>
              <a:rPr lang="en-US" altLang="en-US" dirty="0">
                <a:latin typeface="Calibri" pitchFamily="34" charset="0"/>
              </a:rPr>
              <a:t>	c.	They are more likely to appear in people with weakened immune systems.</a:t>
            </a:r>
          </a:p>
          <a:p>
            <a:pPr>
              <a:defRPr/>
            </a:pPr>
            <a:r>
              <a:rPr lang="en-US" altLang="en-US" dirty="0">
                <a:latin typeface="Calibri" pitchFamily="34" charset="0"/>
              </a:rPr>
              <a:t>	d.	In healthy people, MRSA may show up as a skin sore.</a:t>
            </a:r>
          </a:p>
          <a:p>
            <a:pPr>
              <a:defRPr/>
            </a:pPr>
            <a:r>
              <a:rPr lang="en-US" altLang="en-US" dirty="0">
                <a:latin typeface="Calibri" pitchFamily="34" charset="0"/>
              </a:rPr>
              <a:t>	e.	As an EMR, follow standard precautions to avoid contracting MRSA.</a:t>
            </a:r>
          </a:p>
          <a:p>
            <a:pPr>
              <a:defRPr/>
            </a:pPr>
            <a:r>
              <a:rPr lang="en-US" altLang="en-US" dirty="0">
                <a:latin typeface="Calibri" pitchFamily="34" charset="0"/>
              </a:rPr>
              <a:t>	</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9389666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3EF1BD69-D60D-BF48-BF9F-5776161C663F}"/>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2F59C2BB-B305-0B40-8EF6-CE81150A526A}"/>
              </a:ext>
            </a:extLst>
          </p:cNvPr>
          <p:cNvSpPr>
            <a:spLocks noGrp="1" noChangeArrowheads="1"/>
          </p:cNvSpPr>
          <p:nvPr>
            <p:ph type="body" idx="1"/>
          </p:nvPr>
        </p:nvSpPr>
        <p:spPr/>
        <p:txBody>
          <a:bodyPr/>
          <a:lstStyle/>
          <a:p>
            <a:pPr>
              <a:defRPr/>
            </a:pPr>
            <a:r>
              <a:rPr lang="en-US" dirty="0">
                <a:ea typeface="ＭＳ Ｐゴシック" charset="0"/>
              </a:rPr>
              <a:t>3.	Airborne pathogens</a:t>
            </a:r>
          </a:p>
          <a:p>
            <a:pPr>
              <a:defRPr/>
            </a:pPr>
            <a:r>
              <a:rPr lang="en-US" dirty="0">
                <a:ea typeface="ＭＳ Ｐゴシック" charset="0"/>
              </a:rPr>
              <a:t>	a.	Infectious diseases that are spread through indirect contact with airborne droplets include seasonal influenza, COVID-19, TB, and severe acute respiratory syndrome (SARS).</a:t>
            </a:r>
          </a:p>
          <a:p>
            <a:pPr>
              <a:defRPr/>
            </a:pPr>
            <a:r>
              <a:rPr lang="en-US" dirty="0">
                <a:ea typeface="ＭＳ Ｐゴシック" charset="0"/>
              </a:rPr>
              <a:t>	b.	These diseases are spread through tiny droplets from the respiratory system when a person coughs or sneezes. They can also be transmitted by indirect contact if a person touches a surface contaminated with the virus. </a:t>
            </a:r>
          </a:p>
          <a:p>
            <a:pPr>
              <a:defRPr/>
            </a:pPr>
            <a:r>
              <a:rPr lang="en-US" dirty="0">
                <a:ea typeface="ＭＳ Ｐゴシック" charset="0"/>
              </a:rPr>
              <a:t>	c.	The EMR should protect themselves by donning a high-efficiency particulate air (HEPA) respirator (commonly called a N-95 mask). To be effective, the mask should be fit tested to the individual for an proper seal.</a:t>
            </a:r>
          </a:p>
          <a:p>
            <a:pPr>
              <a:defRPr/>
            </a:pPr>
            <a:r>
              <a:rPr lang="en-US" dirty="0">
                <a:ea typeface="ＭＳ Ｐゴシック" charset="0"/>
              </a:rPr>
              <a:t>	d. Review the procedure for donning and doffing an N-95 mask.</a:t>
            </a:r>
          </a:p>
          <a:p>
            <a:pPr>
              <a:defRPr/>
            </a:pPr>
            <a:r>
              <a:rPr lang="en-US" dirty="0">
                <a:ea typeface="ＭＳ Ｐゴシック" charset="0"/>
              </a:rPr>
              <a:t>	e. Helpful to review the most up to date information on the Coronavirus Disease 2019 (COVID-19) as presented in the “Words of Wisdom” box in the textbook. Be careful to check with the CDC for the most up to date information on this serious disease confronting the EMS and health care community. </a:t>
            </a:r>
          </a:p>
          <a:p>
            <a:pPr>
              <a:defRPr/>
            </a:pPr>
            <a:r>
              <a:rPr lang="en-US" dirty="0">
                <a:ea typeface="ＭＳ Ｐゴシック" charset="0"/>
              </a:rPr>
              <a:t>		</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417863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1C0EC3D-D61E-5F4E-B770-E11F9737D5D0}"/>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986493A7-8C09-494A-A84C-FD201FADFE39}"/>
              </a:ext>
            </a:extLst>
          </p:cNvPr>
          <p:cNvSpPr>
            <a:spLocks noGrp="1" noChangeArrowheads="1"/>
          </p:cNvSpPr>
          <p:nvPr>
            <p:ph type="body" idx="1"/>
          </p:nvPr>
        </p:nvSpPr>
        <p:spPr/>
        <p:txBody>
          <a:bodyPr/>
          <a:lstStyle/>
          <a:p>
            <a:pPr>
              <a:defRPr/>
            </a:pPr>
            <a:r>
              <a:rPr lang="en-US" altLang="en-US" dirty="0">
                <a:latin typeface="Calibri" pitchFamily="34" charset="0"/>
              </a:rPr>
              <a:t>4.	Bloodborne Pathogens</a:t>
            </a:r>
          </a:p>
          <a:p>
            <a:pPr>
              <a:defRPr/>
            </a:pPr>
            <a:r>
              <a:rPr lang="en-US" altLang="en-US" dirty="0">
                <a:latin typeface="Calibri" pitchFamily="34" charset="0"/>
              </a:rPr>
              <a:t>	a.	Infectious microorganisms in blood that can cause disease. The viruses that cause AIDS and hepatitis B and C are bloodborne pathogens</a:t>
            </a:r>
            <a:r>
              <a:rPr lang="en-US" altLang="en-US" i="1" dirty="0">
                <a:latin typeface="Calibri" pitchFamily="34" charset="0"/>
              </a:rPr>
              <a:t>.</a:t>
            </a:r>
            <a:endParaRPr lang="en-US" altLang="en-US" dirty="0">
              <a:latin typeface="Calibri" pitchFamily="34" charset="0"/>
            </a:endParaRPr>
          </a:p>
          <a:p>
            <a:pPr>
              <a:defRPr/>
            </a:pPr>
            <a:r>
              <a:rPr lang="en-US" altLang="en-US" dirty="0">
                <a:latin typeface="Calibri" pitchFamily="34" charset="0"/>
              </a:rPr>
              <a:t>	b. 	HIV is transmitted by contact with infected blood, semen, or vaginal secretions.</a:t>
            </a:r>
          </a:p>
          <a:p>
            <a:pPr>
              <a:defRPr/>
            </a:pPr>
            <a:r>
              <a:rPr lang="en-US" altLang="en-US" dirty="0">
                <a:latin typeface="Calibri" pitchFamily="34" charset="0"/>
              </a:rPr>
              <a:t>	c.	There is no evidence that HIV is transmitted by contact with sweat, saliva, tears, sputum, urine, feces, vomitus, or nasal secretions, unless these fluids contain visible signs of blood.</a:t>
            </a:r>
          </a:p>
          <a:p>
            <a:pPr>
              <a:defRPr/>
            </a:pPr>
            <a:r>
              <a:rPr lang="en-US" altLang="en-US" dirty="0">
                <a:latin typeface="Calibri" pitchFamily="34" charset="0"/>
              </a:rPr>
              <a:t>	d.	Exposure can take place in the following ways:</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Blood splashed or sprayed into your eyes, nose, mouth or an open sore or cut.</a:t>
            </a:r>
          </a:p>
          <a:p>
            <a:pPr>
              <a:defRPr/>
            </a:pPr>
            <a:r>
              <a:rPr lang="en-US" altLang="en-US" dirty="0">
                <a:latin typeface="Calibri" pitchFamily="34" charset="0"/>
              </a:rPr>
              <a:t>		ii. You have blood from an infected patient on your hands and then touch your eyes, nose, mouth or open sore or cut.</a:t>
            </a:r>
          </a:p>
          <a:p>
            <a:pPr>
              <a:defRPr/>
            </a:pPr>
            <a:r>
              <a:rPr lang="en-US" altLang="en-US" dirty="0">
                <a:latin typeface="Calibri" pitchFamily="34" charset="0"/>
              </a:rPr>
              <a:t>		iii. A needle that was used to inject the patient breaks your skin.</a:t>
            </a:r>
          </a:p>
          <a:p>
            <a:pPr>
              <a:defRPr/>
            </a:pPr>
            <a:r>
              <a:rPr lang="en-US" altLang="en-US" dirty="0">
                <a:latin typeface="Calibri" pitchFamily="34" charset="0"/>
              </a:rPr>
              <a:t>		iv. Broken glass at a MVC or other incident that is covered with blood from an infected patient penetrates your glove and skin.</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6918520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1C0EC3D-D61E-5F4E-B770-E11F9737D5D0}"/>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986493A7-8C09-494A-A84C-FD201FADFE39}"/>
              </a:ext>
            </a:extLst>
          </p:cNvPr>
          <p:cNvSpPr>
            <a:spLocks noGrp="1" noChangeArrowheads="1"/>
          </p:cNvSpPr>
          <p:nvPr>
            <p:ph type="body" idx="1"/>
          </p:nvPr>
        </p:nvSpPr>
        <p:spPr/>
        <p:txBody>
          <a:bodyPr/>
          <a:lstStyle/>
          <a:p>
            <a:pPr>
              <a:defRPr/>
            </a:pPr>
            <a:r>
              <a:rPr lang="en-US" altLang="en-US" dirty="0">
                <a:latin typeface="Calibri" pitchFamily="34" charset="0"/>
              </a:rPr>
              <a:t>4.	Bloodborne Pathogens (continued)</a:t>
            </a:r>
          </a:p>
          <a:p>
            <a:pPr>
              <a:defRPr/>
            </a:pPr>
            <a:r>
              <a:rPr lang="en-US" altLang="en-US" dirty="0">
                <a:latin typeface="Calibri" pitchFamily="34" charset="0"/>
              </a:rPr>
              <a:t>	e.	Remember some HIV patients do not know they are infected and others do not show symptoms, so always wear latex or nitrile gloves when in contact with secretions or blood from any patient</a:t>
            </a:r>
            <a:r>
              <a:rPr lang="en-US" altLang="en-US" i="1" dirty="0">
                <a:latin typeface="Calibri" pitchFamily="34" charset="0"/>
              </a:rPr>
              <a:t>.</a:t>
            </a:r>
            <a:endParaRPr lang="en-US" altLang="en-US" dirty="0">
              <a:latin typeface="Calibri" pitchFamily="34" charset="0"/>
            </a:endParaRPr>
          </a:p>
          <a:p>
            <a:pPr>
              <a:defRPr/>
            </a:pPr>
            <a:r>
              <a:rPr lang="en-US" altLang="en-US" dirty="0">
                <a:latin typeface="Calibri" pitchFamily="34" charset="0"/>
              </a:rPr>
              <a:t>	f. 	Hepatitis B is also spread by bloodborne contact and far more contagious than HIV. EMRs should check with their medical director about receiving injections of hepatitis vaccine to protect against the infection.</a:t>
            </a:r>
          </a:p>
          <a:p>
            <a:pPr>
              <a:defRPr/>
            </a:pPr>
            <a:r>
              <a:rPr lang="en-US" altLang="en-US" dirty="0">
                <a:latin typeface="Calibri" pitchFamily="34" charset="0"/>
              </a:rPr>
              <a:t>	g.	Both meningitis and syphilis are also spread by contact with contaminated blood.</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54437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4821DEBF-4D8B-2349-8D3A-BC1AFD230055}"/>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01480DD1-753D-D849-8E69-85F7A2A72236}"/>
              </a:ext>
            </a:extLst>
          </p:cNvPr>
          <p:cNvSpPr>
            <a:spLocks noGrp="1" noChangeArrowheads="1"/>
          </p:cNvSpPr>
          <p:nvPr>
            <p:ph type="body" idx="1"/>
          </p:nvPr>
        </p:nvSpPr>
        <p:spPr/>
        <p:txBody>
          <a:bodyPr/>
          <a:lstStyle/>
          <a:p>
            <a:pPr>
              <a:defRPr/>
            </a:pPr>
            <a:r>
              <a:rPr lang="en-US" dirty="0">
                <a:ea typeface="ＭＳ Ｐゴシック" charset="0"/>
              </a:rPr>
              <a:t>D.	Standard precautions</a:t>
            </a:r>
          </a:p>
          <a:p>
            <a:pPr>
              <a:defRPr/>
            </a:pPr>
            <a:r>
              <a:rPr lang="en-US" dirty="0">
                <a:ea typeface="ＭＳ Ｐゴシック" charset="0"/>
              </a:rPr>
              <a:t>	1.	Federal regulations require all health care workers, including EMRs, to assume that all patients are potentially infected with pathogens that can spread by direct contact, airborne transmission, or blood.</a:t>
            </a:r>
          </a:p>
          <a:p>
            <a:pPr>
              <a:defRPr/>
            </a:pPr>
            <a:r>
              <a:rPr lang="en-US" dirty="0">
                <a:ea typeface="ＭＳ Ｐゴシック" charset="0"/>
              </a:rPr>
              <a:t>	2.	Standard precautions for bloodborne pathogens</a:t>
            </a:r>
          </a:p>
          <a:p>
            <a:pPr>
              <a:defRPr/>
            </a:pPr>
            <a:r>
              <a:rPr lang="en-US" dirty="0">
                <a:ea typeface="ＭＳ Ｐゴシック" charset="0"/>
              </a:rPr>
              <a:t>		a.  Always wear approved latex or nitrile gloves when handling patients. Change gloves after contact with each patient. Wash hands with soap and water immediately after removing your gloves.</a:t>
            </a:r>
          </a:p>
          <a:p>
            <a:pPr>
              <a:defRPr/>
            </a:pPr>
            <a:r>
              <a:rPr lang="en-US" dirty="0">
                <a:ea typeface="ＭＳ Ｐゴシック" charset="0"/>
              </a:rPr>
              <a:t>		b.  Always wear a protective mask, eyewear, or a face shield when you anticipate that blood or other body fluids may splatter.	</a:t>
            </a:r>
          </a:p>
          <a:p>
            <a:pPr>
              <a:defRPr/>
            </a:pPr>
            <a:r>
              <a:rPr lang="en-US" dirty="0">
                <a:ea typeface="ＭＳ Ｐゴシック" charset="0"/>
              </a:rPr>
              <a:t>		c.  Wash your hands and other skin surfaces immediately and thoroughly with soap and water it they become contaminated with blood or other body fluids.</a:t>
            </a:r>
          </a:p>
          <a:p>
            <a:pPr>
              <a:defRPr/>
            </a:pPr>
            <a:r>
              <a:rPr lang="en-US" dirty="0">
                <a:ea typeface="ＭＳ Ｐゴシック" charset="0"/>
              </a:rPr>
              <a:t>		d.  Do not recap, cut, or bend used needles. Place them directly in a puncture-resistant container designed for “sharps.”</a:t>
            </a:r>
          </a:p>
          <a:p>
            <a:pPr>
              <a:defRPr/>
            </a:pPr>
            <a:r>
              <a:rPr lang="en-US" dirty="0">
                <a:ea typeface="ＭＳ Ｐゴシック" charset="0"/>
              </a:rPr>
              <a:t>	</a:t>
            </a:r>
          </a:p>
        </p:txBody>
      </p:sp>
    </p:spTree>
    <p:extLst>
      <p:ext uri="{BB962C8B-B14F-4D97-AF65-F5344CB8AC3E}">
        <p14:creationId xmlns:p14="http://schemas.microsoft.com/office/powerpoint/2010/main" val="12231518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BA2F026D-B881-5A45-992C-088FC4084D52}"/>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8BB834E3-6248-D84B-97E5-D8B3A343EFC6}"/>
              </a:ext>
            </a:extLst>
          </p:cNvPr>
          <p:cNvSpPr>
            <a:spLocks noGrp="1" noChangeArrowheads="1"/>
          </p:cNvSpPr>
          <p:nvPr>
            <p:ph type="body" idx="1"/>
          </p:nvPr>
        </p:nvSpPr>
        <p:spPr/>
        <p:txBody>
          <a:bodyPr/>
          <a:lstStyle/>
          <a:p>
            <a:pPr marL="228600" indent="-228600">
              <a:buAutoNum type="arabicPeriod" startAt="3"/>
              <a:defRPr/>
            </a:pPr>
            <a:r>
              <a:rPr lang="en-US" altLang="en-US" dirty="0">
                <a:latin typeface="Calibri" pitchFamily="34" charset="0"/>
              </a:rPr>
              <a:t>Precautions for Airborne Pathogens</a:t>
            </a:r>
          </a:p>
          <a:p>
            <a:pPr>
              <a:defRPr/>
            </a:pPr>
            <a:r>
              <a:rPr lang="en-US" altLang="en-US" dirty="0">
                <a:latin typeface="Calibri" pitchFamily="34" charset="0"/>
              </a:rPr>
              <a:t>	a.	The steps recommended by the CDC and OSHA vary with specific disease outbreaks, so you need to stay current with these recommendations and follow local protocols.</a:t>
            </a:r>
          </a:p>
          <a:p>
            <a:pPr>
              <a:defRPr/>
            </a:pPr>
            <a:r>
              <a:rPr lang="en-US" altLang="en-US" dirty="0">
                <a:latin typeface="Calibri" pitchFamily="34" charset="0"/>
              </a:rPr>
              <a:t>	b.	Specific precautions to prevent the spread of influenza or COVID-19 should include:</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Be aware of any community based outbreaks of influenza, COVID-19 or other epidemic disease that require droplet precautions.</a:t>
            </a:r>
          </a:p>
          <a:p>
            <a:pPr>
              <a:defRPr/>
            </a:pPr>
            <a:r>
              <a:rPr lang="en-US" altLang="en-US" dirty="0">
                <a:latin typeface="Calibri" pitchFamily="34" charset="0"/>
              </a:rPr>
              <a:t>		ii. Assess the patient upon arrival from a distance of at least 6 feet, if possible.</a:t>
            </a:r>
          </a:p>
          <a:p>
            <a:pPr>
              <a:defRPr/>
            </a:pPr>
            <a:r>
              <a:rPr lang="en-US" altLang="en-US" dirty="0">
                <a:latin typeface="Calibri" pitchFamily="34" charset="0"/>
              </a:rPr>
              <a:t>		iii. Inquire specifically about influenza, COVID-19, or other exposures.</a:t>
            </a:r>
          </a:p>
          <a:p>
            <a:pPr>
              <a:defRPr/>
            </a:pPr>
            <a:r>
              <a:rPr lang="en-US" altLang="en-US" dirty="0">
                <a:latin typeface="Calibri" pitchFamily="34" charset="0"/>
              </a:rPr>
              <a:t>		iv. Perform hand hygiene before and after patient care activities.</a:t>
            </a:r>
          </a:p>
          <a:p>
            <a:pPr>
              <a:defRPr/>
            </a:pPr>
            <a:r>
              <a:rPr lang="en-US" altLang="en-US" dirty="0">
                <a:latin typeface="Calibri" pitchFamily="34" charset="0"/>
              </a:rPr>
              <a:t>		v. A disposable surgical mask should be placed on the patient if the person shows signs of respiratory illness such as coughing, sneezing, or a fever.</a:t>
            </a:r>
          </a:p>
          <a:p>
            <a:pPr>
              <a:defRPr/>
            </a:pPr>
            <a:r>
              <a:rPr lang="en-US" altLang="en-US" dirty="0">
                <a:latin typeface="Calibri" pitchFamily="34" charset="0"/>
              </a:rPr>
              <a:t>		vi. Health care providers may need to don an N-95 mask to protect themselves from exposure to infected droplets.</a:t>
            </a:r>
          </a:p>
          <a:p>
            <a:pPr>
              <a:defRPr/>
            </a:pPr>
            <a:r>
              <a:rPr lang="en-US" altLang="en-US" dirty="0">
                <a:latin typeface="Calibri" pitchFamily="34" charset="0"/>
              </a:rPr>
              <a:t>		vii. For eye protection, use cleanable goggles or disposable face shields to protect the eyes, nose, and mouth during procedures that are likely to generate splashes or sprays of blood or body secretions. </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5954257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590708D-F697-9E4F-A022-0835F48B797E}"/>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12DF3B6D-F2FD-674F-A90D-4ED60D300247}"/>
              </a:ext>
            </a:extLst>
          </p:cNvPr>
          <p:cNvSpPr>
            <a:spLocks noGrp="1" noChangeArrowheads="1"/>
          </p:cNvSpPr>
          <p:nvPr>
            <p:ph type="body" idx="1"/>
          </p:nvPr>
        </p:nvSpPr>
        <p:spPr/>
        <p:txBody>
          <a:bodyPr/>
          <a:lstStyle/>
          <a:p>
            <a:pPr>
              <a:defRPr/>
            </a:pPr>
            <a:r>
              <a:rPr lang="en-US" dirty="0">
                <a:ea typeface="ＭＳ Ｐゴシック" charset="0"/>
              </a:rPr>
              <a:t>4.	Immunizations</a:t>
            </a:r>
          </a:p>
          <a:p>
            <a:pPr>
              <a:defRPr/>
            </a:pPr>
            <a:r>
              <a:rPr lang="en-US" dirty="0">
                <a:ea typeface="ＭＳ Ｐゴシック" charset="0"/>
              </a:rPr>
              <a:t>	a.	Review the proper procedures in donning and doffing needed protective equipment such as gloves (Skill Drill 2-1).</a:t>
            </a:r>
          </a:p>
          <a:p>
            <a:pPr>
              <a:defRPr/>
            </a:pPr>
            <a:r>
              <a:rPr lang="en-US" dirty="0">
                <a:ea typeface="ＭＳ Ｐゴシック" charset="0"/>
              </a:rPr>
              <a:t>	b.	To don infectious disease PPT, follow these steps:</a:t>
            </a:r>
          </a:p>
          <a:p>
            <a:pPr>
              <a:defRPr/>
            </a:pPr>
            <a:r>
              <a:rPr lang="en-US" dirty="0">
                <a:ea typeface="ＭＳ Ｐゴシック" charset="0"/>
              </a:rPr>
              <a:t>		</a:t>
            </a:r>
            <a:r>
              <a:rPr lang="en-US" dirty="0" err="1">
                <a:ea typeface="ＭＳ Ｐゴシック" charset="0"/>
              </a:rPr>
              <a:t>i</a:t>
            </a:r>
            <a:r>
              <a:rPr lang="en-US" dirty="0">
                <a:ea typeface="ＭＳ Ｐゴシック" charset="0"/>
              </a:rPr>
              <a:t>. </a:t>
            </a:r>
            <a:r>
              <a:rPr lang="en-US" altLang="en-US" dirty="0"/>
              <a:t>Select gloves, mask, and eye protection to ensure that they are not torn or ripped and that they are the correct size</a:t>
            </a:r>
            <a:r>
              <a:rPr lang="en-US" dirty="0">
                <a:ea typeface="ＭＳ Ｐゴシック" charset="0"/>
              </a:rPr>
              <a:t>.</a:t>
            </a:r>
          </a:p>
          <a:p>
            <a:pPr>
              <a:defRPr/>
            </a:pPr>
            <a:r>
              <a:rPr lang="en-US" dirty="0">
                <a:ea typeface="ＭＳ Ｐゴシック" charset="0"/>
              </a:rPr>
              <a:t>		ii. Put on gloves.</a:t>
            </a:r>
          </a:p>
          <a:p>
            <a:pPr>
              <a:defRPr/>
            </a:pPr>
            <a:r>
              <a:rPr lang="en-US" dirty="0">
                <a:ea typeface="ＭＳ Ｐゴシック" charset="0"/>
              </a:rPr>
              <a:t>		iii. Put on a mask.</a:t>
            </a:r>
          </a:p>
          <a:p>
            <a:pPr>
              <a:defRPr/>
            </a:pPr>
            <a:r>
              <a:rPr lang="en-US" dirty="0">
                <a:ea typeface="ＭＳ Ｐゴシック" charset="0"/>
              </a:rPr>
              <a:t>		iv. Put on eye protection.</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8986816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590708D-F697-9E4F-A022-0835F48B797E}"/>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12DF3B6D-F2FD-674F-A90D-4ED60D300247}"/>
              </a:ext>
            </a:extLst>
          </p:cNvPr>
          <p:cNvSpPr>
            <a:spLocks noGrp="1" noChangeArrowheads="1"/>
          </p:cNvSpPr>
          <p:nvPr>
            <p:ph type="body" idx="1"/>
          </p:nvPr>
        </p:nvSpPr>
        <p:spPr/>
        <p:txBody>
          <a:bodyPr/>
          <a:lstStyle/>
          <a:p>
            <a:pPr>
              <a:defRPr/>
            </a:pPr>
            <a:r>
              <a:rPr lang="en-US" dirty="0">
                <a:ea typeface="ＭＳ Ｐゴシック" charset="0"/>
              </a:rPr>
              <a:t>	c.	To doff infectious disease, PPE follow these steps:</a:t>
            </a:r>
          </a:p>
          <a:p>
            <a:pPr>
              <a:defRPr/>
            </a:pPr>
            <a:r>
              <a:rPr lang="en-US" dirty="0">
                <a:ea typeface="ＭＳ Ｐゴシック" charset="0"/>
              </a:rPr>
              <a:t>		</a:t>
            </a:r>
            <a:r>
              <a:rPr lang="en-US" dirty="0" err="1">
                <a:ea typeface="ＭＳ Ｐゴシック" charset="0"/>
              </a:rPr>
              <a:t>i</a:t>
            </a:r>
            <a:r>
              <a:rPr lang="en-US" dirty="0">
                <a:ea typeface="ＭＳ Ｐゴシック" charset="0"/>
              </a:rPr>
              <a:t>.  Remove and discard gloves using steps listed in Skill Drill 2-1. Take care not to contaminate your hands. Dispose of gloves in a biohazard bag.</a:t>
            </a:r>
          </a:p>
          <a:p>
            <a:pPr>
              <a:defRPr/>
            </a:pPr>
            <a:r>
              <a:rPr lang="en-US" dirty="0">
                <a:ea typeface="ＭＳ Ｐゴシック" charset="0"/>
              </a:rPr>
              <a:t>		ii. Remove eye protection. Remove by strap and avoid touching front surface of eye protection. Discard in a biohazard bag or prepare for reprocessing.</a:t>
            </a:r>
          </a:p>
          <a:p>
            <a:pPr>
              <a:defRPr/>
            </a:pPr>
            <a:r>
              <a:rPr lang="en-US" dirty="0">
                <a:ea typeface="ＭＳ Ｐゴシック" charset="0"/>
              </a:rPr>
              <a:t>		iii. Remove mask by tilting head slightly forward, grasping elastic straps, and sliding them off your ears and head. Remove mask without touching front fabric. Discard mask in a biohazard bag or in a receptacle for reprocessing.</a:t>
            </a:r>
          </a:p>
          <a:p>
            <a:pPr>
              <a:defRPr/>
            </a:pPr>
            <a:r>
              <a:rPr lang="en-US" dirty="0">
                <a:ea typeface="ＭＳ Ｐゴシック" charset="0"/>
              </a:rPr>
              <a:t>		iv. Perform hand hygiene by washing with soap and warm water or by using alcohol-based hand sanitizer.</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8785808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46A0E1D3-FEAE-AF4C-8C93-C46C781FD3CD}"/>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8B3AA056-A295-B541-A543-469ED510796C}"/>
              </a:ext>
            </a:extLst>
          </p:cNvPr>
          <p:cNvSpPr>
            <a:spLocks noGrp="1" noChangeArrowheads="1"/>
          </p:cNvSpPr>
          <p:nvPr>
            <p:ph type="body" idx="1"/>
          </p:nvPr>
        </p:nvSpPr>
        <p:spPr/>
        <p:txBody>
          <a:bodyPr/>
          <a:lstStyle/>
          <a:p>
            <a:pPr>
              <a:defRPr/>
            </a:pPr>
            <a:r>
              <a:rPr lang="en-US" dirty="0">
                <a:ea typeface="ＭＳ Ｐゴシック" charset="0"/>
              </a:rPr>
              <a:t>5.	Immunizations</a:t>
            </a:r>
          </a:p>
          <a:p>
            <a:pPr>
              <a:defRPr/>
            </a:pPr>
            <a:r>
              <a:rPr lang="en-US" dirty="0">
                <a:ea typeface="ＭＳ Ｐゴシック" charset="0"/>
              </a:rPr>
              <a:t>	a.	Certain immunizations are recommended for EMS responders, including influenza, tetanus prophylaxis, and hepatitis B vaccine.</a:t>
            </a:r>
          </a:p>
          <a:p>
            <a:pPr>
              <a:defRPr/>
            </a:pPr>
            <a:r>
              <a:rPr lang="en-US" dirty="0">
                <a:ea typeface="ＭＳ Ｐゴシック" charset="0"/>
              </a:rPr>
              <a:t>	b.	Check the status of your varicella (chickenpox) vaccine, and your measles, mumps, and rubella (MMR) vaccine.</a:t>
            </a:r>
          </a:p>
          <a:p>
            <a:pPr>
              <a:defRPr/>
            </a:pPr>
            <a:r>
              <a:rPr lang="en-US" dirty="0">
                <a:ea typeface="ＭＳ Ｐゴシック" charset="0"/>
              </a:rPr>
              <a:t>	c.	Tuberculin testing may also be recommended.</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4471363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46A0E1D3-FEAE-AF4C-8C93-C46C781FD3CD}"/>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8B3AA056-A295-B541-A543-469ED510796C}"/>
              </a:ext>
            </a:extLst>
          </p:cNvPr>
          <p:cNvSpPr>
            <a:spLocks noGrp="1" noChangeArrowheads="1"/>
          </p:cNvSpPr>
          <p:nvPr>
            <p:ph type="body" idx="1"/>
          </p:nvPr>
        </p:nvSpPr>
        <p:spPr/>
        <p:txBody>
          <a:bodyPr/>
          <a:lstStyle/>
          <a:p>
            <a:pPr>
              <a:defRPr/>
            </a:pPr>
            <a:r>
              <a:rPr lang="en-US" dirty="0">
                <a:ea typeface="ＭＳ Ｐゴシック" charset="0"/>
              </a:rPr>
              <a:t>E.	Responding to the scene</a:t>
            </a:r>
          </a:p>
          <a:p>
            <a:pPr>
              <a:defRPr/>
            </a:pPr>
            <a:r>
              <a:rPr lang="en-US" dirty="0">
                <a:ea typeface="ＭＳ Ｐゴシック" charset="0"/>
              </a:rPr>
              <a:t>1.	Scene safety is a most important consideration to you as an EMR.</a:t>
            </a:r>
          </a:p>
          <a:p>
            <a:pPr>
              <a:defRPr/>
            </a:pPr>
            <a:r>
              <a:rPr lang="en-US" dirty="0">
                <a:ea typeface="ＭＳ Ｐゴシック" charset="0"/>
              </a:rPr>
              <a:t>	a.	Safety considerations need to include your own safety and safety of all other people present at scene.</a:t>
            </a:r>
          </a:p>
          <a:p>
            <a:pPr>
              <a:defRPr/>
            </a:pPr>
            <a:r>
              <a:rPr lang="en-US" dirty="0">
                <a:ea typeface="ＭＳ Ｐゴシック" charset="0"/>
              </a:rPr>
              <a:t>	b.	An injured or dead EMR cannot help those in need.</a:t>
            </a:r>
          </a:p>
          <a:p>
            <a:pPr>
              <a:defRPr/>
            </a:pPr>
            <a:r>
              <a:rPr lang="en-US" dirty="0">
                <a:ea typeface="ＭＳ Ｐゴシック" charset="0"/>
              </a:rPr>
              <a:t>	c.	Drive safely and always fasten your seatbelt when you are in your vehicle.</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8026509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71A6C66C-684A-B845-A132-0030D8DACF93}"/>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3B10265C-04F5-6643-A2DB-6C814F56287A}"/>
              </a:ext>
            </a:extLst>
          </p:cNvPr>
          <p:cNvSpPr>
            <a:spLocks noGrp="1" noChangeArrowheads="1"/>
          </p:cNvSpPr>
          <p:nvPr>
            <p:ph type="body" idx="1"/>
          </p:nvPr>
        </p:nvSpPr>
        <p:spPr/>
        <p:txBody>
          <a:bodyPr/>
          <a:lstStyle/>
          <a:p>
            <a:pPr>
              <a:defRPr/>
            </a:pPr>
            <a:r>
              <a:rPr lang="en-US" dirty="0">
                <a:ea typeface="ＭＳ Ｐゴシック" charset="0"/>
              </a:rPr>
              <a:t>2.	Dispatch </a:t>
            </a:r>
          </a:p>
          <a:p>
            <a:pPr>
              <a:defRPr/>
            </a:pPr>
            <a:r>
              <a:rPr lang="en-US" dirty="0">
                <a:ea typeface="ＭＳ Ｐゴシック" charset="0"/>
              </a:rPr>
              <a:t>	a.	Use your dispatch information to anticipate hazards and determine how to approach scene. </a:t>
            </a:r>
          </a:p>
          <a:p>
            <a:pPr>
              <a:defRPr/>
            </a:pPr>
            <a:r>
              <a:rPr lang="en-US" dirty="0">
                <a:ea typeface="ＭＳ Ｐゴシック" charset="0"/>
              </a:rPr>
              <a:t>3.	Response</a:t>
            </a:r>
          </a:p>
          <a:p>
            <a:pPr>
              <a:defRPr/>
            </a:pPr>
            <a:r>
              <a:rPr lang="en-US" dirty="0">
                <a:ea typeface="ＭＳ Ｐゴシック" charset="0"/>
              </a:rPr>
              <a:t>	a.	Vehicle accidents are a major cause of death and disability for law enforcement personnel, firefighters, and EMS personnel.</a:t>
            </a:r>
          </a:p>
          <a:p>
            <a:pPr>
              <a:defRPr/>
            </a:pPr>
            <a:r>
              <a:rPr lang="en-US" dirty="0">
                <a:ea typeface="ＭＳ Ｐゴシック" charset="0"/>
              </a:rPr>
              <a:t>	b.	Fasten your seatbelt, plan best route, and drive quickly but safely to scene. </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41171975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05C57368-6876-0C45-8933-1EFB6254056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24C0FFD1-F9B3-8742-BD5E-E0CDA5CEC116}"/>
              </a:ext>
            </a:extLst>
          </p:cNvPr>
          <p:cNvSpPr>
            <a:spLocks noGrp="1" noChangeArrowheads="1"/>
          </p:cNvSpPr>
          <p:nvPr>
            <p:ph type="body" idx="1"/>
          </p:nvPr>
        </p:nvSpPr>
        <p:spPr/>
        <p:txBody>
          <a:bodyPr/>
          <a:lstStyle/>
          <a:p>
            <a:pPr>
              <a:defRPr/>
            </a:pPr>
            <a:r>
              <a:rPr lang="en-US" dirty="0">
                <a:ea typeface="ＭＳ Ｐゴシック" charset="0"/>
              </a:rPr>
              <a:t>4.	Parking your vehicle</a:t>
            </a:r>
          </a:p>
          <a:p>
            <a:pPr>
              <a:defRPr/>
            </a:pPr>
            <a:r>
              <a:rPr lang="en-US" dirty="0">
                <a:ea typeface="ＭＳ Ｐゴシック" charset="0"/>
              </a:rPr>
              <a:t>	a.	Park your vehicle so that it protects the area from traffic hazards.</a:t>
            </a:r>
          </a:p>
          <a:p>
            <a:pPr>
              <a:defRPr/>
            </a:pPr>
            <a:r>
              <a:rPr lang="en-US" dirty="0">
                <a:ea typeface="ＭＳ Ｐゴシック" charset="0"/>
              </a:rPr>
              <a:t>	b.	Be sure that emergency warning lights are operating correctly.</a:t>
            </a:r>
          </a:p>
          <a:p>
            <a:pPr>
              <a:defRPr/>
            </a:pPr>
            <a:r>
              <a:rPr lang="en-US" dirty="0">
                <a:ea typeface="ＭＳ Ｐゴシック" charset="0"/>
              </a:rPr>
              <a:t>	c.	Be careful when getting out of your vehicle, especially if you must step into a traffic-filled area.</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939784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E6516657-7EC5-5843-8598-17FDF01449E2}"/>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F355E656-487E-1F4F-99A1-096388AD8662}"/>
              </a:ext>
            </a:extLst>
          </p:cNvPr>
          <p:cNvSpPr>
            <a:spLocks noGrp="1" noChangeArrowheads="1"/>
          </p:cNvSpPr>
          <p:nvPr>
            <p:ph type="body" idx="1"/>
          </p:nvPr>
        </p:nvSpPr>
        <p:spPr/>
        <p:txBody>
          <a:bodyPr/>
          <a:lstStyle/>
          <a:p>
            <a:pPr>
              <a:defRPr/>
            </a:pPr>
            <a:r>
              <a:rPr lang="en-US">
                <a:ea typeface="ＭＳ Ｐゴシック" charset="0"/>
              </a:rPr>
              <a:t>	d.	Federal safety standards require EMRs to wear approved safety vests when they are working on an active highway.</a:t>
            </a:r>
          </a:p>
          <a:p>
            <a:pPr>
              <a:defRPr/>
            </a:pPr>
            <a:r>
              <a:rPr lang="en-US">
                <a:ea typeface="ＭＳ Ｐゴシック" charset="0"/>
              </a:rPr>
              <a:t>	e.	If your vehicle is not needed to protect the incident scene, park it out of the way of traffic.</a:t>
            </a:r>
          </a:p>
          <a:p>
            <a:pPr eaLnBrk="1" hangingPunct="1">
              <a:defRPr/>
            </a:pPr>
            <a:endParaRPr lang="en-US">
              <a:ea typeface="ＭＳ Ｐゴシック" charset="0"/>
            </a:endParaRPr>
          </a:p>
          <a:p>
            <a:pPr eaLnBrk="1" hangingPunct="1">
              <a:defRPr/>
            </a:pPr>
            <a:r>
              <a:rPr lang="en-US">
                <a:ea typeface="ＭＳ Ｐゴシック" charset="0"/>
              </a:rPr>
              <a:t>Figure: Reflective clothing helps make you more visible.</a:t>
            </a:r>
          </a:p>
        </p:txBody>
      </p:sp>
    </p:spTree>
    <p:extLst>
      <p:ext uri="{BB962C8B-B14F-4D97-AF65-F5344CB8AC3E}">
        <p14:creationId xmlns:p14="http://schemas.microsoft.com/office/powerpoint/2010/main" val="21162495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D22905F4-0FE8-454F-84F2-F0C79ACE38DA}"/>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C5C06DAA-D23B-A54D-8C8C-CD29D29CFF18}"/>
              </a:ext>
            </a:extLst>
          </p:cNvPr>
          <p:cNvSpPr>
            <a:spLocks noGrp="1" noChangeArrowheads="1"/>
          </p:cNvSpPr>
          <p:nvPr>
            <p:ph type="body" idx="1"/>
          </p:nvPr>
        </p:nvSpPr>
        <p:spPr/>
        <p:txBody>
          <a:bodyPr/>
          <a:lstStyle/>
          <a:p>
            <a:pPr>
              <a:defRPr/>
            </a:pPr>
            <a:r>
              <a:rPr lang="en-US" dirty="0">
                <a:ea typeface="ＭＳ Ｐゴシック" charset="0"/>
              </a:rPr>
              <a:t>F.	Assessing the scene</a:t>
            </a:r>
          </a:p>
          <a:p>
            <a:pPr>
              <a:defRPr/>
            </a:pPr>
            <a:r>
              <a:rPr lang="en-US" dirty="0">
                <a:ea typeface="ＭＳ Ｐゴシック" charset="0"/>
              </a:rPr>
              <a:t>1.	Scan the entire area carefully to determine what hazards are present and address them in the most appropriate order. </a:t>
            </a:r>
          </a:p>
          <a:p>
            <a:pPr>
              <a:defRPr/>
            </a:pPr>
            <a:r>
              <a:rPr lang="en-US" dirty="0">
                <a:ea typeface="ＭＳ Ｐゴシック" charset="0"/>
              </a:rPr>
              <a:t>2.	Traffic</a:t>
            </a:r>
          </a:p>
          <a:p>
            <a:pPr>
              <a:defRPr/>
            </a:pPr>
            <a:r>
              <a:rPr lang="en-US" dirty="0">
                <a:ea typeface="ＭＳ Ｐゴシック" charset="0"/>
              </a:rPr>
              <a:t>	a.	Control flow of traffic on a busy highway.</a:t>
            </a:r>
          </a:p>
          <a:p>
            <a:pPr>
              <a:defRPr/>
            </a:pPr>
            <a:r>
              <a:rPr lang="en-US" dirty="0">
                <a:ea typeface="ＭＳ Ｐゴシック" charset="0"/>
              </a:rPr>
              <a:t>	b.	If you need more help to handle traffic, call for assistance before you get out of your vehicle.</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7360531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E63E449C-9F68-C248-90AF-45DCC011EBF5}"/>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7E11D5A0-4D05-514E-B952-8DF979B7A3FC}"/>
              </a:ext>
            </a:extLst>
          </p:cNvPr>
          <p:cNvSpPr>
            <a:spLocks noGrp="1" noChangeArrowheads="1"/>
          </p:cNvSpPr>
          <p:nvPr>
            <p:ph type="body" idx="1"/>
          </p:nvPr>
        </p:nvSpPr>
        <p:spPr/>
        <p:txBody>
          <a:bodyPr/>
          <a:lstStyle/>
          <a:p>
            <a:pPr>
              <a:defRPr/>
            </a:pPr>
            <a:r>
              <a:rPr lang="en-US" dirty="0">
                <a:ea typeface="ＭＳ Ｐゴシック" charset="0"/>
              </a:rPr>
              <a:t>3.	Crime or violence</a:t>
            </a:r>
          </a:p>
          <a:p>
            <a:pPr>
              <a:defRPr/>
            </a:pPr>
            <a:r>
              <a:rPr lang="en-US" dirty="0">
                <a:ea typeface="ＭＳ Ｐゴシック" charset="0"/>
              </a:rPr>
              <a:t>	a.	If you are trained in law enforcement procedures, follow local protocols.</a:t>
            </a:r>
          </a:p>
          <a:p>
            <a:pPr>
              <a:defRPr/>
            </a:pPr>
            <a:r>
              <a:rPr lang="en-US" dirty="0">
                <a:ea typeface="ＭＳ Ｐゴシック" charset="0"/>
              </a:rPr>
              <a:t>	b.	If you are not a law enforcement official, proceed very carefully.</a:t>
            </a:r>
          </a:p>
          <a:p>
            <a:pPr>
              <a:defRPr/>
            </a:pPr>
            <a:r>
              <a:rPr lang="en-US" dirty="0">
                <a:ea typeface="ＭＳ Ｐゴシック" charset="0"/>
              </a:rPr>
              <a:t>	c.	If you have doubts about safety of a scene, wait at a safe distance and request help from law enforcement officials.</a:t>
            </a:r>
          </a:p>
          <a:p>
            <a:pPr>
              <a:defRPr/>
            </a:pPr>
            <a:r>
              <a:rPr lang="en-US" dirty="0">
                <a:ea typeface="ＭＳ Ｐゴシック" charset="0"/>
              </a:rPr>
              <a:t>	d.	If the scene involves a crime, take a mental picture and avoid disturbing anything at the scene unless it is absolutely necessary. </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0904915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F48E8B04-BA4A-0642-A9AF-0C938CAA7CF5}"/>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5E8CF34-AED3-8C42-A0B5-5FB426431383}"/>
              </a:ext>
            </a:extLst>
          </p:cNvPr>
          <p:cNvSpPr>
            <a:spLocks noGrp="1" noChangeArrowheads="1"/>
          </p:cNvSpPr>
          <p:nvPr>
            <p:ph type="body" idx="1"/>
          </p:nvPr>
        </p:nvSpPr>
        <p:spPr/>
        <p:txBody>
          <a:bodyPr/>
          <a:lstStyle/>
          <a:p>
            <a:pPr>
              <a:defRPr/>
            </a:pPr>
            <a:r>
              <a:rPr lang="en-US" altLang="en-US" dirty="0">
                <a:latin typeface="Calibri" pitchFamily="34" charset="0"/>
              </a:rPr>
              <a:t>4.	Crowds</a:t>
            </a:r>
          </a:p>
          <a:p>
            <a:pPr>
              <a:defRPr/>
            </a:pPr>
            <a:r>
              <a:rPr lang="en-US" altLang="en-US" dirty="0">
                <a:latin typeface="Calibri" pitchFamily="34" charset="0"/>
              </a:rPr>
              <a:t>	a.	Crowds may be friendly and helpful or hostile. </a:t>
            </a:r>
          </a:p>
          <a:p>
            <a:pPr>
              <a:defRPr/>
            </a:pPr>
            <a:r>
              <a:rPr lang="en-US" altLang="en-US" dirty="0">
                <a:latin typeface="Calibri" pitchFamily="34" charset="0"/>
              </a:rPr>
              <a:t>	b.	Assess crowd’s mood before you get into a position from which you cannot exit. </a:t>
            </a:r>
          </a:p>
          <a:p>
            <a:pPr>
              <a:defRPr/>
            </a:pPr>
            <a:r>
              <a:rPr lang="en-US" altLang="en-US" dirty="0">
                <a:latin typeface="Calibri" pitchFamily="34" charset="0"/>
              </a:rPr>
              <a:t>	c.	Request help from law enforcement officials before crowd is out of control. </a:t>
            </a:r>
          </a:p>
          <a:p>
            <a:pPr>
              <a:defRPr/>
            </a:pPr>
            <a:r>
              <a:rPr lang="en-US" altLang="en-US" dirty="0">
                <a:latin typeface="Calibri" pitchFamily="34" charset="0"/>
              </a:rPr>
              <a:t>	d.	You may have to wait for arrival of police before you approach patient. </a:t>
            </a:r>
          </a:p>
          <a:p>
            <a:pPr>
              <a:defRPr/>
            </a:pPr>
            <a:r>
              <a:rPr lang="en-US" altLang="en-US" dirty="0">
                <a:latin typeface="Calibri" pitchFamily="34" charset="0"/>
              </a:rPr>
              <a:t>5.	Electrical hazards</a:t>
            </a:r>
          </a:p>
          <a:p>
            <a:pPr>
              <a:defRPr/>
            </a:pPr>
            <a:r>
              <a:rPr lang="en-US" altLang="en-US" dirty="0">
                <a:latin typeface="Calibri" pitchFamily="34" charset="0"/>
              </a:rPr>
              <a:t>	a.	Do not approach a scene if there are indications of electrical problems. </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8000112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1FECCC44-1AEC-D64D-9626-D98468EA159D}"/>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EAAAC607-DC30-D84C-B92C-2D9C3709605C}"/>
              </a:ext>
            </a:extLst>
          </p:cNvPr>
          <p:cNvSpPr>
            <a:spLocks noGrp="1" noChangeArrowheads="1"/>
          </p:cNvSpPr>
          <p:nvPr>
            <p:ph type="body" idx="1"/>
          </p:nvPr>
        </p:nvSpPr>
        <p:spPr/>
        <p:txBody>
          <a:bodyPr/>
          <a:lstStyle/>
          <a:p>
            <a:pPr>
              <a:defRPr/>
            </a:pPr>
            <a:r>
              <a:rPr lang="en-US" dirty="0">
                <a:ea typeface="ＭＳ Ｐゴシック" charset="0"/>
              </a:rPr>
              <a:t>	b.	Keep all other people away from the source of the hazard.</a:t>
            </a:r>
          </a:p>
          <a:p>
            <a:pPr>
              <a:defRPr/>
            </a:pPr>
            <a:r>
              <a:rPr lang="en-US" dirty="0">
                <a:ea typeface="ＭＳ Ｐゴシック" charset="0"/>
              </a:rPr>
              <a:t>	c.	Make sure that the electrical current has been turned off by a qualified person before you get close to the source of the current.</a:t>
            </a:r>
          </a:p>
          <a:p>
            <a:pPr>
              <a:defRPr/>
            </a:pPr>
            <a:r>
              <a:rPr lang="en-US" dirty="0">
                <a:ea typeface="ＭＳ Ｐゴシック" charset="0"/>
              </a:rPr>
              <a:t>	d.	Wear a helmet with a chin strip and face shield.</a:t>
            </a:r>
          </a:p>
          <a:p>
            <a:pPr>
              <a:defRPr/>
            </a:pPr>
            <a:r>
              <a:rPr lang="en-US" dirty="0">
                <a:ea typeface="ＭＳ Ｐゴシック" charset="0"/>
              </a:rPr>
              <a:t>6.	Fire</a:t>
            </a:r>
          </a:p>
          <a:p>
            <a:pPr>
              <a:defRPr/>
            </a:pPr>
            <a:r>
              <a:rPr lang="en-US" dirty="0">
                <a:ea typeface="ＭＳ Ｐゴシック" charset="0"/>
              </a:rPr>
              <a:t>	a.	Fire can result in injury or death to you and to the patient. </a:t>
            </a:r>
          </a:p>
          <a:p>
            <a:pPr>
              <a:defRPr/>
            </a:pPr>
            <a:r>
              <a:rPr lang="en-US" dirty="0">
                <a:ea typeface="ＭＳ Ｐゴシック" charset="0"/>
              </a:rPr>
              <a:t>	b.	If you are a trained firefighter, follow the rescue and firefighting procedures established for your department. </a:t>
            </a:r>
          </a:p>
          <a:p>
            <a:pPr>
              <a:defRPr/>
            </a:pPr>
            <a:r>
              <a:rPr lang="en-US" dirty="0">
                <a:ea typeface="ＭＳ Ｐゴシック" charset="0"/>
              </a:rPr>
              <a:t>	c.	If you are not a trained firefighter, do not exceed the limits of your training.</a:t>
            </a:r>
          </a:p>
          <a:p>
            <a:pPr>
              <a:defRPr/>
            </a:pPr>
            <a:r>
              <a:rPr lang="en-US" dirty="0">
                <a:ea typeface="ＭＳ Ｐゴシック" charset="0"/>
              </a:rPr>
              <a:t>	d.	Never enter a burning building without proper turnout gear and self-contained breathing apparatus.</a:t>
            </a:r>
          </a:p>
          <a:p>
            <a:pPr>
              <a:defRPr/>
            </a:pPr>
            <a:r>
              <a:rPr lang="en-US" dirty="0">
                <a:ea typeface="ＭＳ Ｐゴシック" charset="0"/>
              </a:rPr>
              <a:t>	e.	Carefully assess the fire hazard before you determine your course of action. </a:t>
            </a:r>
          </a:p>
          <a:p>
            <a:pPr>
              <a:defRPr/>
            </a:pPr>
            <a:r>
              <a:rPr lang="en-US" dirty="0">
                <a:ea typeface="ＭＳ Ｐゴシック" charset="0"/>
              </a:rPr>
              <a:t>7.	Hazardous materials </a:t>
            </a:r>
          </a:p>
          <a:p>
            <a:pPr>
              <a:defRPr/>
            </a:pPr>
            <a:r>
              <a:rPr lang="en-US" dirty="0">
                <a:ea typeface="ＭＳ Ｐゴシック" charset="0"/>
              </a:rPr>
              <a:t>	a.	Hazardous materials may be found almost anywhere.</a:t>
            </a:r>
          </a:p>
          <a:p>
            <a:pPr>
              <a:defRPr/>
            </a:pPr>
            <a:r>
              <a:rPr lang="en-US" dirty="0">
                <a:ea typeface="ＭＳ Ｐゴシック" charset="0"/>
              </a:rPr>
              <a:t>	b.	Federal regulations require vehicles that are transporting a certain quantity of hazardous materials to be marked with specific placards.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7270818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13852CCA-F306-9045-B5C8-9AF3051FBD58}"/>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0CD992D7-4138-CD4B-9D96-88E919FE38BE}"/>
              </a:ext>
            </a:extLst>
          </p:cNvPr>
          <p:cNvSpPr>
            <a:spLocks noGrp="1" noChangeArrowheads="1"/>
          </p:cNvSpPr>
          <p:nvPr>
            <p:ph type="body" idx="1"/>
          </p:nvPr>
        </p:nvSpPr>
        <p:spPr/>
        <p:txBody>
          <a:bodyPr/>
          <a:lstStyle/>
          <a:p>
            <a:pPr>
              <a:defRPr/>
            </a:pPr>
            <a:r>
              <a:rPr lang="en-US" dirty="0">
                <a:ea typeface="ＭＳ Ｐゴシック" charset="0"/>
              </a:rPr>
              <a:t>	c.	If you believe that a crash may involve hazardous materials, stop uphill and upwind at some distance from the crash and use binoculars to determine whether the vehicle is marked with a placard.</a:t>
            </a:r>
          </a:p>
          <a:p>
            <a:pPr>
              <a:defRPr/>
            </a:pPr>
            <a:r>
              <a:rPr lang="en-US" dirty="0">
                <a:ea typeface="ＭＳ Ｐゴシック" charset="0"/>
              </a:rPr>
              <a:t>	d.	Odors or fumes may be the first indication of hazardous materials.</a:t>
            </a:r>
          </a:p>
          <a:p>
            <a:pPr>
              <a:defRPr/>
            </a:pPr>
            <a:r>
              <a:rPr lang="en-US" dirty="0">
                <a:ea typeface="ＭＳ Ｐゴシック" charset="0"/>
              </a:rPr>
              <a:t>	e.	Call for assistance.</a:t>
            </a:r>
          </a:p>
          <a:p>
            <a:pPr>
              <a:defRPr/>
            </a:pPr>
            <a:r>
              <a:rPr lang="en-US" dirty="0">
                <a:ea typeface="ＭＳ Ｐゴシック" charset="0"/>
              </a:rPr>
              <a:t>	f.	Remain far enough away so that you do not become an additional casualty.</a:t>
            </a:r>
          </a:p>
          <a:p>
            <a:pPr>
              <a:defRPr/>
            </a:pPr>
            <a:r>
              <a:rPr lang="en-US" dirty="0">
                <a:ea typeface="ＭＳ Ｐゴシック" charset="0"/>
              </a:rPr>
              <a:t>F. Unstable objects</a:t>
            </a:r>
          </a:p>
          <a:p>
            <a:pPr>
              <a:defRPr/>
            </a:pPr>
            <a:r>
              <a:rPr lang="en-US" dirty="0">
                <a:ea typeface="ＭＳ Ｐゴシック" charset="0"/>
              </a:rPr>
              <a:t>1.	Unstable objects may include vehicles, trees, poles, buildings, cliffs, and piles of materials.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4583490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E8B9A3E0-F789-B14F-92C8-22F95C6D2BD5}"/>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9E2913DB-A1FF-FB45-8B6B-E4C3BDAF838A}"/>
              </a:ext>
            </a:extLst>
          </p:cNvPr>
          <p:cNvSpPr>
            <a:spLocks noGrp="1" noChangeArrowheads="1"/>
          </p:cNvSpPr>
          <p:nvPr>
            <p:ph type="body" idx="1"/>
          </p:nvPr>
        </p:nvSpPr>
        <p:spPr/>
        <p:txBody>
          <a:bodyPr/>
          <a:lstStyle/>
          <a:p>
            <a:pPr>
              <a:defRPr/>
            </a:pPr>
            <a:r>
              <a:rPr lang="en-US" dirty="0">
                <a:ea typeface="ＭＳ Ｐゴシック" charset="0"/>
              </a:rPr>
              <a:t>	2.	After an accident, vehicles may need to be stabilized before you assess the patient or begin patient extrication.</a:t>
            </a:r>
          </a:p>
          <a:p>
            <a:pPr>
              <a:defRPr/>
            </a:pPr>
            <a:r>
              <a:rPr lang="en-US" dirty="0">
                <a:ea typeface="ＭＳ Ｐゴシック" charset="0"/>
              </a:rPr>
              <a:t>	3.	Undeployed air bags represent another hazard following a motor vehicle collision.</a:t>
            </a:r>
          </a:p>
          <a:p>
            <a:pPr>
              <a:defRPr/>
            </a:pPr>
            <a:r>
              <a:rPr lang="en-US" dirty="0">
                <a:ea typeface="ＭＳ Ｐゴシック" charset="0"/>
              </a:rPr>
              <a:t>	4.	Fires and explosions can result in unstable buildings. </a:t>
            </a:r>
          </a:p>
          <a:p>
            <a:pPr>
              <a:defRPr/>
            </a:pPr>
            <a:r>
              <a:rPr lang="en-US" dirty="0">
                <a:ea typeface="ＭＳ Ｐゴシック" charset="0"/>
              </a:rPr>
              <a:t>	5.	Assess stability before attempting to enter a building. </a:t>
            </a:r>
          </a:p>
          <a:p>
            <a:pPr>
              <a:defRPr/>
            </a:pPr>
            <a:r>
              <a:rPr lang="en-US" dirty="0">
                <a:ea typeface="ＭＳ Ｐゴシック" charset="0"/>
              </a:rPr>
              <a:t>	6.	If in doubt, call for trained personnel.</a:t>
            </a:r>
          </a:p>
          <a:p>
            <a:pPr>
              <a:defRPr/>
            </a:pPr>
            <a:r>
              <a:rPr lang="en-US" dirty="0">
                <a:ea typeface="ＭＳ Ｐゴシック" charset="0"/>
              </a:rPr>
              <a:t>G. Sharp objects</a:t>
            </a:r>
          </a:p>
          <a:p>
            <a:pPr>
              <a:defRPr/>
            </a:pPr>
            <a:r>
              <a:rPr lang="en-US" dirty="0">
                <a:ea typeface="ＭＳ Ｐゴシック" charset="0"/>
              </a:rPr>
              <a:t>	1.	Sharp objects are frequently present at an emergency scene.</a:t>
            </a:r>
          </a:p>
          <a:p>
            <a:pPr>
              <a:defRPr/>
            </a:pPr>
            <a:r>
              <a:rPr lang="en-US" dirty="0">
                <a:ea typeface="ＭＳ Ｐゴシック" charset="0"/>
              </a:rPr>
              <a:t>	2.	They may include broken glass at the scene of a motor vehicle crash or hypodermic needles in the pocket of a drug addict.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rPr>
              <a:t>	3.	Wear heavy leather or firefighting gloves over your medical gloves to prevent injuries.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1694903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CEED8F63-27B0-2440-82FE-5575CF4A45A1}"/>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2A79FA3B-9A0D-0A4A-A9E4-337C78ADDD58}"/>
              </a:ext>
            </a:extLst>
          </p:cNvPr>
          <p:cNvSpPr>
            <a:spLocks noGrp="1" noChangeArrowheads="1"/>
          </p:cNvSpPr>
          <p:nvPr>
            <p:ph type="body" idx="1"/>
          </p:nvPr>
        </p:nvSpPr>
        <p:spPr/>
        <p:txBody>
          <a:bodyPr/>
          <a:lstStyle/>
          <a:p>
            <a:pPr>
              <a:defRPr/>
            </a:pPr>
            <a:r>
              <a:rPr lang="en-US" dirty="0">
                <a:ea typeface="ＭＳ Ｐゴシック" charset="0"/>
              </a:rPr>
              <a:t>	H. Animals</a:t>
            </a:r>
          </a:p>
          <a:p>
            <a:pPr>
              <a:defRPr/>
            </a:pPr>
            <a:r>
              <a:rPr lang="en-US" dirty="0">
                <a:ea typeface="ＭＳ Ｐゴシック" charset="0"/>
              </a:rPr>
              <a:t>	1.	Can be pets, farm stock, or wild </a:t>
            </a:r>
          </a:p>
          <a:p>
            <a:pPr>
              <a:defRPr/>
            </a:pPr>
            <a:r>
              <a:rPr lang="en-US" dirty="0">
                <a:ea typeface="ＭＳ Ｐゴシック" charset="0"/>
              </a:rPr>
              <a:t>	2.	Present in a wide variety of indoor and outdoor settings</a:t>
            </a:r>
          </a:p>
          <a:p>
            <a:pPr>
              <a:defRPr/>
            </a:pPr>
            <a:r>
              <a:rPr lang="en-US" dirty="0">
                <a:ea typeface="ＭＳ Ｐゴシック" charset="0"/>
              </a:rPr>
              <a:t>	3.	Can become very upset in the confusion of a medical emergency and should be secured in another part of the house away from the patient</a:t>
            </a:r>
          </a:p>
          <a:p>
            <a:pPr>
              <a:defRPr/>
            </a:pPr>
            <a:r>
              <a:rPr lang="en-US" dirty="0">
                <a:ea typeface="ＭＳ Ｐゴシック" charset="0"/>
              </a:rPr>
              <a:t>	4.	May present other hazards such as bites, kicking, or even trampling.</a:t>
            </a:r>
          </a:p>
          <a:p>
            <a:pPr>
              <a:defRPr/>
            </a:pPr>
            <a:r>
              <a:rPr lang="en-US" dirty="0">
                <a:ea typeface="ＭＳ Ｐゴシック" charset="0"/>
              </a:rPr>
              <a:t>I. 	Environmental conditions</a:t>
            </a:r>
          </a:p>
          <a:p>
            <a:pPr>
              <a:defRPr/>
            </a:pPr>
            <a:r>
              <a:rPr lang="en-US" dirty="0">
                <a:ea typeface="ＭＳ Ｐゴシック" charset="0"/>
              </a:rPr>
              <a:t>	1.	Dress appropriately for the expected weather.</a:t>
            </a:r>
          </a:p>
          <a:p>
            <a:pPr>
              <a:defRPr/>
            </a:pPr>
            <a:r>
              <a:rPr lang="en-US" dirty="0">
                <a:ea typeface="ＭＳ Ｐゴシック" charset="0"/>
              </a:rPr>
              <a:t>	2.	Be alert for possible damage from high winds.</a:t>
            </a:r>
          </a:p>
          <a:p>
            <a:pPr>
              <a:defRPr/>
            </a:pPr>
            <a:r>
              <a:rPr lang="en-US" dirty="0">
                <a:ea typeface="ＭＳ Ｐゴシック" charset="0"/>
              </a:rPr>
              <a:t>	3.	Keep your patients dry and comfortable.</a:t>
            </a:r>
          </a:p>
          <a:p>
            <a:pPr>
              <a:defRPr/>
            </a:pPr>
            <a:r>
              <a:rPr lang="en-US" dirty="0">
                <a:ea typeface="ＭＳ Ｐゴシック" charset="0"/>
              </a:rPr>
              <a:t>	4.	Use emergency lighting when operating in the dark to help you avoid hazards.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9119463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BAA9821F-483C-6A42-B509-99B41E0C3174}"/>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676CEE8B-D120-164A-87C7-DE22C05D7C22}"/>
              </a:ext>
            </a:extLst>
          </p:cNvPr>
          <p:cNvSpPr>
            <a:spLocks noGrp="1" noChangeArrowheads="1"/>
          </p:cNvSpPr>
          <p:nvPr>
            <p:ph type="body" idx="1"/>
          </p:nvPr>
        </p:nvSpPr>
        <p:spPr/>
        <p:txBody>
          <a:bodyPr/>
          <a:lstStyle/>
          <a:p>
            <a:pPr>
              <a:defRPr/>
            </a:pPr>
            <a:r>
              <a:rPr lang="en-US" dirty="0">
                <a:ea typeface="ＭＳ Ｐゴシック" charset="0"/>
              </a:rPr>
              <a:t>J. Special rescue situations</a:t>
            </a:r>
          </a:p>
          <a:p>
            <a:pPr>
              <a:defRPr/>
            </a:pPr>
            <a:r>
              <a:rPr lang="en-US" dirty="0">
                <a:ea typeface="ＭＳ Ｐゴシック" charset="0"/>
              </a:rPr>
              <a:t>	1.	These situations include water rescue, ice rescue, confined-space or below-grade rescue, terrorism, and mass-casualty incidents</a:t>
            </a:r>
          </a:p>
          <a:p>
            <a:pPr>
              <a:defRPr/>
            </a:pPr>
            <a:r>
              <a:rPr lang="en-US" dirty="0">
                <a:ea typeface="ＭＳ Ｐゴシック" charset="0"/>
              </a:rPr>
              <a:t>	2.	Do not enter an emergency situation that is unsafe unless you have proper training and equipment.</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7640528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CDEEA19C-CF26-BE4B-9F7F-B9647BB4073E}"/>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158F036A-209C-D440-82D5-947231306943}"/>
              </a:ext>
            </a:extLst>
          </p:cNvPr>
          <p:cNvSpPr>
            <a:spLocks noGrp="1" noChangeArrowheads="1"/>
          </p:cNvSpPr>
          <p:nvPr>
            <p:ph type="body" idx="1"/>
          </p:nvPr>
        </p:nvSpPr>
        <p:spPr/>
        <p:txBody>
          <a:bodyPr/>
          <a:lstStyle/>
          <a:p>
            <a:pPr>
              <a:defRPr/>
            </a:pPr>
            <a:r>
              <a:rPr lang="en-US" altLang="en-US" dirty="0">
                <a:latin typeface="Calibri" pitchFamily="34" charset="0"/>
              </a:rPr>
              <a:t>V. Summary</a:t>
            </a:r>
          </a:p>
          <a:p>
            <a:pPr>
              <a:defRPr/>
            </a:pPr>
            <a:r>
              <a:rPr lang="en-US" altLang="en-US" dirty="0">
                <a:latin typeface="Calibri" pitchFamily="34" charset="0"/>
              </a:rPr>
              <a:t>A.	EMRs should understand the role that stress plays in the lives of emergency care providers and patients who have experienced a sudden illness or accident. Stress is a normal part of an EMR’s life.</a:t>
            </a:r>
          </a:p>
          <a:p>
            <a:pPr marL="228600" indent="-228600">
              <a:buAutoNum type="alphaUcPeriod" startAt="2"/>
              <a:defRPr/>
            </a:pPr>
            <a:r>
              <a:rPr lang="en-US" altLang="en-US" dirty="0">
                <a:latin typeface="Calibri" pitchFamily="34" charset="0"/>
              </a:rPr>
              <a:t>Five stages of grief process when dealing with death and dying are denial, anger, bargaining, depression, and acceptance. Patients and rescuers move through these stages at different paces.</a:t>
            </a:r>
          </a:p>
          <a:p>
            <a:pPr marL="1143000" lvl="2" indent="-228600">
              <a:buAutoNum type="alphaUcPeriod" startAt="3"/>
              <a:defRPr/>
            </a:pPr>
            <a:r>
              <a:rPr lang="en-US" altLang="en-US" dirty="0">
                <a:latin typeface="Calibri" pitchFamily="34" charset="0"/>
              </a:rPr>
              <a:t>Stress management consists of recognizing, preventing, and reducing critical incident stress.</a:t>
            </a:r>
          </a:p>
          <a:p>
            <a:pPr marL="1143000" lvl="2" indent="-228600">
              <a:buAutoNum type="alphaUcPeriod" startAt="3"/>
              <a:defRPr/>
            </a:pPr>
            <a:r>
              <a:rPr lang="en-US" altLang="en-US" dirty="0">
                <a:latin typeface="Calibri" pitchFamily="34" charset="0"/>
              </a:rPr>
              <a:t>According to crew resource management (CRM) concept, each member is responsible for maintaining awareness of the current patient situation and sharing any critical information with the team leader.</a:t>
            </a:r>
          </a:p>
          <a:p>
            <a:pPr marL="228600" indent="-228600">
              <a:buAutoNum type="alphaUcPeriod" startAt="3"/>
              <a:defRPr/>
            </a:pPr>
            <a:endParaRPr lang="en-US" altLang="en-US"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6737509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83DF605C-DE1B-AA46-B66F-D10D6F06BEAF}"/>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10708D0B-E0BB-8940-8936-EA156D6FDEEC}"/>
              </a:ext>
            </a:extLst>
          </p:cNvPr>
          <p:cNvSpPr>
            <a:spLocks noGrp="1" noChangeArrowheads="1"/>
          </p:cNvSpPr>
          <p:nvPr>
            <p:ph type="body" idx="1"/>
          </p:nvPr>
        </p:nvSpPr>
        <p:spPr/>
        <p:txBody>
          <a:bodyPr/>
          <a:lstStyle/>
          <a:p>
            <a:pPr eaLnBrk="1" hangingPunct="1">
              <a:defRPr/>
            </a:pPr>
            <a:r>
              <a:rPr lang="en-US" dirty="0">
                <a:ea typeface="ＭＳ Ｐゴシック" charset="0"/>
              </a:rPr>
              <a:t>D.	Scene safety is an important part of your job. You should understand how airborne and bloodborne diseases are spread and how standard precautions prevent spread of infection.</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5196094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45AE3A5B-2165-B345-972A-0D6B1B864BA6}"/>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F904A983-88B6-5E4C-A0F0-7BBC4A7B23FB}"/>
              </a:ext>
            </a:extLst>
          </p:cNvPr>
          <p:cNvSpPr>
            <a:spLocks noGrp="1" noChangeArrowheads="1"/>
          </p:cNvSpPr>
          <p:nvPr>
            <p:ph type="body" idx="1"/>
          </p:nvPr>
        </p:nvSpPr>
        <p:spPr/>
        <p:txBody>
          <a:bodyPr/>
          <a:lstStyle/>
          <a:p>
            <a:pPr eaLnBrk="1" hangingPunct="1">
              <a:defRPr/>
            </a:pPr>
            <a:r>
              <a:rPr lang="en-US" altLang="en-US" dirty="0">
                <a:latin typeface="Calibri" pitchFamily="34" charset="0"/>
              </a:rPr>
              <a:t>E.	As you arrive on the scene of a collision or illness, you must assess scene for a wide variety of hazards, including traffic, crime, crowds, unstable objects, sharp objects, electrical problems, fire, hazardous materials, animals, environmental conditions, special rescue situations, and infectious disease exposure. You should understand the safety equipment and precautions that are needed for the various types of rescue situations.</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7099181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B93756D4-9D47-434D-AAAF-8EF82454F542}"/>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36832302-841D-3649-A6F5-B249A2152D4C}"/>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1206162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5D1E98E2-DAE4-654A-80CD-F83586D7BECF}"/>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73DB2A44-15FA-5746-8DC7-E60CFE1277ED}"/>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5542970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20EB2FD3-4AF5-8341-B119-18DE047A1D9B}"/>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0D85FB96-4004-5448-AB72-59EAC909144A}"/>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22641345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3AB503FB-EB88-7548-8683-FAD7EAF2B463}"/>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F93C48CD-A298-9A47-8534-08FB01898F7E}"/>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40427041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6B150918-128F-2D44-BAED-217B9822D9A4}"/>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D0D09974-D65F-9349-A3BF-30EAC92575CA}"/>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40277323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4E710CA6-18FF-954A-9180-76E178D4D8AD}"/>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2DD7CC0C-195B-4B44-B702-0C1FEB217AAE}"/>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3552140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r>
              <a:rPr lang="en-US"/>
              <a:t>Click icon to add picture</a:t>
            </a:r>
          </a:p>
        </p:txBody>
      </p:sp>
      <p:sp>
        <p:nvSpPr>
          <p:cNvPr id="17" name="Rectangle 16">
            <a:extLst>
              <a:ext uri="{FF2B5EF4-FFF2-40B4-BE49-F238E27FC236}">
                <a16:creationId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a:t>
            </a:r>
            <a:r>
              <a:rPr lang="en-US" sz="800">
                <a:solidFill>
                  <a:schemeClr val="bg2"/>
                </a:solidFill>
                <a:latin typeface="Arial" panose="020B0604020202020204" pitchFamily="34" charset="0"/>
                <a:cs typeface="Arial" panose="020B0604020202020204" pitchFamily="34" charset="0"/>
              </a:rPr>
              <a:t>© 2022 </a:t>
            </a:r>
            <a:r>
              <a:rPr lang="en-US" sz="800" dirty="0">
                <a:solidFill>
                  <a:schemeClr val="bg2"/>
                </a:solidFill>
                <a:latin typeface="Arial" panose="020B0604020202020204" pitchFamily="34" charset="0"/>
                <a:cs typeface="Arial" panose="020B0604020202020204" pitchFamily="34" charset="0"/>
              </a:rPr>
              <a:t>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r>
              <a:rPr lang="en-US"/>
              <a:t>Click icon to add picture</a:t>
            </a:r>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r>
              <a:rPr lang="en-US"/>
              <a:t>Click icon to add picture</a:t>
            </a: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Rectangle 6">
            <a:extLst>
              <a:ext uri="{FF2B5EF4-FFF2-40B4-BE49-F238E27FC236}">
                <a16:creationId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2</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lstStyle/>
          <a:p>
            <a:r>
              <a:rPr lang="en-US" dirty="0"/>
              <a:t>Workplace Safety and Wellness</a:t>
            </a:r>
          </a:p>
        </p:txBody>
      </p:sp>
      <p:pic>
        <p:nvPicPr>
          <p:cNvPr id="5" name="Picture 4"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a16="http://schemas.microsoft.com/office/drawing/2014/main" id="{A8280651-A45A-1342-9DDA-D8CFB0746F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id="{EFC71A36-7306-844F-A292-AE65256D24DF}"/>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(1 of 4)</a:t>
            </a:r>
          </a:p>
        </p:txBody>
      </p:sp>
      <p:sp>
        <p:nvSpPr>
          <p:cNvPr id="5122" name="Rectangle 3">
            <a:extLst>
              <a:ext uri="{FF2B5EF4-FFF2-40B4-BE49-F238E27FC236}">
                <a16:creationId xmlns:a16="http://schemas.microsoft.com/office/drawing/2014/main" id="{93EBD900-D0A4-D240-BD96-782B5A19BFD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Preparatory</a:t>
            </a:r>
          </a:p>
          <a:p>
            <a:pPr marL="0" indent="0">
              <a:spcBef>
                <a:spcPct val="35000"/>
              </a:spcBef>
              <a:buNone/>
            </a:pPr>
            <a:r>
              <a:rPr lang="en-US" altLang="en-US" dirty="0"/>
              <a:t>Uses simple knowledge of the emergency medical services (EMS) system, safety/well-being of the emergency medical responder (EMR), and medical/legal issues at scene of an emergency while awaiting a higher level of care.</a:t>
            </a:r>
          </a:p>
        </p:txBody>
      </p:sp>
    </p:spTree>
    <p:extLst>
      <p:ext uri="{BB962C8B-B14F-4D97-AF65-F5344CB8AC3E}">
        <p14:creationId xmlns:p14="http://schemas.microsoft.com/office/powerpoint/2010/main" val="392662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a:extLst>
              <a:ext uri="{FF2B5EF4-FFF2-40B4-BE49-F238E27FC236}">
                <a16:creationId xmlns:a16="http://schemas.microsoft.com/office/drawing/2014/main" id="{A48E9938-DC25-2345-B633-11E627E2A235}"/>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(2 of 4)</a:t>
            </a:r>
          </a:p>
        </p:txBody>
      </p:sp>
      <p:sp>
        <p:nvSpPr>
          <p:cNvPr id="7170" name="Rectangle 3">
            <a:extLst>
              <a:ext uri="{FF2B5EF4-FFF2-40B4-BE49-F238E27FC236}">
                <a16:creationId xmlns:a16="http://schemas.microsoft.com/office/drawing/2014/main" id="{D2A7A7F4-14E3-C34D-80BD-73FEBD8F79E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b="1" dirty="0"/>
              <a:t>Workforce Safety and Wellness</a:t>
            </a:r>
          </a:p>
          <a:p>
            <a:pPr eaLnBrk="1" hangingPunct="1">
              <a:spcBef>
                <a:spcPct val="35000"/>
              </a:spcBef>
            </a:pPr>
            <a:r>
              <a:rPr lang="en-US" altLang="en-US" dirty="0"/>
              <a:t>Standard safety precautions</a:t>
            </a:r>
          </a:p>
          <a:p>
            <a:pPr eaLnBrk="1" hangingPunct="1">
              <a:spcBef>
                <a:spcPct val="35000"/>
              </a:spcBef>
            </a:pPr>
            <a:r>
              <a:rPr lang="en-US" altLang="en-US" dirty="0"/>
              <a:t>Personal protective equipment</a:t>
            </a:r>
          </a:p>
          <a:p>
            <a:pPr eaLnBrk="1" hangingPunct="1">
              <a:spcBef>
                <a:spcPct val="35000"/>
              </a:spcBef>
            </a:pPr>
            <a:r>
              <a:rPr lang="en-US" altLang="en-US" dirty="0"/>
              <a:t>Stress management</a:t>
            </a:r>
          </a:p>
          <a:p>
            <a:pPr eaLnBrk="1" hangingPunct="1">
              <a:spcBef>
                <a:spcPct val="35000"/>
              </a:spcBef>
            </a:pPr>
            <a:r>
              <a:rPr lang="en-US" altLang="en-US" dirty="0"/>
              <a:t>Dealing with death and dying</a:t>
            </a:r>
          </a:p>
          <a:p>
            <a:pPr eaLnBrk="1" hangingPunct="1">
              <a:spcBef>
                <a:spcPct val="35000"/>
              </a:spcBef>
            </a:pPr>
            <a:r>
              <a:rPr lang="en-US" altLang="en-US" dirty="0"/>
              <a:t>Crew resource management</a:t>
            </a:r>
          </a:p>
          <a:p>
            <a:pPr eaLnBrk="1" hangingPunct="1">
              <a:spcBef>
                <a:spcPct val="35000"/>
              </a:spcBef>
            </a:pPr>
            <a:r>
              <a:rPr lang="en-US" altLang="en-US" dirty="0"/>
              <a:t>Prevention of work-related injuries and illnesses</a:t>
            </a:r>
          </a:p>
        </p:txBody>
      </p:sp>
    </p:spTree>
    <p:extLst>
      <p:ext uri="{BB962C8B-B14F-4D97-AF65-F5344CB8AC3E}">
        <p14:creationId xmlns:p14="http://schemas.microsoft.com/office/powerpoint/2010/main" val="3312218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a:extLst>
              <a:ext uri="{FF2B5EF4-FFF2-40B4-BE49-F238E27FC236}">
                <a16:creationId xmlns:a16="http://schemas.microsoft.com/office/drawing/2014/main" id="{07669A80-5604-1A47-BA6D-51F3C7403032}"/>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(3 of 4)</a:t>
            </a:r>
          </a:p>
        </p:txBody>
      </p:sp>
      <p:sp>
        <p:nvSpPr>
          <p:cNvPr id="9218" name="Rectangle 3">
            <a:extLst>
              <a:ext uri="{FF2B5EF4-FFF2-40B4-BE49-F238E27FC236}">
                <a16:creationId xmlns:a16="http://schemas.microsoft.com/office/drawing/2014/main" id="{3768A1E6-8C23-9E46-A6E5-3E06DC49DB6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a:latin typeface="Arial Black" panose="020B0604020202020204" pitchFamily="34" charset="0"/>
              </a:rPr>
              <a:t>Medicine</a:t>
            </a:r>
          </a:p>
          <a:p>
            <a:pPr marL="0" indent="0">
              <a:spcBef>
                <a:spcPct val="35000"/>
              </a:spcBef>
              <a:buNone/>
            </a:pPr>
            <a:r>
              <a:rPr lang="en-US" altLang="en-US"/>
              <a:t>Recognizes and manages life threats based on assessment findings of a patient with a medical emergency while awaiting additional emergency response.</a:t>
            </a:r>
          </a:p>
        </p:txBody>
      </p:sp>
    </p:spTree>
    <p:extLst>
      <p:ext uri="{BB962C8B-B14F-4D97-AF65-F5344CB8AC3E}">
        <p14:creationId xmlns:p14="http://schemas.microsoft.com/office/powerpoint/2010/main" val="171568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a:extLst>
              <a:ext uri="{FF2B5EF4-FFF2-40B4-BE49-F238E27FC236}">
                <a16:creationId xmlns:a16="http://schemas.microsoft.com/office/drawing/2014/main" id="{FF166F8E-4443-FD49-A672-B0AE3CB8FEA6}"/>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(4 of 4)</a:t>
            </a:r>
          </a:p>
        </p:txBody>
      </p:sp>
      <p:sp>
        <p:nvSpPr>
          <p:cNvPr id="11266" name="Rectangle 3">
            <a:extLst>
              <a:ext uri="{FF2B5EF4-FFF2-40B4-BE49-F238E27FC236}">
                <a16:creationId xmlns:a16="http://schemas.microsoft.com/office/drawing/2014/main" id="{92D86674-1A1D-A442-94C2-598B936A744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b="1"/>
              <a:t>Infectious Diseases</a:t>
            </a:r>
          </a:p>
          <a:p>
            <a:pPr eaLnBrk="1" hangingPunct="1">
              <a:spcBef>
                <a:spcPct val="35000"/>
              </a:spcBef>
              <a:buFontTx/>
              <a:buNone/>
            </a:pPr>
            <a:r>
              <a:rPr lang="en-US" altLang="en-US"/>
              <a:t>Awareness of </a:t>
            </a:r>
          </a:p>
          <a:p>
            <a:pPr eaLnBrk="1" hangingPunct="1">
              <a:spcBef>
                <a:spcPct val="35000"/>
              </a:spcBef>
            </a:pPr>
            <a:r>
              <a:rPr lang="en-US" altLang="en-US"/>
              <a:t>A patient who may have an infectious disease</a:t>
            </a:r>
          </a:p>
          <a:p>
            <a:pPr eaLnBrk="1" hangingPunct="1">
              <a:spcBef>
                <a:spcPct val="35000"/>
              </a:spcBef>
            </a:pPr>
            <a:r>
              <a:rPr lang="en-US" altLang="en-US"/>
              <a:t>How to decontaminate equipment after treating a patient</a:t>
            </a:r>
          </a:p>
        </p:txBody>
      </p:sp>
    </p:spTree>
    <p:extLst>
      <p:ext uri="{BB962C8B-B14F-4D97-AF65-F5344CB8AC3E}">
        <p14:creationId xmlns:p14="http://schemas.microsoft.com/office/powerpoint/2010/main" val="4002667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a:extLst>
              <a:ext uri="{FF2B5EF4-FFF2-40B4-BE49-F238E27FC236}">
                <a16:creationId xmlns:a16="http://schemas.microsoft.com/office/drawing/2014/main" id="{E27C609E-36A3-4049-9F2F-0A793995CDA4}"/>
              </a:ext>
            </a:extLst>
          </p:cNvPr>
          <p:cNvSpPr>
            <a:spLocks noGrp="1" noChangeArrowheads="1"/>
          </p:cNvSpPr>
          <p:nvPr>
            <p:ph type="title"/>
          </p:nvPr>
        </p:nvSpPr>
        <p:spPr/>
        <p:txBody>
          <a:bodyPr/>
          <a:lstStyle/>
          <a:p>
            <a:pPr eaLnBrk="1" hangingPunct="1">
              <a:lnSpc>
                <a:spcPct val="85000"/>
              </a:lnSpc>
              <a:defRPr/>
            </a:pPr>
            <a:r>
              <a:rPr lang="en-US" dirty="0"/>
              <a:t>Introduction</a:t>
            </a:r>
          </a:p>
        </p:txBody>
      </p:sp>
      <p:sp>
        <p:nvSpPr>
          <p:cNvPr id="13314" name="Rectangle 3">
            <a:extLst>
              <a:ext uri="{FF2B5EF4-FFF2-40B4-BE49-F238E27FC236}">
                <a16:creationId xmlns:a16="http://schemas.microsoft.com/office/drawing/2014/main" id="{43CFAB69-1D4F-EA4B-AC6F-279E3D9A0C5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 your patients, and their families can experience various degrees of stress and grief during and following a medical emergency.</a:t>
            </a:r>
          </a:p>
          <a:p>
            <a:pPr eaLnBrk="1" hangingPunct="1">
              <a:spcBef>
                <a:spcPct val="35000"/>
              </a:spcBef>
            </a:pPr>
            <a:r>
              <a:rPr lang="en-US" altLang="en-US" dirty="0"/>
              <a:t>To fulfill your duties as an EMR, you need to be in good physical condition.</a:t>
            </a:r>
          </a:p>
          <a:p>
            <a:pPr lvl="1" eaLnBrk="1" hangingPunct="1">
              <a:spcBef>
                <a:spcPct val="35000"/>
              </a:spcBef>
            </a:pPr>
            <a:r>
              <a:rPr lang="en-US" altLang="en-US" dirty="0"/>
              <a:t>You should have a complete physical exam to ensure that you are healthy enough to do your job.</a:t>
            </a:r>
          </a:p>
        </p:txBody>
      </p:sp>
    </p:spTree>
    <p:extLst>
      <p:ext uri="{BB962C8B-B14F-4D97-AF65-F5344CB8AC3E}">
        <p14:creationId xmlns:p14="http://schemas.microsoft.com/office/powerpoint/2010/main" val="4064849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a:extLst>
              <a:ext uri="{FF2B5EF4-FFF2-40B4-BE49-F238E27FC236}">
                <a16:creationId xmlns:a16="http://schemas.microsoft.com/office/drawing/2014/main" id="{FBDDF729-28E3-2145-92EE-814D54661DF9}"/>
              </a:ext>
            </a:extLst>
          </p:cNvPr>
          <p:cNvSpPr>
            <a:spLocks noGrp="1" noChangeArrowheads="1"/>
          </p:cNvSpPr>
          <p:nvPr>
            <p:ph type="title"/>
          </p:nvPr>
        </p:nvSpPr>
        <p:spPr/>
        <p:txBody>
          <a:bodyPr/>
          <a:lstStyle/>
          <a:p>
            <a:pPr eaLnBrk="1" hangingPunct="1">
              <a:lnSpc>
                <a:spcPct val="85000"/>
              </a:lnSpc>
              <a:defRPr/>
            </a:pPr>
            <a:r>
              <a:rPr lang="en-US" dirty="0"/>
              <a:t>Emotional Aspects of Emergency Medical Care </a:t>
            </a:r>
            <a:r>
              <a:rPr lang="en-US" sz="2800" b="0" dirty="0"/>
              <a:t>(1 of 3)</a:t>
            </a:r>
          </a:p>
        </p:txBody>
      </p:sp>
      <p:sp>
        <p:nvSpPr>
          <p:cNvPr id="15362" name="Rectangle 3">
            <a:extLst>
              <a:ext uri="{FF2B5EF4-FFF2-40B4-BE49-F238E27FC236}">
                <a16:creationId xmlns:a16="http://schemas.microsoft.com/office/drawing/2014/main" id="{28A20D9B-7D49-D240-A3C0-E62D314534C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 must learn how to avoid unnecessary stress and how to prevent your stress level from getting too high.</a:t>
            </a:r>
          </a:p>
          <a:p>
            <a:pPr eaLnBrk="1" hangingPunct="1">
              <a:spcBef>
                <a:spcPct val="35000"/>
              </a:spcBef>
            </a:pPr>
            <a:r>
              <a:rPr lang="en-US" altLang="en-US" dirty="0"/>
              <a:t>Most-stressful calls include:</a:t>
            </a:r>
          </a:p>
          <a:p>
            <a:pPr lvl="1" eaLnBrk="1" hangingPunct="1">
              <a:spcBef>
                <a:spcPct val="35000"/>
              </a:spcBef>
            </a:pPr>
            <a:r>
              <a:rPr lang="en-US" altLang="en-US" dirty="0"/>
              <a:t>A patient who reminds you of a close family member</a:t>
            </a:r>
          </a:p>
          <a:p>
            <a:pPr lvl="1" eaLnBrk="1" hangingPunct="1">
              <a:spcBef>
                <a:spcPct val="35000"/>
              </a:spcBef>
            </a:pPr>
            <a:r>
              <a:rPr lang="en-US" altLang="en-US" dirty="0"/>
              <a:t>Very young or very old patients</a:t>
            </a:r>
          </a:p>
          <a:p>
            <a:pPr lvl="1" eaLnBrk="1" hangingPunct="1">
              <a:spcBef>
                <a:spcPct val="35000"/>
              </a:spcBef>
            </a:pPr>
            <a:r>
              <a:rPr lang="en-US" altLang="en-US" dirty="0"/>
              <a:t>Critical patients</a:t>
            </a:r>
          </a:p>
          <a:p>
            <a:pPr lvl="1" eaLnBrk="1" hangingPunct="1">
              <a:spcBef>
                <a:spcPct val="35000"/>
              </a:spcBef>
            </a:pPr>
            <a:r>
              <a:rPr lang="en-US" altLang="en-US" dirty="0"/>
              <a:t>Death</a:t>
            </a:r>
          </a:p>
        </p:txBody>
      </p:sp>
    </p:spTree>
    <p:extLst>
      <p:ext uri="{BB962C8B-B14F-4D97-AF65-F5344CB8AC3E}">
        <p14:creationId xmlns:p14="http://schemas.microsoft.com/office/powerpoint/2010/main" val="4177350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6F2D6E9C-C6C6-724C-BA6F-F3EB5D02DF15}"/>
              </a:ext>
            </a:extLst>
          </p:cNvPr>
          <p:cNvSpPr>
            <a:spLocks noGrp="1" noChangeArrowheads="1"/>
          </p:cNvSpPr>
          <p:nvPr>
            <p:ph type="title"/>
          </p:nvPr>
        </p:nvSpPr>
        <p:spPr/>
        <p:txBody>
          <a:bodyPr/>
          <a:lstStyle/>
          <a:p>
            <a:pPr eaLnBrk="1" hangingPunct="1">
              <a:lnSpc>
                <a:spcPct val="85000"/>
              </a:lnSpc>
              <a:defRPr/>
            </a:pPr>
            <a:r>
              <a:rPr lang="en-US" dirty="0"/>
              <a:t>Emotional Aspects of Emergency Medical Care </a:t>
            </a:r>
            <a:r>
              <a:rPr lang="en-US" sz="2800" b="0" dirty="0"/>
              <a:t>(2 of 3)</a:t>
            </a:r>
          </a:p>
        </p:txBody>
      </p:sp>
      <p:sp>
        <p:nvSpPr>
          <p:cNvPr id="17410" name="Rectangle 3">
            <a:extLst>
              <a:ext uri="{FF2B5EF4-FFF2-40B4-BE49-F238E27FC236}">
                <a16:creationId xmlns:a16="http://schemas.microsoft.com/office/drawing/2014/main" id="{E5B0CD00-7701-4D46-9071-A9E3F133A0F9}"/>
              </a:ext>
            </a:extLst>
          </p:cNvPr>
          <p:cNvSpPr>
            <a:spLocks noGrp="1" noChangeArrowheads="1"/>
          </p:cNvSpPr>
          <p:nvPr>
            <p:ph type="body" idx="1"/>
          </p:nvPr>
        </p:nvSpPr>
        <p:spPr>
          <a:xfrm>
            <a:off x="6096000" y="1447800"/>
            <a:ext cx="512664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The most stressful calls include (cont’d):</a:t>
            </a:r>
          </a:p>
          <a:p>
            <a:pPr lvl="1" eaLnBrk="1" hangingPunct="1">
              <a:spcBef>
                <a:spcPct val="35000"/>
              </a:spcBef>
            </a:pPr>
            <a:r>
              <a:rPr lang="en-US" altLang="en-US" dirty="0"/>
              <a:t>Unusual danger</a:t>
            </a:r>
          </a:p>
          <a:p>
            <a:pPr lvl="1" eaLnBrk="1" hangingPunct="1">
              <a:spcBef>
                <a:spcPct val="35000"/>
              </a:spcBef>
            </a:pPr>
            <a:r>
              <a:rPr lang="en-US" altLang="en-US" dirty="0"/>
              <a:t>Violence</a:t>
            </a:r>
          </a:p>
          <a:p>
            <a:pPr lvl="1" eaLnBrk="1" hangingPunct="1">
              <a:spcBef>
                <a:spcPct val="35000"/>
              </a:spcBef>
            </a:pPr>
            <a:r>
              <a:rPr lang="en-US" altLang="en-US" dirty="0"/>
              <a:t>Unusual sights, smells, or sounds</a:t>
            </a:r>
          </a:p>
          <a:p>
            <a:pPr lvl="1" eaLnBrk="1" hangingPunct="1">
              <a:spcBef>
                <a:spcPct val="35000"/>
              </a:spcBef>
            </a:pPr>
            <a:r>
              <a:rPr lang="en-US" altLang="en-US" dirty="0"/>
              <a:t>Mass casualties</a:t>
            </a:r>
          </a:p>
        </p:txBody>
      </p:sp>
      <p:sp>
        <p:nvSpPr>
          <p:cNvPr id="7" name="Rectangle 6"/>
          <p:cNvSpPr/>
          <p:nvPr/>
        </p:nvSpPr>
        <p:spPr>
          <a:xfrm>
            <a:off x="852592" y="5000413"/>
            <a:ext cx="4925908" cy="646331"/>
          </a:xfrm>
          <a:prstGeom prst="rect">
            <a:avLst/>
          </a:prstGeom>
        </p:spPr>
        <p:txBody>
          <a:bodyPr wrap="square">
            <a:spAutoFit/>
          </a:bodyPr>
          <a:lstStyle/>
          <a:p>
            <a:r>
              <a:rPr lang="en-US" b="1" cap="all" dirty="0"/>
              <a:t>Figure</a:t>
            </a:r>
            <a:r>
              <a:rPr lang="en-US" b="1" dirty="0"/>
              <a:t> 2-1 </a:t>
            </a:r>
            <a:r>
              <a:rPr lang="en-US" dirty="0"/>
              <a:t>Certain kinds of patients may produce a high level of stress. </a:t>
            </a:r>
          </a:p>
        </p:txBody>
      </p:sp>
      <p:sp>
        <p:nvSpPr>
          <p:cNvPr id="8" name="Rectangle 7"/>
          <p:cNvSpPr/>
          <p:nvPr/>
        </p:nvSpPr>
        <p:spPr>
          <a:xfrm>
            <a:off x="885170" y="5591883"/>
            <a:ext cx="4456008" cy="246221"/>
          </a:xfrm>
          <a:prstGeom prst="rect">
            <a:avLst/>
          </a:prstGeom>
        </p:spPr>
        <p:txBody>
          <a:bodyPr wrap="square">
            <a:spAutoFit/>
          </a:bodyPr>
          <a:lstStyle/>
          <a:p>
            <a:r>
              <a:rPr lang="en-US" sz="1000" dirty="0"/>
              <a:t>© Kevin Link / Science Source </a:t>
            </a:r>
          </a:p>
        </p:txBody>
      </p:sp>
      <p:pic>
        <p:nvPicPr>
          <p:cNvPr id="1026" name="Picture 2" descr="Two officers with protective masks and gloves comfort a child in the infant seat of a vehicle. One officer holds the infant's head and the other places two blanket rolls on either side of the infant's head.&#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461" y="1628959"/>
            <a:ext cx="4957278" cy="3291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1669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a:extLst>
              <a:ext uri="{FF2B5EF4-FFF2-40B4-BE49-F238E27FC236}">
                <a16:creationId xmlns:a16="http://schemas.microsoft.com/office/drawing/2014/main" id="{1D8C653C-72F8-BA4B-B1B5-C755A837B582}"/>
              </a:ext>
            </a:extLst>
          </p:cNvPr>
          <p:cNvSpPr>
            <a:spLocks noGrp="1" noChangeArrowheads="1"/>
          </p:cNvSpPr>
          <p:nvPr>
            <p:ph type="title"/>
          </p:nvPr>
        </p:nvSpPr>
        <p:spPr/>
        <p:txBody>
          <a:bodyPr/>
          <a:lstStyle/>
          <a:p>
            <a:pPr eaLnBrk="1" hangingPunct="1">
              <a:lnSpc>
                <a:spcPct val="85000"/>
              </a:lnSpc>
              <a:defRPr/>
            </a:pPr>
            <a:r>
              <a:rPr lang="en-US" dirty="0"/>
              <a:t>Emotional Aspects of Emergency Medical Care </a:t>
            </a:r>
            <a:r>
              <a:rPr lang="en-US" sz="2800" b="0" dirty="0"/>
              <a:t>(3 of 3)</a:t>
            </a:r>
          </a:p>
        </p:txBody>
      </p:sp>
      <p:sp>
        <p:nvSpPr>
          <p:cNvPr id="19458" name="Rectangle 3">
            <a:extLst>
              <a:ext uri="{FF2B5EF4-FFF2-40B4-BE49-F238E27FC236}">
                <a16:creationId xmlns:a16="http://schemas.microsoft.com/office/drawing/2014/main" id="{CBB9D3BA-0A2A-4840-81E1-4216A176E32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 must make a conscious effort to prevent and reduce stress:</a:t>
            </a:r>
          </a:p>
          <a:p>
            <a:pPr lvl="1" eaLnBrk="1" hangingPunct="1">
              <a:spcBef>
                <a:spcPct val="35000"/>
              </a:spcBef>
            </a:pPr>
            <a:r>
              <a:rPr lang="en-US" altLang="en-US" dirty="0"/>
              <a:t>Learn to recognize signs and symptoms of stress.</a:t>
            </a:r>
          </a:p>
          <a:p>
            <a:pPr lvl="1" eaLnBrk="1" hangingPunct="1">
              <a:spcBef>
                <a:spcPct val="35000"/>
              </a:spcBef>
            </a:pPr>
            <a:r>
              <a:rPr lang="en-US" altLang="en-US" dirty="0"/>
              <a:t>Adjust your lifestyle to include stress-reducing activities. </a:t>
            </a:r>
          </a:p>
          <a:p>
            <a:pPr lvl="1" eaLnBrk="1" hangingPunct="1">
              <a:spcBef>
                <a:spcPct val="35000"/>
              </a:spcBef>
            </a:pPr>
            <a:r>
              <a:rPr lang="en-US" altLang="en-US" dirty="0"/>
              <a:t>Learn which services and resources are available to help you.</a:t>
            </a:r>
          </a:p>
          <a:p>
            <a:pPr>
              <a:spcBef>
                <a:spcPct val="35000"/>
              </a:spcBef>
            </a:pPr>
            <a:r>
              <a:rPr lang="en-US" altLang="en-US" dirty="0"/>
              <a:t>Grief reaction triggers:</a:t>
            </a:r>
          </a:p>
          <a:p>
            <a:pPr lvl="1">
              <a:spcBef>
                <a:spcPct val="35000"/>
              </a:spcBef>
            </a:pPr>
            <a:r>
              <a:rPr lang="en-US" altLang="en-US" dirty="0"/>
              <a:t>Death of a loved one</a:t>
            </a:r>
          </a:p>
          <a:p>
            <a:pPr lvl="1">
              <a:spcBef>
                <a:spcPct val="35000"/>
              </a:spcBef>
            </a:pPr>
            <a:r>
              <a:rPr lang="en-US" altLang="en-US" dirty="0"/>
              <a:t>Major injury or traumatic experience</a:t>
            </a:r>
          </a:p>
          <a:p>
            <a:pPr lvl="1">
              <a:spcBef>
                <a:spcPct val="35000"/>
              </a:spcBef>
            </a:pPr>
            <a:r>
              <a:rPr lang="en-US" altLang="en-US" dirty="0"/>
              <a:t>Serious illness, drug or alcohol addiction, incarceration</a:t>
            </a:r>
          </a:p>
          <a:p>
            <a:pPr lvl="1">
              <a:spcBef>
                <a:spcPct val="35000"/>
              </a:spcBef>
            </a:pPr>
            <a:r>
              <a:rPr lang="en-US" altLang="en-US" dirty="0"/>
              <a:t>End of a relationship or divorce, major personal rejection</a:t>
            </a:r>
          </a:p>
          <a:p>
            <a:pPr lvl="1">
              <a:spcBef>
                <a:spcPct val="35000"/>
              </a:spcBef>
            </a:pPr>
            <a:r>
              <a:rPr lang="en-US" altLang="en-US" dirty="0"/>
              <a:t>Loss of a job or income</a:t>
            </a:r>
          </a:p>
          <a:p>
            <a:pPr lvl="2">
              <a:spcBef>
                <a:spcPct val="35000"/>
              </a:spcBef>
            </a:pPr>
            <a:endParaRPr lang="en-US" altLang="en-US" dirty="0"/>
          </a:p>
        </p:txBody>
      </p:sp>
    </p:spTree>
    <p:extLst>
      <p:ext uri="{BB962C8B-B14F-4D97-AF65-F5344CB8AC3E}">
        <p14:creationId xmlns:p14="http://schemas.microsoft.com/office/powerpoint/2010/main" val="3728312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a:extLst>
              <a:ext uri="{FF2B5EF4-FFF2-40B4-BE49-F238E27FC236}">
                <a16:creationId xmlns:a16="http://schemas.microsoft.com/office/drawing/2014/main" id="{875E8B30-0538-C747-98C9-AFB000EBD7C1}"/>
              </a:ext>
            </a:extLst>
          </p:cNvPr>
          <p:cNvSpPr>
            <a:spLocks noGrp="1" noChangeArrowheads="1"/>
          </p:cNvSpPr>
          <p:nvPr>
            <p:ph type="title"/>
          </p:nvPr>
        </p:nvSpPr>
        <p:spPr/>
        <p:txBody>
          <a:bodyPr/>
          <a:lstStyle/>
          <a:p>
            <a:pPr eaLnBrk="1" hangingPunct="1">
              <a:lnSpc>
                <a:spcPct val="85000"/>
              </a:lnSpc>
              <a:defRPr/>
            </a:pPr>
            <a:r>
              <a:rPr lang="en-US" dirty="0"/>
              <a:t>Normal Reactions to Stress </a:t>
            </a:r>
            <a:endParaRPr lang="en-US" sz="2800" b="0" dirty="0"/>
          </a:p>
        </p:txBody>
      </p:sp>
      <p:sp>
        <p:nvSpPr>
          <p:cNvPr id="21506" name="Rectangle 3">
            <a:extLst>
              <a:ext uri="{FF2B5EF4-FFF2-40B4-BE49-F238E27FC236}">
                <a16:creationId xmlns:a16="http://schemas.microsoft.com/office/drawing/2014/main" id="{B6C2F449-D607-AC49-BD38-161C22D3B64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Five stages of reaction to death and dying</a:t>
            </a:r>
          </a:p>
          <a:p>
            <a:pPr lvl="1" eaLnBrk="1" hangingPunct="1">
              <a:spcBef>
                <a:spcPct val="35000"/>
              </a:spcBef>
            </a:pPr>
            <a:r>
              <a:rPr lang="en-US" altLang="en-US" dirty="0"/>
              <a:t>Denial: Person experiencing denial cannot believe what is happening.</a:t>
            </a:r>
          </a:p>
          <a:p>
            <a:pPr lvl="1" eaLnBrk="1" hangingPunct="1">
              <a:spcBef>
                <a:spcPct val="35000"/>
              </a:spcBef>
            </a:pPr>
            <a:r>
              <a:rPr lang="en-US" altLang="en-US" dirty="0"/>
              <a:t>Anger: Normal reaction to stress and will sometimes be directed at you.</a:t>
            </a:r>
          </a:p>
          <a:p>
            <a:pPr lvl="1" eaLnBrk="1" hangingPunct="1">
              <a:spcBef>
                <a:spcPct val="35000"/>
              </a:spcBef>
            </a:pPr>
            <a:r>
              <a:rPr lang="en-US" altLang="en-US" dirty="0"/>
              <a:t>Bargaining: Act of trying to make a deal to postpone death and dying.</a:t>
            </a:r>
          </a:p>
          <a:p>
            <a:pPr lvl="1">
              <a:spcBef>
                <a:spcPct val="35000"/>
              </a:spcBef>
            </a:pPr>
            <a:r>
              <a:rPr lang="en-US" altLang="en-US" dirty="0"/>
              <a:t>Depression: Patient is usually silent or seems to retreat into his or her own world.</a:t>
            </a:r>
          </a:p>
          <a:p>
            <a:pPr lvl="1">
              <a:spcBef>
                <a:spcPct val="35000"/>
              </a:spcBef>
            </a:pPr>
            <a:r>
              <a:rPr lang="en-US" altLang="en-US" dirty="0"/>
              <a:t>Acceptance: Patient understands that death and dying cannot be changed.</a:t>
            </a:r>
          </a:p>
          <a:p>
            <a:pPr lvl="1" eaLnBrk="1" hangingPunct="1"/>
            <a:endParaRPr lang="en-US" altLang="en-US" dirty="0"/>
          </a:p>
        </p:txBody>
      </p:sp>
    </p:spTree>
    <p:extLst>
      <p:ext uri="{BB962C8B-B14F-4D97-AF65-F5344CB8AC3E}">
        <p14:creationId xmlns:p14="http://schemas.microsoft.com/office/powerpoint/2010/main" val="204889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a:extLst>
              <a:ext uri="{FF2B5EF4-FFF2-40B4-BE49-F238E27FC236}">
                <a16:creationId xmlns:a16="http://schemas.microsoft.com/office/drawing/2014/main" id="{67F6C979-0B72-AF4E-8CBA-54B414D64DEA}"/>
              </a:ext>
            </a:extLst>
          </p:cNvPr>
          <p:cNvSpPr>
            <a:spLocks noGrp="1" noChangeArrowheads="1"/>
          </p:cNvSpPr>
          <p:nvPr>
            <p:ph type="title"/>
          </p:nvPr>
        </p:nvSpPr>
        <p:spPr/>
        <p:txBody>
          <a:bodyPr/>
          <a:lstStyle/>
          <a:p>
            <a:pPr eaLnBrk="1" hangingPunct="1">
              <a:lnSpc>
                <a:spcPct val="85000"/>
              </a:lnSpc>
              <a:defRPr/>
            </a:pPr>
            <a:r>
              <a:rPr lang="en-US" dirty="0"/>
              <a:t>Stress Management </a:t>
            </a:r>
            <a:r>
              <a:rPr lang="en-US" sz="2800" b="0" dirty="0"/>
              <a:t>(1 of 7)</a:t>
            </a:r>
          </a:p>
        </p:txBody>
      </p:sp>
      <p:sp>
        <p:nvSpPr>
          <p:cNvPr id="25602" name="Rectangle 3">
            <a:extLst>
              <a:ext uri="{FF2B5EF4-FFF2-40B4-BE49-F238E27FC236}">
                <a16:creationId xmlns:a16="http://schemas.microsoft.com/office/drawing/2014/main" id="{D3A5659C-7C9E-B242-BD4E-9A6976C584B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Recognizing stress</a:t>
            </a:r>
          </a:p>
          <a:p>
            <a:pPr lvl="1" eaLnBrk="1" hangingPunct="1">
              <a:spcBef>
                <a:spcPct val="35000"/>
              </a:spcBef>
            </a:pPr>
            <a:r>
              <a:rPr lang="en-US" altLang="en-US" dirty="0"/>
              <a:t>Warning signs to help you recognize stress:</a:t>
            </a:r>
          </a:p>
          <a:p>
            <a:pPr lvl="2" eaLnBrk="1" hangingPunct="1"/>
            <a:r>
              <a:rPr lang="en-US" altLang="en-US" sz="2000" dirty="0"/>
              <a:t>Irritability</a:t>
            </a:r>
          </a:p>
          <a:p>
            <a:pPr lvl="2" eaLnBrk="1" hangingPunct="1"/>
            <a:r>
              <a:rPr lang="en-US" altLang="en-US" sz="2000" dirty="0"/>
              <a:t>Inability to concentrate</a:t>
            </a:r>
          </a:p>
          <a:p>
            <a:pPr lvl="2" eaLnBrk="1" hangingPunct="1"/>
            <a:r>
              <a:rPr lang="en-US" altLang="en-US" sz="2000" dirty="0"/>
              <a:t>Change in normal disposition</a:t>
            </a:r>
          </a:p>
          <a:p>
            <a:pPr lvl="2" eaLnBrk="1" hangingPunct="1"/>
            <a:r>
              <a:rPr lang="en-US" altLang="en-US" sz="2000" dirty="0"/>
              <a:t>Difficulty in sleeping or nightmares</a:t>
            </a:r>
          </a:p>
          <a:p>
            <a:pPr lvl="2" eaLnBrk="1" hangingPunct="1"/>
            <a:r>
              <a:rPr lang="en-US" altLang="en-US" sz="2000" dirty="0"/>
              <a:t>Anxiety</a:t>
            </a:r>
          </a:p>
          <a:p>
            <a:pPr lvl="2" eaLnBrk="1" hangingPunct="1"/>
            <a:r>
              <a:rPr lang="en-US" altLang="en-US" sz="2000" dirty="0"/>
              <a:t>Indecisiveness</a:t>
            </a:r>
          </a:p>
          <a:p>
            <a:pPr lvl="2" eaLnBrk="1" hangingPunct="1"/>
            <a:r>
              <a:rPr lang="en-US" altLang="en-US" sz="2000" dirty="0"/>
              <a:t>Guilt</a:t>
            </a:r>
          </a:p>
        </p:txBody>
      </p:sp>
    </p:spTree>
    <p:extLst>
      <p:ext uri="{BB962C8B-B14F-4D97-AF65-F5344CB8AC3E}">
        <p14:creationId xmlns:p14="http://schemas.microsoft.com/office/powerpoint/2010/main" val="3474992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a:extLst>
              <a:ext uri="{FF2B5EF4-FFF2-40B4-BE49-F238E27FC236}">
                <a16:creationId xmlns:a16="http://schemas.microsoft.com/office/drawing/2014/main" id="{76303FF2-240C-F24B-8995-FACFDB73800E}"/>
              </a:ext>
            </a:extLst>
          </p:cNvPr>
          <p:cNvSpPr>
            <a:spLocks noGrp="1" noChangeArrowheads="1"/>
          </p:cNvSpPr>
          <p:nvPr>
            <p:ph type="title"/>
          </p:nvPr>
        </p:nvSpPr>
        <p:spPr/>
        <p:txBody>
          <a:bodyPr/>
          <a:lstStyle/>
          <a:p>
            <a:pPr eaLnBrk="1" hangingPunct="1">
              <a:lnSpc>
                <a:spcPct val="85000"/>
              </a:lnSpc>
              <a:defRPr/>
            </a:pPr>
            <a:r>
              <a:rPr lang="en-US" dirty="0"/>
              <a:t>Stress Management </a:t>
            </a:r>
            <a:r>
              <a:rPr lang="en-US" sz="2800" b="0" dirty="0"/>
              <a:t>(2 of 7)</a:t>
            </a:r>
          </a:p>
        </p:txBody>
      </p:sp>
      <p:sp>
        <p:nvSpPr>
          <p:cNvPr id="27650" name="Rectangle 3">
            <a:extLst>
              <a:ext uri="{FF2B5EF4-FFF2-40B4-BE49-F238E27FC236}">
                <a16:creationId xmlns:a16="http://schemas.microsoft.com/office/drawing/2014/main" id="{6EEE024C-7C2B-1344-8C93-E3AC9BB9D5A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Recognizing stress (cont’d):</a:t>
            </a:r>
          </a:p>
          <a:p>
            <a:pPr lvl="1" eaLnBrk="1" hangingPunct="1">
              <a:spcBef>
                <a:spcPct val="35000"/>
              </a:spcBef>
            </a:pPr>
            <a:r>
              <a:rPr lang="en-US" altLang="en-US" dirty="0"/>
              <a:t>Warning signs (cont’d):</a:t>
            </a:r>
          </a:p>
          <a:p>
            <a:pPr lvl="2" eaLnBrk="1" hangingPunct="1"/>
            <a:r>
              <a:rPr lang="en-US" altLang="en-US" sz="2000" dirty="0"/>
              <a:t>Loss of appetite or overeating</a:t>
            </a:r>
          </a:p>
          <a:p>
            <a:pPr lvl="2" eaLnBrk="1" hangingPunct="1"/>
            <a:r>
              <a:rPr lang="en-US" altLang="en-US" sz="2000" dirty="0"/>
              <a:t>Loss of interest in sexual relations</a:t>
            </a:r>
          </a:p>
          <a:p>
            <a:pPr lvl="2" eaLnBrk="1" hangingPunct="1"/>
            <a:r>
              <a:rPr lang="en-US" altLang="en-US" sz="2000" dirty="0"/>
              <a:t>Loss of interest in work</a:t>
            </a:r>
          </a:p>
          <a:p>
            <a:pPr lvl="2" eaLnBrk="1" hangingPunct="1"/>
            <a:r>
              <a:rPr lang="en-US" altLang="en-US" sz="2000" dirty="0"/>
              <a:t>Isolation</a:t>
            </a:r>
          </a:p>
          <a:p>
            <a:pPr lvl="2" eaLnBrk="1" hangingPunct="1"/>
            <a:r>
              <a:rPr lang="en-US" altLang="en-US" sz="2000" dirty="0"/>
              <a:t>Feelings of hopelessness</a:t>
            </a:r>
          </a:p>
          <a:p>
            <a:pPr lvl="2" eaLnBrk="1" hangingPunct="1"/>
            <a:r>
              <a:rPr lang="en-US" altLang="en-US" sz="2000" dirty="0"/>
              <a:t>Alcohol or drug misuse or abuse</a:t>
            </a:r>
          </a:p>
          <a:p>
            <a:pPr lvl="2" eaLnBrk="1" hangingPunct="1"/>
            <a:r>
              <a:rPr lang="en-US" altLang="en-US" sz="2000" dirty="0"/>
              <a:t>Physical symptoms</a:t>
            </a:r>
          </a:p>
        </p:txBody>
      </p:sp>
    </p:spTree>
    <p:extLst>
      <p:ext uri="{BB962C8B-B14F-4D97-AF65-F5344CB8AC3E}">
        <p14:creationId xmlns:p14="http://schemas.microsoft.com/office/powerpoint/2010/main" val="193987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a:extLst>
              <a:ext uri="{FF2B5EF4-FFF2-40B4-BE49-F238E27FC236}">
                <a16:creationId xmlns:a16="http://schemas.microsoft.com/office/drawing/2014/main" id="{EDFBB688-6816-8645-B9F7-52FE3ED7FF04}"/>
              </a:ext>
            </a:extLst>
          </p:cNvPr>
          <p:cNvSpPr>
            <a:spLocks noGrp="1" noChangeArrowheads="1"/>
          </p:cNvSpPr>
          <p:nvPr>
            <p:ph type="title"/>
          </p:nvPr>
        </p:nvSpPr>
        <p:spPr/>
        <p:txBody>
          <a:bodyPr/>
          <a:lstStyle/>
          <a:p>
            <a:pPr eaLnBrk="1" hangingPunct="1">
              <a:lnSpc>
                <a:spcPct val="85000"/>
              </a:lnSpc>
              <a:defRPr/>
            </a:pPr>
            <a:r>
              <a:rPr lang="en-US" dirty="0"/>
              <a:t>Stress Management </a:t>
            </a:r>
            <a:r>
              <a:rPr lang="en-US" sz="2800" b="0" dirty="0"/>
              <a:t>(3 of 7)</a:t>
            </a:r>
          </a:p>
        </p:txBody>
      </p:sp>
      <p:sp>
        <p:nvSpPr>
          <p:cNvPr id="29698" name="Rectangle 3">
            <a:extLst>
              <a:ext uri="{FF2B5EF4-FFF2-40B4-BE49-F238E27FC236}">
                <a16:creationId xmlns:a16="http://schemas.microsoft.com/office/drawing/2014/main" id="{41519CCF-6BEB-904F-AC75-7AA548DE1BB1}"/>
              </a:ext>
            </a:extLst>
          </p:cNvPr>
          <p:cNvSpPr>
            <a:spLocks noGrp="1" noChangeArrowheads="1"/>
          </p:cNvSpPr>
          <p:nvPr>
            <p:ph type="body" idx="1"/>
          </p:nvPr>
        </p:nvSpPr>
        <p:spPr>
          <a:xfrm>
            <a:off x="6096000" y="1447800"/>
            <a:ext cx="5478684"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Preventing stress</a:t>
            </a:r>
          </a:p>
          <a:p>
            <a:pPr lvl="1" eaLnBrk="1" hangingPunct="1">
              <a:spcBef>
                <a:spcPct val="35000"/>
              </a:spcBef>
            </a:pPr>
            <a:r>
              <a:rPr lang="en-US" altLang="en-US" dirty="0"/>
              <a:t>Eat: A healthy, well-balanced diet helps prevent and reduce stress.</a:t>
            </a:r>
          </a:p>
        </p:txBody>
      </p:sp>
      <p:sp>
        <p:nvSpPr>
          <p:cNvPr id="7" name="Rectangle 6"/>
          <p:cNvSpPr/>
          <p:nvPr/>
        </p:nvSpPr>
        <p:spPr>
          <a:xfrm>
            <a:off x="877992" y="5099803"/>
            <a:ext cx="4925908" cy="646331"/>
          </a:xfrm>
          <a:prstGeom prst="rect">
            <a:avLst/>
          </a:prstGeom>
        </p:spPr>
        <p:txBody>
          <a:bodyPr wrap="square">
            <a:spAutoFit/>
          </a:bodyPr>
          <a:lstStyle/>
          <a:p>
            <a:r>
              <a:rPr lang="en-US" b="1" cap="all" dirty="0"/>
              <a:t>Figure</a:t>
            </a:r>
            <a:r>
              <a:rPr lang="en-US" b="1" dirty="0"/>
              <a:t> 2-2 </a:t>
            </a:r>
            <a:r>
              <a:rPr lang="en-US" dirty="0"/>
              <a:t>A healthy diet is illustrated by the USDA </a:t>
            </a:r>
            <a:r>
              <a:rPr lang="en-US" dirty="0" err="1"/>
              <a:t>MyPlate</a:t>
            </a:r>
            <a:r>
              <a:rPr lang="en-US" dirty="0"/>
              <a:t> food guidance system. </a:t>
            </a:r>
          </a:p>
        </p:txBody>
      </p:sp>
      <p:sp>
        <p:nvSpPr>
          <p:cNvPr id="8" name="Rectangle 7"/>
          <p:cNvSpPr/>
          <p:nvPr/>
        </p:nvSpPr>
        <p:spPr>
          <a:xfrm>
            <a:off x="865292" y="5756429"/>
            <a:ext cx="4456008" cy="246221"/>
          </a:xfrm>
          <a:prstGeom prst="rect">
            <a:avLst/>
          </a:prstGeom>
        </p:spPr>
        <p:txBody>
          <a:bodyPr wrap="square">
            <a:spAutoFit/>
          </a:bodyPr>
          <a:lstStyle/>
          <a:p>
            <a:r>
              <a:rPr lang="en-US" sz="1000" dirty="0"/>
              <a:t>Courtesy of USDA. </a:t>
            </a:r>
          </a:p>
        </p:txBody>
      </p:sp>
      <p:pic>
        <p:nvPicPr>
          <p:cNvPr id="2050" name="Picture 2" descr="The figure consists of a fork, a plate, and a bowl. A circle on the plate is divided into four parts. Going clockwise, starting from the top left corner, these are: fruits, grains, protein, vegetables. A bowl by the right of the plate has a circle with the word 'Dairy' written on it. Below the plate is the following website: ChooseMyPlate.gov.&#10;" title="A figure illustrates different components of a healthy diet, as per the USDA MyPlate food guidance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992" y="1481148"/>
            <a:ext cx="3960708" cy="3628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8059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a:extLst>
              <a:ext uri="{FF2B5EF4-FFF2-40B4-BE49-F238E27FC236}">
                <a16:creationId xmlns:a16="http://schemas.microsoft.com/office/drawing/2014/main" id="{18B9C5DB-1F0B-7946-9816-6DF740CB295A}"/>
              </a:ext>
            </a:extLst>
          </p:cNvPr>
          <p:cNvSpPr>
            <a:spLocks noGrp="1" noChangeArrowheads="1"/>
          </p:cNvSpPr>
          <p:nvPr>
            <p:ph type="title"/>
          </p:nvPr>
        </p:nvSpPr>
        <p:spPr/>
        <p:txBody>
          <a:bodyPr/>
          <a:lstStyle/>
          <a:p>
            <a:pPr eaLnBrk="1" hangingPunct="1">
              <a:lnSpc>
                <a:spcPct val="85000"/>
              </a:lnSpc>
              <a:defRPr/>
            </a:pPr>
            <a:r>
              <a:rPr lang="en-US" dirty="0">
                <a:solidFill>
                  <a:srgbClr val="F79646"/>
                </a:solidFill>
              </a:rPr>
              <a:t>Stress Management </a:t>
            </a:r>
            <a:r>
              <a:rPr lang="en-US" sz="2800" b="0" dirty="0">
                <a:solidFill>
                  <a:srgbClr val="F79646"/>
                </a:solidFill>
              </a:rPr>
              <a:t>(4 of 7)</a:t>
            </a:r>
          </a:p>
        </p:txBody>
      </p:sp>
      <p:sp>
        <p:nvSpPr>
          <p:cNvPr id="6" name="Rectangle 5"/>
          <p:cNvSpPr/>
          <p:nvPr/>
        </p:nvSpPr>
        <p:spPr>
          <a:xfrm>
            <a:off x="5208104" y="4995964"/>
            <a:ext cx="4925908" cy="923330"/>
          </a:xfrm>
          <a:prstGeom prst="rect">
            <a:avLst/>
          </a:prstGeom>
        </p:spPr>
        <p:txBody>
          <a:bodyPr wrap="square">
            <a:spAutoFit/>
          </a:bodyPr>
          <a:lstStyle/>
          <a:p>
            <a:r>
              <a:rPr lang="en-US" b="1" cap="all" dirty="0"/>
              <a:t>Figure</a:t>
            </a:r>
            <a:r>
              <a:rPr lang="en-US" b="1" dirty="0"/>
              <a:t> 2-3 </a:t>
            </a:r>
            <a:r>
              <a:rPr lang="en-US" dirty="0"/>
              <a:t>Key Recommendations: Components of Healthy Eating Patterns from the USDA’s 2015–2020 Dietary Guidelines for Americans. </a:t>
            </a:r>
          </a:p>
        </p:txBody>
      </p:sp>
      <p:sp>
        <p:nvSpPr>
          <p:cNvPr id="7" name="Rectangle 6"/>
          <p:cNvSpPr/>
          <p:nvPr/>
        </p:nvSpPr>
        <p:spPr>
          <a:xfrm>
            <a:off x="5225291" y="5912278"/>
            <a:ext cx="4456008" cy="553998"/>
          </a:xfrm>
          <a:prstGeom prst="rect">
            <a:avLst/>
          </a:prstGeom>
        </p:spPr>
        <p:txBody>
          <a:bodyPr wrap="square">
            <a:spAutoFit/>
          </a:bodyPr>
          <a:lstStyle/>
          <a:p>
            <a:r>
              <a:rPr lang="en-US" sz="1000" dirty="0"/>
              <a:t>USDA Dietary Guidelines for Americans 2015- 2020, Eight Edition, page 15. Available at https://health.gov/sites/default/files/2019-09/2015-2020_Dietary_Guidelines.pdf </a:t>
            </a:r>
          </a:p>
        </p:txBody>
      </p:sp>
      <p:pic>
        <p:nvPicPr>
          <p:cNvPr id="3074" name="Picture 2" descr="The image shows a screenshot of an article titled &quot;Key recommendations&quot;, with a subheading below that says &quot;Consume a healthy eating pattern that accounts for all foods and beverages within an appropriate calorie level.&quot; The text below this is as follows. A healthy eating pattern includes: A variety of vegetables from all of the subgroups-dark green, red and orange,legumes (beans and peas), starchy, and other; Fruits, especially whole fruits; Grains, at least half of which are whole grains; Fat-free or low-fat dairy, including milk, yogurt, cheese, and/or fortified soy beverages; A variety of protein foods, including seafood, lean meats and poultry, eggs, legumes (beans and peas), and nuts, seeds, and soy products; Oils. A healthy eating pattern limits: Saturated fats and trans fats, added sugars, and sodium. Key Recommendations that are quantitative are provided for several components of the diet that should be limited. These components are of particular public health concern in the United States, and the specified limits can help individuals achieve healthy eating patterns within calorie limits: Consume less than 10 percent of calories per day from added sugars; Consume less than 10 percent of calories per day from saturated fats; Consume less than 2,300 milligrams (mg) per day of sodium; If alcohol is consumed, it should be consumed in moderation—up to one drink per day for women and up to two drinks per day for men—and only by adults of legal drinking age. In tandem with the recommendations above, Americans of all ages—children, adolescents, adults, and older adults—should meet the Physical Activity Guidelines for Americans to help promote health and reduce the risk of chronic disease. Americans should aim to achieve and maintain a healthy body weight. As such, the Dietary Guidelines includes a Key Recommendation to: Meet the Physical Activity Guidelines for Americans.&#10;" title="An image shows a screenshot of an article titled listing key recommendations on healthy eating patter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104" y="1546687"/>
            <a:ext cx="4531000" cy="5156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8110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a:extLst>
              <a:ext uri="{FF2B5EF4-FFF2-40B4-BE49-F238E27FC236}">
                <a16:creationId xmlns:a16="http://schemas.microsoft.com/office/drawing/2014/main" id="{756495F7-7BB2-A645-8E5A-26EDAE9E518B}"/>
              </a:ext>
            </a:extLst>
          </p:cNvPr>
          <p:cNvSpPr>
            <a:spLocks noGrp="1" noChangeArrowheads="1"/>
          </p:cNvSpPr>
          <p:nvPr>
            <p:ph type="title"/>
          </p:nvPr>
        </p:nvSpPr>
        <p:spPr/>
        <p:txBody>
          <a:bodyPr/>
          <a:lstStyle/>
          <a:p>
            <a:pPr eaLnBrk="1" hangingPunct="1">
              <a:lnSpc>
                <a:spcPct val="85000"/>
              </a:lnSpc>
              <a:defRPr/>
            </a:pPr>
            <a:r>
              <a:rPr lang="en-US" dirty="0"/>
              <a:t>Stress Management </a:t>
            </a:r>
            <a:r>
              <a:rPr lang="en-US" sz="2800" b="0" dirty="0"/>
              <a:t>(5 of 7)</a:t>
            </a:r>
          </a:p>
        </p:txBody>
      </p:sp>
      <p:sp>
        <p:nvSpPr>
          <p:cNvPr id="33794" name="Rectangle 3">
            <a:extLst>
              <a:ext uri="{FF2B5EF4-FFF2-40B4-BE49-F238E27FC236}">
                <a16:creationId xmlns:a16="http://schemas.microsoft.com/office/drawing/2014/main" id="{0E4C5F79-96C1-FE45-8994-80CECE4F0852}"/>
              </a:ext>
            </a:extLst>
          </p:cNvPr>
          <p:cNvSpPr>
            <a:spLocks noGrp="1" noChangeArrowheads="1"/>
          </p:cNvSpPr>
          <p:nvPr>
            <p:ph type="body" idx="1"/>
          </p:nvPr>
        </p:nvSpPr>
        <p:spPr>
          <a:xfrm>
            <a:off x="6095999" y="1447800"/>
            <a:ext cx="5397661"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Preventing stress (cont’d):</a:t>
            </a:r>
          </a:p>
          <a:p>
            <a:pPr lvl="1" eaLnBrk="1" hangingPunct="1">
              <a:spcBef>
                <a:spcPct val="35000"/>
              </a:spcBef>
            </a:pPr>
            <a:r>
              <a:rPr lang="en-US" altLang="en-US" sz="2100" dirty="0"/>
              <a:t>Drink: Drink adequate amounts of fluid every day and avoid consuming excessive caffeine and alcohol.</a:t>
            </a:r>
          </a:p>
          <a:p>
            <a:pPr lvl="1" eaLnBrk="1" hangingPunct="1">
              <a:spcBef>
                <a:spcPct val="35000"/>
              </a:spcBef>
            </a:pPr>
            <a:r>
              <a:rPr lang="en-US" altLang="en-US" sz="2100" dirty="0"/>
              <a:t>Be merry: Learn to balance your lifestyle.</a:t>
            </a:r>
          </a:p>
        </p:txBody>
      </p:sp>
      <p:sp>
        <p:nvSpPr>
          <p:cNvPr id="7" name="Rectangle 6"/>
          <p:cNvSpPr/>
          <p:nvPr/>
        </p:nvSpPr>
        <p:spPr>
          <a:xfrm>
            <a:off x="827192" y="4946301"/>
            <a:ext cx="4925908" cy="646331"/>
          </a:xfrm>
          <a:prstGeom prst="rect">
            <a:avLst/>
          </a:prstGeom>
        </p:spPr>
        <p:txBody>
          <a:bodyPr wrap="square">
            <a:spAutoFit/>
          </a:bodyPr>
          <a:lstStyle/>
          <a:p>
            <a:r>
              <a:rPr lang="en-US" b="1" cap="all" dirty="0"/>
              <a:t>Figure</a:t>
            </a:r>
            <a:r>
              <a:rPr lang="en-US" b="1" dirty="0"/>
              <a:t> 2-4 </a:t>
            </a:r>
            <a:r>
              <a:rPr lang="en-US" dirty="0"/>
              <a:t>Drinking adequate quantities of water is important. </a:t>
            </a:r>
          </a:p>
        </p:txBody>
      </p:sp>
      <p:sp>
        <p:nvSpPr>
          <p:cNvPr id="8" name="Rectangle 7"/>
          <p:cNvSpPr/>
          <p:nvPr/>
        </p:nvSpPr>
        <p:spPr>
          <a:xfrm>
            <a:off x="865292" y="5550471"/>
            <a:ext cx="4456008" cy="246221"/>
          </a:xfrm>
          <a:prstGeom prst="rect">
            <a:avLst/>
          </a:prstGeom>
        </p:spPr>
        <p:txBody>
          <a:bodyPr wrap="square">
            <a:spAutoFit/>
          </a:bodyPr>
          <a:lstStyle/>
          <a:p>
            <a:r>
              <a:rPr lang="en-US" sz="1000" dirty="0"/>
              <a:t>© Jones &amp; Bartlett Learning. </a:t>
            </a:r>
          </a:p>
        </p:txBody>
      </p:sp>
      <p:pic>
        <p:nvPicPr>
          <p:cNvPr id="4098" name="Picture 2" descr="A photo shows an officer in a black shirt drinking water from a bottle.&#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546" y="1613394"/>
            <a:ext cx="4876800" cy="3253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68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a:extLst>
              <a:ext uri="{FF2B5EF4-FFF2-40B4-BE49-F238E27FC236}">
                <a16:creationId xmlns:a16="http://schemas.microsoft.com/office/drawing/2014/main" id="{BC5C380B-F4CC-474C-844F-17B7C2213AA8}"/>
              </a:ext>
            </a:extLst>
          </p:cNvPr>
          <p:cNvSpPr>
            <a:spLocks noGrp="1" noChangeArrowheads="1"/>
          </p:cNvSpPr>
          <p:nvPr>
            <p:ph type="title"/>
          </p:nvPr>
        </p:nvSpPr>
        <p:spPr/>
        <p:txBody>
          <a:bodyPr/>
          <a:lstStyle/>
          <a:p>
            <a:pPr eaLnBrk="1" hangingPunct="1">
              <a:lnSpc>
                <a:spcPct val="85000"/>
              </a:lnSpc>
              <a:defRPr/>
            </a:pPr>
            <a:r>
              <a:rPr lang="en-US" dirty="0"/>
              <a:t>Stress Management </a:t>
            </a:r>
            <a:r>
              <a:rPr lang="en-US" sz="2800" b="0" dirty="0"/>
              <a:t>(6 of 7)</a:t>
            </a:r>
          </a:p>
        </p:txBody>
      </p:sp>
      <p:sp>
        <p:nvSpPr>
          <p:cNvPr id="35842" name="Rectangle 3">
            <a:extLst>
              <a:ext uri="{FF2B5EF4-FFF2-40B4-BE49-F238E27FC236}">
                <a16:creationId xmlns:a16="http://schemas.microsoft.com/office/drawing/2014/main" id="{6ACC8CEC-6815-EC4F-AE00-B4A982771F1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Preventing stress (cont’d):</a:t>
            </a:r>
          </a:p>
          <a:p>
            <a:pPr lvl="1" eaLnBrk="1" hangingPunct="1">
              <a:spcBef>
                <a:spcPct val="35000"/>
              </a:spcBef>
            </a:pPr>
            <a:r>
              <a:rPr lang="en-US" altLang="en-US" dirty="0"/>
              <a:t>Other ways to prevent stress:</a:t>
            </a:r>
          </a:p>
          <a:p>
            <a:pPr lvl="2" eaLnBrk="1" hangingPunct="1"/>
            <a:r>
              <a:rPr lang="en-US" altLang="en-US" sz="2000" dirty="0"/>
              <a:t>Spend time with your friends and family.</a:t>
            </a:r>
          </a:p>
          <a:p>
            <a:pPr lvl="2" eaLnBrk="1" hangingPunct="1"/>
            <a:r>
              <a:rPr lang="en-US" altLang="en-US" sz="2000" dirty="0"/>
              <a:t>Develop hobbies or activities that are not related to your job.</a:t>
            </a:r>
          </a:p>
          <a:p>
            <a:pPr lvl="2" eaLnBrk="1" hangingPunct="1"/>
            <a:r>
              <a:rPr lang="en-US" altLang="en-US" sz="2000" dirty="0"/>
              <a:t>Exercise regularly – increase activity no matter what form of exercise.</a:t>
            </a:r>
          </a:p>
          <a:p>
            <a:pPr lvl="2" eaLnBrk="1" hangingPunct="1"/>
            <a:r>
              <a:rPr lang="en-US" altLang="en-US" sz="2000" dirty="0"/>
              <a:t>Meditation or religious activities</a:t>
            </a:r>
          </a:p>
          <a:p>
            <a:pPr lvl="2" eaLnBrk="1" hangingPunct="1"/>
            <a:r>
              <a:rPr lang="en-US" altLang="en-US" sz="2000" dirty="0"/>
              <a:t>Assistance from a mental health professional</a:t>
            </a:r>
          </a:p>
        </p:txBody>
      </p:sp>
    </p:spTree>
    <p:extLst>
      <p:ext uri="{BB962C8B-B14F-4D97-AF65-F5344CB8AC3E}">
        <p14:creationId xmlns:p14="http://schemas.microsoft.com/office/powerpoint/2010/main" val="1327447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a:extLst>
              <a:ext uri="{FF2B5EF4-FFF2-40B4-BE49-F238E27FC236}">
                <a16:creationId xmlns:a16="http://schemas.microsoft.com/office/drawing/2014/main" id="{CF42B7BE-27FE-5741-B58A-2B1796704B42}"/>
              </a:ext>
            </a:extLst>
          </p:cNvPr>
          <p:cNvSpPr>
            <a:spLocks noGrp="1" noChangeArrowheads="1"/>
          </p:cNvSpPr>
          <p:nvPr>
            <p:ph type="title"/>
          </p:nvPr>
        </p:nvSpPr>
        <p:spPr/>
        <p:txBody>
          <a:bodyPr/>
          <a:lstStyle/>
          <a:p>
            <a:pPr eaLnBrk="1" hangingPunct="1">
              <a:lnSpc>
                <a:spcPct val="85000"/>
              </a:lnSpc>
              <a:defRPr/>
            </a:pPr>
            <a:r>
              <a:rPr lang="en-US" dirty="0"/>
              <a:t>Stress Management </a:t>
            </a:r>
            <a:r>
              <a:rPr lang="en-US" sz="2800" b="0" dirty="0"/>
              <a:t>(7 of 7)</a:t>
            </a:r>
          </a:p>
        </p:txBody>
      </p:sp>
      <p:sp>
        <p:nvSpPr>
          <p:cNvPr id="37890" name="Rectangle 3">
            <a:extLst>
              <a:ext uri="{FF2B5EF4-FFF2-40B4-BE49-F238E27FC236}">
                <a16:creationId xmlns:a16="http://schemas.microsoft.com/office/drawing/2014/main" id="{C781DAFC-9BE5-6F46-B453-05CAFB08C19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Reducing stress</a:t>
            </a:r>
          </a:p>
          <a:p>
            <a:pPr lvl="1" eaLnBrk="1" hangingPunct="1">
              <a:spcBef>
                <a:spcPct val="35000"/>
              </a:spcBef>
            </a:pPr>
            <a:r>
              <a:rPr lang="en-US" altLang="en-US" dirty="0"/>
              <a:t>You may benefit from the help of a mental health professional who is trained to listen in a nonjudgmental way.</a:t>
            </a:r>
          </a:p>
          <a:p>
            <a:pPr lvl="1" eaLnBrk="1" hangingPunct="1">
              <a:spcBef>
                <a:spcPct val="35000"/>
              </a:spcBef>
            </a:pPr>
            <a:r>
              <a:rPr lang="en-US" altLang="en-US" dirty="0"/>
              <a:t>Critical incident stress management (CISM) is a comprehensive stress available through some public safety departments.</a:t>
            </a:r>
          </a:p>
        </p:txBody>
      </p:sp>
    </p:spTree>
    <p:extLst>
      <p:ext uri="{BB962C8B-B14F-4D97-AF65-F5344CB8AC3E}">
        <p14:creationId xmlns:p14="http://schemas.microsoft.com/office/powerpoint/2010/main" val="1670067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a:extLst>
              <a:ext uri="{FF2B5EF4-FFF2-40B4-BE49-F238E27FC236}">
                <a16:creationId xmlns:a16="http://schemas.microsoft.com/office/drawing/2014/main" id="{60614DF5-2E43-8A44-A819-585A17AA6749}"/>
              </a:ext>
            </a:extLst>
          </p:cNvPr>
          <p:cNvSpPr>
            <a:spLocks noGrp="1" noChangeArrowheads="1"/>
          </p:cNvSpPr>
          <p:nvPr>
            <p:ph type="title"/>
          </p:nvPr>
        </p:nvSpPr>
        <p:spPr/>
        <p:txBody>
          <a:bodyPr/>
          <a:lstStyle/>
          <a:p>
            <a:pPr eaLnBrk="1" hangingPunct="1">
              <a:lnSpc>
                <a:spcPct val="85000"/>
              </a:lnSpc>
              <a:defRPr/>
            </a:pPr>
            <a:r>
              <a:rPr lang="en-US" dirty="0"/>
              <a:t>Crew Resource Management (CRM)</a:t>
            </a:r>
          </a:p>
        </p:txBody>
      </p:sp>
      <p:sp>
        <p:nvSpPr>
          <p:cNvPr id="39938" name="Rectangle 3">
            <a:extLst>
              <a:ext uri="{FF2B5EF4-FFF2-40B4-BE49-F238E27FC236}">
                <a16:creationId xmlns:a16="http://schemas.microsoft.com/office/drawing/2014/main" id="{91941364-E30A-5546-B08F-1B5C3F8E819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CRM is a way for team members to work together with leader to develop and maintain a shared understanding of emergency situation.</a:t>
            </a:r>
          </a:p>
          <a:p>
            <a:pPr eaLnBrk="1" hangingPunct="1">
              <a:spcBef>
                <a:spcPct val="35000"/>
              </a:spcBef>
            </a:pPr>
            <a:r>
              <a:rPr lang="en-US" altLang="en-US" dirty="0"/>
              <a:t>In the loud and often hectic environment of EMS, it is easy for errors to occur. When you believe there is an immediate or potential problem brought to team leader’s attention use PACE: </a:t>
            </a:r>
          </a:p>
          <a:p>
            <a:pPr lvl="1" eaLnBrk="1" hangingPunct="1">
              <a:spcBef>
                <a:spcPct val="35000"/>
              </a:spcBef>
            </a:pPr>
            <a:r>
              <a:rPr lang="en-US" altLang="en-US" dirty="0"/>
              <a:t>P – Probe</a:t>
            </a:r>
          </a:p>
          <a:p>
            <a:pPr lvl="1" eaLnBrk="1" hangingPunct="1">
              <a:spcBef>
                <a:spcPct val="35000"/>
              </a:spcBef>
            </a:pPr>
            <a:r>
              <a:rPr lang="en-US" altLang="en-US" dirty="0"/>
              <a:t>A – Alert</a:t>
            </a:r>
          </a:p>
          <a:p>
            <a:pPr lvl="1" eaLnBrk="1" hangingPunct="1">
              <a:spcBef>
                <a:spcPct val="35000"/>
              </a:spcBef>
            </a:pPr>
            <a:r>
              <a:rPr lang="en-US" altLang="en-US" dirty="0"/>
              <a:t>C - Challenge</a:t>
            </a:r>
          </a:p>
          <a:p>
            <a:pPr lvl="1" eaLnBrk="1" hangingPunct="1">
              <a:spcBef>
                <a:spcPct val="35000"/>
              </a:spcBef>
            </a:pPr>
            <a:r>
              <a:rPr lang="en-US" altLang="en-US" dirty="0"/>
              <a:t>E - Emergency</a:t>
            </a:r>
          </a:p>
        </p:txBody>
      </p:sp>
    </p:spTree>
    <p:extLst>
      <p:ext uri="{BB962C8B-B14F-4D97-AF65-F5344CB8AC3E}">
        <p14:creationId xmlns:p14="http://schemas.microsoft.com/office/powerpoint/2010/main" val="294565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a:extLst>
              <a:ext uri="{FF2B5EF4-FFF2-40B4-BE49-F238E27FC236}">
                <a16:creationId xmlns:a16="http://schemas.microsoft.com/office/drawing/2014/main" id="{60614DF5-2E43-8A44-A819-585A17AA6749}"/>
              </a:ext>
            </a:extLst>
          </p:cNvPr>
          <p:cNvSpPr>
            <a:spLocks noGrp="1" noChangeArrowheads="1"/>
          </p:cNvSpPr>
          <p:nvPr>
            <p:ph type="title"/>
          </p:nvPr>
        </p:nvSpPr>
        <p:spPr/>
        <p:txBody>
          <a:bodyPr/>
          <a:lstStyle/>
          <a:p>
            <a:pPr eaLnBrk="1" hangingPunct="1">
              <a:lnSpc>
                <a:spcPct val="85000"/>
              </a:lnSpc>
              <a:defRPr/>
            </a:pPr>
            <a:r>
              <a:rPr lang="en-US" dirty="0"/>
              <a:t>Workforce Safety</a:t>
            </a:r>
          </a:p>
        </p:txBody>
      </p:sp>
      <p:sp>
        <p:nvSpPr>
          <p:cNvPr id="39938" name="Rectangle 3">
            <a:extLst>
              <a:ext uri="{FF2B5EF4-FFF2-40B4-BE49-F238E27FC236}">
                <a16:creationId xmlns:a16="http://schemas.microsoft.com/office/drawing/2014/main" id="{91941364-E30A-5546-B08F-1B5C3F8E819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 will encounter a wide variety of hazards at emergency scenes.</a:t>
            </a:r>
          </a:p>
          <a:p>
            <a:pPr eaLnBrk="1" hangingPunct="1">
              <a:spcBef>
                <a:spcPct val="35000"/>
              </a:spcBef>
            </a:pPr>
            <a:r>
              <a:rPr lang="en-US" altLang="en-US" dirty="0"/>
              <a:t>It is important for you to:</a:t>
            </a:r>
          </a:p>
          <a:p>
            <a:pPr lvl="1" eaLnBrk="1" hangingPunct="1">
              <a:spcBef>
                <a:spcPct val="35000"/>
              </a:spcBef>
            </a:pPr>
            <a:r>
              <a:rPr lang="en-US" altLang="en-US" dirty="0"/>
              <a:t>Recognize these hazards.</a:t>
            </a:r>
          </a:p>
          <a:p>
            <a:pPr lvl="1" eaLnBrk="1" hangingPunct="1">
              <a:spcBef>
                <a:spcPct val="35000"/>
              </a:spcBef>
            </a:pPr>
            <a:r>
              <a:rPr lang="en-US" altLang="en-US" dirty="0"/>
              <a:t>Know which</a:t>
            </a:r>
            <a:r>
              <a:rPr lang="en-US" altLang="en-US" dirty="0">
                <a:solidFill>
                  <a:srgbClr val="FF0000"/>
                </a:solidFill>
              </a:rPr>
              <a:t> </a:t>
            </a:r>
            <a:r>
              <a:rPr lang="en-US" altLang="en-US" dirty="0"/>
              <a:t>steps to take to minimize the risk they pose to your patients, your partners, and yourself.</a:t>
            </a:r>
          </a:p>
          <a:p>
            <a:pPr lvl="1" eaLnBrk="1" hangingPunct="1">
              <a:spcBef>
                <a:spcPct val="35000"/>
              </a:spcBef>
            </a:pPr>
            <a:endParaRPr lang="en-US" altLang="en-US" dirty="0"/>
          </a:p>
          <a:p>
            <a:pPr marL="457200" lvl="1" indent="0" eaLnBrk="1" hangingPunct="1">
              <a:spcBef>
                <a:spcPct val="35000"/>
              </a:spcBef>
              <a:buNone/>
            </a:pPr>
            <a:endParaRPr lang="en-US" altLang="en-US" dirty="0"/>
          </a:p>
        </p:txBody>
      </p:sp>
    </p:spTree>
    <p:extLst>
      <p:ext uri="{BB962C8B-B14F-4D97-AF65-F5344CB8AC3E}">
        <p14:creationId xmlns:p14="http://schemas.microsoft.com/office/powerpoint/2010/main" val="3057200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a:extLst>
              <a:ext uri="{FF2B5EF4-FFF2-40B4-BE49-F238E27FC236}">
                <a16:creationId xmlns:a16="http://schemas.microsoft.com/office/drawing/2014/main" id="{F49E00E2-2432-3744-ABF6-9A3E0620C017}"/>
              </a:ext>
            </a:extLst>
          </p:cNvPr>
          <p:cNvSpPr>
            <a:spLocks noGrp="1" noChangeArrowheads="1"/>
          </p:cNvSpPr>
          <p:nvPr>
            <p:ph type="title"/>
          </p:nvPr>
        </p:nvSpPr>
        <p:spPr/>
        <p:txBody>
          <a:bodyPr/>
          <a:lstStyle/>
          <a:p>
            <a:pPr eaLnBrk="1" hangingPunct="1">
              <a:lnSpc>
                <a:spcPct val="85000"/>
              </a:lnSpc>
              <a:defRPr/>
            </a:pPr>
            <a:r>
              <a:rPr lang="en-US" dirty="0"/>
              <a:t>Infectious Diseases </a:t>
            </a:r>
            <a:endParaRPr lang="en-US" sz="2800" b="0" dirty="0"/>
          </a:p>
        </p:txBody>
      </p:sp>
      <p:sp>
        <p:nvSpPr>
          <p:cNvPr id="41986" name="Rectangle 3">
            <a:extLst>
              <a:ext uri="{FF2B5EF4-FFF2-40B4-BE49-F238E27FC236}">
                <a16:creationId xmlns:a16="http://schemas.microsoft.com/office/drawing/2014/main" id="{86302257-8D91-8746-B328-A0C140545504}"/>
              </a:ext>
            </a:extLst>
          </p:cNvPr>
          <p:cNvSpPr>
            <a:spLocks noGrp="1" noChangeArrowheads="1"/>
          </p:cNvSpPr>
          <p:nvPr>
            <p:ph type="body" idx="1"/>
          </p:nvPr>
        </p:nvSpPr>
        <p:spPr>
          <a:xfrm>
            <a:off x="867957" y="1282526"/>
            <a:ext cx="10287000" cy="5199297"/>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Infectious diseases – illnesses that are caused by germs</a:t>
            </a:r>
          </a:p>
          <a:p>
            <a:pPr lvl="1">
              <a:spcBef>
                <a:spcPct val="35000"/>
              </a:spcBef>
            </a:pPr>
            <a:r>
              <a:rPr lang="en-US" altLang="en-US" dirty="0"/>
              <a:t>Bacteria, viruses, or fungi that enter the body and multiply</a:t>
            </a:r>
          </a:p>
          <a:p>
            <a:pPr eaLnBrk="1" hangingPunct="1">
              <a:spcBef>
                <a:spcPct val="35000"/>
              </a:spcBef>
            </a:pPr>
            <a:r>
              <a:rPr lang="en-US" altLang="en-US" dirty="0"/>
              <a:t>They can spread from one person to another.</a:t>
            </a:r>
          </a:p>
          <a:p>
            <a:pPr lvl="1">
              <a:spcBef>
                <a:spcPct val="35000"/>
              </a:spcBef>
            </a:pPr>
            <a:r>
              <a:rPr lang="en-US" altLang="en-US" dirty="0"/>
              <a:t>Understand how they spread to protect yourself, patients, and other providers.</a:t>
            </a:r>
          </a:p>
          <a:p>
            <a:pPr lvl="1">
              <a:spcBef>
                <a:spcPct val="35000"/>
              </a:spcBef>
            </a:pPr>
            <a:r>
              <a:rPr lang="en-US" altLang="en-US" dirty="0"/>
              <a:t>Knowledge will also prevent you from becoming unduly alarmed.</a:t>
            </a:r>
          </a:p>
          <a:p>
            <a:pPr eaLnBrk="1" hangingPunct="1">
              <a:spcBef>
                <a:spcPct val="35000"/>
              </a:spcBef>
            </a:pPr>
            <a:r>
              <a:rPr lang="en-US" altLang="en-US" dirty="0"/>
              <a:t>Diseases of recent years include:</a:t>
            </a:r>
          </a:p>
          <a:p>
            <a:pPr lvl="1" eaLnBrk="1" hangingPunct="1">
              <a:spcBef>
                <a:spcPct val="35000"/>
              </a:spcBef>
            </a:pPr>
            <a:r>
              <a:rPr lang="en-US" altLang="en-US" dirty="0"/>
              <a:t>MRSA</a:t>
            </a:r>
          </a:p>
          <a:p>
            <a:pPr lvl="1" eaLnBrk="1" hangingPunct="1">
              <a:spcBef>
                <a:spcPct val="35000"/>
              </a:spcBef>
            </a:pPr>
            <a:r>
              <a:rPr lang="en-US" altLang="en-US" dirty="0"/>
              <a:t>COVID-19</a:t>
            </a:r>
          </a:p>
          <a:p>
            <a:pPr lvl="1" eaLnBrk="1" hangingPunct="1">
              <a:spcBef>
                <a:spcPct val="35000"/>
              </a:spcBef>
            </a:pPr>
            <a:r>
              <a:rPr lang="en-US" altLang="en-US" dirty="0"/>
              <a:t>MERS</a:t>
            </a:r>
          </a:p>
          <a:p>
            <a:pPr lvl="1" eaLnBrk="1" hangingPunct="1">
              <a:spcBef>
                <a:spcPct val="35000"/>
              </a:spcBef>
            </a:pPr>
            <a:r>
              <a:rPr lang="en-US" altLang="en-US" dirty="0"/>
              <a:t>H1N1</a:t>
            </a:r>
          </a:p>
          <a:p>
            <a:pPr lvl="1" eaLnBrk="1" hangingPunct="1">
              <a:spcBef>
                <a:spcPct val="35000"/>
              </a:spcBef>
            </a:pPr>
            <a:r>
              <a:rPr lang="en-US" altLang="en-US" dirty="0"/>
              <a:t>AIDS</a:t>
            </a:r>
          </a:p>
          <a:p>
            <a:pPr lvl="1" eaLnBrk="1" hangingPunct="1">
              <a:spcBef>
                <a:spcPct val="35000"/>
              </a:spcBef>
            </a:pPr>
            <a:r>
              <a:rPr lang="en-US" altLang="en-US" dirty="0"/>
              <a:t>Hepatitis and TB</a:t>
            </a:r>
          </a:p>
        </p:txBody>
      </p:sp>
    </p:spTree>
    <p:extLst>
      <p:ext uri="{BB962C8B-B14F-4D97-AF65-F5344CB8AC3E}">
        <p14:creationId xmlns:p14="http://schemas.microsoft.com/office/powerpoint/2010/main" val="422557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a:extLst>
              <a:ext uri="{FF2B5EF4-FFF2-40B4-BE49-F238E27FC236}">
                <a16:creationId xmlns:a16="http://schemas.microsoft.com/office/drawing/2014/main" id="{51BEA376-CE65-FA4E-84D6-BE9C53556847}"/>
              </a:ext>
            </a:extLst>
          </p:cNvPr>
          <p:cNvSpPr>
            <a:spLocks noGrp="1" noChangeArrowheads="1"/>
          </p:cNvSpPr>
          <p:nvPr>
            <p:ph type="title"/>
          </p:nvPr>
        </p:nvSpPr>
        <p:spPr/>
        <p:txBody>
          <a:bodyPr/>
          <a:lstStyle/>
          <a:p>
            <a:pPr eaLnBrk="1" hangingPunct="1">
              <a:lnSpc>
                <a:spcPct val="85000"/>
              </a:lnSpc>
              <a:defRPr/>
            </a:pPr>
            <a:r>
              <a:rPr lang="en-US" dirty="0"/>
              <a:t>Methods of Disease Transmission </a:t>
            </a:r>
            <a:r>
              <a:rPr lang="en-US" sz="2800" b="0" dirty="0"/>
              <a:t>(1 of 4)</a:t>
            </a:r>
          </a:p>
        </p:txBody>
      </p:sp>
      <p:sp>
        <p:nvSpPr>
          <p:cNvPr id="44034" name="Rectangle 3">
            <a:extLst>
              <a:ext uri="{FF2B5EF4-FFF2-40B4-BE49-F238E27FC236}">
                <a16:creationId xmlns:a16="http://schemas.microsoft.com/office/drawing/2014/main" id="{9DE5C028-F861-774E-9BA1-9ED9B6D50F0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The three most common routes of transmission are:</a:t>
            </a:r>
          </a:p>
          <a:p>
            <a:pPr lvl="1">
              <a:spcBef>
                <a:spcPct val="35000"/>
              </a:spcBef>
            </a:pPr>
            <a:r>
              <a:rPr lang="en-US" altLang="en-US" dirty="0"/>
              <a:t>Direct contact with infectious agents.</a:t>
            </a:r>
          </a:p>
          <a:p>
            <a:pPr lvl="1">
              <a:spcBef>
                <a:spcPct val="35000"/>
              </a:spcBef>
            </a:pPr>
            <a:r>
              <a:rPr lang="en-US" altLang="en-US" dirty="0"/>
              <a:t>Indirect contact with airborne droplets.</a:t>
            </a:r>
          </a:p>
          <a:p>
            <a:pPr lvl="1">
              <a:spcBef>
                <a:spcPct val="35000"/>
              </a:spcBef>
            </a:pPr>
            <a:r>
              <a:rPr lang="en-US" altLang="en-US" dirty="0"/>
              <a:t>Contact with infected blood.</a:t>
            </a:r>
          </a:p>
          <a:p>
            <a:pPr eaLnBrk="1" hangingPunct="1">
              <a:spcBef>
                <a:spcPct val="35000"/>
              </a:spcBef>
            </a:pPr>
            <a:r>
              <a:rPr lang="en-US" altLang="en-US" dirty="0"/>
              <a:t>Direct contact</a:t>
            </a:r>
          </a:p>
          <a:p>
            <a:pPr lvl="1" eaLnBrk="1" hangingPunct="1">
              <a:spcBef>
                <a:spcPct val="35000"/>
              </a:spcBef>
            </a:pPr>
            <a:r>
              <a:rPr lang="en-US" altLang="en-US" dirty="0"/>
              <a:t>MRSA infection is caused by a staph bacteria and spread by direct contact.</a:t>
            </a:r>
          </a:p>
          <a:p>
            <a:pPr lvl="1" eaLnBrk="1" hangingPunct="1">
              <a:spcBef>
                <a:spcPct val="35000"/>
              </a:spcBef>
            </a:pPr>
            <a:r>
              <a:rPr lang="en-US" altLang="en-US" dirty="0"/>
              <a:t>Most MRSA infections occur in health care settings such as hospitals, dialysis centers, and nursing homes.</a:t>
            </a:r>
          </a:p>
          <a:p>
            <a:pPr lvl="1" eaLnBrk="1" hangingPunct="1">
              <a:spcBef>
                <a:spcPct val="35000"/>
              </a:spcBef>
            </a:pPr>
            <a:r>
              <a:rPr lang="en-US" altLang="en-US" dirty="0"/>
              <a:t>They are more likely to appear in people with weakened immune systems.</a:t>
            </a:r>
          </a:p>
          <a:p>
            <a:pPr lvl="1" eaLnBrk="1" hangingPunct="1">
              <a:spcBef>
                <a:spcPct val="35000"/>
              </a:spcBef>
            </a:pPr>
            <a:r>
              <a:rPr lang="en-US" altLang="en-US" dirty="0"/>
              <a:t>In healthy people, MRSA may show up as a skin rash.</a:t>
            </a:r>
          </a:p>
          <a:p>
            <a:pPr lvl="1" eaLnBrk="1" hangingPunct="1">
              <a:spcBef>
                <a:spcPct val="35000"/>
              </a:spcBef>
            </a:pPr>
            <a:r>
              <a:rPr lang="en-US" altLang="en-US" dirty="0"/>
              <a:t>As an EMR, follow standard precautions to avoid contracting MRSA.</a:t>
            </a:r>
          </a:p>
        </p:txBody>
      </p:sp>
    </p:spTree>
    <p:extLst>
      <p:ext uri="{BB962C8B-B14F-4D97-AF65-F5344CB8AC3E}">
        <p14:creationId xmlns:p14="http://schemas.microsoft.com/office/powerpoint/2010/main" val="776586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a:extLst>
              <a:ext uri="{FF2B5EF4-FFF2-40B4-BE49-F238E27FC236}">
                <a16:creationId xmlns:a16="http://schemas.microsoft.com/office/drawing/2014/main" id="{5560DE18-DCD2-9341-BC04-E397FCE56C61}"/>
              </a:ext>
            </a:extLst>
          </p:cNvPr>
          <p:cNvSpPr>
            <a:spLocks noGrp="1" noChangeArrowheads="1"/>
          </p:cNvSpPr>
          <p:nvPr>
            <p:ph type="title"/>
          </p:nvPr>
        </p:nvSpPr>
        <p:spPr/>
        <p:txBody>
          <a:bodyPr/>
          <a:lstStyle/>
          <a:p>
            <a:pPr eaLnBrk="1" hangingPunct="1">
              <a:lnSpc>
                <a:spcPct val="85000"/>
              </a:lnSpc>
              <a:defRPr/>
            </a:pPr>
            <a:r>
              <a:rPr lang="en-US" dirty="0"/>
              <a:t>Methods of Disease Transmission </a:t>
            </a:r>
            <a:r>
              <a:rPr lang="en-US" sz="2800" b="0" dirty="0"/>
              <a:t>(2 of 4)</a:t>
            </a:r>
          </a:p>
        </p:txBody>
      </p:sp>
      <p:sp>
        <p:nvSpPr>
          <p:cNvPr id="46082" name="Rectangle 3">
            <a:extLst>
              <a:ext uri="{FF2B5EF4-FFF2-40B4-BE49-F238E27FC236}">
                <a16:creationId xmlns:a16="http://schemas.microsoft.com/office/drawing/2014/main" id="{0AB824B5-6CC3-F444-931D-FB37BF9C728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Airborne pathogens</a:t>
            </a:r>
          </a:p>
          <a:p>
            <a:pPr lvl="1" eaLnBrk="1" hangingPunct="1">
              <a:spcBef>
                <a:spcPct val="35000"/>
              </a:spcBef>
            </a:pPr>
            <a:r>
              <a:rPr lang="en-US" altLang="en-US" dirty="0"/>
              <a:t>Infectious diseases that are spread through indirect contact with airborne droplets include seasonal influenza, COVID-19, TB, and severe acute respiratory syndrome (SARS).</a:t>
            </a:r>
          </a:p>
          <a:p>
            <a:pPr lvl="1" eaLnBrk="1" hangingPunct="1">
              <a:spcBef>
                <a:spcPct val="35000"/>
              </a:spcBef>
            </a:pPr>
            <a:r>
              <a:rPr lang="en-US" altLang="en-US" dirty="0"/>
              <a:t>Spread through tiny droplets from respiratory system when person coughs or sneezes.</a:t>
            </a:r>
          </a:p>
          <a:p>
            <a:pPr lvl="2">
              <a:spcBef>
                <a:spcPct val="35000"/>
              </a:spcBef>
            </a:pPr>
            <a:r>
              <a:rPr lang="en-US" altLang="en-US" dirty="0"/>
              <a:t>Also transmitted by indirect contact by touching a surface with virus on it.</a:t>
            </a:r>
          </a:p>
          <a:p>
            <a:pPr lvl="1" eaLnBrk="1" hangingPunct="1">
              <a:spcBef>
                <a:spcPct val="35000"/>
              </a:spcBef>
            </a:pPr>
            <a:r>
              <a:rPr lang="en-US" altLang="en-US" dirty="0"/>
              <a:t>The EMR should wear a HEPA or N-95 mask.</a:t>
            </a:r>
          </a:p>
          <a:p>
            <a:pPr lvl="1" eaLnBrk="1" hangingPunct="1">
              <a:spcBef>
                <a:spcPct val="35000"/>
              </a:spcBef>
            </a:pPr>
            <a:r>
              <a:rPr lang="en-US" altLang="en-US" dirty="0"/>
              <a:t>Review the procedure for donning and doffing N-95 mask.</a:t>
            </a:r>
          </a:p>
          <a:p>
            <a:pPr lvl="1" eaLnBrk="1" hangingPunct="1">
              <a:spcBef>
                <a:spcPct val="35000"/>
              </a:spcBef>
            </a:pPr>
            <a:r>
              <a:rPr lang="en-US" altLang="en-US" dirty="0"/>
              <a:t>Review most up to date info on COVID-19 from CDC.</a:t>
            </a:r>
          </a:p>
        </p:txBody>
      </p:sp>
    </p:spTree>
    <p:extLst>
      <p:ext uri="{BB962C8B-B14F-4D97-AF65-F5344CB8AC3E}">
        <p14:creationId xmlns:p14="http://schemas.microsoft.com/office/powerpoint/2010/main" val="379682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a:extLst>
              <a:ext uri="{FF2B5EF4-FFF2-40B4-BE49-F238E27FC236}">
                <a16:creationId xmlns:a16="http://schemas.microsoft.com/office/drawing/2014/main" id="{6DC60DAE-30B1-2F4A-91D1-BD5579E3A087}"/>
              </a:ext>
            </a:extLst>
          </p:cNvPr>
          <p:cNvSpPr>
            <a:spLocks noGrp="1" noChangeArrowheads="1"/>
          </p:cNvSpPr>
          <p:nvPr>
            <p:ph type="title"/>
          </p:nvPr>
        </p:nvSpPr>
        <p:spPr/>
        <p:txBody>
          <a:bodyPr/>
          <a:lstStyle/>
          <a:p>
            <a:pPr eaLnBrk="1" hangingPunct="1">
              <a:lnSpc>
                <a:spcPct val="85000"/>
              </a:lnSpc>
              <a:defRPr/>
            </a:pPr>
            <a:r>
              <a:rPr lang="en-US" dirty="0"/>
              <a:t>Methods of Disease Transmission </a:t>
            </a:r>
            <a:r>
              <a:rPr lang="en-US" sz="2800" b="0" dirty="0"/>
              <a:t>(3 of 4)</a:t>
            </a:r>
          </a:p>
        </p:txBody>
      </p:sp>
      <p:sp>
        <p:nvSpPr>
          <p:cNvPr id="48130" name="Rectangle 3">
            <a:extLst>
              <a:ext uri="{FF2B5EF4-FFF2-40B4-BE49-F238E27FC236}">
                <a16:creationId xmlns:a16="http://schemas.microsoft.com/office/drawing/2014/main" id="{8CEC6C52-1B88-1E4A-95F7-34804112A198}"/>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Bloodborne pathogens</a:t>
            </a:r>
          </a:p>
          <a:p>
            <a:pPr lvl="1" eaLnBrk="1" hangingPunct="1">
              <a:spcBef>
                <a:spcPct val="35000"/>
              </a:spcBef>
            </a:pPr>
            <a:r>
              <a:rPr lang="en-GB" altLang="en-US" dirty="0"/>
              <a:t>Infectious microorganisms in the blood – viruses can cause AIDS, hepatitis B and C </a:t>
            </a:r>
            <a:endParaRPr lang="en-US" altLang="en-US" i="1" dirty="0"/>
          </a:p>
          <a:p>
            <a:pPr lvl="1" eaLnBrk="1" hangingPunct="1">
              <a:spcBef>
                <a:spcPct val="35000"/>
              </a:spcBef>
            </a:pPr>
            <a:r>
              <a:rPr lang="en-US" altLang="en-US" dirty="0"/>
              <a:t>HIV is transmitted by contact with infected blood. </a:t>
            </a:r>
          </a:p>
          <a:p>
            <a:pPr lvl="1" eaLnBrk="1" hangingPunct="1">
              <a:spcBef>
                <a:spcPct val="35000"/>
              </a:spcBef>
            </a:pPr>
            <a:r>
              <a:rPr lang="en-US" altLang="en-US" dirty="0"/>
              <a:t>No evidence of transmission by contact with other body fluids (unless visible blood). </a:t>
            </a:r>
          </a:p>
          <a:p>
            <a:pPr lvl="1" eaLnBrk="1" hangingPunct="1">
              <a:spcBef>
                <a:spcPct val="35000"/>
              </a:spcBef>
            </a:pPr>
            <a:r>
              <a:rPr lang="en-US" altLang="en-US" dirty="0"/>
              <a:t>Exposure can take place by:</a:t>
            </a:r>
          </a:p>
          <a:p>
            <a:pPr lvl="2">
              <a:spcBef>
                <a:spcPct val="35000"/>
              </a:spcBef>
            </a:pPr>
            <a:r>
              <a:rPr lang="en-US" altLang="en-US" dirty="0"/>
              <a:t>Blood splashed/sprayed into your eyes, nose, mouth or open sore/cut.</a:t>
            </a:r>
          </a:p>
          <a:p>
            <a:pPr lvl="2">
              <a:spcBef>
                <a:spcPct val="35000"/>
              </a:spcBef>
            </a:pPr>
            <a:r>
              <a:rPr lang="en-US" altLang="en-US" dirty="0"/>
              <a:t>You have blood from patient on your hands and then touch your eyes, nose, mouth, or broken skin.</a:t>
            </a:r>
          </a:p>
          <a:p>
            <a:pPr lvl="2">
              <a:spcBef>
                <a:spcPct val="35000"/>
              </a:spcBef>
            </a:pPr>
            <a:r>
              <a:rPr lang="en-US" altLang="en-US" dirty="0"/>
              <a:t>A needle that was used to inject the patient breaks your skin.</a:t>
            </a:r>
          </a:p>
          <a:p>
            <a:pPr lvl="2">
              <a:spcBef>
                <a:spcPct val="35000"/>
              </a:spcBef>
            </a:pPr>
            <a:r>
              <a:rPr lang="en-US" altLang="en-US" dirty="0"/>
              <a:t>Broken glass at an incident covered with infected patient blood penetrates your glove and skin.</a:t>
            </a:r>
          </a:p>
        </p:txBody>
      </p:sp>
    </p:spTree>
    <p:extLst>
      <p:ext uri="{BB962C8B-B14F-4D97-AF65-F5344CB8AC3E}">
        <p14:creationId xmlns:p14="http://schemas.microsoft.com/office/powerpoint/2010/main" val="204819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a:extLst>
              <a:ext uri="{FF2B5EF4-FFF2-40B4-BE49-F238E27FC236}">
                <a16:creationId xmlns:a16="http://schemas.microsoft.com/office/drawing/2014/main" id="{6DC60DAE-30B1-2F4A-91D1-BD5579E3A087}"/>
              </a:ext>
            </a:extLst>
          </p:cNvPr>
          <p:cNvSpPr>
            <a:spLocks noGrp="1" noChangeArrowheads="1"/>
          </p:cNvSpPr>
          <p:nvPr>
            <p:ph type="title"/>
          </p:nvPr>
        </p:nvSpPr>
        <p:spPr/>
        <p:txBody>
          <a:bodyPr/>
          <a:lstStyle/>
          <a:p>
            <a:pPr eaLnBrk="1" hangingPunct="1">
              <a:lnSpc>
                <a:spcPct val="85000"/>
              </a:lnSpc>
              <a:defRPr/>
            </a:pPr>
            <a:r>
              <a:rPr lang="en-US" dirty="0"/>
              <a:t>Methods of Disease Transmission </a:t>
            </a:r>
            <a:r>
              <a:rPr lang="en-US" sz="2800" b="0" dirty="0"/>
              <a:t>(4 of 4)</a:t>
            </a:r>
          </a:p>
        </p:txBody>
      </p:sp>
      <p:sp>
        <p:nvSpPr>
          <p:cNvPr id="48130" name="Rectangle 3">
            <a:extLst>
              <a:ext uri="{FF2B5EF4-FFF2-40B4-BE49-F238E27FC236}">
                <a16:creationId xmlns:a16="http://schemas.microsoft.com/office/drawing/2014/main" id="{8CEC6C52-1B88-1E4A-95F7-34804112A198}"/>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Bloodborne pathogens (continued)</a:t>
            </a:r>
          </a:p>
          <a:p>
            <a:pPr lvl="1" eaLnBrk="1" hangingPunct="1">
              <a:spcBef>
                <a:spcPct val="35000"/>
              </a:spcBef>
            </a:pPr>
            <a:r>
              <a:rPr lang="en-GB" altLang="en-US" dirty="0"/>
              <a:t>Some HIV patients do not know they are infected.</a:t>
            </a:r>
          </a:p>
          <a:p>
            <a:pPr lvl="2">
              <a:spcBef>
                <a:spcPct val="35000"/>
              </a:spcBef>
            </a:pPr>
            <a:r>
              <a:rPr lang="en-GB" altLang="en-US" dirty="0"/>
              <a:t>They may not show symptoms, so EMR should always wear gloves! </a:t>
            </a:r>
            <a:endParaRPr lang="en-US" altLang="en-US" i="1" dirty="0"/>
          </a:p>
          <a:p>
            <a:pPr lvl="1" eaLnBrk="1" hangingPunct="1">
              <a:spcBef>
                <a:spcPct val="35000"/>
              </a:spcBef>
            </a:pPr>
            <a:r>
              <a:rPr lang="en-US" altLang="en-US" dirty="0"/>
              <a:t>Hepatitis B is spread by bloodborne contact and far more contagious than HIV. </a:t>
            </a:r>
          </a:p>
          <a:p>
            <a:pPr lvl="2">
              <a:spcBef>
                <a:spcPct val="35000"/>
              </a:spcBef>
            </a:pPr>
            <a:r>
              <a:rPr lang="en-US" altLang="en-US" dirty="0"/>
              <a:t>Check with your medical director about the vaccine for hepatitis B if you do not yet have it.</a:t>
            </a:r>
          </a:p>
          <a:p>
            <a:pPr lvl="1" eaLnBrk="1" hangingPunct="1">
              <a:spcBef>
                <a:spcPct val="35000"/>
              </a:spcBef>
            </a:pPr>
            <a:r>
              <a:rPr lang="en-US" altLang="en-US" dirty="0"/>
              <a:t>Meningitis and syphilis are both spread by contact with contaminated blood.</a:t>
            </a:r>
          </a:p>
        </p:txBody>
      </p:sp>
    </p:spTree>
    <p:extLst>
      <p:ext uri="{BB962C8B-B14F-4D97-AF65-F5344CB8AC3E}">
        <p14:creationId xmlns:p14="http://schemas.microsoft.com/office/powerpoint/2010/main" val="2645378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a:extLst>
              <a:ext uri="{FF2B5EF4-FFF2-40B4-BE49-F238E27FC236}">
                <a16:creationId xmlns:a16="http://schemas.microsoft.com/office/drawing/2014/main" id="{3EC5B994-79FC-BA4F-9068-8358AE223282}"/>
              </a:ext>
            </a:extLst>
          </p:cNvPr>
          <p:cNvSpPr>
            <a:spLocks noGrp="1" noChangeArrowheads="1"/>
          </p:cNvSpPr>
          <p:nvPr>
            <p:ph type="title"/>
          </p:nvPr>
        </p:nvSpPr>
        <p:spPr/>
        <p:txBody>
          <a:bodyPr/>
          <a:lstStyle/>
          <a:p>
            <a:pPr eaLnBrk="1" hangingPunct="1">
              <a:lnSpc>
                <a:spcPct val="85000"/>
              </a:lnSpc>
              <a:defRPr/>
            </a:pPr>
            <a:r>
              <a:rPr lang="en-US" dirty="0"/>
              <a:t>Standard Precautions </a:t>
            </a:r>
            <a:r>
              <a:rPr lang="en-US" sz="2800" b="0" dirty="0"/>
              <a:t>(1 of 2)</a:t>
            </a:r>
          </a:p>
        </p:txBody>
      </p:sp>
      <p:sp>
        <p:nvSpPr>
          <p:cNvPr id="50178" name="Rectangle 3">
            <a:extLst>
              <a:ext uri="{FF2B5EF4-FFF2-40B4-BE49-F238E27FC236}">
                <a16:creationId xmlns:a16="http://schemas.microsoft.com/office/drawing/2014/main" id="{A9B2B22A-6826-2F44-AC35-1A4A818BE01C}"/>
              </a:ext>
            </a:extLst>
          </p:cNvPr>
          <p:cNvSpPr>
            <a:spLocks noGrp="1" noChangeArrowheads="1"/>
          </p:cNvSpPr>
          <p:nvPr>
            <p:ph type="body" idx="1"/>
          </p:nvPr>
        </p:nvSpPr>
        <p:spPr>
          <a:xfrm>
            <a:off x="485992" y="1432997"/>
            <a:ext cx="7882504" cy="5152998"/>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Federal regulations require all health care workers assume all patients are potentially infected with pathogens – spread by direct contact, airborne transmission or blood.</a:t>
            </a:r>
          </a:p>
          <a:p>
            <a:pPr eaLnBrk="1" hangingPunct="1">
              <a:spcBef>
                <a:spcPct val="35000"/>
              </a:spcBef>
            </a:pPr>
            <a:r>
              <a:rPr lang="en-US" altLang="en-US" dirty="0"/>
              <a:t>Standard precautions for bloodborne pathogens</a:t>
            </a:r>
          </a:p>
          <a:p>
            <a:pPr lvl="1" eaLnBrk="1" hangingPunct="1">
              <a:spcBef>
                <a:spcPct val="35000"/>
              </a:spcBef>
            </a:pPr>
            <a:r>
              <a:rPr lang="en-US" altLang="en-US" dirty="0"/>
              <a:t>Always wear latex/nitrile gloves when handling patients. Change after contact with each patient. Wash hands immediately after removing gloves.</a:t>
            </a:r>
          </a:p>
          <a:p>
            <a:pPr lvl="1" eaLnBrk="1" hangingPunct="1">
              <a:spcBef>
                <a:spcPct val="35000"/>
              </a:spcBef>
            </a:pPr>
            <a:r>
              <a:rPr lang="en-US" altLang="en-US" dirty="0"/>
              <a:t>Always wear protective mask, eyewear, or a face shield when you anticipate blood or body fluid splatter.</a:t>
            </a:r>
          </a:p>
          <a:p>
            <a:pPr lvl="1" eaLnBrk="1" hangingPunct="1">
              <a:spcBef>
                <a:spcPct val="35000"/>
              </a:spcBef>
            </a:pPr>
            <a:r>
              <a:rPr lang="en-US" altLang="en-US" dirty="0"/>
              <a:t>Wash hands and other skin surfaces immediately and thoroughly with soap/water if contaminated with blood or other body fluids.</a:t>
            </a:r>
          </a:p>
          <a:p>
            <a:pPr lvl="1" eaLnBrk="1" hangingPunct="1">
              <a:spcBef>
                <a:spcPct val="35000"/>
              </a:spcBef>
            </a:pPr>
            <a:r>
              <a:rPr lang="en-US" altLang="en-US" dirty="0"/>
              <a:t>Do not recap, cut, or bend used needles. Place them in a sharps container.</a:t>
            </a:r>
          </a:p>
        </p:txBody>
      </p:sp>
      <p:sp>
        <p:nvSpPr>
          <p:cNvPr id="7" name="Rectangle 6"/>
          <p:cNvSpPr/>
          <p:nvPr/>
        </p:nvSpPr>
        <p:spPr>
          <a:xfrm>
            <a:off x="8548792" y="4657513"/>
            <a:ext cx="3211408" cy="1200329"/>
          </a:xfrm>
          <a:prstGeom prst="rect">
            <a:avLst/>
          </a:prstGeom>
        </p:spPr>
        <p:txBody>
          <a:bodyPr wrap="square">
            <a:spAutoFit/>
          </a:bodyPr>
          <a:lstStyle/>
          <a:p>
            <a:r>
              <a:rPr lang="en-US" b="1" cap="all" dirty="0"/>
              <a:t>Figure</a:t>
            </a:r>
            <a:r>
              <a:rPr lang="en-US" b="1" dirty="0"/>
              <a:t> 2-11 </a:t>
            </a:r>
            <a:r>
              <a:rPr lang="en-US" dirty="0"/>
              <a:t>Wash your hands thoroughly with soap and water if you are contaminated with blood or other body fluids.  </a:t>
            </a:r>
          </a:p>
        </p:txBody>
      </p:sp>
      <p:sp>
        <p:nvSpPr>
          <p:cNvPr id="8" name="Rectangle 7"/>
          <p:cNvSpPr/>
          <p:nvPr/>
        </p:nvSpPr>
        <p:spPr>
          <a:xfrm>
            <a:off x="8536092" y="5885639"/>
            <a:ext cx="2905060" cy="246221"/>
          </a:xfrm>
          <a:prstGeom prst="rect">
            <a:avLst/>
          </a:prstGeom>
        </p:spPr>
        <p:txBody>
          <a:bodyPr wrap="square">
            <a:spAutoFit/>
          </a:bodyPr>
          <a:lstStyle/>
          <a:p>
            <a:r>
              <a:rPr lang="en-US" sz="1000" dirty="0"/>
              <a:t>© Jones &amp; Bartlett Learning. Courtesy of MIEMSS. </a:t>
            </a:r>
          </a:p>
        </p:txBody>
      </p:sp>
      <p:pic>
        <p:nvPicPr>
          <p:cNvPr id="5122" name="Picture 2" descr="A photo shows a person washing his hands under running water from a tap in a wash basin.&#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6376" y="2699783"/>
            <a:ext cx="2895600" cy="1957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971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a:extLst>
              <a:ext uri="{FF2B5EF4-FFF2-40B4-BE49-F238E27FC236}">
                <a16:creationId xmlns:a16="http://schemas.microsoft.com/office/drawing/2014/main" id="{6799E2E5-5108-D645-ABAD-341E2F75C0C8}"/>
              </a:ext>
            </a:extLst>
          </p:cNvPr>
          <p:cNvSpPr>
            <a:spLocks noGrp="1" noChangeArrowheads="1"/>
          </p:cNvSpPr>
          <p:nvPr>
            <p:ph type="title"/>
          </p:nvPr>
        </p:nvSpPr>
        <p:spPr/>
        <p:txBody>
          <a:bodyPr/>
          <a:lstStyle/>
          <a:p>
            <a:pPr eaLnBrk="1" hangingPunct="1">
              <a:lnSpc>
                <a:spcPct val="85000"/>
              </a:lnSpc>
              <a:defRPr/>
            </a:pPr>
            <a:r>
              <a:rPr lang="en-US" dirty="0"/>
              <a:t>Standard Precautions </a:t>
            </a:r>
            <a:r>
              <a:rPr lang="en-US" sz="2800" b="0" dirty="0"/>
              <a:t>(2 of 2)</a:t>
            </a:r>
          </a:p>
        </p:txBody>
      </p:sp>
      <p:sp>
        <p:nvSpPr>
          <p:cNvPr id="52226" name="Rectangle 3">
            <a:extLst>
              <a:ext uri="{FF2B5EF4-FFF2-40B4-BE49-F238E27FC236}">
                <a16:creationId xmlns:a16="http://schemas.microsoft.com/office/drawing/2014/main" id="{E3FE330E-D5CF-904B-B3A0-05E505125CA8}"/>
              </a:ext>
            </a:extLst>
          </p:cNvPr>
          <p:cNvSpPr>
            <a:spLocks noGrp="1" noChangeArrowheads="1"/>
          </p:cNvSpPr>
          <p:nvPr>
            <p:ph type="body" idx="1"/>
          </p:nvPr>
        </p:nvSpPr>
        <p:spPr>
          <a:xfrm>
            <a:off x="578734" y="1297327"/>
            <a:ext cx="11111695" cy="5219219"/>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Standard precautions for airborne pathogens </a:t>
            </a:r>
          </a:p>
          <a:p>
            <a:pPr lvl="1" eaLnBrk="1" hangingPunct="1">
              <a:spcBef>
                <a:spcPct val="35000"/>
              </a:spcBef>
            </a:pPr>
            <a:r>
              <a:rPr lang="en-US" altLang="en-US" dirty="0"/>
              <a:t>Steps recommended by CDC and OSHA vary with specific disease outbreaks.</a:t>
            </a:r>
          </a:p>
          <a:p>
            <a:pPr>
              <a:defRPr/>
            </a:pPr>
            <a:r>
              <a:rPr lang="en-US" altLang="en-US" dirty="0">
                <a:latin typeface="Calibri" pitchFamily="34" charset="0"/>
              </a:rPr>
              <a:t>Specific precautions to prevent spread of influenza or COVID-19 include:</a:t>
            </a:r>
          </a:p>
          <a:p>
            <a:pPr lvl="1">
              <a:defRPr/>
            </a:pPr>
            <a:r>
              <a:rPr lang="en-US" altLang="en-US" dirty="0">
                <a:latin typeface="Calibri" pitchFamily="34" charset="0"/>
              </a:rPr>
              <a:t>Be aware of any community-based outbreaks that require droplet precautions.</a:t>
            </a:r>
          </a:p>
          <a:p>
            <a:pPr lvl="1">
              <a:defRPr/>
            </a:pPr>
            <a:r>
              <a:rPr lang="en-US" altLang="en-US" dirty="0">
                <a:latin typeface="Calibri" pitchFamily="34" charset="0"/>
              </a:rPr>
              <a:t>Assess patient upon arrival from a distance of at least 6 feet, if possible.</a:t>
            </a:r>
          </a:p>
          <a:p>
            <a:pPr lvl="1">
              <a:defRPr/>
            </a:pPr>
            <a:r>
              <a:rPr lang="en-US" altLang="en-US" dirty="0">
                <a:latin typeface="Calibri" pitchFamily="34" charset="0"/>
              </a:rPr>
              <a:t>Inquire about influenza, COVID-19, or other specific exposures.</a:t>
            </a:r>
          </a:p>
          <a:p>
            <a:pPr lvl="1">
              <a:defRPr/>
            </a:pPr>
            <a:r>
              <a:rPr lang="en-US" altLang="en-US" dirty="0">
                <a:latin typeface="Calibri" pitchFamily="34" charset="0"/>
              </a:rPr>
              <a:t>Perform hand hygiene before and after patient care activities.</a:t>
            </a:r>
          </a:p>
          <a:p>
            <a:pPr lvl="1">
              <a:defRPr/>
            </a:pPr>
            <a:r>
              <a:rPr lang="en-US" altLang="en-US" dirty="0">
                <a:latin typeface="Calibri" pitchFamily="34" charset="0"/>
              </a:rPr>
              <a:t>A disposable surgical mask should be placed on the patient if the person shows signs of respiratory illness such as coughing, sneezing, or a fever.</a:t>
            </a:r>
          </a:p>
          <a:p>
            <a:pPr lvl="1">
              <a:defRPr/>
            </a:pPr>
            <a:r>
              <a:rPr lang="en-US" altLang="en-US" dirty="0">
                <a:latin typeface="Calibri" pitchFamily="34" charset="0"/>
              </a:rPr>
              <a:t>Health care providers may need to don an N-95 mask to protect from exposure to infected droplets.</a:t>
            </a:r>
          </a:p>
          <a:p>
            <a:pPr lvl="1">
              <a:defRPr/>
            </a:pPr>
            <a:r>
              <a:rPr lang="en-US" altLang="en-US" dirty="0">
                <a:latin typeface="Calibri" pitchFamily="34" charset="0"/>
              </a:rPr>
              <a:t>For eye protection, use cleanable goggles or disposable face shield to protect eyes, nose, and mouth during procedures that are likely to generate splashes or sprays of blood or body secretions. </a:t>
            </a:r>
          </a:p>
          <a:p>
            <a:pPr lvl="1" eaLnBrk="1" hangingPunct="1">
              <a:spcBef>
                <a:spcPct val="35000"/>
              </a:spcBef>
            </a:pPr>
            <a:endParaRPr lang="en-US" altLang="en-US" dirty="0"/>
          </a:p>
        </p:txBody>
      </p:sp>
    </p:spTree>
    <p:extLst>
      <p:ext uri="{BB962C8B-B14F-4D97-AF65-F5344CB8AC3E}">
        <p14:creationId xmlns:p14="http://schemas.microsoft.com/office/powerpoint/2010/main" val="1946270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a:extLst>
              <a:ext uri="{FF2B5EF4-FFF2-40B4-BE49-F238E27FC236}">
                <a16:creationId xmlns:a16="http://schemas.microsoft.com/office/drawing/2014/main" id="{8C20C48E-E8A8-B84A-B148-F728A51C9EEF}"/>
              </a:ext>
            </a:extLst>
          </p:cNvPr>
          <p:cNvSpPr>
            <a:spLocks noGrp="1" noChangeArrowheads="1"/>
          </p:cNvSpPr>
          <p:nvPr>
            <p:ph type="title"/>
          </p:nvPr>
        </p:nvSpPr>
        <p:spPr/>
        <p:txBody>
          <a:bodyPr/>
          <a:lstStyle/>
          <a:p>
            <a:pPr eaLnBrk="1" hangingPunct="1">
              <a:lnSpc>
                <a:spcPct val="85000"/>
              </a:lnSpc>
              <a:defRPr/>
            </a:pPr>
            <a:r>
              <a:rPr lang="en-US" dirty="0"/>
              <a:t>Personal Protective Equipment (PPE) </a:t>
            </a:r>
            <a:r>
              <a:rPr lang="en-US" sz="2800" b="0" dirty="0"/>
              <a:t>(1 of 2)</a:t>
            </a:r>
          </a:p>
        </p:txBody>
      </p:sp>
      <p:sp>
        <p:nvSpPr>
          <p:cNvPr id="54274" name="Rectangle 3">
            <a:extLst>
              <a:ext uri="{FF2B5EF4-FFF2-40B4-BE49-F238E27FC236}">
                <a16:creationId xmlns:a16="http://schemas.microsoft.com/office/drawing/2014/main" id="{7BF01F71-45A5-5E48-8FD8-525BB65DB5F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Review the proper procedure in donning and doffing PPE.</a:t>
            </a:r>
          </a:p>
          <a:p>
            <a:pPr lvl="1" eaLnBrk="1" hangingPunct="1">
              <a:spcBef>
                <a:spcPct val="35000"/>
              </a:spcBef>
            </a:pPr>
            <a:r>
              <a:rPr lang="en-US" altLang="en-US" dirty="0"/>
              <a:t>See </a:t>
            </a:r>
            <a:r>
              <a:rPr lang="en-US" altLang="en-US" b="1" dirty="0"/>
              <a:t>Skill Drill 2-1 </a:t>
            </a:r>
            <a:r>
              <a:rPr lang="en-US" altLang="en-US" dirty="0"/>
              <a:t>for gloves.</a:t>
            </a:r>
          </a:p>
          <a:p>
            <a:pPr eaLnBrk="1" hangingPunct="1">
              <a:spcBef>
                <a:spcPct val="35000"/>
              </a:spcBef>
            </a:pPr>
            <a:r>
              <a:rPr lang="en-US" altLang="en-US" dirty="0"/>
              <a:t>To don infectious disease PPE, follow these steps:</a:t>
            </a:r>
          </a:p>
          <a:p>
            <a:pPr lvl="1" eaLnBrk="1" hangingPunct="1">
              <a:spcBef>
                <a:spcPct val="35000"/>
              </a:spcBef>
            </a:pPr>
            <a:r>
              <a:rPr lang="en-US" altLang="en-US" dirty="0"/>
              <a:t>Select gloves, mask, and eye protection to ensure that they are not torn or ripped and that they are the correct size.</a:t>
            </a:r>
          </a:p>
          <a:p>
            <a:pPr lvl="1" eaLnBrk="1" hangingPunct="1">
              <a:spcBef>
                <a:spcPct val="35000"/>
              </a:spcBef>
            </a:pPr>
            <a:r>
              <a:rPr lang="en-US" altLang="en-US" dirty="0"/>
              <a:t>Put on gloves.</a:t>
            </a:r>
          </a:p>
          <a:p>
            <a:pPr lvl="1" eaLnBrk="1" hangingPunct="1">
              <a:spcBef>
                <a:spcPct val="35000"/>
              </a:spcBef>
            </a:pPr>
            <a:r>
              <a:rPr lang="en-US" altLang="en-US" dirty="0"/>
              <a:t>Put on mask.</a:t>
            </a:r>
          </a:p>
          <a:p>
            <a:pPr lvl="1" eaLnBrk="1" hangingPunct="1">
              <a:spcBef>
                <a:spcPct val="35000"/>
              </a:spcBef>
            </a:pPr>
            <a:r>
              <a:rPr lang="en-US" altLang="en-US" dirty="0"/>
              <a:t>Put on eye protection.</a:t>
            </a:r>
          </a:p>
          <a:p>
            <a:pPr marL="457200" lvl="1" indent="0" eaLnBrk="1" hangingPunct="1">
              <a:spcBef>
                <a:spcPct val="35000"/>
              </a:spcBef>
              <a:buNone/>
            </a:pPr>
            <a:endParaRPr lang="en-US" altLang="en-US" dirty="0"/>
          </a:p>
        </p:txBody>
      </p:sp>
    </p:spTree>
    <p:extLst>
      <p:ext uri="{BB962C8B-B14F-4D97-AF65-F5344CB8AC3E}">
        <p14:creationId xmlns:p14="http://schemas.microsoft.com/office/powerpoint/2010/main" val="1132855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a:extLst>
              <a:ext uri="{FF2B5EF4-FFF2-40B4-BE49-F238E27FC236}">
                <a16:creationId xmlns:a16="http://schemas.microsoft.com/office/drawing/2014/main" id="{8C20C48E-E8A8-B84A-B148-F728A51C9EEF}"/>
              </a:ext>
            </a:extLst>
          </p:cNvPr>
          <p:cNvSpPr>
            <a:spLocks noGrp="1" noChangeArrowheads="1"/>
          </p:cNvSpPr>
          <p:nvPr>
            <p:ph type="title"/>
          </p:nvPr>
        </p:nvSpPr>
        <p:spPr/>
        <p:txBody>
          <a:bodyPr/>
          <a:lstStyle/>
          <a:p>
            <a:pPr eaLnBrk="1" hangingPunct="1">
              <a:lnSpc>
                <a:spcPct val="85000"/>
              </a:lnSpc>
              <a:defRPr/>
            </a:pPr>
            <a:r>
              <a:rPr lang="en-US" dirty="0"/>
              <a:t>Personal Protective Equipment (PPE) </a:t>
            </a:r>
            <a:r>
              <a:rPr lang="en-US" sz="2800" b="0" dirty="0"/>
              <a:t>(2 of 2)</a:t>
            </a:r>
          </a:p>
        </p:txBody>
      </p:sp>
      <p:sp>
        <p:nvSpPr>
          <p:cNvPr id="54274" name="Rectangle 3">
            <a:extLst>
              <a:ext uri="{FF2B5EF4-FFF2-40B4-BE49-F238E27FC236}">
                <a16:creationId xmlns:a16="http://schemas.microsoft.com/office/drawing/2014/main" id="{7BF01F71-45A5-5E48-8FD8-525BB65DB5F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eaLnBrk="1" hangingPunct="1">
              <a:spcBef>
                <a:spcPct val="35000"/>
              </a:spcBef>
              <a:buNone/>
            </a:pPr>
            <a:endParaRPr lang="en-US" altLang="en-US" dirty="0"/>
          </a:p>
          <a:p>
            <a:pPr eaLnBrk="1" hangingPunct="1">
              <a:spcBef>
                <a:spcPct val="35000"/>
              </a:spcBef>
            </a:pPr>
            <a:r>
              <a:rPr lang="en-US" altLang="en-US" dirty="0"/>
              <a:t>To doff infectious disease PPE, follow these steps:</a:t>
            </a:r>
          </a:p>
          <a:p>
            <a:pPr lvl="1" eaLnBrk="1" hangingPunct="1">
              <a:spcBef>
                <a:spcPct val="35000"/>
              </a:spcBef>
            </a:pPr>
            <a:r>
              <a:rPr lang="en-US" altLang="en-US" dirty="0"/>
              <a:t>Remove and discard gloves using steps listed in Skill Drill 2-1. Take care not to contaminate your hands. Dispose of gloves in a biohazard bag. </a:t>
            </a:r>
          </a:p>
          <a:p>
            <a:pPr lvl="1" eaLnBrk="1" hangingPunct="1">
              <a:spcBef>
                <a:spcPct val="35000"/>
              </a:spcBef>
            </a:pPr>
            <a:r>
              <a:rPr lang="en-US" altLang="en-US" dirty="0"/>
              <a:t>Remove eye protection. Remove by strap and avoid touching front surface of eye protection. Discard in a biohazard bag or prepare for reprocessing.</a:t>
            </a:r>
          </a:p>
          <a:p>
            <a:pPr lvl="1" eaLnBrk="1" hangingPunct="1">
              <a:spcBef>
                <a:spcPct val="35000"/>
              </a:spcBef>
            </a:pPr>
            <a:r>
              <a:rPr lang="en-US" altLang="en-US" dirty="0"/>
              <a:t>Remove mask by tilting head slightly forward, grasping elastic straps, and sliding them off your ears and head. Remove mask without touching front fabric. Discard mask in a biohazard bag or in a receptacle for reprocessing.</a:t>
            </a:r>
          </a:p>
          <a:p>
            <a:pPr lvl="1" eaLnBrk="1" hangingPunct="1">
              <a:spcBef>
                <a:spcPct val="35000"/>
              </a:spcBef>
            </a:pPr>
            <a:r>
              <a:rPr lang="en-US" altLang="en-US" dirty="0"/>
              <a:t>Perform hand hygiene by washing with soap/warm water or by using alcohol-based hand sanitizer.</a:t>
            </a:r>
          </a:p>
          <a:p>
            <a:pPr marL="457200" lvl="1" indent="0" eaLnBrk="1" hangingPunct="1">
              <a:spcBef>
                <a:spcPct val="35000"/>
              </a:spcBef>
              <a:buNone/>
            </a:pPr>
            <a:endParaRPr lang="en-US" altLang="en-US" dirty="0"/>
          </a:p>
        </p:txBody>
      </p:sp>
    </p:spTree>
    <p:extLst>
      <p:ext uri="{BB962C8B-B14F-4D97-AF65-F5344CB8AC3E}">
        <p14:creationId xmlns:p14="http://schemas.microsoft.com/office/powerpoint/2010/main" val="1429663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a:extLst>
              <a:ext uri="{FF2B5EF4-FFF2-40B4-BE49-F238E27FC236}">
                <a16:creationId xmlns:a16="http://schemas.microsoft.com/office/drawing/2014/main" id="{A6D2EC01-DD14-B247-9D1B-C15F6596CABD}"/>
              </a:ext>
            </a:extLst>
          </p:cNvPr>
          <p:cNvSpPr>
            <a:spLocks noGrp="1" noChangeArrowheads="1"/>
          </p:cNvSpPr>
          <p:nvPr>
            <p:ph type="title"/>
          </p:nvPr>
        </p:nvSpPr>
        <p:spPr/>
        <p:txBody>
          <a:bodyPr/>
          <a:lstStyle/>
          <a:p>
            <a:pPr eaLnBrk="1" hangingPunct="1">
              <a:lnSpc>
                <a:spcPct val="85000"/>
              </a:lnSpc>
              <a:defRPr/>
            </a:pPr>
            <a:r>
              <a:rPr lang="en-US" sz="2800" dirty="0"/>
              <a:t>Immunizations</a:t>
            </a:r>
          </a:p>
        </p:txBody>
      </p:sp>
      <p:sp>
        <p:nvSpPr>
          <p:cNvPr id="56322" name="Rectangle 3">
            <a:extLst>
              <a:ext uri="{FF2B5EF4-FFF2-40B4-BE49-F238E27FC236}">
                <a16:creationId xmlns:a16="http://schemas.microsoft.com/office/drawing/2014/main" id="{26514319-B12C-F249-BF87-76DFE990356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Immunizations are recommended for EMS responders: influenza, tetanus prophylaxis, hepatitis B vaccine.</a:t>
            </a:r>
          </a:p>
          <a:p>
            <a:pPr eaLnBrk="1" hangingPunct="1">
              <a:spcBef>
                <a:spcPct val="35000"/>
              </a:spcBef>
            </a:pPr>
            <a:r>
              <a:rPr lang="en-US" altLang="en-US" dirty="0"/>
              <a:t>Check status of your varicella (chickenpox) vaccine, and your measles, mumps, and rubella (MMR) vaccine.</a:t>
            </a:r>
          </a:p>
          <a:p>
            <a:pPr eaLnBrk="1" hangingPunct="1">
              <a:spcBef>
                <a:spcPct val="35000"/>
              </a:spcBef>
            </a:pPr>
            <a:r>
              <a:rPr lang="en-US" altLang="en-US" dirty="0"/>
              <a:t>Tuberculin testing may also be recommended.</a:t>
            </a:r>
          </a:p>
          <a:p>
            <a:pPr marL="457200" lvl="1" indent="0" eaLnBrk="1" hangingPunct="1">
              <a:spcBef>
                <a:spcPct val="35000"/>
              </a:spcBef>
              <a:buNone/>
            </a:pPr>
            <a:endParaRPr lang="en-US" altLang="en-US" dirty="0"/>
          </a:p>
        </p:txBody>
      </p:sp>
    </p:spTree>
    <p:extLst>
      <p:ext uri="{BB962C8B-B14F-4D97-AF65-F5344CB8AC3E}">
        <p14:creationId xmlns:p14="http://schemas.microsoft.com/office/powerpoint/2010/main" val="212657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a:extLst>
              <a:ext uri="{FF2B5EF4-FFF2-40B4-BE49-F238E27FC236}">
                <a16:creationId xmlns:a16="http://schemas.microsoft.com/office/drawing/2014/main" id="{A6D2EC01-DD14-B247-9D1B-C15F6596CABD}"/>
              </a:ext>
            </a:extLst>
          </p:cNvPr>
          <p:cNvSpPr>
            <a:spLocks noGrp="1" noChangeArrowheads="1"/>
          </p:cNvSpPr>
          <p:nvPr>
            <p:ph type="title"/>
          </p:nvPr>
        </p:nvSpPr>
        <p:spPr/>
        <p:txBody>
          <a:bodyPr/>
          <a:lstStyle/>
          <a:p>
            <a:pPr eaLnBrk="1" hangingPunct="1">
              <a:lnSpc>
                <a:spcPct val="85000"/>
              </a:lnSpc>
              <a:defRPr/>
            </a:pPr>
            <a:r>
              <a:rPr lang="en-US" dirty="0"/>
              <a:t>Responding to Scene </a:t>
            </a:r>
            <a:r>
              <a:rPr lang="en-US" sz="2800" b="0" dirty="0"/>
              <a:t>(1 of 4)</a:t>
            </a:r>
          </a:p>
        </p:txBody>
      </p:sp>
      <p:sp>
        <p:nvSpPr>
          <p:cNvPr id="56322" name="Rectangle 3">
            <a:extLst>
              <a:ext uri="{FF2B5EF4-FFF2-40B4-BE49-F238E27FC236}">
                <a16:creationId xmlns:a16="http://schemas.microsoft.com/office/drawing/2014/main" id="{26514319-B12C-F249-BF87-76DFE990356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Scene safety is a most important consideration to you as an EMR.</a:t>
            </a:r>
          </a:p>
          <a:p>
            <a:pPr lvl="1" eaLnBrk="1" hangingPunct="1">
              <a:spcBef>
                <a:spcPct val="35000"/>
              </a:spcBef>
            </a:pPr>
            <a:r>
              <a:rPr lang="en-US" altLang="en-US" dirty="0"/>
              <a:t>Includes your safety and safety of all other people present at scene.</a:t>
            </a:r>
          </a:p>
          <a:p>
            <a:pPr lvl="1" eaLnBrk="1" hangingPunct="1">
              <a:spcBef>
                <a:spcPct val="35000"/>
              </a:spcBef>
            </a:pPr>
            <a:r>
              <a:rPr lang="en-US" altLang="en-US" dirty="0"/>
              <a:t>An injured or dead EMR cannot help those in need.</a:t>
            </a:r>
          </a:p>
          <a:p>
            <a:pPr lvl="1" eaLnBrk="1" hangingPunct="1">
              <a:spcBef>
                <a:spcPct val="35000"/>
              </a:spcBef>
            </a:pPr>
            <a:r>
              <a:rPr lang="en-US" altLang="en-US" dirty="0"/>
              <a:t>Drive safely and always fasten your seatbelt when you are in your vehicle.</a:t>
            </a:r>
          </a:p>
        </p:txBody>
      </p:sp>
    </p:spTree>
    <p:extLst>
      <p:ext uri="{BB962C8B-B14F-4D97-AF65-F5344CB8AC3E}">
        <p14:creationId xmlns:p14="http://schemas.microsoft.com/office/powerpoint/2010/main" val="247543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a:extLst>
              <a:ext uri="{FF2B5EF4-FFF2-40B4-BE49-F238E27FC236}">
                <a16:creationId xmlns:a16="http://schemas.microsoft.com/office/drawing/2014/main" id="{ADE2011C-C3F2-604D-8A31-F4ACB0687ED9}"/>
              </a:ext>
            </a:extLst>
          </p:cNvPr>
          <p:cNvSpPr>
            <a:spLocks noGrp="1" noChangeArrowheads="1"/>
          </p:cNvSpPr>
          <p:nvPr>
            <p:ph type="title"/>
          </p:nvPr>
        </p:nvSpPr>
        <p:spPr/>
        <p:txBody>
          <a:bodyPr/>
          <a:lstStyle/>
          <a:p>
            <a:pPr eaLnBrk="1" hangingPunct="1">
              <a:lnSpc>
                <a:spcPct val="85000"/>
              </a:lnSpc>
              <a:defRPr/>
            </a:pPr>
            <a:r>
              <a:rPr lang="en-US" dirty="0"/>
              <a:t>Responding to Scene </a:t>
            </a:r>
            <a:r>
              <a:rPr lang="en-US" sz="2800" b="0" dirty="0"/>
              <a:t>(2 of 4)</a:t>
            </a:r>
          </a:p>
        </p:txBody>
      </p:sp>
      <p:sp>
        <p:nvSpPr>
          <p:cNvPr id="58370" name="Rectangle 3">
            <a:extLst>
              <a:ext uri="{FF2B5EF4-FFF2-40B4-BE49-F238E27FC236}">
                <a16:creationId xmlns:a16="http://schemas.microsoft.com/office/drawing/2014/main" id="{8093A582-0BB4-F345-B5A2-C0F181B6A3C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Dispatch</a:t>
            </a:r>
          </a:p>
          <a:p>
            <a:pPr lvl="1" eaLnBrk="1" hangingPunct="1">
              <a:spcBef>
                <a:spcPct val="35000"/>
              </a:spcBef>
            </a:pPr>
            <a:r>
              <a:rPr lang="en-US" altLang="en-US" dirty="0"/>
              <a:t>Use dispatch information to anticipate hazards and determine how to approach scene.</a:t>
            </a:r>
          </a:p>
          <a:p>
            <a:pPr eaLnBrk="1" hangingPunct="1">
              <a:spcBef>
                <a:spcPct val="35000"/>
              </a:spcBef>
            </a:pPr>
            <a:r>
              <a:rPr lang="en-US" altLang="en-US" dirty="0"/>
              <a:t>Response</a:t>
            </a:r>
          </a:p>
          <a:p>
            <a:pPr lvl="1" eaLnBrk="1" hangingPunct="1">
              <a:spcBef>
                <a:spcPct val="35000"/>
              </a:spcBef>
            </a:pPr>
            <a:r>
              <a:rPr lang="en-US" altLang="en-US" dirty="0"/>
              <a:t>Fasten your seatbelt, plan best route, and drive quickly but safely to scene.</a:t>
            </a:r>
          </a:p>
        </p:txBody>
      </p:sp>
    </p:spTree>
    <p:extLst>
      <p:ext uri="{BB962C8B-B14F-4D97-AF65-F5344CB8AC3E}">
        <p14:creationId xmlns:p14="http://schemas.microsoft.com/office/powerpoint/2010/main" val="2950851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a:extLst>
              <a:ext uri="{FF2B5EF4-FFF2-40B4-BE49-F238E27FC236}">
                <a16:creationId xmlns:a16="http://schemas.microsoft.com/office/drawing/2014/main" id="{73590957-883A-6446-833F-3BB0AECD4797}"/>
              </a:ext>
            </a:extLst>
          </p:cNvPr>
          <p:cNvSpPr>
            <a:spLocks noGrp="1" noChangeArrowheads="1"/>
          </p:cNvSpPr>
          <p:nvPr>
            <p:ph type="title"/>
          </p:nvPr>
        </p:nvSpPr>
        <p:spPr/>
        <p:txBody>
          <a:bodyPr/>
          <a:lstStyle/>
          <a:p>
            <a:pPr eaLnBrk="1" hangingPunct="1">
              <a:lnSpc>
                <a:spcPct val="85000"/>
              </a:lnSpc>
              <a:defRPr/>
            </a:pPr>
            <a:r>
              <a:rPr lang="en-US" dirty="0"/>
              <a:t>Responding to Scene </a:t>
            </a:r>
            <a:r>
              <a:rPr lang="en-US" sz="2800" b="0" dirty="0"/>
              <a:t>(3 of 4)</a:t>
            </a:r>
          </a:p>
        </p:txBody>
      </p:sp>
      <p:sp>
        <p:nvSpPr>
          <p:cNvPr id="60418" name="Rectangle 3">
            <a:extLst>
              <a:ext uri="{FF2B5EF4-FFF2-40B4-BE49-F238E27FC236}">
                <a16:creationId xmlns:a16="http://schemas.microsoft.com/office/drawing/2014/main" id="{4D09FF3E-0717-4E45-B64B-2130EABF7E3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Parking your vehicle</a:t>
            </a:r>
          </a:p>
          <a:p>
            <a:pPr lvl="1" eaLnBrk="1" hangingPunct="1">
              <a:spcBef>
                <a:spcPct val="35000"/>
              </a:spcBef>
            </a:pPr>
            <a:r>
              <a:rPr lang="en-US" altLang="en-US" dirty="0"/>
              <a:t>Park your vehicle so that it protects the area from traffic hazards.</a:t>
            </a:r>
          </a:p>
          <a:p>
            <a:pPr lvl="1" eaLnBrk="1" hangingPunct="1">
              <a:spcBef>
                <a:spcPct val="35000"/>
              </a:spcBef>
            </a:pPr>
            <a:r>
              <a:rPr lang="en-US" altLang="en-US" dirty="0"/>
              <a:t>Be sure that emergency warning lights are operating correctly.</a:t>
            </a:r>
          </a:p>
          <a:p>
            <a:pPr lvl="1" eaLnBrk="1" hangingPunct="1">
              <a:spcBef>
                <a:spcPct val="35000"/>
              </a:spcBef>
            </a:pPr>
            <a:r>
              <a:rPr lang="en-US" altLang="en-US" dirty="0"/>
              <a:t>Be careful when getting out of your vehicle.</a:t>
            </a:r>
          </a:p>
        </p:txBody>
      </p:sp>
    </p:spTree>
    <p:extLst>
      <p:ext uri="{BB962C8B-B14F-4D97-AF65-F5344CB8AC3E}">
        <p14:creationId xmlns:p14="http://schemas.microsoft.com/office/powerpoint/2010/main" val="3167794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a:extLst>
              <a:ext uri="{FF2B5EF4-FFF2-40B4-BE49-F238E27FC236}">
                <a16:creationId xmlns:a16="http://schemas.microsoft.com/office/drawing/2014/main" id="{926179F3-348E-2B46-84FF-051C957F864D}"/>
              </a:ext>
            </a:extLst>
          </p:cNvPr>
          <p:cNvSpPr>
            <a:spLocks noGrp="1" noChangeArrowheads="1"/>
          </p:cNvSpPr>
          <p:nvPr>
            <p:ph type="title"/>
          </p:nvPr>
        </p:nvSpPr>
        <p:spPr/>
        <p:txBody>
          <a:bodyPr/>
          <a:lstStyle/>
          <a:p>
            <a:pPr eaLnBrk="1" hangingPunct="1">
              <a:lnSpc>
                <a:spcPct val="85000"/>
              </a:lnSpc>
              <a:defRPr/>
            </a:pPr>
            <a:r>
              <a:rPr lang="en-US" dirty="0"/>
              <a:t>Responding to Scene </a:t>
            </a:r>
            <a:r>
              <a:rPr lang="en-US" sz="2800" b="0" dirty="0"/>
              <a:t>(4 of 4)</a:t>
            </a:r>
          </a:p>
        </p:txBody>
      </p:sp>
      <p:sp>
        <p:nvSpPr>
          <p:cNvPr id="62466" name="Rectangle 3">
            <a:extLst>
              <a:ext uri="{FF2B5EF4-FFF2-40B4-BE49-F238E27FC236}">
                <a16:creationId xmlns:a16="http://schemas.microsoft.com/office/drawing/2014/main" id="{070C79CD-5566-7E49-BA93-9E6F6C7F7570}"/>
              </a:ext>
            </a:extLst>
          </p:cNvPr>
          <p:cNvSpPr>
            <a:spLocks noGrp="1" noChangeArrowheads="1"/>
          </p:cNvSpPr>
          <p:nvPr>
            <p:ph type="body" idx="1"/>
          </p:nvPr>
        </p:nvSpPr>
        <p:spPr>
          <a:xfrm>
            <a:off x="6635752" y="1447800"/>
            <a:ext cx="4510667"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Parking your vehicle (cont’d)</a:t>
            </a:r>
          </a:p>
          <a:p>
            <a:pPr lvl="1" eaLnBrk="1" hangingPunct="1">
              <a:spcBef>
                <a:spcPct val="35000"/>
              </a:spcBef>
            </a:pPr>
            <a:r>
              <a:rPr lang="en-US" altLang="en-US" dirty="0"/>
              <a:t>Wear approved safety vests when working on an active highway.</a:t>
            </a:r>
          </a:p>
          <a:p>
            <a:pPr lvl="1" eaLnBrk="1" hangingPunct="1">
              <a:spcBef>
                <a:spcPct val="35000"/>
              </a:spcBef>
            </a:pPr>
            <a:r>
              <a:rPr lang="en-US" altLang="en-US" dirty="0"/>
              <a:t>If your vehicle is not needed, park it out of way of traffic.</a:t>
            </a:r>
          </a:p>
        </p:txBody>
      </p:sp>
      <p:sp>
        <p:nvSpPr>
          <p:cNvPr id="7" name="Rectangle 6"/>
          <p:cNvSpPr/>
          <p:nvPr/>
        </p:nvSpPr>
        <p:spPr>
          <a:xfrm>
            <a:off x="1563792" y="4657513"/>
            <a:ext cx="4532208" cy="646331"/>
          </a:xfrm>
          <a:prstGeom prst="rect">
            <a:avLst/>
          </a:prstGeom>
        </p:spPr>
        <p:txBody>
          <a:bodyPr wrap="square">
            <a:spAutoFit/>
          </a:bodyPr>
          <a:lstStyle/>
          <a:p>
            <a:r>
              <a:rPr lang="en-US" b="1" cap="all" dirty="0"/>
              <a:t>Figure</a:t>
            </a:r>
            <a:r>
              <a:rPr lang="en-US" b="1" dirty="0"/>
              <a:t> 2-13 </a:t>
            </a:r>
            <a:r>
              <a:rPr lang="en-US" dirty="0"/>
              <a:t>Reflective clothing helps make you more visible. </a:t>
            </a:r>
          </a:p>
        </p:txBody>
      </p:sp>
      <p:sp>
        <p:nvSpPr>
          <p:cNvPr id="8" name="Rectangle 7"/>
          <p:cNvSpPr/>
          <p:nvPr/>
        </p:nvSpPr>
        <p:spPr>
          <a:xfrm>
            <a:off x="1551092" y="5301439"/>
            <a:ext cx="4099864" cy="246221"/>
          </a:xfrm>
          <a:prstGeom prst="rect">
            <a:avLst/>
          </a:prstGeom>
        </p:spPr>
        <p:txBody>
          <a:bodyPr wrap="square">
            <a:spAutoFit/>
          </a:bodyPr>
          <a:lstStyle/>
          <a:p>
            <a:r>
              <a:rPr lang="en-US" sz="1000" dirty="0"/>
              <a:t>© Murray Wilson/Fotolia.com </a:t>
            </a:r>
          </a:p>
        </p:txBody>
      </p:sp>
      <p:pic>
        <p:nvPicPr>
          <p:cNvPr id="6146" name="Picture 2" descr="A photo shows officers wearing reflective vests attending to an injured person bleeding from the head. The person is lying face upward on a metal stretcher.&#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3792" y="1540021"/>
            <a:ext cx="4027986" cy="3117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1773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a:extLst>
              <a:ext uri="{FF2B5EF4-FFF2-40B4-BE49-F238E27FC236}">
                <a16:creationId xmlns:a16="http://schemas.microsoft.com/office/drawing/2014/main" id="{5D4AE786-E8BF-1A47-BE3E-8570A8F1109D}"/>
              </a:ext>
            </a:extLst>
          </p:cNvPr>
          <p:cNvSpPr>
            <a:spLocks noGrp="1" noChangeArrowheads="1"/>
          </p:cNvSpPr>
          <p:nvPr>
            <p:ph type="title"/>
          </p:nvPr>
        </p:nvSpPr>
        <p:spPr/>
        <p:txBody>
          <a:bodyPr/>
          <a:lstStyle/>
          <a:p>
            <a:pPr eaLnBrk="1" hangingPunct="1">
              <a:lnSpc>
                <a:spcPct val="85000"/>
              </a:lnSpc>
              <a:defRPr/>
            </a:pPr>
            <a:r>
              <a:rPr lang="en-US" dirty="0"/>
              <a:t>Assessing Scene </a:t>
            </a:r>
            <a:r>
              <a:rPr lang="en-US" sz="2800" b="0" dirty="0"/>
              <a:t>(1 of 8)</a:t>
            </a:r>
          </a:p>
        </p:txBody>
      </p:sp>
      <p:sp>
        <p:nvSpPr>
          <p:cNvPr id="64514" name="Rectangle 3">
            <a:extLst>
              <a:ext uri="{FF2B5EF4-FFF2-40B4-BE49-F238E27FC236}">
                <a16:creationId xmlns:a16="http://schemas.microsoft.com/office/drawing/2014/main" id="{A0910E36-97A9-5E40-A8FD-B0E2621E940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Scan entire area carefully to determine what</a:t>
            </a:r>
            <a:r>
              <a:rPr lang="en-US" altLang="en-US" dirty="0">
                <a:solidFill>
                  <a:srgbClr val="FF0000"/>
                </a:solidFill>
              </a:rPr>
              <a:t> </a:t>
            </a:r>
            <a:r>
              <a:rPr lang="en-US" altLang="en-US" dirty="0"/>
              <a:t>hazards are present and address them in most appropriate order.</a:t>
            </a:r>
          </a:p>
          <a:p>
            <a:pPr eaLnBrk="1" hangingPunct="1">
              <a:spcBef>
                <a:spcPct val="35000"/>
              </a:spcBef>
            </a:pPr>
            <a:r>
              <a:rPr lang="en-US" altLang="en-US" dirty="0"/>
              <a:t>Traffic</a:t>
            </a:r>
          </a:p>
          <a:p>
            <a:pPr lvl="1" eaLnBrk="1" hangingPunct="1">
              <a:spcBef>
                <a:spcPct val="35000"/>
              </a:spcBef>
            </a:pPr>
            <a:r>
              <a:rPr lang="en-US" altLang="en-US" dirty="0"/>
              <a:t>Control the flow of traffic on a busy highway.</a:t>
            </a:r>
          </a:p>
          <a:p>
            <a:pPr lvl="1" eaLnBrk="1" hangingPunct="1">
              <a:spcBef>
                <a:spcPct val="35000"/>
              </a:spcBef>
            </a:pPr>
            <a:r>
              <a:rPr lang="en-US" altLang="en-US" dirty="0"/>
              <a:t>If you need assistance, call before you get out of your vehicle.</a:t>
            </a:r>
          </a:p>
        </p:txBody>
      </p:sp>
    </p:spTree>
    <p:extLst>
      <p:ext uri="{BB962C8B-B14F-4D97-AF65-F5344CB8AC3E}">
        <p14:creationId xmlns:p14="http://schemas.microsoft.com/office/powerpoint/2010/main" val="2546666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a:extLst>
              <a:ext uri="{FF2B5EF4-FFF2-40B4-BE49-F238E27FC236}">
                <a16:creationId xmlns:a16="http://schemas.microsoft.com/office/drawing/2014/main" id="{F1896C19-07D9-A441-BD85-240815A8C6B5}"/>
              </a:ext>
            </a:extLst>
          </p:cNvPr>
          <p:cNvSpPr>
            <a:spLocks noGrp="1" noChangeArrowheads="1"/>
          </p:cNvSpPr>
          <p:nvPr>
            <p:ph type="title"/>
          </p:nvPr>
        </p:nvSpPr>
        <p:spPr/>
        <p:txBody>
          <a:bodyPr/>
          <a:lstStyle/>
          <a:p>
            <a:pPr eaLnBrk="1" hangingPunct="1">
              <a:lnSpc>
                <a:spcPct val="85000"/>
              </a:lnSpc>
              <a:defRPr/>
            </a:pPr>
            <a:r>
              <a:rPr lang="en-US" dirty="0"/>
              <a:t>Assessing Scene </a:t>
            </a:r>
            <a:r>
              <a:rPr lang="en-US" sz="2800" b="0" dirty="0"/>
              <a:t>(2 of 8)</a:t>
            </a:r>
          </a:p>
        </p:txBody>
      </p:sp>
      <p:sp>
        <p:nvSpPr>
          <p:cNvPr id="66562" name="Rectangle 3">
            <a:extLst>
              <a:ext uri="{FF2B5EF4-FFF2-40B4-BE49-F238E27FC236}">
                <a16:creationId xmlns:a16="http://schemas.microsoft.com/office/drawing/2014/main" id="{74BD2D99-7623-084E-93B1-FEE899EE830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Crime or violence</a:t>
            </a:r>
          </a:p>
          <a:p>
            <a:pPr lvl="1" eaLnBrk="1" hangingPunct="1">
              <a:spcBef>
                <a:spcPct val="35000"/>
              </a:spcBef>
            </a:pPr>
            <a:r>
              <a:rPr lang="en-US" altLang="en-US" dirty="0"/>
              <a:t>If you are trained in law enforcement procedures, follow local protocols.</a:t>
            </a:r>
          </a:p>
          <a:p>
            <a:pPr lvl="1" eaLnBrk="1" hangingPunct="1">
              <a:spcBef>
                <a:spcPct val="35000"/>
              </a:spcBef>
            </a:pPr>
            <a:r>
              <a:rPr lang="en-US" altLang="en-US" dirty="0"/>
              <a:t>If you are not, proceed very carefully.</a:t>
            </a:r>
          </a:p>
          <a:p>
            <a:pPr lvl="1" eaLnBrk="1" hangingPunct="1">
              <a:spcBef>
                <a:spcPct val="35000"/>
              </a:spcBef>
            </a:pPr>
            <a:r>
              <a:rPr lang="en-US" altLang="en-US" dirty="0"/>
              <a:t>If you have doubts about safety of a scene, wait at a safe distance and request help from law enforcement officials.</a:t>
            </a:r>
          </a:p>
          <a:p>
            <a:pPr lvl="1" eaLnBrk="1" hangingPunct="1">
              <a:spcBef>
                <a:spcPct val="35000"/>
              </a:spcBef>
            </a:pPr>
            <a:r>
              <a:rPr lang="en-US" altLang="en-US" dirty="0"/>
              <a:t>If scene involves a crime, avoid disturbing anything unless it is absolutely necessary.</a:t>
            </a:r>
          </a:p>
        </p:txBody>
      </p:sp>
    </p:spTree>
    <p:extLst>
      <p:ext uri="{BB962C8B-B14F-4D97-AF65-F5344CB8AC3E}">
        <p14:creationId xmlns:p14="http://schemas.microsoft.com/office/powerpoint/2010/main" val="2449084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a:extLst>
              <a:ext uri="{FF2B5EF4-FFF2-40B4-BE49-F238E27FC236}">
                <a16:creationId xmlns:a16="http://schemas.microsoft.com/office/drawing/2014/main" id="{D1AA8540-5F8D-1B4F-98CF-320A30B4942F}"/>
              </a:ext>
            </a:extLst>
          </p:cNvPr>
          <p:cNvSpPr>
            <a:spLocks noGrp="1" noChangeArrowheads="1"/>
          </p:cNvSpPr>
          <p:nvPr>
            <p:ph type="title"/>
          </p:nvPr>
        </p:nvSpPr>
        <p:spPr/>
        <p:txBody>
          <a:bodyPr/>
          <a:lstStyle/>
          <a:p>
            <a:pPr eaLnBrk="1" hangingPunct="1">
              <a:lnSpc>
                <a:spcPct val="85000"/>
              </a:lnSpc>
              <a:defRPr/>
            </a:pPr>
            <a:r>
              <a:rPr lang="en-US" dirty="0"/>
              <a:t>Assessing Scene </a:t>
            </a:r>
            <a:r>
              <a:rPr lang="en-US" sz="2800" b="0" dirty="0"/>
              <a:t>(3 of 8)</a:t>
            </a:r>
          </a:p>
        </p:txBody>
      </p:sp>
      <p:sp>
        <p:nvSpPr>
          <p:cNvPr id="68610" name="Rectangle 3">
            <a:extLst>
              <a:ext uri="{FF2B5EF4-FFF2-40B4-BE49-F238E27FC236}">
                <a16:creationId xmlns:a16="http://schemas.microsoft.com/office/drawing/2014/main" id="{1FF69555-55B2-6D48-A9BE-E73F176ED8A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Crowds</a:t>
            </a:r>
          </a:p>
          <a:p>
            <a:pPr lvl="1" eaLnBrk="1" hangingPunct="1">
              <a:spcBef>
                <a:spcPct val="35000"/>
              </a:spcBef>
            </a:pPr>
            <a:r>
              <a:rPr lang="en-US" altLang="en-US" dirty="0"/>
              <a:t>Assess crowd’s mood before you get into a position from which you cannot exit.</a:t>
            </a:r>
          </a:p>
          <a:p>
            <a:pPr lvl="1" eaLnBrk="1" hangingPunct="1">
              <a:spcBef>
                <a:spcPct val="35000"/>
              </a:spcBef>
            </a:pPr>
            <a:r>
              <a:rPr lang="en-US" altLang="en-US" dirty="0"/>
              <a:t>Request help before crowd is out of control.</a:t>
            </a:r>
          </a:p>
          <a:p>
            <a:pPr eaLnBrk="1" hangingPunct="1">
              <a:spcBef>
                <a:spcPct val="35000"/>
              </a:spcBef>
            </a:pPr>
            <a:r>
              <a:rPr lang="en-US" altLang="en-US" dirty="0"/>
              <a:t>Electrical hazards</a:t>
            </a:r>
          </a:p>
          <a:p>
            <a:pPr lvl="1" eaLnBrk="1" hangingPunct="1">
              <a:spcBef>
                <a:spcPct val="35000"/>
              </a:spcBef>
            </a:pPr>
            <a:r>
              <a:rPr lang="en-US" altLang="en-US" dirty="0"/>
              <a:t>Do not approach scene and keep other people away from source of hazard.</a:t>
            </a:r>
          </a:p>
        </p:txBody>
      </p:sp>
    </p:spTree>
    <p:extLst>
      <p:ext uri="{BB962C8B-B14F-4D97-AF65-F5344CB8AC3E}">
        <p14:creationId xmlns:p14="http://schemas.microsoft.com/office/powerpoint/2010/main" val="2442173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a:extLst>
              <a:ext uri="{FF2B5EF4-FFF2-40B4-BE49-F238E27FC236}">
                <a16:creationId xmlns:a16="http://schemas.microsoft.com/office/drawing/2014/main" id="{32A1AA5D-C556-E24F-B27E-3D91D674E7E1}"/>
              </a:ext>
            </a:extLst>
          </p:cNvPr>
          <p:cNvSpPr>
            <a:spLocks noGrp="1" noChangeArrowheads="1"/>
          </p:cNvSpPr>
          <p:nvPr>
            <p:ph type="title"/>
          </p:nvPr>
        </p:nvSpPr>
        <p:spPr/>
        <p:txBody>
          <a:bodyPr/>
          <a:lstStyle/>
          <a:p>
            <a:pPr eaLnBrk="1" hangingPunct="1">
              <a:lnSpc>
                <a:spcPct val="85000"/>
              </a:lnSpc>
              <a:defRPr/>
            </a:pPr>
            <a:r>
              <a:rPr lang="en-US" dirty="0"/>
              <a:t>Assessing Scene </a:t>
            </a:r>
            <a:r>
              <a:rPr lang="en-US" sz="2800" b="0" dirty="0"/>
              <a:t>(4 of 8)</a:t>
            </a:r>
          </a:p>
        </p:txBody>
      </p:sp>
      <p:sp>
        <p:nvSpPr>
          <p:cNvPr id="70658" name="Rectangle 3">
            <a:extLst>
              <a:ext uri="{FF2B5EF4-FFF2-40B4-BE49-F238E27FC236}">
                <a16:creationId xmlns:a16="http://schemas.microsoft.com/office/drawing/2014/main" id="{3CC0DE94-3F60-7945-A075-B89AA62A3F3D}"/>
              </a:ext>
            </a:extLst>
          </p:cNvPr>
          <p:cNvSpPr>
            <a:spLocks noGrp="1" noChangeArrowheads="1"/>
          </p:cNvSpPr>
          <p:nvPr>
            <p:ph type="body" idx="1"/>
          </p:nvPr>
        </p:nvSpPr>
        <p:spPr>
          <a:xfrm>
            <a:off x="404969" y="1328825"/>
            <a:ext cx="8750606" cy="5269839"/>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Electrical hazards (cont’d)</a:t>
            </a:r>
          </a:p>
          <a:p>
            <a:pPr lvl="1" eaLnBrk="1" hangingPunct="1">
              <a:spcBef>
                <a:spcPct val="35000"/>
              </a:spcBef>
            </a:pPr>
            <a:r>
              <a:rPr lang="en-US" altLang="en-US" dirty="0"/>
              <a:t>Make sure the electrical current has been turned off by a qualified person before you get close to the source.</a:t>
            </a:r>
          </a:p>
          <a:p>
            <a:pPr lvl="1" eaLnBrk="1" hangingPunct="1">
              <a:spcBef>
                <a:spcPct val="35000"/>
              </a:spcBef>
            </a:pPr>
            <a:r>
              <a:rPr lang="en-US" altLang="en-US" dirty="0"/>
              <a:t>Wear a helmet with a chin strap and face shield.</a:t>
            </a:r>
          </a:p>
          <a:p>
            <a:pPr eaLnBrk="1" hangingPunct="1">
              <a:spcBef>
                <a:spcPct val="35000"/>
              </a:spcBef>
            </a:pPr>
            <a:r>
              <a:rPr lang="en-US" altLang="en-US" dirty="0"/>
              <a:t>Fire</a:t>
            </a:r>
          </a:p>
          <a:p>
            <a:pPr lvl="1" eaLnBrk="1" hangingPunct="1">
              <a:spcBef>
                <a:spcPct val="35000"/>
              </a:spcBef>
            </a:pPr>
            <a:r>
              <a:rPr lang="en-US" altLang="en-US" dirty="0"/>
              <a:t>If you are a trained firefighter, follow rescue and firefighting procedures.</a:t>
            </a:r>
          </a:p>
          <a:p>
            <a:pPr lvl="1">
              <a:spcBef>
                <a:spcPct val="35000"/>
              </a:spcBef>
            </a:pPr>
            <a:r>
              <a:rPr lang="en-US" altLang="en-US" dirty="0"/>
              <a:t>If you are not a trained firefighter, do not exceed the limits of your training.</a:t>
            </a:r>
          </a:p>
          <a:p>
            <a:pPr lvl="1">
              <a:spcBef>
                <a:spcPct val="35000"/>
              </a:spcBef>
            </a:pPr>
            <a:r>
              <a:rPr lang="en-US" altLang="en-US" dirty="0"/>
              <a:t>Never enter a burning building without proper turnout gear and SCBA.</a:t>
            </a:r>
          </a:p>
          <a:p>
            <a:pPr>
              <a:spcBef>
                <a:spcPct val="35000"/>
              </a:spcBef>
            </a:pPr>
            <a:r>
              <a:rPr lang="en-US" altLang="en-US" dirty="0"/>
              <a:t>Hazardous materials</a:t>
            </a:r>
          </a:p>
          <a:p>
            <a:pPr lvl="1">
              <a:spcBef>
                <a:spcPct val="35000"/>
              </a:spcBef>
            </a:pPr>
            <a:r>
              <a:rPr lang="en-US" altLang="en-US" dirty="0"/>
              <a:t>Should be marked with placards.</a:t>
            </a:r>
          </a:p>
          <a:p>
            <a:pPr lvl="1" eaLnBrk="1" hangingPunct="1">
              <a:spcBef>
                <a:spcPct val="35000"/>
              </a:spcBef>
            </a:pPr>
            <a:endParaRPr lang="en-US" altLang="en-US" dirty="0"/>
          </a:p>
        </p:txBody>
      </p:sp>
      <p:sp>
        <p:nvSpPr>
          <p:cNvPr id="6" name="Rectangle 5"/>
          <p:cNvSpPr/>
          <p:nvPr/>
        </p:nvSpPr>
        <p:spPr>
          <a:xfrm>
            <a:off x="8548792" y="5194219"/>
            <a:ext cx="3211408" cy="646331"/>
          </a:xfrm>
          <a:prstGeom prst="rect">
            <a:avLst/>
          </a:prstGeom>
        </p:spPr>
        <p:txBody>
          <a:bodyPr wrap="square">
            <a:spAutoFit/>
          </a:bodyPr>
          <a:lstStyle/>
          <a:p>
            <a:r>
              <a:rPr lang="en-US" b="1" cap="all" dirty="0"/>
              <a:t>Figure</a:t>
            </a:r>
            <a:r>
              <a:rPr lang="en-US" b="1" dirty="0"/>
              <a:t> 2-14B </a:t>
            </a:r>
            <a:r>
              <a:rPr lang="en-US" dirty="0"/>
              <a:t>Hazardous materials placards </a:t>
            </a:r>
          </a:p>
        </p:txBody>
      </p:sp>
      <p:sp>
        <p:nvSpPr>
          <p:cNvPr id="7" name="Rectangle 6"/>
          <p:cNvSpPr/>
          <p:nvPr/>
        </p:nvSpPr>
        <p:spPr>
          <a:xfrm>
            <a:off x="8536092" y="5818267"/>
            <a:ext cx="2905060" cy="1015663"/>
          </a:xfrm>
          <a:prstGeom prst="rect">
            <a:avLst/>
          </a:prstGeom>
        </p:spPr>
        <p:txBody>
          <a:bodyPr wrap="square">
            <a:spAutoFit/>
          </a:bodyPr>
          <a:lstStyle/>
          <a:p>
            <a:r>
              <a:rPr lang="en-US" sz="1000" dirty="0"/>
              <a:t>Data from US Department of Transportation, "Table of </a:t>
            </a:r>
            <a:r>
              <a:rPr lang="en-US" sz="1000" dirty="0" err="1"/>
              <a:t>Marketings</a:t>
            </a:r>
            <a:r>
              <a:rPr lang="en-US" sz="1000" dirty="0"/>
              <a:t>, Labels and Placards" from the 2020 Emergency Response Guidebook, similar to page 8 of 2016 edition.  Retrieved from https://www.phmsa.dot.gov/sites/phmsa.dot.gov/files/docs/ERG2016.pdf. </a:t>
            </a:r>
          </a:p>
        </p:txBody>
      </p:sp>
      <p:pic>
        <p:nvPicPr>
          <p:cNvPr id="7170" name="Picture 2" descr="Figure B is a chart titled 'Table of markings, labels, and placards' depicting different signs indicating hazardous material. A note below the title says 'Use this table only if materials cannot be specifically identified by'. Each set of diamond-shaped labels is grouped under a particular number. Number 111 has four placards shown: red, with a horizontal white band in the center with the words 'Danger'; red with a white border and a horizontal white band in the center with the words 'Dangerous'; black with a broad white band in the center with the letter 'Y'; black with a plain white broad band in the center. Number 112 has four placards in mustard yellow color. One just has an explosion symbol on top, the other shows the same symbol with 'Explosives' written on it; one says 1.5, and another says 1.5 - Blasting agents. Number 114 has four placards in mustard yellow color. Two of them are numbered 1.4, one with 'Explosives' written on it; likewise, two others are 1.6. Number 118 has three red placards: one shows a fire symbol in white; the other has the fire symbol with 'Flammable gas' on it; the third one has the fire symbol in black. Number 121 has three placards in green: two of them have white cylinder symbols on top, one of which is additionally marked as 'Non-flammable gas'; the third has the same symbol in black. Number 122 shows two yellow placards with a fire symbol with 'O' in it. One placard has the word 'Oxygen'.   Number 123 has two white placards, grouped as 'Inhalation hazard'. Number 125 has a white placard with a black cylinder and 1005 on it. Number 127 shows five red placards: four of them show white fire symbols (one is unmarked, one has a white rectangle placed on an triangle, one says 'Combustible' and the other 'Flammable'). Number 128 shows three placards: a red one with a fire symbol and 'Fuel oil' on it; a white one with a red border and a red thermometer symbol; and a white one that says 'Hot' with a blank dotted rectangle below this.&#10;" title="Figures B depict an emergency response handbook and placards indicating hazardous materia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4984" y="1272211"/>
            <a:ext cx="2507432" cy="3896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629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a:extLst>
              <a:ext uri="{FF2B5EF4-FFF2-40B4-BE49-F238E27FC236}">
                <a16:creationId xmlns:a16="http://schemas.microsoft.com/office/drawing/2014/main" id="{36513DDB-0597-FC48-B3AE-F55AE1A6AE67}"/>
              </a:ext>
            </a:extLst>
          </p:cNvPr>
          <p:cNvSpPr>
            <a:spLocks noGrp="1" noChangeArrowheads="1"/>
          </p:cNvSpPr>
          <p:nvPr>
            <p:ph type="title"/>
          </p:nvPr>
        </p:nvSpPr>
        <p:spPr/>
        <p:txBody>
          <a:bodyPr/>
          <a:lstStyle/>
          <a:p>
            <a:pPr eaLnBrk="1" hangingPunct="1">
              <a:lnSpc>
                <a:spcPct val="85000"/>
              </a:lnSpc>
              <a:defRPr/>
            </a:pPr>
            <a:r>
              <a:rPr lang="en-US" dirty="0"/>
              <a:t>Assessing Scene </a:t>
            </a:r>
            <a:r>
              <a:rPr lang="en-US" sz="2800" b="0" dirty="0"/>
              <a:t>(5 of 8)</a:t>
            </a:r>
          </a:p>
        </p:txBody>
      </p:sp>
      <p:sp>
        <p:nvSpPr>
          <p:cNvPr id="76802" name="Rectangle 3">
            <a:extLst>
              <a:ext uri="{FF2B5EF4-FFF2-40B4-BE49-F238E27FC236}">
                <a16:creationId xmlns:a16="http://schemas.microsoft.com/office/drawing/2014/main" id="{04BA95FB-78AD-2247-A6BB-EEF5D98A4D0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Hazardous materials (cont’d)</a:t>
            </a:r>
          </a:p>
          <a:p>
            <a:pPr lvl="1" eaLnBrk="1" hangingPunct="1">
              <a:spcBef>
                <a:spcPct val="35000"/>
              </a:spcBef>
            </a:pPr>
            <a:r>
              <a:rPr lang="en-US" altLang="en-US" dirty="0"/>
              <a:t>If you believe that a crash may involve hazardous materials, stop uphill and upwind and use binoculars to observe scene.</a:t>
            </a:r>
          </a:p>
          <a:p>
            <a:pPr lvl="1" eaLnBrk="1" hangingPunct="1">
              <a:spcBef>
                <a:spcPct val="35000"/>
              </a:spcBef>
            </a:pPr>
            <a:r>
              <a:rPr lang="en-US" altLang="en-US" dirty="0"/>
              <a:t>Odors or fumes may be first indication.</a:t>
            </a:r>
          </a:p>
          <a:p>
            <a:pPr lvl="1" eaLnBrk="1" hangingPunct="1">
              <a:spcBef>
                <a:spcPct val="35000"/>
              </a:spcBef>
            </a:pPr>
            <a:r>
              <a:rPr lang="en-US" altLang="en-US" dirty="0"/>
              <a:t>Call for assistance.</a:t>
            </a:r>
          </a:p>
          <a:p>
            <a:pPr eaLnBrk="1" hangingPunct="1">
              <a:spcBef>
                <a:spcPct val="35000"/>
              </a:spcBef>
            </a:pPr>
            <a:r>
              <a:rPr lang="en-US" altLang="en-US" dirty="0"/>
              <a:t>Unstable objects</a:t>
            </a:r>
          </a:p>
          <a:p>
            <a:pPr lvl="1" eaLnBrk="1" hangingPunct="1">
              <a:spcBef>
                <a:spcPct val="35000"/>
              </a:spcBef>
            </a:pPr>
            <a:r>
              <a:rPr lang="en-US" altLang="en-US" dirty="0"/>
              <a:t>Vehicles, trees, poles, buildings, cliffs, and piles of material</a:t>
            </a:r>
          </a:p>
        </p:txBody>
      </p:sp>
    </p:spTree>
    <p:extLst>
      <p:ext uri="{BB962C8B-B14F-4D97-AF65-F5344CB8AC3E}">
        <p14:creationId xmlns:p14="http://schemas.microsoft.com/office/powerpoint/2010/main" val="295602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a:extLst>
              <a:ext uri="{FF2B5EF4-FFF2-40B4-BE49-F238E27FC236}">
                <a16:creationId xmlns:a16="http://schemas.microsoft.com/office/drawing/2014/main" id="{1AF66D2B-CD89-C948-881E-5BDAE0F6A403}"/>
              </a:ext>
            </a:extLst>
          </p:cNvPr>
          <p:cNvSpPr>
            <a:spLocks noGrp="1" noChangeArrowheads="1"/>
          </p:cNvSpPr>
          <p:nvPr>
            <p:ph type="title"/>
          </p:nvPr>
        </p:nvSpPr>
        <p:spPr/>
        <p:txBody>
          <a:bodyPr/>
          <a:lstStyle/>
          <a:p>
            <a:pPr eaLnBrk="1" hangingPunct="1">
              <a:lnSpc>
                <a:spcPct val="85000"/>
              </a:lnSpc>
              <a:defRPr/>
            </a:pPr>
            <a:r>
              <a:rPr lang="en-US" dirty="0"/>
              <a:t>Assessing Scene </a:t>
            </a:r>
            <a:r>
              <a:rPr lang="en-US" sz="2800" b="0" dirty="0"/>
              <a:t>(6 of 8)</a:t>
            </a:r>
          </a:p>
        </p:txBody>
      </p:sp>
      <p:sp>
        <p:nvSpPr>
          <p:cNvPr id="78850" name="Rectangle 3">
            <a:extLst>
              <a:ext uri="{FF2B5EF4-FFF2-40B4-BE49-F238E27FC236}">
                <a16:creationId xmlns:a16="http://schemas.microsoft.com/office/drawing/2014/main" id="{3A4503FA-448B-9241-B6EC-F235028D663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Unstable objects (cont’d)</a:t>
            </a:r>
          </a:p>
          <a:p>
            <a:pPr lvl="1" eaLnBrk="1" hangingPunct="1">
              <a:spcBef>
                <a:spcPct val="35000"/>
              </a:spcBef>
            </a:pPr>
            <a:r>
              <a:rPr lang="en-US" altLang="en-US" dirty="0"/>
              <a:t>Vehicles may need to be stabilized before patient extrication can begin.</a:t>
            </a:r>
          </a:p>
          <a:p>
            <a:pPr lvl="1" eaLnBrk="1" hangingPunct="1">
              <a:spcBef>
                <a:spcPct val="35000"/>
              </a:spcBef>
            </a:pPr>
            <a:r>
              <a:rPr lang="en-US" altLang="en-US" dirty="0"/>
              <a:t>Undeployed air bags are hazards.</a:t>
            </a:r>
          </a:p>
          <a:p>
            <a:pPr lvl="1" eaLnBrk="1" hangingPunct="1">
              <a:spcBef>
                <a:spcPct val="35000"/>
              </a:spcBef>
            </a:pPr>
            <a:r>
              <a:rPr lang="en-US" altLang="en-US" dirty="0"/>
              <a:t>Fires and explosions can result in unstable buildings.</a:t>
            </a:r>
          </a:p>
          <a:p>
            <a:pPr eaLnBrk="1" hangingPunct="1">
              <a:spcBef>
                <a:spcPct val="35000"/>
              </a:spcBef>
            </a:pPr>
            <a:r>
              <a:rPr lang="en-US" altLang="en-US" dirty="0"/>
              <a:t>Sharp objects</a:t>
            </a:r>
          </a:p>
          <a:p>
            <a:pPr lvl="1" eaLnBrk="1" hangingPunct="1">
              <a:spcBef>
                <a:spcPct val="35000"/>
              </a:spcBef>
            </a:pPr>
            <a:r>
              <a:rPr lang="en-US" altLang="en-US" dirty="0"/>
              <a:t>Broken glass at scene of a motor vehicle crash.</a:t>
            </a:r>
          </a:p>
          <a:p>
            <a:pPr lvl="1">
              <a:spcBef>
                <a:spcPct val="35000"/>
              </a:spcBef>
            </a:pPr>
            <a:r>
              <a:rPr lang="en-US" altLang="en-US" dirty="0"/>
              <a:t>Wear heavy leather or firefighting gloves over your medical gloves to prevent injuries.</a:t>
            </a:r>
          </a:p>
          <a:p>
            <a:pPr lvl="1" eaLnBrk="1" hangingPunct="1">
              <a:spcBef>
                <a:spcPct val="35000"/>
              </a:spcBef>
            </a:pPr>
            <a:endParaRPr lang="en-US" altLang="en-US" dirty="0"/>
          </a:p>
        </p:txBody>
      </p:sp>
    </p:spTree>
    <p:extLst>
      <p:ext uri="{BB962C8B-B14F-4D97-AF65-F5344CB8AC3E}">
        <p14:creationId xmlns:p14="http://schemas.microsoft.com/office/powerpoint/2010/main" val="419422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2">
            <a:extLst>
              <a:ext uri="{FF2B5EF4-FFF2-40B4-BE49-F238E27FC236}">
                <a16:creationId xmlns:a16="http://schemas.microsoft.com/office/drawing/2014/main" id="{6045B633-6CA1-BD44-AAEE-E82310F45D58}"/>
              </a:ext>
            </a:extLst>
          </p:cNvPr>
          <p:cNvSpPr>
            <a:spLocks noGrp="1" noChangeArrowheads="1"/>
          </p:cNvSpPr>
          <p:nvPr>
            <p:ph type="title"/>
          </p:nvPr>
        </p:nvSpPr>
        <p:spPr/>
        <p:txBody>
          <a:bodyPr/>
          <a:lstStyle/>
          <a:p>
            <a:pPr eaLnBrk="1" hangingPunct="1">
              <a:lnSpc>
                <a:spcPct val="85000"/>
              </a:lnSpc>
              <a:defRPr/>
            </a:pPr>
            <a:r>
              <a:rPr lang="en-US" dirty="0"/>
              <a:t>Assessing Scene </a:t>
            </a:r>
            <a:r>
              <a:rPr lang="en-US" sz="2800" b="0" dirty="0"/>
              <a:t>(7 of 8)</a:t>
            </a:r>
          </a:p>
        </p:txBody>
      </p:sp>
      <p:sp>
        <p:nvSpPr>
          <p:cNvPr id="80898" name="Rectangle 3">
            <a:extLst>
              <a:ext uri="{FF2B5EF4-FFF2-40B4-BE49-F238E27FC236}">
                <a16:creationId xmlns:a16="http://schemas.microsoft.com/office/drawing/2014/main" id="{1F5CB02D-DFD6-ED4E-9218-B93A2E82F551}"/>
              </a:ext>
            </a:extLst>
          </p:cNvPr>
          <p:cNvSpPr>
            <a:spLocks noGrp="1" noChangeArrowheads="1"/>
          </p:cNvSpPr>
          <p:nvPr>
            <p:ph type="body" idx="1"/>
          </p:nvPr>
        </p:nvSpPr>
        <p:spPr>
          <a:xfrm>
            <a:off x="612321" y="1307990"/>
            <a:ext cx="10287000" cy="5197313"/>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eaLnBrk="1" hangingPunct="1">
              <a:spcBef>
                <a:spcPct val="35000"/>
              </a:spcBef>
              <a:buNone/>
            </a:pPr>
            <a:endParaRPr lang="en-US" altLang="en-US" dirty="0"/>
          </a:p>
          <a:p>
            <a:pPr eaLnBrk="1" hangingPunct="1">
              <a:spcBef>
                <a:spcPct val="35000"/>
              </a:spcBef>
            </a:pPr>
            <a:r>
              <a:rPr lang="en-US" altLang="en-US" dirty="0"/>
              <a:t>Animals</a:t>
            </a:r>
          </a:p>
          <a:p>
            <a:pPr lvl="1" eaLnBrk="1" hangingPunct="1">
              <a:spcBef>
                <a:spcPct val="35000"/>
              </a:spcBef>
            </a:pPr>
            <a:r>
              <a:rPr lang="en-US" altLang="en-US" dirty="0"/>
              <a:t>Can be pets, farm stock, or wild.</a:t>
            </a:r>
          </a:p>
          <a:p>
            <a:pPr lvl="1" eaLnBrk="1" hangingPunct="1">
              <a:spcBef>
                <a:spcPct val="35000"/>
              </a:spcBef>
            </a:pPr>
            <a:r>
              <a:rPr lang="en-US" altLang="en-US" dirty="0"/>
              <a:t>Should be secured in another part of house away from patient.</a:t>
            </a:r>
          </a:p>
          <a:p>
            <a:pPr lvl="1" eaLnBrk="1" hangingPunct="1">
              <a:spcBef>
                <a:spcPct val="35000"/>
              </a:spcBef>
            </a:pPr>
            <a:r>
              <a:rPr lang="en-US" altLang="en-US" dirty="0"/>
              <a:t>May present other hazards such as bites, kicking, or even trampling.</a:t>
            </a:r>
          </a:p>
          <a:p>
            <a:pPr>
              <a:spcBef>
                <a:spcPct val="35000"/>
              </a:spcBef>
            </a:pPr>
            <a:r>
              <a:rPr lang="en-US" altLang="en-US" dirty="0"/>
              <a:t>Environmental conditions</a:t>
            </a:r>
          </a:p>
          <a:p>
            <a:pPr lvl="1">
              <a:spcBef>
                <a:spcPct val="35000"/>
              </a:spcBef>
            </a:pPr>
            <a:r>
              <a:rPr lang="en-US" altLang="en-US" dirty="0"/>
              <a:t>Dress appropriately for the expected weather.</a:t>
            </a:r>
          </a:p>
          <a:p>
            <a:pPr lvl="1">
              <a:spcBef>
                <a:spcPct val="35000"/>
              </a:spcBef>
            </a:pPr>
            <a:r>
              <a:rPr lang="en-US" altLang="en-US" dirty="0"/>
              <a:t>Be alert for damage from high winds.</a:t>
            </a:r>
          </a:p>
          <a:p>
            <a:pPr lvl="1">
              <a:spcBef>
                <a:spcPct val="35000"/>
              </a:spcBef>
            </a:pPr>
            <a:r>
              <a:rPr lang="en-US" altLang="en-US" dirty="0"/>
              <a:t>Keep your patients dry and comfortable.</a:t>
            </a:r>
          </a:p>
          <a:p>
            <a:pPr lvl="1">
              <a:spcBef>
                <a:spcPct val="35000"/>
              </a:spcBef>
            </a:pPr>
            <a:r>
              <a:rPr lang="en-US" altLang="en-US" dirty="0"/>
              <a:t>Use emergency lighting when operating in the dark.</a:t>
            </a:r>
          </a:p>
        </p:txBody>
      </p:sp>
    </p:spTree>
    <p:extLst>
      <p:ext uri="{BB962C8B-B14F-4D97-AF65-F5344CB8AC3E}">
        <p14:creationId xmlns:p14="http://schemas.microsoft.com/office/powerpoint/2010/main" val="2906387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a:extLst>
              <a:ext uri="{FF2B5EF4-FFF2-40B4-BE49-F238E27FC236}">
                <a16:creationId xmlns:a16="http://schemas.microsoft.com/office/drawing/2014/main" id="{FDAB9085-2DBE-3D44-8A05-3782AFAE2F46}"/>
              </a:ext>
            </a:extLst>
          </p:cNvPr>
          <p:cNvSpPr>
            <a:spLocks noGrp="1" noChangeArrowheads="1"/>
          </p:cNvSpPr>
          <p:nvPr>
            <p:ph type="title"/>
          </p:nvPr>
        </p:nvSpPr>
        <p:spPr/>
        <p:txBody>
          <a:bodyPr/>
          <a:lstStyle/>
          <a:p>
            <a:pPr eaLnBrk="1" hangingPunct="1">
              <a:lnSpc>
                <a:spcPct val="85000"/>
              </a:lnSpc>
              <a:defRPr/>
            </a:pPr>
            <a:r>
              <a:rPr lang="en-US" dirty="0"/>
              <a:t>Assessing Scene </a:t>
            </a:r>
            <a:r>
              <a:rPr lang="en-US" sz="2800" b="0" dirty="0"/>
              <a:t>(8 of 8)</a:t>
            </a:r>
          </a:p>
        </p:txBody>
      </p:sp>
      <p:sp>
        <p:nvSpPr>
          <p:cNvPr id="84994" name="Rectangle 3">
            <a:extLst>
              <a:ext uri="{FF2B5EF4-FFF2-40B4-BE49-F238E27FC236}">
                <a16:creationId xmlns:a16="http://schemas.microsoft.com/office/drawing/2014/main" id="{E717F6CF-0779-124E-B7F2-88DE836EBD7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Special rescue situations</a:t>
            </a:r>
          </a:p>
          <a:p>
            <a:pPr lvl="1" eaLnBrk="1" hangingPunct="1">
              <a:spcBef>
                <a:spcPct val="35000"/>
              </a:spcBef>
            </a:pPr>
            <a:r>
              <a:rPr lang="en-US" altLang="en-US" dirty="0"/>
              <a:t>Water rescue, ice rescue, confined-space or below-grade rescue, terrorism, and mass-casualty incidents</a:t>
            </a:r>
          </a:p>
          <a:p>
            <a:pPr lvl="1" eaLnBrk="1" hangingPunct="1">
              <a:spcBef>
                <a:spcPct val="35000"/>
              </a:spcBef>
            </a:pPr>
            <a:r>
              <a:rPr lang="en-US" altLang="en-US" dirty="0"/>
              <a:t>Do not enter an emergency situation that is unsafe unless you have proper training and equipment.</a:t>
            </a:r>
          </a:p>
        </p:txBody>
      </p:sp>
    </p:spTree>
    <p:extLst>
      <p:ext uri="{BB962C8B-B14F-4D97-AF65-F5344CB8AC3E}">
        <p14:creationId xmlns:p14="http://schemas.microsoft.com/office/powerpoint/2010/main" val="365741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a:extLst>
              <a:ext uri="{FF2B5EF4-FFF2-40B4-BE49-F238E27FC236}">
                <a16:creationId xmlns:a16="http://schemas.microsoft.com/office/drawing/2014/main" id="{D44E1B04-97D9-6345-81B1-DCFA46FCAC8B}"/>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(1 of 3)</a:t>
            </a:r>
          </a:p>
        </p:txBody>
      </p:sp>
      <p:sp>
        <p:nvSpPr>
          <p:cNvPr id="87042" name="Rectangle 3">
            <a:extLst>
              <a:ext uri="{FF2B5EF4-FFF2-40B4-BE49-F238E27FC236}">
                <a16:creationId xmlns:a16="http://schemas.microsoft.com/office/drawing/2014/main" id="{B54AD864-B400-844C-A9B9-A59C77F5C646}"/>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Stress is a normal part of an EMR’s life.</a:t>
            </a:r>
          </a:p>
          <a:p>
            <a:pPr eaLnBrk="1" hangingPunct="1">
              <a:spcBef>
                <a:spcPct val="35000"/>
              </a:spcBef>
            </a:pPr>
            <a:r>
              <a:rPr lang="en-US" altLang="en-US" dirty="0"/>
              <a:t>Five stages of grief process when dealing with death and dying are denial, anger, bargaining, depression, and acceptance.</a:t>
            </a:r>
          </a:p>
          <a:p>
            <a:pPr eaLnBrk="1" hangingPunct="1">
              <a:spcBef>
                <a:spcPct val="35000"/>
              </a:spcBef>
            </a:pPr>
            <a:r>
              <a:rPr lang="en-US" altLang="en-US" dirty="0"/>
              <a:t>Stress management consists of recognizing, preventing, and reducing critical incident stress.</a:t>
            </a:r>
          </a:p>
          <a:p>
            <a:pPr eaLnBrk="1" hangingPunct="1">
              <a:spcBef>
                <a:spcPct val="35000"/>
              </a:spcBef>
            </a:pPr>
            <a:r>
              <a:rPr lang="en-US" altLang="en-US" dirty="0"/>
              <a:t>According to CRM concept, each member is responsible for maintaining awareness of current patient situation and sharing any critical information with the team leader.</a:t>
            </a:r>
          </a:p>
        </p:txBody>
      </p:sp>
    </p:spTree>
    <p:extLst>
      <p:ext uri="{BB962C8B-B14F-4D97-AF65-F5344CB8AC3E}">
        <p14:creationId xmlns:p14="http://schemas.microsoft.com/office/powerpoint/2010/main" val="381675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a:extLst>
              <a:ext uri="{FF2B5EF4-FFF2-40B4-BE49-F238E27FC236}">
                <a16:creationId xmlns:a16="http://schemas.microsoft.com/office/drawing/2014/main" id="{DCD689FA-A19C-6A45-96F0-658D0C9D327C}"/>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(2 of 3)</a:t>
            </a:r>
          </a:p>
        </p:txBody>
      </p:sp>
      <p:sp>
        <p:nvSpPr>
          <p:cNvPr id="89090" name="Rectangle 3">
            <a:extLst>
              <a:ext uri="{FF2B5EF4-FFF2-40B4-BE49-F238E27FC236}">
                <a16:creationId xmlns:a16="http://schemas.microsoft.com/office/drawing/2014/main" id="{3A45FA98-5A64-9343-A128-EB3D59647E6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You should understand how airborne and bloodborne diseases are spread and how standard precautions prevent spread of infection.</a:t>
            </a:r>
          </a:p>
        </p:txBody>
      </p:sp>
    </p:spTree>
    <p:extLst>
      <p:ext uri="{BB962C8B-B14F-4D97-AF65-F5344CB8AC3E}">
        <p14:creationId xmlns:p14="http://schemas.microsoft.com/office/powerpoint/2010/main" val="2616386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a:extLst>
              <a:ext uri="{FF2B5EF4-FFF2-40B4-BE49-F238E27FC236}">
                <a16:creationId xmlns:a16="http://schemas.microsoft.com/office/drawing/2014/main" id="{C777B8B0-5214-414C-80C4-A44E29CB5E2A}"/>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(3 of 3)</a:t>
            </a:r>
          </a:p>
        </p:txBody>
      </p:sp>
      <p:sp>
        <p:nvSpPr>
          <p:cNvPr id="91138" name="Rectangle 3">
            <a:extLst>
              <a:ext uri="{FF2B5EF4-FFF2-40B4-BE49-F238E27FC236}">
                <a16:creationId xmlns:a16="http://schemas.microsoft.com/office/drawing/2014/main" id="{A972F5DA-D099-9D47-A6AE-7FFC1F27CDD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 you arrive on the scene of a collision or illness, you must assess scene for hazards, including traffic, crime, crowds, unstable objects, sharp objects, electrical problems, fire, hazardous materials, animals, environmental conditions, special rescue situations, and infectious disease exposure.</a:t>
            </a:r>
          </a:p>
        </p:txBody>
      </p:sp>
    </p:spTree>
    <p:extLst>
      <p:ext uri="{BB962C8B-B14F-4D97-AF65-F5344CB8AC3E}">
        <p14:creationId xmlns:p14="http://schemas.microsoft.com/office/powerpoint/2010/main" val="149203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a:extLst>
              <a:ext uri="{FF2B5EF4-FFF2-40B4-BE49-F238E27FC236}">
                <a16:creationId xmlns:a16="http://schemas.microsoft.com/office/drawing/2014/main" id="{479DAC01-4E7E-4745-848E-3C98179DCC53}"/>
              </a:ext>
            </a:extLst>
          </p:cNvPr>
          <p:cNvSpPr>
            <a:spLocks noGrp="1" noChangeArrowheads="1"/>
          </p:cNvSpPr>
          <p:nvPr>
            <p:ph type="title"/>
          </p:nvPr>
        </p:nvSpPr>
        <p:spPr/>
        <p:txBody>
          <a:bodyPr/>
          <a:lstStyle/>
          <a:p>
            <a:pPr eaLnBrk="1" hangingPunct="1">
              <a:lnSpc>
                <a:spcPct val="85000"/>
              </a:lnSpc>
              <a:defRPr/>
            </a:pPr>
            <a:r>
              <a:rPr lang="en-US" altLang="en-US" dirty="0"/>
              <a:t>Review </a:t>
            </a:r>
          </a:p>
        </p:txBody>
      </p:sp>
      <p:sp>
        <p:nvSpPr>
          <p:cNvPr id="93186" name="Rectangle 3">
            <a:extLst>
              <a:ext uri="{FF2B5EF4-FFF2-40B4-BE49-F238E27FC236}">
                <a16:creationId xmlns:a16="http://schemas.microsoft.com/office/drawing/2014/main" id="{28124F8F-C4B9-554A-B358-65D55333325C}"/>
              </a:ext>
            </a:extLst>
          </p:cNvPr>
          <p:cNvSpPr>
            <a:spLocks noGrp="1" noChangeArrowheads="1"/>
          </p:cNvSpPr>
          <p:nvPr>
            <p:ph type="body" idx="1"/>
          </p:nvPr>
        </p:nvSpPr>
        <p:spPr>
          <a:xfrm>
            <a:off x="838200" y="1524000"/>
            <a:ext cx="77724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AutoNum type="arabicPeriod"/>
            </a:pPr>
            <a:r>
              <a:rPr lang="en-US" altLang="en-US" dirty="0"/>
              <a:t>Common signs or symptoms of stress include: </a:t>
            </a:r>
          </a:p>
          <a:p>
            <a:pPr lvl="1" eaLnBrk="1" hangingPunct="1">
              <a:spcBef>
                <a:spcPct val="35000"/>
              </a:spcBef>
              <a:buFontTx/>
              <a:buAutoNum type="alphaUcPeriod"/>
            </a:pPr>
            <a:r>
              <a:rPr lang="en-US" altLang="en-US" dirty="0"/>
              <a:t> increased appetite. </a:t>
            </a:r>
          </a:p>
          <a:p>
            <a:pPr lvl="1" eaLnBrk="1" hangingPunct="1">
              <a:spcBef>
                <a:spcPct val="35000"/>
              </a:spcBef>
              <a:buFontTx/>
              <a:buAutoNum type="alphaUcPeriod"/>
            </a:pPr>
            <a:r>
              <a:rPr lang="en-US" altLang="en-US" dirty="0"/>
              <a:t> decreased muscle tension. </a:t>
            </a:r>
          </a:p>
          <a:p>
            <a:pPr lvl="1" eaLnBrk="1" hangingPunct="1">
              <a:spcBef>
                <a:spcPct val="35000"/>
              </a:spcBef>
              <a:buFontTx/>
              <a:buAutoNum type="alphaUcPeriod"/>
            </a:pPr>
            <a:r>
              <a:rPr lang="en-US" altLang="en-US" dirty="0"/>
              <a:t> greater ability to think clearly. </a:t>
            </a:r>
          </a:p>
          <a:p>
            <a:pPr lvl="1" eaLnBrk="1" hangingPunct="1">
              <a:spcBef>
                <a:spcPct val="35000"/>
              </a:spcBef>
              <a:buFontTx/>
              <a:buAutoNum type="alphaUcPeriod"/>
            </a:pPr>
            <a:r>
              <a:rPr lang="en-US" altLang="en-US" dirty="0"/>
              <a:t> irritability. </a:t>
            </a:r>
          </a:p>
        </p:txBody>
      </p:sp>
    </p:spTree>
    <p:extLst>
      <p:ext uri="{BB962C8B-B14F-4D97-AF65-F5344CB8AC3E}">
        <p14:creationId xmlns:p14="http://schemas.microsoft.com/office/powerpoint/2010/main" val="417775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a:extLst>
              <a:ext uri="{FF2B5EF4-FFF2-40B4-BE49-F238E27FC236}">
                <a16:creationId xmlns:a16="http://schemas.microsoft.com/office/drawing/2014/main" id="{907A3B19-5C4E-784C-8E5E-F170B510DDE7}"/>
              </a:ext>
            </a:extLst>
          </p:cNvPr>
          <p:cNvSpPr>
            <a:spLocks noGrp="1" noChangeArrowheads="1"/>
          </p:cNvSpPr>
          <p:nvPr>
            <p:ph type="title"/>
          </p:nvPr>
        </p:nvSpPr>
        <p:spPr/>
        <p:txBody>
          <a:bodyPr/>
          <a:lstStyle/>
          <a:p>
            <a:pPr eaLnBrk="1" hangingPunct="1">
              <a:lnSpc>
                <a:spcPct val="85000"/>
              </a:lnSpc>
              <a:defRPr/>
            </a:pPr>
            <a:r>
              <a:rPr lang="en-US" altLang="en-US" dirty="0"/>
              <a:t>Review</a:t>
            </a:r>
          </a:p>
        </p:txBody>
      </p:sp>
      <p:sp>
        <p:nvSpPr>
          <p:cNvPr id="49155" name="Rectangle 3">
            <a:extLst>
              <a:ext uri="{FF2B5EF4-FFF2-40B4-BE49-F238E27FC236}">
                <a16:creationId xmlns:a16="http://schemas.microsoft.com/office/drawing/2014/main" id="{F4B239F9-9E2B-2D4A-AB77-A083856FBBCD}"/>
              </a:ext>
            </a:extLst>
          </p:cNvPr>
          <p:cNvSpPr>
            <a:spLocks noGrp="1" noChangeArrowheads="1"/>
          </p:cNvSpPr>
          <p:nvPr>
            <p:ph type="body" idx="1"/>
          </p:nvPr>
        </p:nvSpPr>
        <p:spPr/>
        <p:txBody>
          <a:bodyPr vert="horz" lIns="91440" tIns="45720" rIns="228600" bIns="45720" rtlCol="0">
            <a:noAutofit/>
          </a:bodyPr>
          <a:lstStyle/>
          <a:p>
            <a:pPr eaLnBrk="1" hangingPunct="1">
              <a:buFontTx/>
              <a:buNone/>
              <a:defRPr/>
            </a:pPr>
            <a:r>
              <a:rPr lang="en-US" altLang="en-US" b="1" dirty="0"/>
              <a:t>Answer: </a:t>
            </a:r>
          </a:p>
          <a:p>
            <a:pPr eaLnBrk="1" hangingPunct="1">
              <a:spcBef>
                <a:spcPct val="35000"/>
              </a:spcBef>
              <a:buFontTx/>
              <a:buNone/>
              <a:defRPr/>
            </a:pPr>
            <a:r>
              <a:rPr lang="en-US" altLang="en-US" b="1" dirty="0">
                <a:solidFill>
                  <a:schemeClr val="accent3"/>
                </a:solidFill>
              </a:rPr>
              <a:t>D. irritability. </a:t>
            </a:r>
          </a:p>
        </p:txBody>
      </p:sp>
    </p:spTree>
    <p:extLst>
      <p:ext uri="{BB962C8B-B14F-4D97-AF65-F5344CB8AC3E}">
        <p14:creationId xmlns:p14="http://schemas.microsoft.com/office/powerpoint/2010/main" val="2018766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a:extLst>
              <a:ext uri="{FF2B5EF4-FFF2-40B4-BE49-F238E27FC236}">
                <a16:creationId xmlns:a16="http://schemas.microsoft.com/office/drawing/2014/main" id="{9AA500A6-270D-814A-8510-0F9CFB6984C8}"/>
              </a:ext>
            </a:extLst>
          </p:cNvPr>
          <p:cNvSpPr>
            <a:spLocks noGrp="1" noChangeArrowheads="1"/>
          </p:cNvSpPr>
          <p:nvPr>
            <p:ph type="title"/>
          </p:nvPr>
        </p:nvSpPr>
        <p:spPr/>
        <p:txBody>
          <a:bodyPr/>
          <a:lstStyle/>
          <a:p>
            <a:pPr eaLnBrk="1" hangingPunct="1">
              <a:lnSpc>
                <a:spcPct val="85000"/>
              </a:lnSpc>
              <a:defRPr/>
            </a:pPr>
            <a:r>
              <a:rPr lang="en-US" altLang="en-US" dirty="0"/>
              <a:t>Review</a:t>
            </a:r>
          </a:p>
        </p:txBody>
      </p:sp>
      <p:sp>
        <p:nvSpPr>
          <p:cNvPr id="97282" name="Rectangle 3">
            <a:extLst>
              <a:ext uri="{FF2B5EF4-FFF2-40B4-BE49-F238E27FC236}">
                <a16:creationId xmlns:a16="http://schemas.microsoft.com/office/drawing/2014/main" id="{690B7F94-3D22-AB45-940C-2C0DDA16E25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2"/>
            </a:pPr>
            <a:r>
              <a:rPr lang="en-US" altLang="en-US"/>
              <a:t>You are called to a scene that seems unsafe. What is your best course of action? </a:t>
            </a:r>
          </a:p>
          <a:p>
            <a:pPr marL="1028700" lvl="1" indent="-457200">
              <a:spcBef>
                <a:spcPct val="35000"/>
              </a:spcBef>
              <a:buFontTx/>
              <a:buAutoNum type="alphaUcPeriod"/>
            </a:pPr>
            <a:r>
              <a:rPr lang="en-US" altLang="en-US"/>
              <a:t>Refuse to respond.</a:t>
            </a:r>
          </a:p>
          <a:p>
            <a:pPr marL="1028700" lvl="1" indent="-457200">
              <a:spcBef>
                <a:spcPct val="35000"/>
              </a:spcBef>
              <a:buFontTx/>
              <a:buAutoNum type="alphaUcPeriod"/>
            </a:pPr>
            <a:r>
              <a:rPr lang="en-US" altLang="en-US"/>
              <a:t>Wait at a safe distance and request law enforcement.</a:t>
            </a:r>
          </a:p>
          <a:p>
            <a:pPr marL="1028700" lvl="1" indent="-457200">
              <a:spcBef>
                <a:spcPct val="35000"/>
              </a:spcBef>
              <a:buFontTx/>
              <a:buAutoNum type="alphaUcPeriod"/>
            </a:pPr>
            <a:r>
              <a:rPr lang="en-US" altLang="en-US"/>
              <a:t>Proceed to the patient, but with caution.</a:t>
            </a:r>
          </a:p>
          <a:p>
            <a:pPr marL="1028700" lvl="1" indent="-457200">
              <a:spcBef>
                <a:spcPct val="35000"/>
              </a:spcBef>
              <a:buFontTx/>
              <a:buAutoNum type="alphaUcPeriod"/>
            </a:pPr>
            <a:r>
              <a:rPr lang="en-US" altLang="en-US"/>
              <a:t>Put the needs of the patient ahead of your safety.</a:t>
            </a:r>
          </a:p>
        </p:txBody>
      </p:sp>
    </p:spTree>
    <p:extLst>
      <p:ext uri="{BB962C8B-B14F-4D97-AF65-F5344CB8AC3E}">
        <p14:creationId xmlns:p14="http://schemas.microsoft.com/office/powerpoint/2010/main" val="2654174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a:extLst>
              <a:ext uri="{FF2B5EF4-FFF2-40B4-BE49-F238E27FC236}">
                <a16:creationId xmlns:a16="http://schemas.microsoft.com/office/drawing/2014/main" id="{01B1C797-61FB-4942-B926-A05C8C7C135B}"/>
              </a:ext>
            </a:extLst>
          </p:cNvPr>
          <p:cNvSpPr>
            <a:spLocks noGrp="1" noChangeArrowheads="1"/>
          </p:cNvSpPr>
          <p:nvPr>
            <p:ph type="title"/>
          </p:nvPr>
        </p:nvSpPr>
        <p:spPr/>
        <p:txBody>
          <a:bodyPr/>
          <a:lstStyle/>
          <a:p>
            <a:pPr eaLnBrk="1" hangingPunct="1">
              <a:lnSpc>
                <a:spcPct val="85000"/>
              </a:lnSpc>
              <a:defRPr/>
            </a:pPr>
            <a:r>
              <a:rPr lang="en-US" altLang="en-US" dirty="0"/>
              <a:t>Review</a:t>
            </a:r>
          </a:p>
        </p:txBody>
      </p:sp>
      <p:sp>
        <p:nvSpPr>
          <p:cNvPr id="51203" name="Rectangle 3">
            <a:extLst>
              <a:ext uri="{FF2B5EF4-FFF2-40B4-BE49-F238E27FC236}">
                <a16:creationId xmlns:a16="http://schemas.microsoft.com/office/drawing/2014/main" id="{9F086A52-8141-3D4A-BBFD-5DA19F3BB586}"/>
              </a:ext>
            </a:extLst>
          </p:cNvPr>
          <p:cNvSpPr>
            <a:spLocks noGrp="1" noChangeArrowheads="1"/>
          </p:cNvSpPr>
          <p:nvPr>
            <p:ph type="body" idx="1"/>
          </p:nvPr>
        </p:nvSpPr>
        <p:spPr/>
        <p:txBody>
          <a:bodyPr vert="horz" lIns="91440" tIns="45720" rIns="228600" bIns="45720" rtlCol="0">
            <a:noAutofit/>
          </a:bodyPr>
          <a:lstStyle/>
          <a:p>
            <a:pPr marL="457200" indent="-457200">
              <a:buNone/>
              <a:tabLst>
                <a:tab pos="457200" algn="l"/>
              </a:tabLst>
              <a:defRPr/>
            </a:pPr>
            <a:r>
              <a:rPr lang="en-US" altLang="en-US" b="1" dirty="0"/>
              <a:t>Answer: </a:t>
            </a:r>
          </a:p>
          <a:p>
            <a:pPr marL="457200" indent="-457200">
              <a:spcBef>
                <a:spcPct val="35000"/>
              </a:spcBef>
              <a:buNone/>
              <a:tabLst>
                <a:tab pos="457200" algn="l"/>
              </a:tabLst>
              <a:defRPr/>
            </a:pPr>
            <a:r>
              <a:rPr lang="en-US" altLang="en-US" b="1" dirty="0">
                <a:solidFill>
                  <a:schemeClr val="accent3"/>
                </a:solidFill>
              </a:rPr>
              <a:t>B.	Wait at a safe distance and request law enforcement.</a:t>
            </a:r>
          </a:p>
        </p:txBody>
      </p:sp>
    </p:spTree>
    <p:extLst>
      <p:ext uri="{BB962C8B-B14F-4D97-AF65-F5344CB8AC3E}">
        <p14:creationId xmlns:p14="http://schemas.microsoft.com/office/powerpoint/2010/main" val="3313151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a:extLst>
              <a:ext uri="{FF2B5EF4-FFF2-40B4-BE49-F238E27FC236}">
                <a16:creationId xmlns:a16="http://schemas.microsoft.com/office/drawing/2014/main" id="{5E54903C-EEB7-FA43-8584-6B1D95F4EF2F}"/>
              </a:ext>
            </a:extLst>
          </p:cNvPr>
          <p:cNvSpPr>
            <a:spLocks noGrp="1" noChangeArrowheads="1"/>
          </p:cNvSpPr>
          <p:nvPr>
            <p:ph type="title"/>
          </p:nvPr>
        </p:nvSpPr>
        <p:spPr/>
        <p:txBody>
          <a:bodyPr/>
          <a:lstStyle/>
          <a:p>
            <a:pPr eaLnBrk="1" hangingPunct="1">
              <a:lnSpc>
                <a:spcPct val="85000"/>
              </a:lnSpc>
              <a:defRPr/>
            </a:pPr>
            <a:r>
              <a:rPr lang="en-US" altLang="en-US" dirty="0"/>
              <a:t>Review</a:t>
            </a:r>
          </a:p>
        </p:txBody>
      </p:sp>
      <p:sp>
        <p:nvSpPr>
          <p:cNvPr id="101378" name="Rectangle 3">
            <a:extLst>
              <a:ext uri="{FF2B5EF4-FFF2-40B4-BE49-F238E27FC236}">
                <a16:creationId xmlns:a16="http://schemas.microsoft.com/office/drawing/2014/main" id="{4FFF8FA0-D35D-C24C-8754-9397EE6B874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3"/>
            </a:pPr>
            <a:r>
              <a:rPr lang="en-US" altLang="en-US" dirty="0"/>
              <a:t>Which of the following is </a:t>
            </a:r>
            <a:r>
              <a:rPr lang="en-US" altLang="en-US" i="1" dirty="0"/>
              <a:t>not</a:t>
            </a:r>
            <a:r>
              <a:rPr lang="en-US" altLang="en-US" dirty="0"/>
              <a:t> a consideration when responding to an emergency scene?</a:t>
            </a:r>
          </a:p>
          <a:p>
            <a:pPr marL="1028700" lvl="1" indent="-457200">
              <a:spcBef>
                <a:spcPct val="35000"/>
              </a:spcBef>
              <a:buFontTx/>
              <a:buAutoNum type="alphaUcPeriod"/>
            </a:pPr>
            <a:r>
              <a:rPr lang="en-US" altLang="en-US" dirty="0"/>
              <a:t>Road conditions </a:t>
            </a:r>
          </a:p>
          <a:p>
            <a:pPr marL="1028700" lvl="1" indent="-457200">
              <a:spcBef>
                <a:spcPct val="35000"/>
              </a:spcBef>
              <a:buFontTx/>
              <a:buAutoNum type="alphaUcPeriod"/>
            </a:pPr>
            <a:r>
              <a:rPr lang="en-US" altLang="en-US" dirty="0"/>
              <a:t>Other drivers on the road </a:t>
            </a:r>
          </a:p>
          <a:p>
            <a:pPr marL="1028700" lvl="1" indent="-457200">
              <a:spcBef>
                <a:spcPct val="35000"/>
              </a:spcBef>
              <a:buFontTx/>
              <a:buAutoNum type="alphaUcPeriod"/>
            </a:pPr>
            <a:r>
              <a:rPr lang="en-US" altLang="en-US" dirty="0"/>
              <a:t>Personal safety, such as a seatbelt </a:t>
            </a:r>
          </a:p>
          <a:p>
            <a:pPr marL="1028700" lvl="1" indent="-457200">
              <a:spcBef>
                <a:spcPct val="35000"/>
              </a:spcBef>
              <a:buFontTx/>
              <a:buAutoNum type="alphaUcPeriod"/>
            </a:pPr>
            <a:r>
              <a:rPr lang="en-US" altLang="en-US" dirty="0"/>
              <a:t>Always using lights and sirens </a:t>
            </a:r>
          </a:p>
        </p:txBody>
      </p:sp>
    </p:spTree>
    <p:extLst>
      <p:ext uri="{BB962C8B-B14F-4D97-AF65-F5344CB8AC3E}">
        <p14:creationId xmlns:p14="http://schemas.microsoft.com/office/powerpoint/2010/main" val="1807520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a:extLst>
              <a:ext uri="{FF2B5EF4-FFF2-40B4-BE49-F238E27FC236}">
                <a16:creationId xmlns:a16="http://schemas.microsoft.com/office/drawing/2014/main" id="{6424470D-B1AA-7044-A54C-D89A73265706}"/>
              </a:ext>
            </a:extLst>
          </p:cNvPr>
          <p:cNvSpPr>
            <a:spLocks noGrp="1" noChangeArrowheads="1"/>
          </p:cNvSpPr>
          <p:nvPr>
            <p:ph type="title"/>
          </p:nvPr>
        </p:nvSpPr>
        <p:spPr/>
        <p:txBody>
          <a:bodyPr/>
          <a:lstStyle/>
          <a:p>
            <a:pPr eaLnBrk="1" hangingPunct="1">
              <a:lnSpc>
                <a:spcPct val="85000"/>
              </a:lnSpc>
              <a:defRPr/>
            </a:pPr>
            <a:r>
              <a:rPr lang="en-US" altLang="en-US" dirty="0"/>
              <a:t>Review</a:t>
            </a:r>
          </a:p>
        </p:txBody>
      </p:sp>
      <p:sp>
        <p:nvSpPr>
          <p:cNvPr id="53251" name="Rectangle 3">
            <a:extLst>
              <a:ext uri="{FF2B5EF4-FFF2-40B4-BE49-F238E27FC236}">
                <a16:creationId xmlns:a16="http://schemas.microsoft.com/office/drawing/2014/main" id="{5B38E197-B6D8-054E-A6FB-30BB667B1514}"/>
              </a:ext>
            </a:extLst>
          </p:cNvPr>
          <p:cNvSpPr>
            <a:spLocks noGrp="1" noChangeArrowheads="1"/>
          </p:cNvSpPr>
          <p:nvPr>
            <p:ph type="body" idx="1"/>
          </p:nvPr>
        </p:nvSpPr>
        <p:spPr/>
        <p:txBody>
          <a:bodyPr vert="horz" lIns="91440" tIns="45720" rIns="228600" bIns="45720" rtlCol="0">
            <a:noAutofit/>
          </a:bodyPr>
          <a:lstStyle/>
          <a:p>
            <a:pPr eaLnBrk="1" hangingPunct="1">
              <a:buFontTx/>
              <a:buNone/>
              <a:defRPr/>
            </a:pPr>
            <a:r>
              <a:rPr lang="en-US" altLang="en-US" b="1" dirty="0"/>
              <a:t>Answer: </a:t>
            </a:r>
          </a:p>
          <a:p>
            <a:pPr eaLnBrk="1" hangingPunct="1">
              <a:spcBef>
                <a:spcPct val="35000"/>
              </a:spcBef>
              <a:buFontTx/>
              <a:buNone/>
              <a:defRPr/>
            </a:pPr>
            <a:r>
              <a:rPr lang="en-US" altLang="en-US" b="1" dirty="0">
                <a:solidFill>
                  <a:schemeClr val="accent3"/>
                </a:solidFill>
              </a:rPr>
              <a:t>D.</a:t>
            </a:r>
            <a:r>
              <a:rPr lang="en-US" altLang="en-US" b="1" dirty="0">
                <a:solidFill>
                  <a:srgbClr val="8C2F01"/>
                </a:solidFill>
              </a:rPr>
              <a:t> </a:t>
            </a:r>
            <a:r>
              <a:rPr lang="en-US" altLang="en-US" b="1" dirty="0"/>
              <a:t>A</a:t>
            </a:r>
            <a:r>
              <a:rPr lang="en-US" altLang="en-US" b="1" dirty="0">
                <a:solidFill>
                  <a:schemeClr val="accent3"/>
                </a:solidFill>
              </a:rPr>
              <a:t>lways using lights and sirens</a:t>
            </a:r>
          </a:p>
        </p:txBody>
      </p:sp>
    </p:spTree>
    <p:extLst>
      <p:ext uri="{BB962C8B-B14F-4D97-AF65-F5344CB8AC3E}">
        <p14:creationId xmlns:p14="http://schemas.microsoft.com/office/powerpoint/2010/main" val="3632182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TAPL_PPTx_template" id="{4E94D904-A370-A547-A421-E2EDEF91E72E}" vid="{303F4BD5-E208-0C4A-A0D7-FA535DEBCE4F}"/>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Educational subjects 16x9</Template>
  <TotalTime>470</TotalTime>
  <Words>7677</Words>
  <Application>Microsoft Macintosh PowerPoint</Application>
  <PresentationFormat>Widescreen</PresentationFormat>
  <Paragraphs>588</Paragraphs>
  <Slides>50</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Arial Black</vt:lpstr>
      <vt:lpstr>Calibri</vt:lpstr>
      <vt:lpstr>Wingdings</vt:lpstr>
      <vt:lpstr>Educational subjects 16x9</vt:lpstr>
      <vt:lpstr>Workplace Safety and Wellness</vt:lpstr>
      <vt:lpstr>National EMS Education Standard Competencies (1 of 4)</vt:lpstr>
      <vt:lpstr>National EMS Education Standard Competencies (2 of 4)</vt:lpstr>
      <vt:lpstr>National EMS Education Standard Competencies (3 of 4)</vt:lpstr>
      <vt:lpstr>National EMS Education Standard Competencies (4 of 4)</vt:lpstr>
      <vt:lpstr>Introduction</vt:lpstr>
      <vt:lpstr>Emotional Aspects of Emergency Medical Care (1 of 3)</vt:lpstr>
      <vt:lpstr>Emotional Aspects of Emergency Medical Care (2 of 3)</vt:lpstr>
      <vt:lpstr>Emotional Aspects of Emergency Medical Care (3 of 3)</vt:lpstr>
      <vt:lpstr>Normal Reactions to Stress </vt:lpstr>
      <vt:lpstr>Stress Management (1 of 7)</vt:lpstr>
      <vt:lpstr>Stress Management (2 of 7)</vt:lpstr>
      <vt:lpstr>Stress Management (3 of 7)</vt:lpstr>
      <vt:lpstr>Stress Management (4 of 7)</vt:lpstr>
      <vt:lpstr>Stress Management (5 of 7)</vt:lpstr>
      <vt:lpstr>Stress Management (6 of 7)</vt:lpstr>
      <vt:lpstr>Stress Management (7 of 7)</vt:lpstr>
      <vt:lpstr>Crew Resource Management (CRM)</vt:lpstr>
      <vt:lpstr>Workforce Safety</vt:lpstr>
      <vt:lpstr>Infectious Diseases </vt:lpstr>
      <vt:lpstr>Methods of Disease Transmission (1 of 4)</vt:lpstr>
      <vt:lpstr>Methods of Disease Transmission (2 of 4)</vt:lpstr>
      <vt:lpstr>Methods of Disease Transmission (3 of 4)</vt:lpstr>
      <vt:lpstr>Methods of Disease Transmission (4 of 4)</vt:lpstr>
      <vt:lpstr>Standard Precautions (1 of 2)</vt:lpstr>
      <vt:lpstr>Standard Precautions (2 of 2)</vt:lpstr>
      <vt:lpstr>Personal Protective Equipment (PPE) (1 of 2)</vt:lpstr>
      <vt:lpstr>Personal Protective Equipment (PPE) (2 of 2)</vt:lpstr>
      <vt:lpstr>Immunizations</vt:lpstr>
      <vt:lpstr>Responding to Scene (1 of 4)</vt:lpstr>
      <vt:lpstr>Responding to Scene (2 of 4)</vt:lpstr>
      <vt:lpstr>Responding to Scene (3 of 4)</vt:lpstr>
      <vt:lpstr>Responding to Scene (4 of 4)</vt:lpstr>
      <vt:lpstr>Assessing Scene (1 of 8)</vt:lpstr>
      <vt:lpstr>Assessing Scene (2 of 8)</vt:lpstr>
      <vt:lpstr>Assessing Scene (3 of 8)</vt:lpstr>
      <vt:lpstr>Assessing Scene (4 of 8)</vt:lpstr>
      <vt:lpstr>Assessing Scene (5 of 8)</vt:lpstr>
      <vt:lpstr>Assessing Scene (6 of 8)</vt:lpstr>
      <vt:lpstr>Assessing Scene (7 of 8)</vt:lpstr>
      <vt:lpstr>Assessing Scene (8 of 8)</vt:lpstr>
      <vt:lpstr>Summary (1 of 3)</vt:lpstr>
      <vt:lpstr>Summary (2 of 3)</vt:lpstr>
      <vt:lpstr>Summary (3 of 3)</vt:lpstr>
      <vt:lpstr>Review </vt:lpstr>
      <vt:lpstr>Review</vt:lpstr>
      <vt:lpstr>Review</vt:lpstr>
      <vt:lpstr>Review</vt:lpstr>
      <vt:lpstr>Review</vt:lpstr>
      <vt:lpstr>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Bob Elling</dc:creator>
  <cp:lastModifiedBy>Kelly Sylvester</cp:lastModifiedBy>
  <cp:revision>49</cp:revision>
  <dcterms:created xsi:type="dcterms:W3CDTF">2020-07-20T18:35:12Z</dcterms:created>
  <dcterms:modified xsi:type="dcterms:W3CDTF">2020-11-30T21:48:26Z</dcterms:modified>
</cp:coreProperties>
</file>