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57"/>
  </p:notesMasterIdLst>
  <p:handoutMasterIdLst>
    <p:handoutMasterId r:id="rId58"/>
  </p:handoutMasterIdLst>
  <p:sldIdLst>
    <p:sldId id="258" r:id="rId5"/>
    <p:sldId id="784" r:id="rId6"/>
    <p:sldId id="785" r:id="rId7"/>
    <p:sldId id="786" r:id="rId8"/>
    <p:sldId id="787" r:id="rId9"/>
    <p:sldId id="788" r:id="rId10"/>
    <p:sldId id="789" r:id="rId11"/>
    <p:sldId id="790" r:id="rId12"/>
    <p:sldId id="791" r:id="rId13"/>
    <p:sldId id="792" r:id="rId14"/>
    <p:sldId id="793" r:id="rId15"/>
    <p:sldId id="794" r:id="rId16"/>
    <p:sldId id="795" r:id="rId17"/>
    <p:sldId id="796" r:id="rId18"/>
    <p:sldId id="797" r:id="rId19"/>
    <p:sldId id="798" r:id="rId20"/>
    <p:sldId id="799" r:id="rId21"/>
    <p:sldId id="800" r:id="rId22"/>
    <p:sldId id="801" r:id="rId23"/>
    <p:sldId id="802" r:id="rId24"/>
    <p:sldId id="803" r:id="rId25"/>
    <p:sldId id="804" r:id="rId26"/>
    <p:sldId id="805" r:id="rId27"/>
    <p:sldId id="806" r:id="rId28"/>
    <p:sldId id="808" r:id="rId29"/>
    <p:sldId id="809" r:id="rId30"/>
    <p:sldId id="810" r:id="rId31"/>
    <p:sldId id="811" r:id="rId32"/>
    <p:sldId id="812" r:id="rId33"/>
    <p:sldId id="813" r:id="rId34"/>
    <p:sldId id="814" r:id="rId35"/>
    <p:sldId id="815" r:id="rId36"/>
    <p:sldId id="816" r:id="rId37"/>
    <p:sldId id="817" r:id="rId38"/>
    <p:sldId id="818" r:id="rId39"/>
    <p:sldId id="819" r:id="rId40"/>
    <p:sldId id="820" r:id="rId41"/>
    <p:sldId id="821" r:id="rId42"/>
    <p:sldId id="822" r:id="rId43"/>
    <p:sldId id="823" r:id="rId44"/>
    <p:sldId id="824" r:id="rId45"/>
    <p:sldId id="825" r:id="rId46"/>
    <p:sldId id="826" r:id="rId47"/>
    <p:sldId id="827" r:id="rId48"/>
    <p:sldId id="828" r:id="rId49"/>
    <p:sldId id="829" r:id="rId50"/>
    <p:sldId id="830" r:id="rId51"/>
    <p:sldId id="831" r:id="rId52"/>
    <p:sldId id="832" r:id="rId53"/>
    <p:sldId id="833" r:id="rId54"/>
    <p:sldId id="834" r:id="rId55"/>
    <p:sldId id="835"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ather Ehlers" initials="HE"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DAAF4-6CAB-42E9-9482-F78F0CEA4939}" v="21" dt="2020-08-10T15:58:35.98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77551"/>
  </p:normalViewPr>
  <p:slideViewPr>
    <p:cSldViewPr snapToGrid="0">
      <p:cViewPr>
        <p:scale>
          <a:sx n="100" d="100"/>
          <a:sy n="100" d="100"/>
        </p:scale>
        <p:origin x="1864" y="120"/>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en-US" smtClean="0"/>
              <a:pPr/>
              <a:t>1</a:t>
            </a:fld>
            <a:endParaRPr lang="en-US" dirty="0"/>
          </a:p>
        </p:txBody>
      </p:sp>
    </p:spTree>
    <p:extLst>
      <p:ext uri="{BB962C8B-B14F-4D97-AF65-F5344CB8AC3E}">
        <p14:creationId xmlns:p14="http://schemas.microsoft.com/office/powerpoint/2010/main" val="2969738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62AEC8BC-4E1B-6D42-9BF2-2020D0D12E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2C5B56C6-C29A-D54F-936B-F3FBBE0602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Preparatory</a:t>
            </a:r>
          </a:p>
          <a:p>
            <a:r>
              <a:rPr lang="en-US" altLang="en-US"/>
              <a:t>Uses simple knowledge of the emergency medical services (EMS) system, safety/well-being of the emergency medical responder (EMR), and medical/legal issues at the scene of an emergency while awaiting a higher level of care.</a:t>
            </a:r>
          </a:p>
        </p:txBody>
      </p:sp>
      <p:sp>
        <p:nvSpPr>
          <p:cNvPr id="6147" name="Slide Number Placeholder 3">
            <a:extLst>
              <a:ext uri="{FF2B5EF4-FFF2-40B4-BE49-F238E27FC236}">
                <a16:creationId xmlns:a16="http://schemas.microsoft.com/office/drawing/2014/main" id="{9B0863A4-E8C1-5549-B4C2-E4B6987B87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F3663B4-81D4-944B-A37B-E43CD11AD2F0}" type="slidenum">
              <a:rPr lang="en-US" altLang="en-US" sz="1200" smtClean="0"/>
              <a:pPr/>
              <a:t>2</a:t>
            </a:fld>
            <a:endParaRPr lang="en-US" altLang="en-US" sz="1200"/>
          </a:p>
        </p:txBody>
      </p:sp>
    </p:spTree>
    <p:extLst>
      <p:ext uri="{BB962C8B-B14F-4D97-AF65-F5344CB8AC3E}">
        <p14:creationId xmlns:p14="http://schemas.microsoft.com/office/powerpoint/2010/main" val="1122950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a:extLst>
              <a:ext uri="{FF2B5EF4-FFF2-40B4-BE49-F238E27FC236}">
                <a16:creationId xmlns:a16="http://schemas.microsoft.com/office/drawing/2014/main" id="{50F48859-2DCD-664C-819B-C1C6B1D209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Notes Placeholder 2">
            <a:extLst>
              <a:ext uri="{FF2B5EF4-FFF2-40B4-BE49-F238E27FC236}">
                <a16:creationId xmlns:a16="http://schemas.microsoft.com/office/drawing/2014/main" id="{92E298E8-56AD-D444-9866-E0EF4BA767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a:t>EMS Systems</a:t>
            </a:r>
          </a:p>
          <a:p>
            <a:r>
              <a:rPr lang="en-US" altLang="en-US"/>
              <a:t>• EMS systems (pp 3-6)</a:t>
            </a:r>
          </a:p>
          <a:p>
            <a:r>
              <a:rPr lang="en-US" altLang="en-US"/>
              <a:t>• Roles/responsibilities/professionalism of EMS personnel (p 9; p 11)</a:t>
            </a:r>
          </a:p>
          <a:p>
            <a:r>
              <a:rPr lang="en-US" altLang="en-US"/>
              <a:t>• Quality improvement (p 12)</a:t>
            </a:r>
          </a:p>
        </p:txBody>
      </p:sp>
      <p:sp>
        <p:nvSpPr>
          <p:cNvPr id="8195" name="Slide Number Placeholder 3">
            <a:extLst>
              <a:ext uri="{FF2B5EF4-FFF2-40B4-BE49-F238E27FC236}">
                <a16:creationId xmlns:a16="http://schemas.microsoft.com/office/drawing/2014/main" id="{E046D9B4-71E9-9741-AC64-054EAF8C02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67F8578-869E-C14D-9996-E39F3176D680}" type="slidenum">
              <a:rPr lang="en-US" altLang="en-US" sz="1200" smtClean="0"/>
              <a:pPr/>
              <a:t>3</a:t>
            </a:fld>
            <a:endParaRPr lang="en-US" altLang="en-US" sz="1200"/>
          </a:p>
        </p:txBody>
      </p:sp>
    </p:spTree>
    <p:extLst>
      <p:ext uri="{BB962C8B-B14F-4D97-AF65-F5344CB8AC3E}">
        <p14:creationId xmlns:p14="http://schemas.microsoft.com/office/powerpoint/2010/main" val="4228506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a:extLst>
              <a:ext uri="{FF2B5EF4-FFF2-40B4-BE49-F238E27FC236}">
                <a16:creationId xmlns:a16="http://schemas.microsoft.com/office/drawing/2014/main" id="{C5C6B6A8-3C8A-8849-9EAB-645F57989D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2" name="Notes Placeholder 2">
            <a:extLst>
              <a:ext uri="{FF2B5EF4-FFF2-40B4-BE49-F238E27FC236}">
                <a16:creationId xmlns:a16="http://schemas.microsoft.com/office/drawing/2014/main" id="{CD5BF172-77C1-FB40-A18A-0F141D3239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Research</a:t>
            </a:r>
          </a:p>
          <a:p>
            <a:r>
              <a:rPr lang="en-US" altLang="en-US" dirty="0"/>
              <a:t>• Impact of research on EMR care (p 6; p 12)</a:t>
            </a:r>
          </a:p>
          <a:p>
            <a:r>
              <a:rPr lang="en-US" altLang="en-US" dirty="0"/>
              <a:t>• Data collection (p 12)</a:t>
            </a:r>
          </a:p>
          <a:p>
            <a:r>
              <a:rPr lang="en-US" altLang="en-US" b="1" dirty="0"/>
              <a:t>Public Health</a:t>
            </a:r>
          </a:p>
          <a:p>
            <a:r>
              <a:rPr lang="en-US" altLang="en-US" dirty="0"/>
              <a:t>Have an awareness of local public health resources and role EMS personnel play in public health emergencies.</a:t>
            </a:r>
          </a:p>
        </p:txBody>
      </p:sp>
      <p:sp>
        <p:nvSpPr>
          <p:cNvPr id="10243" name="Slide Number Placeholder 3">
            <a:extLst>
              <a:ext uri="{FF2B5EF4-FFF2-40B4-BE49-F238E27FC236}">
                <a16:creationId xmlns:a16="http://schemas.microsoft.com/office/drawing/2014/main" id="{8D1711B7-049C-6446-8DD7-9FCF6115B8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9EC0AD1-ADF5-2C4E-9BCF-F4273643FF6E}" type="slidenum">
              <a:rPr lang="en-US" altLang="en-US" sz="1200" smtClean="0"/>
              <a:pPr/>
              <a:t>4</a:t>
            </a:fld>
            <a:endParaRPr lang="en-US" altLang="en-US" sz="1200"/>
          </a:p>
        </p:txBody>
      </p:sp>
    </p:spTree>
    <p:extLst>
      <p:ext uri="{BB962C8B-B14F-4D97-AF65-F5344CB8AC3E}">
        <p14:creationId xmlns:p14="http://schemas.microsoft.com/office/powerpoint/2010/main" val="138122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a:extLst>
              <a:ext uri="{FF2B5EF4-FFF2-40B4-BE49-F238E27FC236}">
                <a16:creationId xmlns:a16="http://schemas.microsoft.com/office/drawing/2014/main" id="{C54E6537-33AA-D845-9668-E263A6E9F7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9E3559D4-464D-F64C-9213-85A33CFCD7BC}"/>
              </a:ext>
            </a:extLst>
          </p:cNvPr>
          <p:cNvSpPr>
            <a:spLocks noGrp="1"/>
          </p:cNvSpPr>
          <p:nvPr>
            <p:ph type="body" idx="1"/>
          </p:nvPr>
        </p:nvSpPr>
        <p:spPr bwMode="auto"/>
        <p:txBody>
          <a:bodyPr wrap="square" numCol="1" anchor="t" anchorCtr="0" compatLnSpc="1">
            <a:prstTxWarp prst="textNoShape">
              <a:avLst/>
            </a:prstTxWarp>
          </a:bodyPr>
          <a:lstStyle/>
          <a:p>
            <a:pPr>
              <a:defRPr/>
            </a:pPr>
            <a:r>
              <a:rPr lang="en-US" altLang="en-US" dirty="0">
                <a:ea typeface="ＭＳ Ｐゴシック" charset="-128"/>
              </a:rPr>
              <a:t>I. Introduction</a:t>
            </a:r>
          </a:p>
          <a:p>
            <a:pPr>
              <a:defRPr/>
            </a:pPr>
            <a:r>
              <a:rPr lang="en-US" altLang="en-US" dirty="0">
                <a:ea typeface="ＭＳ Ｐゴシック" charset="-128"/>
              </a:rPr>
              <a:t>A.	An emergency medical responder (EMR) is often the first medically trained person to arrive on the scene of an emergency.</a:t>
            </a:r>
          </a:p>
          <a:p>
            <a:pPr>
              <a:defRPr/>
            </a:pPr>
            <a:r>
              <a:rPr lang="en-US" altLang="en-US" dirty="0">
                <a:ea typeface="ＭＳ Ｐゴシック" charset="-128"/>
              </a:rPr>
              <a:t>B.	The initial care you give as an EMR is essential because it is provided before more advanced emergency medical care and could mean the difference between life and death.</a:t>
            </a:r>
          </a:p>
          <a:p>
            <a:pPr marL="228600" indent="-228600">
              <a:buFontTx/>
              <a:buAutoNum type="alphaUcPeriod" startAt="3"/>
              <a:defRPr/>
            </a:pPr>
            <a:r>
              <a:rPr lang="en-US" altLang="en-US" dirty="0">
                <a:ea typeface="ＭＳ Ｐゴシック" charset="-128"/>
              </a:rPr>
              <a:t>     Initial care is usually followed by care given by </a:t>
            </a:r>
          </a:p>
          <a:p>
            <a:pPr>
              <a:defRPr/>
            </a:pPr>
            <a:r>
              <a:rPr lang="en-US" altLang="en-US" dirty="0">
                <a:ea typeface="ＭＳ Ｐゴシック" charset="-128"/>
              </a:rPr>
              <a:t>	1.	Emergency medical technicians (EMTs)</a:t>
            </a:r>
          </a:p>
          <a:p>
            <a:pPr>
              <a:defRPr/>
            </a:pPr>
            <a:r>
              <a:rPr lang="en-US" altLang="en-US" dirty="0">
                <a:ea typeface="ＭＳ Ｐゴシック" charset="-128"/>
              </a:rPr>
              <a:t>	2.	AEMTs and paramedics</a:t>
            </a:r>
          </a:p>
          <a:p>
            <a:pPr>
              <a:defRPr/>
            </a:pPr>
            <a:r>
              <a:rPr lang="en-US" altLang="en-US" dirty="0">
                <a:ea typeface="ＭＳ Ｐゴシック" charset="-128"/>
              </a:rPr>
              <a:t>	3.	Nurses</a:t>
            </a:r>
          </a:p>
          <a:p>
            <a:pPr>
              <a:defRPr/>
            </a:pPr>
            <a:r>
              <a:rPr lang="en-US" altLang="en-US" dirty="0">
                <a:ea typeface="ＭＳ Ｐゴシック" charset="-128"/>
              </a:rPr>
              <a:t>	4.	Physicians</a:t>
            </a:r>
          </a:p>
          <a:p>
            <a:pPr>
              <a:defRPr/>
            </a:pPr>
            <a:r>
              <a:rPr lang="en-US" altLang="en-US" dirty="0">
                <a:ea typeface="ＭＳ Ｐゴシック" charset="-128"/>
              </a:rPr>
              <a:t>	5.	Other allied health professionals</a:t>
            </a:r>
          </a:p>
          <a:p>
            <a:pPr>
              <a:defRPr/>
            </a:pPr>
            <a:endParaRPr lang="en-US" altLang="en-US" dirty="0">
              <a:ea typeface="ＭＳ Ｐゴシック" charset="-128"/>
            </a:endParaRPr>
          </a:p>
        </p:txBody>
      </p:sp>
      <p:sp>
        <p:nvSpPr>
          <p:cNvPr id="12291" name="Slide Number Placeholder 3">
            <a:extLst>
              <a:ext uri="{FF2B5EF4-FFF2-40B4-BE49-F238E27FC236}">
                <a16:creationId xmlns:a16="http://schemas.microsoft.com/office/drawing/2014/main" id="{58106E46-0FAC-CF4B-8D9A-90D246F8D66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5200FED3-FEDE-884E-9C13-40DF5FF388FC}" type="slidenum">
              <a:rPr lang="en-US" altLang="en-US" sz="1200" smtClean="0"/>
              <a:pPr/>
              <a:t>5</a:t>
            </a:fld>
            <a:endParaRPr lang="en-US" altLang="en-US" sz="1200"/>
          </a:p>
        </p:txBody>
      </p:sp>
    </p:spTree>
    <p:extLst>
      <p:ext uri="{BB962C8B-B14F-4D97-AF65-F5344CB8AC3E}">
        <p14:creationId xmlns:p14="http://schemas.microsoft.com/office/powerpoint/2010/main" val="1398973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a:extLst>
              <a:ext uri="{FF2B5EF4-FFF2-40B4-BE49-F238E27FC236}">
                <a16:creationId xmlns:a16="http://schemas.microsoft.com/office/drawing/2014/main" id="{3C7CD99D-4DF4-EE43-B555-D249462DC3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45318144-5369-3344-AC85-1D3E12612651}"/>
              </a:ext>
            </a:extLst>
          </p:cNvPr>
          <p:cNvSpPr>
            <a:spLocks noGrp="1"/>
          </p:cNvSpPr>
          <p:nvPr>
            <p:ph type="body" idx="1"/>
          </p:nvPr>
        </p:nvSpPr>
        <p:spPr bwMode="auto"/>
        <p:txBody>
          <a:bodyPr wrap="square" numCol="1" anchor="t" anchorCtr="0" compatLnSpc="1">
            <a:prstTxWarp prst="textNoShape">
              <a:avLst/>
            </a:prstTxWarp>
          </a:bodyPr>
          <a:lstStyle/>
          <a:p>
            <a:pPr>
              <a:defRPr/>
            </a:pPr>
            <a:r>
              <a:rPr lang="en-US" altLang="en-US" dirty="0">
                <a:ea typeface="ＭＳ Ｐゴシック" panose="020B0600070205080204" pitchFamily="34" charset="-128"/>
              </a:rPr>
              <a:t>II. The EMS System</a:t>
            </a:r>
          </a:p>
          <a:p>
            <a:pPr>
              <a:defRPr/>
            </a:pPr>
            <a:r>
              <a:rPr lang="en-US" altLang="en-US" dirty="0">
                <a:ea typeface="ＭＳ Ｐゴシック" panose="020B0600070205080204" pitchFamily="34" charset="-128"/>
              </a:rPr>
              <a:t>A. 	All agencies and personnel need to share a mutual understanding of their roles for an EMS system to operate smoothly.</a:t>
            </a:r>
          </a:p>
          <a:p>
            <a:pPr>
              <a:defRPr/>
            </a:pPr>
            <a:r>
              <a:rPr lang="en-US" altLang="en-US" dirty="0">
                <a:ea typeface="ＭＳ Ｐゴシック" panose="020B0600070205080204" pitchFamily="34" charset="-128"/>
              </a:rPr>
              <a:t>B. 	Close cooperation, careful planning, and continual effort are needed.</a:t>
            </a:r>
          </a:p>
          <a:p>
            <a:pPr marL="228600" indent="-228600">
              <a:buFontTx/>
              <a:buAutoNum type="alphaUcPeriod" startAt="3"/>
              <a:defRPr/>
            </a:pPr>
            <a:r>
              <a:rPr lang="en-US" altLang="en-US" dirty="0">
                <a:ea typeface="ＭＳ Ｐゴシック" panose="020B0600070205080204" pitchFamily="34" charset="-128"/>
              </a:rPr>
              <a:t>     To best understand the EMS system, follow the sequence of events as an injured or ill patient moves through the system. </a:t>
            </a:r>
          </a:p>
          <a:p>
            <a:pPr>
              <a:defRPr/>
            </a:pPr>
            <a:endParaRPr lang="en-US" altLang="en-US" dirty="0">
              <a:ea typeface="ＭＳ Ｐゴシック" panose="020B0600070205080204" pitchFamily="34" charset="-128"/>
            </a:endParaRPr>
          </a:p>
          <a:p>
            <a:pPr>
              <a:defRPr/>
            </a:pPr>
            <a:r>
              <a:rPr lang="en-US" altLang="en-US" dirty="0">
                <a:ea typeface="ＭＳ Ｐゴシック" panose="020B0600070205080204" pitchFamily="34" charset="-128"/>
              </a:rPr>
              <a:t>Figure: The EMS system.</a:t>
            </a:r>
          </a:p>
          <a:p>
            <a:pPr>
              <a:defRPr/>
            </a:pPr>
            <a:endParaRPr lang="en-US" altLang="en-US" dirty="0">
              <a:ea typeface="ＭＳ Ｐゴシック" panose="020B0600070205080204" pitchFamily="34" charset="-128"/>
            </a:endParaRPr>
          </a:p>
        </p:txBody>
      </p:sp>
      <p:sp>
        <p:nvSpPr>
          <p:cNvPr id="14339" name="Slide Number Placeholder 3">
            <a:extLst>
              <a:ext uri="{FF2B5EF4-FFF2-40B4-BE49-F238E27FC236}">
                <a16:creationId xmlns:a16="http://schemas.microsoft.com/office/drawing/2014/main" id="{0D01FDC1-E3A9-3C49-911F-C41A785651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5E0E2483-238C-4044-A10F-4459C5D51950}" type="slidenum">
              <a:rPr lang="en-US" altLang="en-US" sz="1200" smtClean="0"/>
              <a:pPr/>
              <a:t>6</a:t>
            </a:fld>
            <a:endParaRPr lang="en-US" altLang="en-US" sz="1200"/>
          </a:p>
        </p:txBody>
      </p:sp>
    </p:spTree>
    <p:extLst>
      <p:ext uri="{BB962C8B-B14F-4D97-AF65-F5344CB8AC3E}">
        <p14:creationId xmlns:p14="http://schemas.microsoft.com/office/powerpoint/2010/main" val="2160610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060A5B1B-E063-1141-B8AF-078962A1B1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157C0FD1-79FF-9648-BB36-AE7F30F3F3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1. 	Reporting</a:t>
            </a:r>
          </a:p>
          <a:p>
            <a:r>
              <a:rPr lang="en-US" altLang="en-US"/>
              <a:t>	a.	A report of an incident activates the EMS system.</a:t>
            </a:r>
          </a:p>
          <a:p>
            <a:r>
              <a:rPr lang="en-US" altLang="en-US"/>
              <a:t>	b.	An emergency response communications center or public safety answering point (PSAP) usually receives the telephone call reporting an incident.</a:t>
            </a:r>
          </a:p>
          <a:p>
            <a:pPr marL="685800" lvl="1" indent="-228600">
              <a:buFontTx/>
              <a:buAutoNum type="alphaLcPeriod" startAt="3"/>
            </a:pPr>
            <a:r>
              <a:rPr lang="en-US" altLang="en-US"/>
              <a:t>     Enhanced 9-1-1 centers use computers to determine the location of landline telephones.</a:t>
            </a:r>
          </a:p>
          <a:p>
            <a:endParaRPr lang="en-US" altLang="en-US"/>
          </a:p>
          <a:p>
            <a:r>
              <a:rPr lang="en-US" altLang="en-US"/>
              <a:t>Figure: Reporting an emergency.</a:t>
            </a:r>
          </a:p>
          <a:p>
            <a:endParaRPr lang="en-US" altLang="en-US"/>
          </a:p>
        </p:txBody>
      </p:sp>
      <p:sp>
        <p:nvSpPr>
          <p:cNvPr id="16387" name="Slide Number Placeholder 3">
            <a:extLst>
              <a:ext uri="{FF2B5EF4-FFF2-40B4-BE49-F238E27FC236}">
                <a16:creationId xmlns:a16="http://schemas.microsoft.com/office/drawing/2014/main" id="{F6173345-3B42-C141-A89A-023D553498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67C407D2-27B0-114F-BACE-A740B97F11F9}" type="slidenum">
              <a:rPr lang="en-US" altLang="en-US" sz="1200" smtClean="0"/>
              <a:pPr/>
              <a:t>7</a:t>
            </a:fld>
            <a:endParaRPr lang="en-US" altLang="en-US" sz="1200"/>
          </a:p>
        </p:txBody>
      </p:sp>
    </p:spTree>
    <p:extLst>
      <p:ext uri="{BB962C8B-B14F-4D97-AF65-F5344CB8AC3E}">
        <p14:creationId xmlns:p14="http://schemas.microsoft.com/office/powerpoint/2010/main" val="2547254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9806BE59-C280-694F-BC63-8910CF760D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a:extLst>
              <a:ext uri="{FF2B5EF4-FFF2-40B4-BE49-F238E27FC236}">
                <a16:creationId xmlns:a16="http://schemas.microsoft.com/office/drawing/2014/main" id="{7182AA33-9B1D-3F43-957A-4FD64CAA52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2. 	Dispatch</a:t>
            </a:r>
          </a:p>
          <a:p>
            <a:r>
              <a:rPr lang="en-US" altLang="en-US"/>
              <a:t>	a.	Appropriate equipment and personnel are dispatched to the scene.</a:t>
            </a:r>
          </a:p>
          <a:p>
            <a:r>
              <a:rPr lang="en-US" altLang="en-US"/>
              <a:t>	b.	Dispatch may occur by landline telephone, cellular phone, pager, public safety radio system, computer, or other means.</a:t>
            </a:r>
          </a:p>
          <a:p>
            <a:r>
              <a:rPr lang="en-US" altLang="en-US"/>
              <a:t>	c.	Agencies, personnel, and equipment that are involved in the first response vary by community.</a:t>
            </a:r>
          </a:p>
          <a:p>
            <a:endParaRPr lang="en-US" altLang="en-US"/>
          </a:p>
          <a:p>
            <a:r>
              <a:rPr lang="en-US" altLang="en-US"/>
              <a:t>Figure: An emergency response communications center receives the call.</a:t>
            </a:r>
          </a:p>
        </p:txBody>
      </p:sp>
      <p:sp>
        <p:nvSpPr>
          <p:cNvPr id="18435" name="Slide Number Placeholder 3">
            <a:extLst>
              <a:ext uri="{FF2B5EF4-FFF2-40B4-BE49-F238E27FC236}">
                <a16:creationId xmlns:a16="http://schemas.microsoft.com/office/drawing/2014/main" id="{24F54668-6D74-D946-BF83-9F35BE0AA1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8337C547-FB2E-784F-9BDE-92C87D66006F}" type="slidenum">
              <a:rPr lang="en-US" altLang="en-US" sz="1200" smtClean="0"/>
              <a:pPr/>
              <a:t>8</a:t>
            </a:fld>
            <a:endParaRPr lang="en-US" altLang="en-US" sz="1200"/>
          </a:p>
        </p:txBody>
      </p:sp>
    </p:spTree>
    <p:extLst>
      <p:ext uri="{BB962C8B-B14F-4D97-AF65-F5344CB8AC3E}">
        <p14:creationId xmlns:p14="http://schemas.microsoft.com/office/powerpoint/2010/main" val="321517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AE2D3A04-D668-1A4D-9B1F-11BEDF6BB7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B3B43C3B-67DA-6C42-9BB3-7391CAE9B5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First response</a:t>
            </a:r>
          </a:p>
          <a:p>
            <a:r>
              <a:rPr lang="en-US" altLang="en-US" dirty="0"/>
              <a:t>	a.	Firefighters or law enforcement personnel are likely to be first on the scene.</a:t>
            </a:r>
          </a:p>
          <a:p>
            <a:r>
              <a:rPr lang="en-US" altLang="en-US" dirty="0"/>
              <a:t>	b.	Most communities have many EMRs, but few EMTs and even fewer paramedics. </a:t>
            </a:r>
          </a:p>
          <a:p>
            <a:pPr marL="685800" lvl="1" indent="-228600">
              <a:buFontTx/>
              <a:buAutoNum type="alphaLcPeriod" startAt="3"/>
            </a:pPr>
            <a:r>
              <a:rPr lang="en-US" altLang="en-US" dirty="0"/>
              <a:t>     The EMR is a key element in providing emergency care. </a:t>
            </a:r>
          </a:p>
          <a:p>
            <a:endParaRPr lang="en-US" altLang="en-US" dirty="0"/>
          </a:p>
          <a:p>
            <a:r>
              <a:rPr lang="en-US" altLang="en-US" dirty="0"/>
              <a:t>Figure: Firefighters </a:t>
            </a:r>
            <a:r>
              <a:rPr lang="en-US" altLang="en-US" b="1" dirty="0"/>
              <a:t>(Top) </a:t>
            </a:r>
            <a:r>
              <a:rPr lang="en-US" altLang="en-US" dirty="0"/>
              <a:t>and law enforcement personnel </a:t>
            </a:r>
            <a:r>
              <a:rPr lang="en-US" altLang="en-US" b="1" dirty="0"/>
              <a:t>(Bottom) </a:t>
            </a:r>
            <a:r>
              <a:rPr lang="en-US" altLang="en-US" dirty="0"/>
              <a:t>are EMRs in many emergencies.</a:t>
            </a:r>
          </a:p>
        </p:txBody>
      </p:sp>
      <p:sp>
        <p:nvSpPr>
          <p:cNvPr id="20483" name="Slide Number Placeholder 3">
            <a:extLst>
              <a:ext uri="{FF2B5EF4-FFF2-40B4-BE49-F238E27FC236}">
                <a16:creationId xmlns:a16="http://schemas.microsoft.com/office/drawing/2014/main" id="{F290E138-4342-D942-89F7-542BFB0228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3F1173DC-83A4-164D-8553-B35C74B33307}" type="slidenum">
              <a:rPr lang="en-US" altLang="en-US" sz="1200" smtClean="0"/>
              <a:pPr/>
              <a:t>9</a:t>
            </a:fld>
            <a:endParaRPr lang="en-US" altLang="en-US" sz="1200"/>
          </a:p>
        </p:txBody>
      </p:sp>
    </p:spTree>
    <p:extLst>
      <p:ext uri="{BB962C8B-B14F-4D97-AF65-F5344CB8AC3E}">
        <p14:creationId xmlns:p14="http://schemas.microsoft.com/office/powerpoint/2010/main" val="2833300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86454195-10D6-1349-B013-E2D2697935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FDE989D3-23BC-C84A-B5B0-0E5B5D8F14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EMS response</a:t>
            </a:r>
          </a:p>
          <a:p>
            <a:r>
              <a:rPr lang="en-US" altLang="en-US" dirty="0"/>
              <a:t>	a.	An ambulance staffed by EMTs, AEMTs, or paramedics is the patient’s second contact with the EMS system.</a:t>
            </a:r>
          </a:p>
          <a:p>
            <a:r>
              <a:rPr lang="en-US" altLang="en-US" dirty="0"/>
              <a:t>		</a:t>
            </a:r>
            <a:r>
              <a:rPr lang="en-US" altLang="en-US" dirty="0" err="1"/>
              <a:t>i</a:t>
            </a:r>
            <a:r>
              <a:rPr lang="en-US" altLang="en-US" dirty="0"/>
              <a:t>.	A properly equipped vehicle and the EMT staff make up a basic life support (BLS) unit.</a:t>
            </a:r>
          </a:p>
          <a:p>
            <a:r>
              <a:rPr lang="en-US" altLang="en-US" dirty="0"/>
              <a:t>		ii.	EMTs stabilize the patient’s condition and prepare the patient for transport.</a:t>
            </a:r>
          </a:p>
          <a:p>
            <a:r>
              <a:rPr lang="en-US" altLang="en-US" dirty="0"/>
              <a:t>	b.	In addition to BLS services, patients may receive advanced life support (ALS) services from paramedics.</a:t>
            </a:r>
          </a:p>
          <a:p>
            <a:r>
              <a:rPr lang="en-US" altLang="en-US" dirty="0"/>
              <a:t>		</a:t>
            </a:r>
            <a:r>
              <a:rPr lang="en-US" altLang="en-US" dirty="0" err="1"/>
              <a:t>i</a:t>
            </a:r>
            <a:r>
              <a:rPr lang="en-US" altLang="en-US" dirty="0"/>
              <a:t>.	ALS personnel can administer intravenous fluids and certain medications and monitor and treat heart conditions with medications and defibrillation.</a:t>
            </a:r>
          </a:p>
          <a:p>
            <a:r>
              <a:rPr lang="en-US" altLang="en-US" dirty="0"/>
              <a:t>		ii.	Defibrillation is the administration of an electric shock to the heart of a patient who is experiencing a highly irregular heartbeat, known as ventricular fibrillation.</a:t>
            </a:r>
          </a:p>
          <a:p>
            <a:r>
              <a:rPr lang="en-US" altLang="en-US" dirty="0"/>
              <a:t>		iii.	Defibrillation may also be done by specially trained EMTs and EMRs.</a:t>
            </a:r>
          </a:p>
          <a:p>
            <a:r>
              <a:rPr lang="en-US" altLang="en-US" dirty="0"/>
              <a:t>		iv.	Paramedics are also trained to place special airway tubes (endotracheal tubes) to keep the patient’s airway open.</a:t>
            </a:r>
          </a:p>
          <a:p>
            <a:endParaRPr lang="en-US" altLang="en-US" dirty="0"/>
          </a:p>
        </p:txBody>
      </p:sp>
      <p:sp>
        <p:nvSpPr>
          <p:cNvPr id="22531" name="Slide Number Placeholder 3">
            <a:extLst>
              <a:ext uri="{FF2B5EF4-FFF2-40B4-BE49-F238E27FC236}">
                <a16:creationId xmlns:a16="http://schemas.microsoft.com/office/drawing/2014/main" id="{1B153815-7774-A94F-910F-98AABD4F7D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C7B40EFE-41B2-B941-89A3-5D8EF27BE547}" type="slidenum">
              <a:rPr lang="en-US" altLang="en-US" sz="1200" smtClean="0"/>
              <a:pPr/>
              <a:t>10</a:t>
            </a:fld>
            <a:endParaRPr lang="en-US" altLang="en-US" sz="1200"/>
          </a:p>
        </p:txBody>
      </p:sp>
    </p:spTree>
    <p:extLst>
      <p:ext uri="{BB962C8B-B14F-4D97-AF65-F5344CB8AC3E}">
        <p14:creationId xmlns:p14="http://schemas.microsoft.com/office/powerpoint/2010/main" val="46167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4C149CD4-7FAB-2340-A677-0DCA57A78D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F3D7E218-2837-4149-9A88-20F82907C0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c.      All skill levels are based on what is learned in the EMR course. </a:t>
            </a:r>
          </a:p>
          <a:p>
            <a:r>
              <a:rPr lang="en-US" altLang="en-US"/>
              <a:t>		i.	Airway maintenance</a:t>
            </a:r>
          </a:p>
          <a:p>
            <a:r>
              <a:rPr lang="en-US" altLang="en-US"/>
              <a:t>		ii.	Bleeding control</a:t>
            </a:r>
          </a:p>
          <a:p>
            <a:r>
              <a:rPr lang="en-US" altLang="en-US"/>
              <a:t>		iii.	Prevention, recognition, and treatment of shock </a:t>
            </a:r>
          </a:p>
          <a:p>
            <a:r>
              <a:rPr lang="en-US" altLang="en-US"/>
              <a:t>	d.	The EMS system also involves law enforcement, fire protection, specialized rescue, and patient extrication.</a:t>
            </a:r>
          </a:p>
          <a:p>
            <a:endParaRPr lang="en-US" altLang="en-US"/>
          </a:p>
        </p:txBody>
      </p:sp>
      <p:sp>
        <p:nvSpPr>
          <p:cNvPr id="24579" name="Slide Number Placeholder 3">
            <a:extLst>
              <a:ext uri="{FF2B5EF4-FFF2-40B4-BE49-F238E27FC236}">
                <a16:creationId xmlns:a16="http://schemas.microsoft.com/office/drawing/2014/main" id="{3672B84C-6533-C743-8A58-03CF5AF6992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A9DFF41E-F4EE-1E41-95AD-420DCFB738E7}" type="slidenum">
              <a:rPr lang="en-US" altLang="en-US" sz="1200" smtClean="0"/>
              <a:pPr/>
              <a:t>11</a:t>
            </a:fld>
            <a:endParaRPr lang="en-US" altLang="en-US" sz="1200"/>
          </a:p>
        </p:txBody>
      </p:sp>
    </p:spTree>
    <p:extLst>
      <p:ext uri="{BB962C8B-B14F-4D97-AF65-F5344CB8AC3E}">
        <p14:creationId xmlns:p14="http://schemas.microsoft.com/office/powerpoint/2010/main" val="4003845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98B42D25-A5A6-AE45-B293-96654FA9CF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Notes Placeholder 2">
            <a:extLst>
              <a:ext uri="{FF2B5EF4-FFF2-40B4-BE49-F238E27FC236}">
                <a16:creationId xmlns:a16="http://schemas.microsoft.com/office/drawing/2014/main" id="{12ADE6B2-89AD-F947-B9A9-45EED7F831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pPr>
            <a:r>
              <a:rPr lang="en-US" altLang="en-US" sz="1100" dirty="0"/>
              <a:t>5. 	Hospital care</a:t>
            </a:r>
          </a:p>
          <a:p>
            <a:pPr>
              <a:lnSpc>
                <a:spcPct val="90000"/>
              </a:lnSpc>
            </a:pPr>
            <a:r>
              <a:rPr lang="en-US" altLang="en-US" sz="1100" dirty="0"/>
              <a:t>	a.	The hospital emergency department is the patient</a:t>
            </a:r>
            <a:r>
              <a:rPr lang="ja-JP" altLang="en-US" sz="1100"/>
              <a:t>’</a:t>
            </a:r>
            <a:r>
              <a:rPr lang="en-US" altLang="ja-JP" sz="1100" dirty="0"/>
              <a:t>s third contact with the EMS system.</a:t>
            </a:r>
          </a:p>
          <a:p>
            <a:pPr>
              <a:lnSpc>
                <a:spcPct val="90000"/>
              </a:lnSpc>
            </a:pPr>
            <a:r>
              <a:rPr lang="en-US" altLang="en-US" sz="1100" dirty="0"/>
              <a:t>	b.	It may be necessary for the patient to be transported to the closest appropriate medical facility first for stabilization, and then to a hospital that provides specialized treatment.</a:t>
            </a:r>
          </a:p>
          <a:p>
            <a:pPr>
              <a:lnSpc>
                <a:spcPct val="90000"/>
              </a:lnSpc>
            </a:pPr>
            <a:r>
              <a:rPr lang="en-US" altLang="en-US" sz="1100" dirty="0"/>
              <a:t>	c.	Specialized treatment facilities include</a:t>
            </a:r>
          </a:p>
          <a:p>
            <a:pPr>
              <a:lnSpc>
                <a:spcPct val="90000"/>
              </a:lnSpc>
            </a:pPr>
            <a:r>
              <a:rPr lang="en-US" altLang="en-US" sz="1100" dirty="0"/>
              <a:t>		</a:t>
            </a:r>
            <a:r>
              <a:rPr lang="en-US" altLang="en-US" sz="1100" dirty="0" err="1"/>
              <a:t>i</a:t>
            </a:r>
            <a:r>
              <a:rPr lang="en-US" altLang="en-US" sz="1100" dirty="0"/>
              <a:t>.	Trauma centers</a:t>
            </a:r>
          </a:p>
          <a:p>
            <a:pPr>
              <a:lnSpc>
                <a:spcPct val="90000"/>
              </a:lnSpc>
            </a:pPr>
            <a:r>
              <a:rPr lang="en-US" altLang="en-US" sz="1100" dirty="0"/>
              <a:t>		ii.	Spinal cord injury centers</a:t>
            </a:r>
          </a:p>
          <a:p>
            <a:pPr>
              <a:lnSpc>
                <a:spcPct val="90000"/>
              </a:lnSpc>
            </a:pPr>
            <a:r>
              <a:rPr lang="en-US" altLang="en-US" sz="1100" dirty="0"/>
              <a:t>		iii.	Hand centers</a:t>
            </a:r>
          </a:p>
          <a:p>
            <a:pPr>
              <a:lnSpc>
                <a:spcPct val="90000"/>
              </a:lnSpc>
            </a:pPr>
            <a:r>
              <a:rPr lang="en-US" altLang="en-US" sz="1100" dirty="0"/>
              <a:t>		iv.	Cardiac centers</a:t>
            </a:r>
          </a:p>
          <a:p>
            <a:pPr>
              <a:lnSpc>
                <a:spcPct val="90000"/>
              </a:lnSpc>
            </a:pPr>
            <a:r>
              <a:rPr lang="en-US" altLang="en-US" sz="1100" dirty="0"/>
              <a:t>		v.	Stroke centers</a:t>
            </a:r>
          </a:p>
          <a:p>
            <a:pPr>
              <a:lnSpc>
                <a:spcPct val="90000"/>
              </a:lnSpc>
            </a:pPr>
            <a:r>
              <a:rPr lang="en-US" altLang="en-US" sz="1100" dirty="0"/>
              <a:t>		vi.	Burn centers</a:t>
            </a:r>
          </a:p>
          <a:p>
            <a:pPr>
              <a:lnSpc>
                <a:spcPct val="90000"/>
              </a:lnSpc>
            </a:pPr>
            <a:r>
              <a:rPr lang="en-US" altLang="en-US" sz="1100" dirty="0"/>
              <a:t>		vii.	Pediatric centers</a:t>
            </a:r>
          </a:p>
          <a:p>
            <a:pPr>
              <a:lnSpc>
                <a:spcPct val="90000"/>
              </a:lnSpc>
            </a:pPr>
            <a:r>
              <a:rPr lang="it-IT" altLang="en-US" sz="1100" dirty="0"/>
              <a:t>		viii.	</a:t>
            </a:r>
            <a:r>
              <a:rPr lang="it-IT" altLang="en-US" sz="1100" dirty="0" err="1"/>
              <a:t>Poison</a:t>
            </a:r>
            <a:r>
              <a:rPr lang="it-IT" altLang="en-US" sz="1100" dirty="0"/>
              <a:t> control centers</a:t>
            </a:r>
            <a:endParaRPr lang="en-US" altLang="en-US" sz="1100" dirty="0"/>
          </a:p>
          <a:p>
            <a:pPr>
              <a:lnSpc>
                <a:spcPct val="90000"/>
              </a:lnSpc>
            </a:pPr>
            <a:r>
              <a:rPr lang="it-IT" altLang="en-US" sz="1100" dirty="0"/>
              <a:t>		ix.	</a:t>
            </a:r>
            <a:r>
              <a:rPr lang="it-IT" altLang="en-US" sz="1100" dirty="0" err="1"/>
              <a:t>Perinatal</a:t>
            </a:r>
            <a:r>
              <a:rPr lang="it-IT" altLang="en-US" sz="1100" dirty="0"/>
              <a:t> centers</a:t>
            </a:r>
            <a:endParaRPr lang="en-US" altLang="en-US" sz="1100" dirty="0"/>
          </a:p>
          <a:p>
            <a:pPr>
              <a:lnSpc>
                <a:spcPct val="90000"/>
              </a:lnSpc>
            </a:pPr>
            <a:r>
              <a:rPr lang="en-US" altLang="en-US" sz="1100" dirty="0"/>
              <a:t>	d.	Follow your local patient transportation protocols.</a:t>
            </a:r>
          </a:p>
          <a:p>
            <a:pPr>
              <a:lnSpc>
                <a:spcPct val="90000"/>
              </a:lnSpc>
            </a:pPr>
            <a:endParaRPr lang="en-US" altLang="en-US" sz="1100" dirty="0"/>
          </a:p>
        </p:txBody>
      </p:sp>
      <p:sp>
        <p:nvSpPr>
          <p:cNvPr id="26627" name="Slide Number Placeholder 3">
            <a:extLst>
              <a:ext uri="{FF2B5EF4-FFF2-40B4-BE49-F238E27FC236}">
                <a16:creationId xmlns:a16="http://schemas.microsoft.com/office/drawing/2014/main" id="{F494F38B-3A94-FB4B-B032-30383F583E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EA554B20-66A1-5D4B-BA10-753DCF727585}" type="slidenum">
              <a:rPr lang="en-US" altLang="en-US" sz="1200" smtClean="0"/>
              <a:pPr/>
              <a:t>12</a:t>
            </a:fld>
            <a:endParaRPr lang="en-US" altLang="en-US" sz="1200"/>
          </a:p>
        </p:txBody>
      </p:sp>
    </p:spTree>
    <p:extLst>
      <p:ext uri="{BB962C8B-B14F-4D97-AF65-F5344CB8AC3E}">
        <p14:creationId xmlns:p14="http://schemas.microsoft.com/office/powerpoint/2010/main" val="3288748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BA9E54DC-5BF7-CB4E-8BAB-6C51F7CAEA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AC0716A2-0835-1F4C-90C4-417CBE45EE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90000"/>
              </a:lnSpc>
            </a:pPr>
            <a:r>
              <a:rPr lang="en-US" altLang="en-US" dirty="0"/>
              <a:t>	</a:t>
            </a:r>
            <a:r>
              <a:rPr lang="en-US" altLang="en-US" sz="1200" dirty="0"/>
              <a:t>6. Public health and EMS</a:t>
            </a:r>
          </a:p>
          <a:p>
            <a:pPr>
              <a:lnSpc>
                <a:spcPct val="90000"/>
              </a:lnSpc>
            </a:pPr>
            <a:r>
              <a:rPr lang="en-US" altLang="en-US" sz="1200" dirty="0"/>
              <a:t>	a.	It is important for EMRs to understand the basic functions of public health agencies because EMS personnel need to interact with public health practitioners.</a:t>
            </a:r>
          </a:p>
          <a:p>
            <a:r>
              <a:rPr lang="en-US" altLang="en-US" dirty="0"/>
              <a:t>	b.	Responsibilities of public health departments include </a:t>
            </a:r>
          </a:p>
          <a:p>
            <a:r>
              <a:rPr lang="en-US" altLang="en-US" dirty="0"/>
              <a:t>		</a:t>
            </a:r>
            <a:r>
              <a:rPr lang="en-US" altLang="en-US" dirty="0" err="1"/>
              <a:t>i</a:t>
            </a:r>
            <a:r>
              <a:rPr lang="en-US" altLang="en-US" dirty="0"/>
              <a:t>.	Monitoring restaurant cleanliness</a:t>
            </a:r>
          </a:p>
          <a:p>
            <a:r>
              <a:rPr lang="en-US" altLang="en-US" dirty="0"/>
              <a:t>		ii.	Conducting immunization programs</a:t>
            </a:r>
          </a:p>
          <a:p>
            <a:r>
              <a:rPr lang="en-US" altLang="en-US" dirty="0"/>
              <a:t>		iii.	Determining incidence of contagious diseases such as influenza, COVID-19, tuberculosis, and hepatitis</a:t>
            </a:r>
          </a:p>
          <a:p>
            <a:r>
              <a:rPr lang="en-US" altLang="en-US" dirty="0"/>
              <a:t>		iv.	Preventing incident or progression of diseases</a:t>
            </a:r>
          </a:p>
        </p:txBody>
      </p:sp>
      <p:sp>
        <p:nvSpPr>
          <p:cNvPr id="28675" name="Slide Number Placeholder 3">
            <a:extLst>
              <a:ext uri="{FF2B5EF4-FFF2-40B4-BE49-F238E27FC236}">
                <a16:creationId xmlns:a16="http://schemas.microsoft.com/office/drawing/2014/main" id="{09019973-519E-3445-ADEB-4763DDEF34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FB9ABC53-FB4E-B04A-9604-E44A27C45911}" type="slidenum">
              <a:rPr lang="en-US" altLang="en-US" sz="1200" smtClean="0"/>
              <a:pPr/>
              <a:t>13</a:t>
            </a:fld>
            <a:endParaRPr lang="en-US" altLang="en-US" sz="1200"/>
          </a:p>
        </p:txBody>
      </p:sp>
    </p:spTree>
    <p:extLst>
      <p:ext uri="{BB962C8B-B14F-4D97-AF65-F5344CB8AC3E}">
        <p14:creationId xmlns:p14="http://schemas.microsoft.com/office/powerpoint/2010/main" val="3808440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4069546D-E95F-0C43-ABD8-0C9C44BB37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a:extLst>
              <a:ext uri="{FF2B5EF4-FFF2-40B4-BE49-F238E27FC236}">
                <a16:creationId xmlns:a16="http://schemas.microsoft.com/office/drawing/2014/main" id="{13526348-190F-C148-9C98-A8AB220D2B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c.	Because prevention is better than treatment, public health and public safety departments provide education and screening programs to help prevent injuries and illness:</a:t>
            </a:r>
          </a:p>
          <a:p>
            <a:r>
              <a:rPr lang="en-US" altLang="en-US"/>
              <a:t>		i.	Car seat installation programs</a:t>
            </a:r>
          </a:p>
          <a:p>
            <a:r>
              <a:rPr lang="en-US" altLang="en-US"/>
              <a:t>		ii.	Programs to encourage seatbelt use</a:t>
            </a:r>
          </a:p>
          <a:p>
            <a:r>
              <a:rPr lang="en-US" altLang="en-US"/>
              <a:t>		iii.	Alcohol awareness programs</a:t>
            </a:r>
          </a:p>
          <a:p>
            <a:r>
              <a:rPr lang="en-US" altLang="en-US"/>
              <a:t>		iv.	Programs to encourage bicycle and motorcycle helmet use</a:t>
            </a:r>
          </a:p>
          <a:p>
            <a:r>
              <a:rPr lang="en-US" altLang="en-US"/>
              <a:t>		v.	Blood pressure screenings</a:t>
            </a:r>
          </a:p>
          <a:p>
            <a:r>
              <a:rPr lang="en-US" altLang="en-US"/>
              <a:t>		vi.	Diabetes screenings</a:t>
            </a:r>
          </a:p>
          <a:p>
            <a:r>
              <a:rPr lang="en-US" altLang="en-US"/>
              <a:t>	d.	Public health departments provide support to EMS in certain situations.</a:t>
            </a:r>
          </a:p>
          <a:p>
            <a:endParaRPr lang="en-US" altLang="en-US"/>
          </a:p>
        </p:txBody>
      </p:sp>
      <p:sp>
        <p:nvSpPr>
          <p:cNvPr id="30723" name="Slide Number Placeholder 3">
            <a:extLst>
              <a:ext uri="{FF2B5EF4-FFF2-40B4-BE49-F238E27FC236}">
                <a16:creationId xmlns:a16="http://schemas.microsoft.com/office/drawing/2014/main" id="{F5D81AE4-91CB-CE40-9880-6DCA6081BB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91743C9-4A52-9245-B710-F1ED621E4B2D}" type="slidenum">
              <a:rPr lang="en-US" altLang="en-US" sz="1200" smtClean="0"/>
              <a:pPr/>
              <a:t>14</a:t>
            </a:fld>
            <a:endParaRPr lang="en-US" altLang="en-US" sz="1200"/>
          </a:p>
        </p:txBody>
      </p:sp>
    </p:spTree>
    <p:extLst>
      <p:ext uri="{BB962C8B-B14F-4D97-AF65-F5344CB8AC3E}">
        <p14:creationId xmlns:p14="http://schemas.microsoft.com/office/powerpoint/2010/main" val="4038188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5CBA6F7A-E83C-0748-81E5-A0FED93739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DB0CF50F-6412-B04E-BE11-8C1A21101D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7.	The history of EMS</a:t>
            </a:r>
          </a:p>
          <a:p>
            <a:r>
              <a:rPr lang="en-US" altLang="en-US" dirty="0"/>
              <a:t>	a. 	EMRs should have some understanding of the history of EMS. </a:t>
            </a:r>
          </a:p>
          <a:p>
            <a:r>
              <a:rPr lang="en-US" altLang="en-US" dirty="0"/>
              <a:t>	b. 	Many advances in civilian EMS have followed progress initially made in the military medical system. </a:t>
            </a:r>
          </a:p>
          <a:p>
            <a:r>
              <a:rPr lang="en-US" altLang="en-US" dirty="0"/>
              <a:t>	c. 	In the United States during the 1950s and 1960s, funeral homes, hospitals, and volunteer rescue squads provided most</a:t>
            </a:r>
            <a:r>
              <a:rPr lang="en-US" altLang="en-US" dirty="0">
                <a:solidFill>
                  <a:srgbClr val="FF0000"/>
                </a:solidFill>
              </a:rPr>
              <a:t> </a:t>
            </a:r>
            <a:r>
              <a:rPr lang="en-US" altLang="en-US" dirty="0"/>
              <a:t>ambulance services.</a:t>
            </a:r>
          </a:p>
          <a:p>
            <a:r>
              <a:rPr lang="en-US" altLang="en-US" dirty="0"/>
              <a:t>		</a:t>
            </a:r>
            <a:r>
              <a:rPr lang="en-US" altLang="en-US" dirty="0" err="1"/>
              <a:t>i</a:t>
            </a:r>
            <a:r>
              <a:rPr lang="en-US" altLang="en-US" dirty="0"/>
              <a:t>.	The only training available for ambulance attendants was basic first aid. </a:t>
            </a:r>
          </a:p>
          <a:p>
            <a:r>
              <a:rPr lang="en-US" altLang="en-US" dirty="0"/>
              <a:t>	d. 	Some physicians recognized that civilian prehospital medical care lagged behind military emergency care and urged the National Academy of Sciences to investigate. </a:t>
            </a:r>
          </a:p>
          <a:p>
            <a:endParaRPr lang="en-US" altLang="en-US" dirty="0"/>
          </a:p>
        </p:txBody>
      </p:sp>
      <p:sp>
        <p:nvSpPr>
          <p:cNvPr id="32771" name="Slide Number Placeholder 3">
            <a:extLst>
              <a:ext uri="{FF2B5EF4-FFF2-40B4-BE49-F238E27FC236}">
                <a16:creationId xmlns:a16="http://schemas.microsoft.com/office/drawing/2014/main" id="{107BC5BB-EC35-EE49-8ACB-6EB1E4AC5F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8961AD81-0338-F343-9FC5-D80C8FCC7337}" type="slidenum">
              <a:rPr lang="en-US" altLang="en-US" sz="1200" smtClean="0"/>
              <a:pPr/>
              <a:t>15</a:t>
            </a:fld>
            <a:endParaRPr lang="en-US" altLang="en-US" sz="1200"/>
          </a:p>
        </p:txBody>
      </p:sp>
    </p:spTree>
    <p:extLst>
      <p:ext uri="{BB962C8B-B14F-4D97-AF65-F5344CB8AC3E}">
        <p14:creationId xmlns:p14="http://schemas.microsoft.com/office/powerpoint/2010/main" val="3678420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CE034FDD-8CF7-724F-BDF2-760EA5C5B3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Notes Placeholder 2">
            <a:extLst>
              <a:ext uri="{FF2B5EF4-FFF2-40B4-BE49-F238E27FC236}">
                <a16:creationId xmlns:a16="http://schemas.microsoft.com/office/drawing/2014/main" id="{05AA85C5-EE0D-534E-B969-9C2212316E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e. 	In 1966, </a:t>
            </a:r>
            <a:r>
              <a:rPr lang="en-US" altLang="en-US" i="1" dirty="0"/>
              <a:t>Accidental Death and Disability: The Neglected Disease of Modern Society</a:t>
            </a:r>
            <a:r>
              <a:rPr lang="en-US" altLang="en-US" dirty="0"/>
              <a:t> was published. </a:t>
            </a:r>
          </a:p>
          <a:p>
            <a:r>
              <a:rPr lang="en-US" altLang="en-US" dirty="0"/>
              <a:t>		</a:t>
            </a:r>
            <a:r>
              <a:rPr lang="en-US" altLang="en-US" dirty="0" err="1"/>
              <a:t>i</a:t>
            </a:r>
            <a:r>
              <a:rPr lang="en-US" altLang="en-US" dirty="0"/>
              <a:t>. 	Paper described the deficiencies in emergency medical care.</a:t>
            </a:r>
          </a:p>
          <a:p>
            <a:r>
              <a:rPr lang="en-US" altLang="en-US" dirty="0"/>
              <a:t>		ii. 	It recommended the development of a national course of instruction for prehospital emergency care personnel.</a:t>
            </a:r>
          </a:p>
          <a:p>
            <a:r>
              <a:rPr lang="en-US" altLang="en-US" dirty="0"/>
              <a:t>		iii. 	In the early 1970s, US Department of Transportation (DOT) developed a national standard curriculum for training EMS providers. </a:t>
            </a:r>
          </a:p>
        </p:txBody>
      </p:sp>
      <p:sp>
        <p:nvSpPr>
          <p:cNvPr id="34819" name="Slide Number Placeholder 3">
            <a:extLst>
              <a:ext uri="{FF2B5EF4-FFF2-40B4-BE49-F238E27FC236}">
                <a16:creationId xmlns:a16="http://schemas.microsoft.com/office/drawing/2014/main" id="{9BD76619-3A27-2649-86B6-3085C7AEDD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F2A78EA3-91BB-E74D-8193-1E7CA97CAEBB}" type="slidenum">
              <a:rPr lang="en-US" altLang="en-US" sz="1200" smtClean="0"/>
              <a:pPr/>
              <a:t>16</a:t>
            </a:fld>
            <a:endParaRPr lang="en-US" altLang="en-US" sz="1200"/>
          </a:p>
        </p:txBody>
      </p:sp>
    </p:spTree>
    <p:extLst>
      <p:ext uri="{BB962C8B-B14F-4D97-AF65-F5344CB8AC3E}">
        <p14:creationId xmlns:p14="http://schemas.microsoft.com/office/powerpoint/2010/main" val="1415292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91B525CB-9215-D241-A8D6-931E0CAFE7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10A67A69-F67D-FA42-AB02-0B1AF8D5C1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f. 	During the 1980s, the use of </a:t>
            </a:r>
            <a:r>
              <a:rPr lang="en-US" altLang="en-US" dirty="0">
                <a:solidFill>
                  <a:srgbClr val="FF0000"/>
                </a:solidFill>
              </a:rPr>
              <a:t>advanced life support (</a:t>
            </a:r>
            <a:r>
              <a:rPr lang="en-US" altLang="en-US" dirty="0"/>
              <a:t>ALS) within EMS became common. </a:t>
            </a:r>
          </a:p>
          <a:p>
            <a:r>
              <a:rPr lang="en-US" altLang="en-US" dirty="0"/>
              <a:t>	g. 	Today, EMS providers are trained through standardized courses conducted at accredited training centers. </a:t>
            </a:r>
          </a:p>
          <a:p>
            <a:r>
              <a:rPr lang="en-US" altLang="en-US" dirty="0"/>
              <a:t>	h.	In January 2019, the National Highway Traffic Safety Administration (NHTSA) of the Department of Transportation (DOT) released the report titled: </a:t>
            </a:r>
            <a:r>
              <a:rPr lang="en-US" altLang="en-US" i="1" dirty="0"/>
              <a:t>EMS Agenda 2050: A People-Centered Vision for the Future of EMS.</a:t>
            </a:r>
          </a:p>
          <a:p>
            <a:endParaRPr lang="en-US" altLang="en-US" dirty="0"/>
          </a:p>
        </p:txBody>
      </p:sp>
      <p:sp>
        <p:nvSpPr>
          <p:cNvPr id="36867" name="Slide Number Placeholder 3">
            <a:extLst>
              <a:ext uri="{FF2B5EF4-FFF2-40B4-BE49-F238E27FC236}">
                <a16:creationId xmlns:a16="http://schemas.microsoft.com/office/drawing/2014/main" id="{9ECBD781-1667-D543-B711-DD7C69F583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F46F1480-CBE5-0B4E-AB1B-B0CDF09C70C5}" type="slidenum">
              <a:rPr lang="en-US" altLang="en-US" sz="1200" smtClean="0"/>
              <a:pPr/>
              <a:t>17</a:t>
            </a:fld>
            <a:endParaRPr lang="en-US" altLang="en-US" sz="1200"/>
          </a:p>
        </p:txBody>
      </p:sp>
    </p:spTree>
    <p:extLst>
      <p:ext uri="{BB962C8B-B14F-4D97-AF65-F5344CB8AC3E}">
        <p14:creationId xmlns:p14="http://schemas.microsoft.com/office/powerpoint/2010/main" val="29817358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5ADC2090-D246-F545-99EB-70AD04C5C1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Notes Placeholder 2">
            <a:extLst>
              <a:ext uri="{FF2B5EF4-FFF2-40B4-BE49-F238E27FC236}">
                <a16:creationId xmlns:a16="http://schemas.microsoft.com/office/drawing/2014/main" id="{FA939989-8B0C-F647-8758-BC41D15836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8. 	Ten standard components of an EMS system</a:t>
            </a:r>
          </a:p>
          <a:p>
            <a:r>
              <a:rPr lang="en-US" altLang="en-US" dirty="0"/>
              <a:t>	a. 	NHTSA evaluates EMS systems based on 10 criteria:</a:t>
            </a:r>
          </a:p>
          <a:p>
            <a:r>
              <a:rPr lang="en-US" altLang="en-US" dirty="0"/>
              <a:t>		</a:t>
            </a:r>
            <a:r>
              <a:rPr lang="en-US" altLang="en-US" dirty="0" err="1"/>
              <a:t>i</a:t>
            </a:r>
            <a:r>
              <a:rPr lang="en-US" altLang="en-US" dirty="0"/>
              <a:t>.	Regulation and policy</a:t>
            </a:r>
          </a:p>
          <a:p>
            <a:r>
              <a:rPr lang="en-US" altLang="en-US" dirty="0"/>
              <a:t>		ii.	Resource management</a:t>
            </a:r>
          </a:p>
          <a:p>
            <a:r>
              <a:rPr lang="en-US" altLang="en-US" dirty="0"/>
              <a:t>		iii.	Human resources and training</a:t>
            </a:r>
          </a:p>
          <a:p>
            <a:r>
              <a:rPr lang="en-US" altLang="en-US" dirty="0"/>
              <a:t>		iv.	Transportation equipment and systems</a:t>
            </a:r>
          </a:p>
          <a:p>
            <a:r>
              <a:rPr lang="en-US" altLang="en-US" dirty="0"/>
              <a:t>		v.	Medical and support facilities</a:t>
            </a:r>
          </a:p>
          <a:p>
            <a:r>
              <a:rPr lang="en-US" altLang="en-US" dirty="0"/>
              <a:t>		vi.	Communications system</a:t>
            </a:r>
          </a:p>
          <a:p>
            <a:endParaRPr lang="en-US" altLang="en-US" dirty="0"/>
          </a:p>
        </p:txBody>
      </p:sp>
      <p:sp>
        <p:nvSpPr>
          <p:cNvPr id="38915" name="Slide Number Placeholder 3">
            <a:extLst>
              <a:ext uri="{FF2B5EF4-FFF2-40B4-BE49-F238E27FC236}">
                <a16:creationId xmlns:a16="http://schemas.microsoft.com/office/drawing/2014/main" id="{4B1B0794-41CA-6947-80A7-65BEA9BF55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C820E99A-4039-4843-95D5-24DDB3FBEA92}" type="slidenum">
              <a:rPr lang="en-US" altLang="en-US" sz="1200" smtClean="0"/>
              <a:pPr/>
              <a:t>18</a:t>
            </a:fld>
            <a:endParaRPr lang="en-US" altLang="en-US" sz="1200"/>
          </a:p>
        </p:txBody>
      </p:sp>
    </p:spTree>
    <p:extLst>
      <p:ext uri="{BB962C8B-B14F-4D97-AF65-F5344CB8AC3E}">
        <p14:creationId xmlns:p14="http://schemas.microsoft.com/office/powerpoint/2010/main" val="3737955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03D5CBBC-7372-4246-A18E-453FB7453B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Notes Placeholder 2">
            <a:extLst>
              <a:ext uri="{FF2B5EF4-FFF2-40B4-BE49-F238E27FC236}">
                <a16:creationId xmlns:a16="http://schemas.microsoft.com/office/drawing/2014/main" id="{25550EDA-0B9D-D242-81B0-5B4BDB718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vii.	Public information and education</a:t>
            </a:r>
          </a:p>
          <a:p>
            <a:r>
              <a:rPr lang="en-US" altLang="en-US"/>
              <a:t>		viii.	Medical direction</a:t>
            </a:r>
          </a:p>
          <a:p>
            <a:r>
              <a:rPr lang="en-US" altLang="en-US"/>
              <a:t>		ix.	Trauma system and development</a:t>
            </a:r>
          </a:p>
          <a:p>
            <a:r>
              <a:rPr lang="en-US" altLang="en-US"/>
              <a:t>		x.	Evaluation</a:t>
            </a:r>
          </a:p>
          <a:p>
            <a:endParaRPr lang="en-US" altLang="en-US"/>
          </a:p>
        </p:txBody>
      </p:sp>
      <p:sp>
        <p:nvSpPr>
          <p:cNvPr id="40963" name="Slide Number Placeholder 3">
            <a:extLst>
              <a:ext uri="{FF2B5EF4-FFF2-40B4-BE49-F238E27FC236}">
                <a16:creationId xmlns:a16="http://schemas.microsoft.com/office/drawing/2014/main" id="{8BC3E113-9D9E-414D-89B6-B9312DE284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9C2C9FC2-77C8-6E4A-9F8F-CA3B78CFA33C}" type="slidenum">
              <a:rPr lang="en-US" altLang="en-US" sz="1200" smtClean="0"/>
              <a:pPr/>
              <a:t>19</a:t>
            </a:fld>
            <a:endParaRPr lang="en-US" altLang="en-US" sz="1200"/>
          </a:p>
        </p:txBody>
      </p:sp>
    </p:spTree>
    <p:extLst>
      <p:ext uri="{BB962C8B-B14F-4D97-AF65-F5344CB8AC3E}">
        <p14:creationId xmlns:p14="http://schemas.microsoft.com/office/powerpoint/2010/main" val="4158684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9F154976-8DAE-504B-AFC9-7F28CB84B1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Notes Placeholder 2">
            <a:extLst>
              <a:ext uri="{FF2B5EF4-FFF2-40B4-BE49-F238E27FC236}">
                <a16:creationId xmlns:a16="http://schemas.microsoft.com/office/drawing/2014/main" id="{46DD81A8-AC62-1C45-BD8D-A739D0C735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III. A Word About Transportation</a:t>
            </a:r>
          </a:p>
          <a:p>
            <a:r>
              <a:rPr lang="en-US" altLang="en-US"/>
              <a:t>A.	EMRs assist more highly trained EMS personnel in treating and preparing the patient for transportation.</a:t>
            </a:r>
          </a:p>
          <a:p>
            <a:r>
              <a:rPr lang="en-US" altLang="en-US"/>
              <a:t>B.	Three terms are used to describe proper patient transportation to an appropriate medical facility.</a:t>
            </a:r>
          </a:p>
          <a:p>
            <a:r>
              <a:rPr lang="en-US" altLang="en-US"/>
              <a:t>	1.	Transport: A patient’s condition requires care by medical professionals, but speed in getting the patient to a medical facility is not the most important factor.</a:t>
            </a:r>
          </a:p>
          <a:p>
            <a:r>
              <a:rPr lang="en-US" altLang="en-US"/>
              <a:t>	2.	Prompt transport: A patient’s condition is serious enough that the patient needs to be taken to an appropriate medical facility in a fairly short period of time.</a:t>
            </a:r>
          </a:p>
        </p:txBody>
      </p:sp>
      <p:sp>
        <p:nvSpPr>
          <p:cNvPr id="43011" name="Slide Number Placeholder 3">
            <a:extLst>
              <a:ext uri="{FF2B5EF4-FFF2-40B4-BE49-F238E27FC236}">
                <a16:creationId xmlns:a16="http://schemas.microsoft.com/office/drawing/2014/main" id="{D57424C4-8654-474D-97C2-20C9AB843E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4C91FDDB-D46D-6042-B7F9-E19898B2590C}" type="slidenum">
              <a:rPr lang="en-US" altLang="en-US" sz="1200" smtClean="0"/>
              <a:pPr/>
              <a:t>20</a:t>
            </a:fld>
            <a:endParaRPr lang="en-US" altLang="en-US" sz="1200"/>
          </a:p>
        </p:txBody>
      </p:sp>
    </p:spTree>
    <p:extLst>
      <p:ext uri="{BB962C8B-B14F-4D97-AF65-F5344CB8AC3E}">
        <p14:creationId xmlns:p14="http://schemas.microsoft.com/office/powerpoint/2010/main" val="1995258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31670205-BC65-E941-9299-1A7C488F68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a:extLst>
              <a:ext uri="{FF2B5EF4-FFF2-40B4-BE49-F238E27FC236}">
                <a16:creationId xmlns:a16="http://schemas.microsoft.com/office/drawing/2014/main" id="{7E138EA5-C830-6C49-BC8C-BCF1B9FCE3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3.	Rapid transport: This phrase is used for the few cases when EMS personnel are unable to give the patient adequate life-saving care in field.</a:t>
            </a:r>
          </a:p>
          <a:p>
            <a:r>
              <a:rPr lang="en-US" altLang="en-US" dirty="0"/>
              <a:t>	4.	An appropriate medical facility may be a hospital, trauma center, or medical clinic.</a:t>
            </a:r>
          </a:p>
          <a:p>
            <a:pPr>
              <a:buFontTx/>
              <a:buAutoNum type="alphaUcPeriod" startAt="3"/>
            </a:pPr>
            <a:r>
              <a:rPr lang="en-US" altLang="en-US" dirty="0"/>
              <a:t>     EMS personnel must work closely with their medical director to establish transportation protocols that ensure patients are transported to the closest medical facility capable of providing adequate care. </a:t>
            </a:r>
          </a:p>
          <a:p>
            <a:endParaRPr lang="en-US" altLang="en-US" dirty="0"/>
          </a:p>
          <a:p>
            <a:r>
              <a:rPr lang="en-US" altLang="en-US" dirty="0"/>
              <a:t>Figure: Ambulance transport to a hospital or medical facility.</a:t>
            </a:r>
          </a:p>
        </p:txBody>
      </p:sp>
      <p:sp>
        <p:nvSpPr>
          <p:cNvPr id="45059" name="Slide Number Placeholder 3">
            <a:extLst>
              <a:ext uri="{FF2B5EF4-FFF2-40B4-BE49-F238E27FC236}">
                <a16:creationId xmlns:a16="http://schemas.microsoft.com/office/drawing/2014/main" id="{B7028325-3A5D-E344-9A0C-44DF4E5AF1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2736504-EA9A-8E45-B1AD-FB2F63F5E4C6}" type="slidenum">
              <a:rPr lang="en-US" altLang="en-US" sz="1200" smtClean="0"/>
              <a:pPr/>
              <a:t>21</a:t>
            </a:fld>
            <a:endParaRPr lang="en-US" altLang="en-US" sz="1200"/>
          </a:p>
        </p:txBody>
      </p:sp>
    </p:spTree>
    <p:extLst>
      <p:ext uri="{BB962C8B-B14F-4D97-AF65-F5344CB8AC3E}">
        <p14:creationId xmlns:p14="http://schemas.microsoft.com/office/powerpoint/2010/main" val="1026787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318675EB-684F-B748-B1F1-AEC5727B78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5BBC0A22-DE1C-1847-913A-B96034FC06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IV. EMR Training</a:t>
            </a:r>
          </a:p>
          <a:p>
            <a:r>
              <a:rPr lang="en-US" altLang="en-US" dirty="0"/>
              <a:t>A.	An EMR course will teach you how to examine patients and how to use basic emergency medical skills.</a:t>
            </a:r>
          </a:p>
          <a:p>
            <a:pPr>
              <a:buFontTx/>
              <a:buAutoNum type="alphaUcPeriod" startAt="2"/>
            </a:pPr>
            <a:r>
              <a:rPr lang="en-US" altLang="en-US" dirty="0"/>
              <a:t>       The skills and knowledge learned in this course provide the foundation for the entire EMS system.</a:t>
            </a:r>
          </a:p>
          <a:p>
            <a:endParaRPr lang="en-US" altLang="en-US" dirty="0"/>
          </a:p>
          <a:p>
            <a:r>
              <a:rPr lang="en-US" altLang="en-US" dirty="0"/>
              <a:t>Figure: A typical emergency scene with injured patients.</a:t>
            </a:r>
          </a:p>
        </p:txBody>
      </p:sp>
      <p:sp>
        <p:nvSpPr>
          <p:cNvPr id="47107" name="Slide Number Placeholder 3">
            <a:extLst>
              <a:ext uri="{FF2B5EF4-FFF2-40B4-BE49-F238E27FC236}">
                <a16:creationId xmlns:a16="http://schemas.microsoft.com/office/drawing/2014/main" id="{B1D7FE39-313B-6241-9093-16F2623C16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765B091A-7A26-3740-AC16-9935D05FA159}" type="slidenum">
              <a:rPr lang="en-US" altLang="en-US" sz="1200" smtClean="0"/>
              <a:pPr/>
              <a:t>22</a:t>
            </a:fld>
            <a:endParaRPr lang="en-US" altLang="en-US" sz="1200"/>
          </a:p>
        </p:txBody>
      </p:sp>
    </p:spTree>
    <p:extLst>
      <p:ext uri="{BB962C8B-B14F-4D97-AF65-F5344CB8AC3E}">
        <p14:creationId xmlns:p14="http://schemas.microsoft.com/office/powerpoint/2010/main" val="1362605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B6FEC6BE-A688-F04B-AFFE-038DAC8B1F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Notes Placeholder 2">
            <a:extLst>
              <a:ext uri="{FF2B5EF4-FFF2-40B4-BE49-F238E27FC236}">
                <a16:creationId xmlns:a16="http://schemas.microsoft.com/office/drawing/2014/main" id="{9AFA89CD-37B3-BA4B-AF05-13EA269B18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C.	These skills are divided into two main groups:</a:t>
            </a:r>
          </a:p>
          <a:p>
            <a:r>
              <a:rPr lang="en-US" altLang="en-US"/>
              <a:t>1.	Skills needed to treat injured trauma patients:</a:t>
            </a:r>
          </a:p>
          <a:p>
            <a:r>
              <a:rPr lang="en-US" altLang="en-US"/>
              <a:t>	a.	Controlling airway, breathing, and circulation</a:t>
            </a:r>
          </a:p>
          <a:p>
            <a:r>
              <a:rPr lang="en-US" altLang="en-US"/>
              <a:t>	b.	Controlling external bleeding (hemorrhage)</a:t>
            </a:r>
          </a:p>
          <a:p>
            <a:r>
              <a:rPr lang="en-US" altLang="en-US"/>
              <a:t>	c.	Treating shock</a:t>
            </a:r>
          </a:p>
          <a:p>
            <a:r>
              <a:rPr lang="en-US" altLang="en-US"/>
              <a:t>	d.	Treating wounds</a:t>
            </a:r>
          </a:p>
          <a:p>
            <a:r>
              <a:rPr lang="en-US" altLang="en-US"/>
              <a:t>	e.	Splinting injuries to stabilize extremities</a:t>
            </a:r>
          </a:p>
        </p:txBody>
      </p:sp>
      <p:sp>
        <p:nvSpPr>
          <p:cNvPr id="49155" name="Slide Number Placeholder 3">
            <a:extLst>
              <a:ext uri="{FF2B5EF4-FFF2-40B4-BE49-F238E27FC236}">
                <a16:creationId xmlns:a16="http://schemas.microsoft.com/office/drawing/2014/main" id="{8741D1F6-AC5C-B547-B3BA-BD8D192467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611563F6-FC94-CC41-AE9A-9B961146BB33}" type="slidenum">
              <a:rPr lang="en-US" altLang="en-US" sz="1200" smtClean="0"/>
              <a:pPr/>
              <a:t>23</a:t>
            </a:fld>
            <a:endParaRPr lang="en-US" altLang="en-US" sz="1200"/>
          </a:p>
        </p:txBody>
      </p:sp>
    </p:spTree>
    <p:extLst>
      <p:ext uri="{BB962C8B-B14F-4D97-AF65-F5344CB8AC3E}">
        <p14:creationId xmlns:p14="http://schemas.microsoft.com/office/powerpoint/2010/main" val="2977869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1938D883-6923-2643-83EA-B980B3DFF6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Notes Placeholder 2">
            <a:extLst>
              <a:ext uri="{FF2B5EF4-FFF2-40B4-BE49-F238E27FC236}">
                <a16:creationId xmlns:a16="http://schemas.microsoft.com/office/drawing/2014/main" id="{E0DCD19E-E30C-394B-A3E8-AD3A44C789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Skills needed to care for patients experiencing illness or serious medical problems:</a:t>
            </a:r>
          </a:p>
          <a:p>
            <a:r>
              <a:rPr lang="en-US" altLang="en-US" dirty="0"/>
              <a:t>	a.	Heart attacks</a:t>
            </a:r>
          </a:p>
          <a:p>
            <a:r>
              <a:rPr lang="en-US" altLang="en-US" dirty="0"/>
              <a:t>	b.	Seizures</a:t>
            </a:r>
          </a:p>
          <a:p>
            <a:r>
              <a:rPr lang="en-US" altLang="en-US" dirty="0"/>
              <a:t>	c.	Problems associated with excessive heat or cold</a:t>
            </a:r>
          </a:p>
          <a:p>
            <a:r>
              <a:rPr lang="en-US" altLang="en-US" dirty="0"/>
              <a:t>	d.	Alcohol and drug abuse</a:t>
            </a:r>
          </a:p>
          <a:p>
            <a:r>
              <a:rPr lang="en-US" altLang="en-US" dirty="0"/>
              <a:t>	e.	Poisonings</a:t>
            </a:r>
          </a:p>
          <a:p>
            <a:r>
              <a:rPr lang="en-US" altLang="en-US" dirty="0"/>
              <a:t>	f.	Bites and stings</a:t>
            </a:r>
          </a:p>
          <a:p>
            <a:r>
              <a:rPr lang="en-US" altLang="en-US" dirty="0"/>
              <a:t>	g.	Altered mental status	</a:t>
            </a:r>
          </a:p>
          <a:p>
            <a:r>
              <a:rPr lang="en-US" altLang="en-US" dirty="0"/>
              <a:t>	h.	Behavioral or psychological crises</a:t>
            </a:r>
          </a:p>
          <a:p>
            <a:r>
              <a:rPr lang="en-US" altLang="en-US" dirty="0"/>
              <a:t>	</a:t>
            </a:r>
            <a:r>
              <a:rPr lang="en-US" altLang="en-US" dirty="0" err="1"/>
              <a:t>i</a:t>
            </a:r>
            <a:r>
              <a:rPr lang="en-US" altLang="en-US" dirty="0"/>
              <a:t>.	Emergency childbirth</a:t>
            </a:r>
          </a:p>
          <a:p>
            <a:endParaRPr lang="en-US" altLang="en-US" dirty="0"/>
          </a:p>
          <a:p>
            <a:endParaRPr lang="en-US" altLang="en-US" dirty="0"/>
          </a:p>
        </p:txBody>
      </p:sp>
      <p:sp>
        <p:nvSpPr>
          <p:cNvPr id="51203" name="Slide Number Placeholder 3">
            <a:extLst>
              <a:ext uri="{FF2B5EF4-FFF2-40B4-BE49-F238E27FC236}">
                <a16:creationId xmlns:a16="http://schemas.microsoft.com/office/drawing/2014/main" id="{436CBD46-DE1A-014E-AD31-9677E487B8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EDBEAD9-B5FF-EA44-ADC4-446CE5005124}" type="slidenum">
              <a:rPr lang="en-US" altLang="en-US" sz="1200" smtClean="0"/>
              <a:pPr/>
              <a:t>24</a:t>
            </a:fld>
            <a:endParaRPr lang="en-US" altLang="en-US" sz="1200"/>
          </a:p>
        </p:txBody>
      </p:sp>
    </p:spTree>
    <p:extLst>
      <p:ext uri="{BB962C8B-B14F-4D97-AF65-F5344CB8AC3E}">
        <p14:creationId xmlns:p14="http://schemas.microsoft.com/office/powerpoint/2010/main" val="937041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677F0961-5219-414D-B6A1-F665862DBB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es Placeholder 2">
            <a:extLst>
              <a:ext uri="{FF2B5EF4-FFF2-40B4-BE49-F238E27FC236}">
                <a16:creationId xmlns:a16="http://schemas.microsoft.com/office/drawing/2014/main" id="{CE3F3D0C-ABA8-7840-B971-1CAC5B2ACD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 Goals of EMR Training</a:t>
            </a:r>
          </a:p>
          <a:p>
            <a:r>
              <a:rPr lang="en-US" altLang="en-US" dirty="0"/>
              <a:t>A. 	Basic goals of EMR aim to teach you how to</a:t>
            </a:r>
          </a:p>
          <a:p>
            <a:r>
              <a:rPr lang="en-US" altLang="en-US" dirty="0"/>
              <a:t>	1. 	Evaluate, stabilize, and treat patients using a minimum of specialized equipment.</a:t>
            </a:r>
          </a:p>
          <a:p>
            <a:r>
              <a:rPr lang="en-US" altLang="en-US" dirty="0"/>
              <a:t>	2. 	Improvise.</a:t>
            </a:r>
          </a:p>
          <a:p>
            <a:r>
              <a:rPr lang="en-US" altLang="en-US" dirty="0"/>
              <a:t>	3. 	Help EMTs, AEMTs and paramedics when they arrive on the scene.</a:t>
            </a:r>
          </a:p>
          <a:p>
            <a:endParaRPr lang="en-US" altLang="en-US" dirty="0"/>
          </a:p>
        </p:txBody>
      </p:sp>
      <p:sp>
        <p:nvSpPr>
          <p:cNvPr id="55299" name="Slide Number Placeholder 3">
            <a:extLst>
              <a:ext uri="{FF2B5EF4-FFF2-40B4-BE49-F238E27FC236}">
                <a16:creationId xmlns:a16="http://schemas.microsoft.com/office/drawing/2014/main" id="{CF7818F0-0829-1C4A-BCBF-8A370E3AA9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E28F25B9-EDF9-6B4C-B66E-12D796A90681}" type="slidenum">
              <a:rPr lang="en-US" altLang="en-US" sz="1200" smtClean="0"/>
              <a:pPr/>
              <a:t>25</a:t>
            </a:fld>
            <a:endParaRPr lang="en-US" altLang="en-US" sz="1200"/>
          </a:p>
        </p:txBody>
      </p:sp>
    </p:spTree>
    <p:extLst>
      <p:ext uri="{BB962C8B-B14F-4D97-AF65-F5344CB8AC3E}">
        <p14:creationId xmlns:p14="http://schemas.microsoft.com/office/powerpoint/2010/main" val="14728926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B2F0D635-3E76-3E43-8FF4-542E99D57E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a:extLst>
              <a:ext uri="{FF2B5EF4-FFF2-40B4-BE49-F238E27FC236}">
                <a16:creationId xmlns:a16="http://schemas.microsoft.com/office/drawing/2014/main" id="{655DAE60-56AF-4A4E-BD16-D9022A9D1C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Know what you should not do.</a:t>
            </a:r>
          </a:p>
          <a:p>
            <a:r>
              <a:rPr lang="en-US" altLang="en-US" dirty="0"/>
              <a:t>	1.	It may be better to leave the patient in the position in which he or she is found rather than move the patient without proper equipment or an adequate number of trained personnel.</a:t>
            </a:r>
          </a:p>
          <a:p>
            <a:r>
              <a:rPr lang="en-US" altLang="en-US" dirty="0"/>
              <a:t>	2.	</a:t>
            </a:r>
            <a:r>
              <a:rPr lang="en-US" altLang="en-US" b="1" dirty="0"/>
              <a:t>Never</a:t>
            </a:r>
            <a:r>
              <a:rPr lang="en-US" altLang="en-US" dirty="0"/>
              <a:t> judge patients based on their cultural background, religion, color, gender, sexual orientation, age, or socioeconomic status. </a:t>
            </a:r>
          </a:p>
          <a:p>
            <a:endParaRPr lang="en-US" altLang="en-US" dirty="0"/>
          </a:p>
        </p:txBody>
      </p:sp>
      <p:sp>
        <p:nvSpPr>
          <p:cNvPr id="57347" name="Slide Number Placeholder 3">
            <a:extLst>
              <a:ext uri="{FF2B5EF4-FFF2-40B4-BE49-F238E27FC236}">
                <a16:creationId xmlns:a16="http://schemas.microsoft.com/office/drawing/2014/main" id="{9D1B47D7-31CE-3647-9029-44B400EF4D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53AF9F1F-66A2-2E43-8C90-484FA8090354}" type="slidenum">
              <a:rPr lang="en-US" altLang="en-US" sz="1200" smtClean="0"/>
              <a:pPr/>
              <a:t>26</a:t>
            </a:fld>
            <a:endParaRPr lang="en-US" altLang="en-US" sz="1200"/>
          </a:p>
        </p:txBody>
      </p:sp>
    </p:spTree>
    <p:extLst>
      <p:ext uri="{BB962C8B-B14F-4D97-AF65-F5344CB8AC3E}">
        <p14:creationId xmlns:p14="http://schemas.microsoft.com/office/powerpoint/2010/main" val="1186546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DB61CEFC-BB31-4C4D-961F-372557590D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a:extLst>
              <a:ext uri="{FF2B5EF4-FFF2-40B4-BE49-F238E27FC236}">
                <a16:creationId xmlns:a16="http://schemas.microsoft.com/office/drawing/2014/main" id="{F8FAD796-7EAE-8446-B141-3D9154BD39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C. 	Know how to use your EMR life support kit.</a:t>
            </a:r>
          </a:p>
          <a:p>
            <a:r>
              <a:rPr lang="en-US" altLang="en-US"/>
              <a:t>	1.	This course will teach you to treat patients using limited emergency medical supplies.</a:t>
            </a:r>
          </a:p>
          <a:p>
            <a:r>
              <a:rPr lang="en-US" altLang="en-US"/>
              <a:t>	2.	An EMR life support kit should be small enough to fit in the trunk of an automobile or on almost any police, fire, or rescue vehicle.</a:t>
            </a:r>
          </a:p>
          <a:p>
            <a:r>
              <a:rPr lang="en-US" altLang="en-US"/>
              <a:t>	3.	Although the contents of the kit are limited, such supplies are all you need to provide immediate care for most patients you will encounter.</a:t>
            </a:r>
          </a:p>
          <a:p>
            <a:endParaRPr lang="en-US" altLang="en-US"/>
          </a:p>
        </p:txBody>
      </p:sp>
      <p:sp>
        <p:nvSpPr>
          <p:cNvPr id="59395" name="Slide Number Placeholder 3">
            <a:extLst>
              <a:ext uri="{FF2B5EF4-FFF2-40B4-BE49-F238E27FC236}">
                <a16:creationId xmlns:a16="http://schemas.microsoft.com/office/drawing/2014/main" id="{83AD36B0-E7ED-AE40-8462-FF0F20A3F3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C72B0046-C6B4-6244-91BE-784CA938205D}" type="slidenum">
              <a:rPr lang="en-US" altLang="en-US" sz="1200" smtClean="0"/>
              <a:pPr/>
              <a:t>27</a:t>
            </a:fld>
            <a:endParaRPr lang="en-US" altLang="en-US" sz="1200"/>
          </a:p>
        </p:txBody>
      </p:sp>
    </p:spTree>
    <p:extLst>
      <p:ext uri="{BB962C8B-B14F-4D97-AF65-F5344CB8AC3E}">
        <p14:creationId xmlns:p14="http://schemas.microsoft.com/office/powerpoint/2010/main" val="25252669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D148E889-4803-A942-B6C3-55DAE6EB23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B95D82EB-74DF-F14B-B08D-DD8EE437BA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Figure: Suggested contents of an EMR life support kit.  May also include commercial tourniquet and Naloxone (if trained to administer).</a:t>
            </a:r>
          </a:p>
        </p:txBody>
      </p:sp>
      <p:sp>
        <p:nvSpPr>
          <p:cNvPr id="61443" name="Slide Number Placeholder 3">
            <a:extLst>
              <a:ext uri="{FF2B5EF4-FFF2-40B4-BE49-F238E27FC236}">
                <a16:creationId xmlns:a16="http://schemas.microsoft.com/office/drawing/2014/main" id="{424210C6-7574-3B44-AC9B-08365D093C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8915FB4D-257E-6E46-858E-BCA0E7ACFEAD}" type="slidenum">
              <a:rPr lang="en-US" altLang="en-US" sz="1200" smtClean="0"/>
              <a:pPr/>
              <a:t>28</a:t>
            </a:fld>
            <a:endParaRPr lang="en-US" altLang="en-US" sz="1200"/>
          </a:p>
        </p:txBody>
      </p:sp>
    </p:spTree>
    <p:extLst>
      <p:ext uri="{BB962C8B-B14F-4D97-AF65-F5344CB8AC3E}">
        <p14:creationId xmlns:p14="http://schemas.microsoft.com/office/powerpoint/2010/main" val="3872888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C665D09E-79BB-984F-97C2-AD76A28A5A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a:extLst>
              <a:ext uri="{FF2B5EF4-FFF2-40B4-BE49-F238E27FC236}">
                <a16:creationId xmlns:a16="http://schemas.microsoft.com/office/drawing/2014/main" id="{9F9C27CD-B79B-AA49-B705-B0C219831A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Know how to improvise.</a:t>
            </a:r>
          </a:p>
          <a:p>
            <a:r>
              <a:rPr lang="en-US" altLang="en-US" dirty="0"/>
              <a:t>	1.	You will often be in situations where little or no emergency medical equipment is available. </a:t>
            </a:r>
          </a:p>
          <a:p>
            <a:r>
              <a:rPr lang="en-US" altLang="en-US" dirty="0"/>
              <a:t>		a.	It is important to know how to improvise. </a:t>
            </a:r>
          </a:p>
          <a:p>
            <a:r>
              <a:rPr lang="en-US" altLang="en-US" dirty="0"/>
              <a:t>	2.	Examples of improvisation:</a:t>
            </a:r>
          </a:p>
          <a:p>
            <a:r>
              <a:rPr lang="en-US" altLang="en-US" dirty="0"/>
              <a:t>		a.	Use articles of clothing and handkerchiefs to stop bleeding.</a:t>
            </a:r>
          </a:p>
          <a:p>
            <a:r>
              <a:rPr lang="en-US" altLang="en-US" dirty="0"/>
              <a:t>		b.	Use wooden boards, magazines, or newspapers to immobilize injured extremities.</a:t>
            </a:r>
          </a:p>
          <a:p>
            <a:r>
              <a:rPr lang="en-US" altLang="en-US" dirty="0"/>
              <a:t>E. 	Know how to assist other EMS providers.</a:t>
            </a:r>
          </a:p>
          <a:p>
            <a:r>
              <a:rPr lang="en-US" altLang="en-US" dirty="0"/>
              <a:t>	1.	Some procedures that EMTs and paramedics use cannot be performed correctly by fewer than three people. </a:t>
            </a:r>
          </a:p>
          <a:p>
            <a:r>
              <a:rPr lang="en-US" altLang="en-US" dirty="0"/>
              <a:t>	2.	You may have to assist with these procedures and you must know what to do </a:t>
            </a:r>
            <a:r>
              <a:rPr lang="en-US" altLang="en-US" dirty="0">
                <a:solidFill>
                  <a:srgbClr val="FF0000"/>
                </a:solidFill>
              </a:rPr>
              <a:t>in such cases</a:t>
            </a:r>
            <a:r>
              <a:rPr lang="en-US" altLang="en-US" dirty="0"/>
              <a:t>.</a:t>
            </a:r>
          </a:p>
          <a:p>
            <a:endParaRPr lang="en-US" altLang="en-US" dirty="0"/>
          </a:p>
        </p:txBody>
      </p:sp>
      <p:sp>
        <p:nvSpPr>
          <p:cNvPr id="63491" name="Slide Number Placeholder 3">
            <a:extLst>
              <a:ext uri="{FF2B5EF4-FFF2-40B4-BE49-F238E27FC236}">
                <a16:creationId xmlns:a16="http://schemas.microsoft.com/office/drawing/2014/main" id="{59826308-F631-D947-BE0E-677D25C3730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0FABA0CF-886E-7948-8E16-233CF8D60799}" type="slidenum">
              <a:rPr lang="en-US" altLang="en-US" sz="1200" smtClean="0"/>
              <a:pPr/>
              <a:t>29</a:t>
            </a:fld>
            <a:endParaRPr lang="en-US" altLang="en-US" sz="1200"/>
          </a:p>
        </p:txBody>
      </p:sp>
    </p:spTree>
    <p:extLst>
      <p:ext uri="{BB962C8B-B14F-4D97-AF65-F5344CB8AC3E}">
        <p14:creationId xmlns:p14="http://schemas.microsoft.com/office/powerpoint/2010/main" val="3341871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003857CA-A32C-F743-842F-834F909868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Notes Placeholder 2">
            <a:extLst>
              <a:ext uri="{FF2B5EF4-FFF2-40B4-BE49-F238E27FC236}">
                <a16:creationId xmlns:a16="http://schemas.microsoft.com/office/drawing/2014/main" id="{F3884889-8E55-974C-B061-97F1878F14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 Additional Skills</a:t>
            </a:r>
          </a:p>
          <a:p>
            <a:r>
              <a:rPr lang="en-US" altLang="en-US" dirty="0"/>
              <a:t>A.	EMRs operate in a variety of settings. </a:t>
            </a:r>
          </a:p>
          <a:p>
            <a:r>
              <a:rPr lang="en-US" altLang="en-US" dirty="0"/>
              <a:t>	1.	Problems encountered in urban areas may differ sharply from those found in rural settings. </a:t>
            </a:r>
          </a:p>
          <a:p>
            <a:r>
              <a:rPr lang="en-US" altLang="en-US" dirty="0"/>
              <a:t>	2.	Regional variations in climate create conditions that affect the situations you encounter and require you to use different skills and equipment in treating patients. </a:t>
            </a:r>
          </a:p>
          <a:p>
            <a:r>
              <a:rPr lang="en-US" altLang="en-US" dirty="0"/>
              <a:t>B.	Certain skills and equipment in this book are beyond the essential, minimum knowledge level required for an EMR course.</a:t>
            </a:r>
          </a:p>
          <a:p>
            <a:r>
              <a:rPr lang="en-US" altLang="en-US" dirty="0"/>
              <a:t>	1.	These supplemental skills and equipment may be required in your local EMS system.</a:t>
            </a:r>
          </a:p>
          <a:p>
            <a:endParaRPr lang="en-US" altLang="en-US" dirty="0"/>
          </a:p>
        </p:txBody>
      </p:sp>
      <p:sp>
        <p:nvSpPr>
          <p:cNvPr id="65539" name="Slide Number Placeholder 3">
            <a:extLst>
              <a:ext uri="{FF2B5EF4-FFF2-40B4-BE49-F238E27FC236}">
                <a16:creationId xmlns:a16="http://schemas.microsoft.com/office/drawing/2014/main" id="{5C0EBAC6-0A1F-FA48-A2B2-D0B79A4785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BC381D9E-1711-EF4C-9B03-CC074118797C}" type="slidenum">
              <a:rPr lang="en-US" altLang="en-US" sz="1200" smtClean="0"/>
              <a:pPr/>
              <a:t>30</a:t>
            </a:fld>
            <a:endParaRPr lang="en-US" altLang="en-US" sz="1200"/>
          </a:p>
        </p:txBody>
      </p:sp>
    </p:spTree>
    <p:extLst>
      <p:ext uri="{BB962C8B-B14F-4D97-AF65-F5344CB8AC3E}">
        <p14:creationId xmlns:p14="http://schemas.microsoft.com/office/powerpoint/2010/main" val="68215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95F557BA-D8D0-494A-8331-F135EA8771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a:extLst>
              <a:ext uri="{FF2B5EF4-FFF2-40B4-BE49-F238E27FC236}">
                <a16:creationId xmlns:a16="http://schemas.microsoft.com/office/drawing/2014/main" id="{BC3726EA-A41F-2F4A-8DDA-ACB61EE8A0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VII. Roles and Responsibilities of EMR</a:t>
            </a:r>
          </a:p>
          <a:p>
            <a:r>
              <a:rPr lang="en-US" altLang="en-US" dirty="0"/>
              <a:t>A.	As an EMR, you have several roles and responsibilities. </a:t>
            </a:r>
          </a:p>
          <a:p>
            <a:r>
              <a:rPr lang="en-US" altLang="en-US" dirty="0"/>
              <a:t>	1.	Maintain your body in a healthy physical and mental condition. </a:t>
            </a:r>
          </a:p>
          <a:p>
            <a:r>
              <a:rPr lang="en-US" altLang="en-US" dirty="0"/>
              <a:t>	2.	Maintain equipment in a ready state.</a:t>
            </a:r>
          </a:p>
          <a:p>
            <a:r>
              <a:rPr lang="en-US" altLang="en-US" dirty="0"/>
              <a:t>	3.	Respond promptly and safely to the scene of an accident or sudden illness.</a:t>
            </a:r>
          </a:p>
          <a:p>
            <a:r>
              <a:rPr lang="en-US" altLang="en-US" dirty="0"/>
              <a:t>	4.	Ensure that the scene is safe from hazards.</a:t>
            </a:r>
          </a:p>
          <a:p>
            <a:r>
              <a:rPr lang="en-US" altLang="en-US" dirty="0"/>
              <a:t>	5.	Protect yourself.</a:t>
            </a:r>
          </a:p>
          <a:p>
            <a:r>
              <a:rPr lang="en-US" altLang="en-US" dirty="0"/>
              <a:t>	6.	Protect the incident scene and patients from further harm.</a:t>
            </a:r>
          </a:p>
          <a:p>
            <a:endParaRPr lang="en-US" altLang="en-US" dirty="0"/>
          </a:p>
        </p:txBody>
      </p:sp>
      <p:sp>
        <p:nvSpPr>
          <p:cNvPr id="67587" name="Slide Number Placeholder 3">
            <a:extLst>
              <a:ext uri="{FF2B5EF4-FFF2-40B4-BE49-F238E27FC236}">
                <a16:creationId xmlns:a16="http://schemas.microsoft.com/office/drawing/2014/main" id="{077F958E-0023-C64F-B350-04520C7AB5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47E4D5ED-85EE-1844-925C-05A9A2BEA8B9}" type="slidenum">
              <a:rPr lang="en-US" altLang="en-US" sz="1200" smtClean="0"/>
              <a:pPr/>
              <a:t>31</a:t>
            </a:fld>
            <a:endParaRPr lang="en-US" altLang="en-US" sz="1200"/>
          </a:p>
        </p:txBody>
      </p:sp>
    </p:spTree>
    <p:extLst>
      <p:ext uri="{BB962C8B-B14F-4D97-AF65-F5344CB8AC3E}">
        <p14:creationId xmlns:p14="http://schemas.microsoft.com/office/powerpoint/2010/main" val="16212508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C68DFBD3-399D-524F-A7AA-8AA2210A12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a:extLst>
              <a:ext uri="{FF2B5EF4-FFF2-40B4-BE49-F238E27FC236}">
                <a16:creationId xmlns:a16="http://schemas.microsoft.com/office/drawing/2014/main" id="{15E479A9-0246-3849-B221-3703DCB781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7.	Summon appropriate assistance (EMTs, fire department, rescue squad).</a:t>
            </a:r>
          </a:p>
          <a:p>
            <a:r>
              <a:rPr lang="en-US" altLang="en-US"/>
              <a:t>	8.	Gain access to patients.</a:t>
            </a:r>
          </a:p>
          <a:p>
            <a:r>
              <a:rPr lang="en-US" altLang="en-US"/>
              <a:t>	9.	Perform patient assessment.</a:t>
            </a:r>
          </a:p>
          <a:p>
            <a:r>
              <a:rPr lang="en-US" altLang="en-US"/>
              <a:t>	10.	Administer emergency medical care.</a:t>
            </a:r>
          </a:p>
          <a:p>
            <a:r>
              <a:rPr lang="en-US" altLang="en-US"/>
              <a:t>	11.	Provide reassurance to patients and family members.</a:t>
            </a:r>
          </a:p>
          <a:p>
            <a:r>
              <a:rPr lang="en-US" altLang="en-US"/>
              <a:t>	12.	Move patients only when necessary.</a:t>
            </a:r>
          </a:p>
          <a:p>
            <a:endParaRPr lang="en-US" altLang="en-US"/>
          </a:p>
        </p:txBody>
      </p:sp>
      <p:sp>
        <p:nvSpPr>
          <p:cNvPr id="69635" name="Slide Number Placeholder 3">
            <a:extLst>
              <a:ext uri="{FF2B5EF4-FFF2-40B4-BE49-F238E27FC236}">
                <a16:creationId xmlns:a16="http://schemas.microsoft.com/office/drawing/2014/main" id="{132766F6-0E93-614A-AD5E-39BF793DBE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269E1C71-836E-A842-B698-D904ADBD46D3}" type="slidenum">
              <a:rPr lang="en-US" altLang="en-US" sz="1200" smtClean="0"/>
              <a:pPr/>
              <a:t>32</a:t>
            </a:fld>
            <a:endParaRPr lang="en-US" altLang="en-US" sz="1200"/>
          </a:p>
        </p:txBody>
      </p:sp>
    </p:spTree>
    <p:extLst>
      <p:ext uri="{BB962C8B-B14F-4D97-AF65-F5344CB8AC3E}">
        <p14:creationId xmlns:p14="http://schemas.microsoft.com/office/powerpoint/2010/main" val="471002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107D15D0-3287-324C-BAFF-FAB0D8FEC9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Notes Placeholder 2">
            <a:extLst>
              <a:ext uri="{FF2B5EF4-FFF2-40B4-BE49-F238E27FC236}">
                <a16:creationId xmlns:a16="http://schemas.microsoft.com/office/drawing/2014/main" id="{D761A5A1-E6D9-CC4C-835E-D2267BAD7C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13.	Seek and then direct help from bystanders, if necessary.</a:t>
            </a:r>
          </a:p>
          <a:p>
            <a:r>
              <a:rPr lang="en-US" altLang="en-US" dirty="0"/>
              <a:t>	14.	Control activities of bystanders.</a:t>
            </a:r>
          </a:p>
          <a:p>
            <a:r>
              <a:rPr lang="en-US" altLang="en-US" dirty="0"/>
              <a:t>	15.	Assist EMTs and paramedics, as necessary.</a:t>
            </a:r>
          </a:p>
          <a:p>
            <a:r>
              <a:rPr lang="en-US" altLang="en-US" dirty="0"/>
              <a:t>	16.	Maintain continuity of patient care.</a:t>
            </a:r>
          </a:p>
          <a:p>
            <a:r>
              <a:rPr lang="en-US" altLang="en-US" dirty="0"/>
              <a:t>	17.	Document your care.</a:t>
            </a:r>
          </a:p>
          <a:p>
            <a:r>
              <a:rPr lang="en-US" altLang="en-US" dirty="0"/>
              <a:t>	18.	Keep your knowledge and skills up-to-date.</a:t>
            </a:r>
          </a:p>
          <a:p>
            <a:endParaRPr lang="en-US" altLang="en-US" dirty="0"/>
          </a:p>
        </p:txBody>
      </p:sp>
      <p:sp>
        <p:nvSpPr>
          <p:cNvPr id="71683" name="Slide Number Placeholder 3">
            <a:extLst>
              <a:ext uri="{FF2B5EF4-FFF2-40B4-BE49-F238E27FC236}">
                <a16:creationId xmlns:a16="http://schemas.microsoft.com/office/drawing/2014/main" id="{797D5B9C-08D0-9E45-AA38-1781896E67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479546E7-B103-304E-9BFC-935A9BDE317B}" type="slidenum">
              <a:rPr lang="en-US" altLang="en-US" sz="1200" smtClean="0"/>
              <a:pPr/>
              <a:t>33</a:t>
            </a:fld>
            <a:endParaRPr lang="en-US" altLang="en-US" sz="1200"/>
          </a:p>
        </p:txBody>
      </p:sp>
    </p:spTree>
    <p:extLst>
      <p:ext uri="{BB962C8B-B14F-4D97-AF65-F5344CB8AC3E}">
        <p14:creationId xmlns:p14="http://schemas.microsoft.com/office/powerpoint/2010/main" val="12665358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FBA1F7CD-B471-C447-8F8E-CABF3B678B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Notes Placeholder 2">
            <a:extLst>
              <a:ext uri="{FF2B5EF4-FFF2-40B4-BE49-F238E27FC236}">
                <a16:creationId xmlns:a16="http://schemas.microsoft.com/office/drawing/2014/main" id="{CE6D4704-576C-F142-8EA1-F6798E6016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Importance of documentation</a:t>
            </a:r>
          </a:p>
          <a:p>
            <a:r>
              <a:rPr lang="en-US" altLang="en-US" dirty="0"/>
              <a:t>	1. 	Documentation should be clear, concise, accurate, and according to accepted policies of your organization.</a:t>
            </a:r>
          </a:p>
          <a:p>
            <a:r>
              <a:rPr lang="en-US" altLang="en-US" dirty="0"/>
              <a:t>	2. 	This documentation is important because you will not be able to remember the treatment you give to all patients.</a:t>
            </a:r>
          </a:p>
          <a:p>
            <a:r>
              <a:rPr lang="en-US" altLang="en-US" dirty="0"/>
              <a:t>	3.	It also serves as a legal record of your treatment and may be required in the event of a lawsuit.</a:t>
            </a:r>
          </a:p>
          <a:p>
            <a:r>
              <a:rPr lang="en-US" altLang="en-US" dirty="0"/>
              <a:t>	4. 	It provides a basis to evaluate quality of care given.</a:t>
            </a:r>
          </a:p>
        </p:txBody>
      </p:sp>
      <p:sp>
        <p:nvSpPr>
          <p:cNvPr id="73731" name="Slide Number Placeholder 3">
            <a:extLst>
              <a:ext uri="{FF2B5EF4-FFF2-40B4-BE49-F238E27FC236}">
                <a16:creationId xmlns:a16="http://schemas.microsoft.com/office/drawing/2014/main" id="{234B7EED-F1AF-8D49-A9A6-7F6C0ED039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F93C1974-9BCD-C049-BFD4-6D7727B4C76E}" type="slidenum">
              <a:rPr lang="en-US" altLang="en-US" sz="1200" smtClean="0"/>
              <a:pPr/>
              <a:t>34</a:t>
            </a:fld>
            <a:endParaRPr lang="en-US" altLang="en-US" sz="1200"/>
          </a:p>
        </p:txBody>
      </p:sp>
    </p:spTree>
    <p:extLst>
      <p:ext uri="{BB962C8B-B14F-4D97-AF65-F5344CB8AC3E}">
        <p14:creationId xmlns:p14="http://schemas.microsoft.com/office/powerpoint/2010/main" val="3814932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822A2DEA-0562-AC40-98D3-95377F3E58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es Placeholder 2">
            <a:extLst>
              <a:ext uri="{FF2B5EF4-FFF2-40B4-BE49-F238E27FC236}">
                <a16:creationId xmlns:a16="http://schemas.microsoft.com/office/drawing/2014/main" id="{1095BB13-9891-4E4C-A2EA-2899B7C3B0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Documentation should include:</a:t>
            </a:r>
          </a:p>
          <a:p>
            <a:r>
              <a:rPr lang="en-US" altLang="en-US" dirty="0"/>
              <a:t>	a.	Condition of the patient when found</a:t>
            </a:r>
          </a:p>
          <a:p>
            <a:r>
              <a:rPr lang="en-US" altLang="en-US" dirty="0"/>
              <a:t>	b.	Patient’s description of the injury or illness</a:t>
            </a:r>
          </a:p>
          <a:p>
            <a:r>
              <a:rPr lang="en-US" altLang="en-US" dirty="0"/>
              <a:t>	c.	Initial and later vital signs</a:t>
            </a:r>
          </a:p>
          <a:p>
            <a:r>
              <a:rPr lang="en-US" altLang="en-US" dirty="0"/>
              <a:t>	d.	Treatment you gave patient</a:t>
            </a:r>
          </a:p>
          <a:p>
            <a:r>
              <a:rPr lang="en-US" altLang="en-US" dirty="0"/>
              <a:t>	e.	Agency and personnel who took over patient treatment</a:t>
            </a:r>
          </a:p>
          <a:p>
            <a:r>
              <a:rPr lang="en-US" altLang="en-US" dirty="0"/>
              <a:t>	f.	Any other helpful facts</a:t>
            </a:r>
          </a:p>
          <a:p>
            <a:endParaRPr lang="en-US" altLang="en-US" dirty="0"/>
          </a:p>
        </p:txBody>
      </p:sp>
      <p:sp>
        <p:nvSpPr>
          <p:cNvPr id="75779" name="Slide Number Placeholder 3">
            <a:extLst>
              <a:ext uri="{FF2B5EF4-FFF2-40B4-BE49-F238E27FC236}">
                <a16:creationId xmlns:a16="http://schemas.microsoft.com/office/drawing/2014/main" id="{510EFC29-A4E9-ED41-A647-0F2F26F836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354631E7-194E-B047-95FD-D0575684B347}" type="slidenum">
              <a:rPr lang="en-US" altLang="en-US" sz="1200" smtClean="0"/>
              <a:pPr/>
              <a:t>35</a:t>
            </a:fld>
            <a:endParaRPr lang="en-US" altLang="en-US" sz="1200"/>
          </a:p>
        </p:txBody>
      </p:sp>
    </p:spTree>
    <p:extLst>
      <p:ext uri="{BB962C8B-B14F-4D97-AF65-F5344CB8AC3E}">
        <p14:creationId xmlns:p14="http://schemas.microsoft.com/office/powerpoint/2010/main" val="2861476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101755B6-0F44-C647-B0EE-19D2656796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es Placeholder 2">
            <a:extLst>
              <a:ext uri="{FF2B5EF4-FFF2-40B4-BE49-F238E27FC236}">
                <a16:creationId xmlns:a16="http://schemas.microsoft.com/office/drawing/2014/main" id="{8B0DCB72-9E82-094D-99F4-05FE7A94A1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Attitude and conduct</a:t>
            </a:r>
          </a:p>
          <a:p>
            <a:r>
              <a:rPr lang="en-US" altLang="en-US" dirty="0"/>
              <a:t>	1.	As an EMR, you will be judged by your attitude and conduct.</a:t>
            </a:r>
          </a:p>
          <a:p>
            <a:r>
              <a:rPr lang="en-US" altLang="en-US" dirty="0"/>
              <a:t>	2.	Professional behavior has a positive impact on your patients. </a:t>
            </a:r>
          </a:p>
          <a:p>
            <a:r>
              <a:rPr lang="en-US" altLang="en-US" dirty="0"/>
              <a:t>	3.	To be a good EMR, you need to reflect certain characteristics.</a:t>
            </a:r>
          </a:p>
          <a:p>
            <a:r>
              <a:rPr lang="en-US" altLang="en-US" dirty="0"/>
              <a:t>		a.	Be honest and conduct yourself with integrity.</a:t>
            </a:r>
          </a:p>
          <a:p>
            <a:r>
              <a:rPr lang="en-US" altLang="en-US" dirty="0"/>
              <a:t>		b.	Be aware of patients’ feelings and have empathy for your patients.</a:t>
            </a:r>
          </a:p>
          <a:p>
            <a:r>
              <a:rPr lang="en-US" altLang="en-US" dirty="0"/>
              <a:t>		c.	Be motivated to get the job done and understand the limits of your training and skills.</a:t>
            </a:r>
          </a:p>
          <a:p>
            <a:r>
              <a:rPr lang="en-US" altLang="en-US" dirty="0"/>
              <a:t>		d.	Be an advocate for your patients.</a:t>
            </a:r>
          </a:p>
          <a:p>
            <a:r>
              <a:rPr lang="en-US" altLang="en-US" dirty="0"/>
              <a:t>	4.	It is important to be calm and caring.</a:t>
            </a:r>
          </a:p>
          <a:p>
            <a:r>
              <a:rPr lang="en-US" altLang="en-US" dirty="0"/>
              <a:t>	5.	Avoid embarrassing your patients and help protect their privacy.</a:t>
            </a:r>
          </a:p>
          <a:p>
            <a:r>
              <a:rPr lang="en-US" altLang="en-US" dirty="0"/>
              <a:t>	6.	Talk with your patients and let them know what you are doing.</a:t>
            </a:r>
          </a:p>
          <a:p>
            <a:r>
              <a:rPr lang="en-US" altLang="en-US" dirty="0"/>
              <a:t>	7.	Medical information about a patient is confidential and should not be discussed with your family and friends.</a:t>
            </a:r>
          </a:p>
          <a:p>
            <a:endParaRPr lang="en-US" altLang="en-US" dirty="0"/>
          </a:p>
        </p:txBody>
      </p:sp>
      <p:sp>
        <p:nvSpPr>
          <p:cNvPr id="77827" name="Slide Number Placeholder 3">
            <a:extLst>
              <a:ext uri="{FF2B5EF4-FFF2-40B4-BE49-F238E27FC236}">
                <a16:creationId xmlns:a16="http://schemas.microsoft.com/office/drawing/2014/main" id="{BEC75403-E049-E441-858B-2523AB6378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C629C5BA-BEC9-884E-ADE7-4D04912741AF}" type="slidenum">
              <a:rPr lang="en-US" altLang="en-US" sz="1200" smtClean="0"/>
              <a:pPr/>
              <a:t>36</a:t>
            </a:fld>
            <a:endParaRPr lang="en-US" altLang="en-US" sz="1200"/>
          </a:p>
        </p:txBody>
      </p:sp>
    </p:spTree>
    <p:extLst>
      <p:ext uri="{BB962C8B-B14F-4D97-AF65-F5344CB8AC3E}">
        <p14:creationId xmlns:p14="http://schemas.microsoft.com/office/powerpoint/2010/main" val="28624822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D30BC077-5750-754A-A3A8-B118D520C3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Notes Placeholder 2">
            <a:extLst>
              <a:ext uri="{FF2B5EF4-FFF2-40B4-BE49-F238E27FC236}">
                <a16:creationId xmlns:a16="http://schemas.microsoft.com/office/drawing/2014/main" id="{444D0BB4-2D91-A143-A407-42AAFB4A46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8. Your appearance should be neat and professional at all times.</a:t>
            </a:r>
          </a:p>
          <a:p>
            <a:endParaRPr lang="en-US" altLang="en-US"/>
          </a:p>
          <a:p>
            <a:r>
              <a:rPr lang="en-US" altLang="en-US"/>
              <a:t>Figure: A professional attitude and neat appearance reassure patients.</a:t>
            </a:r>
          </a:p>
        </p:txBody>
      </p:sp>
      <p:sp>
        <p:nvSpPr>
          <p:cNvPr id="79875" name="Slide Number Placeholder 3">
            <a:extLst>
              <a:ext uri="{FF2B5EF4-FFF2-40B4-BE49-F238E27FC236}">
                <a16:creationId xmlns:a16="http://schemas.microsoft.com/office/drawing/2014/main" id="{C2AEB18A-1E7E-D14E-B0A6-6267E65E12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A9335F24-6510-5241-8886-CA215E65DB18}" type="slidenum">
              <a:rPr lang="en-US" altLang="en-US" sz="1200" smtClean="0"/>
              <a:pPr/>
              <a:t>37</a:t>
            </a:fld>
            <a:endParaRPr lang="en-US" altLang="en-US" sz="1200"/>
          </a:p>
        </p:txBody>
      </p:sp>
    </p:spTree>
    <p:extLst>
      <p:ext uri="{BB962C8B-B14F-4D97-AF65-F5344CB8AC3E}">
        <p14:creationId xmlns:p14="http://schemas.microsoft.com/office/powerpoint/2010/main" val="25301696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115BCC7E-B8F4-CC47-9DB0-39B9F061F6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Notes Placeholder 2">
            <a:extLst>
              <a:ext uri="{FF2B5EF4-FFF2-40B4-BE49-F238E27FC236}">
                <a16:creationId xmlns:a16="http://schemas.microsoft.com/office/drawing/2014/main" id="{F88185A7-6381-1146-939B-B6C6B89112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VIII. Medical Oversight</a:t>
            </a:r>
          </a:p>
          <a:p>
            <a:r>
              <a:rPr lang="en-US" altLang="en-US" dirty="0"/>
              <a:t>A.	Physician or medical director is the overall leader of medical care team. </a:t>
            </a:r>
          </a:p>
          <a:p>
            <a:r>
              <a:rPr lang="en-US" altLang="en-US" dirty="0"/>
              <a:t>B.	Each EMS agency should have a physician who directs training courses, helps set medical policies and procedures, and ensures quality management of EMS system. </a:t>
            </a:r>
          </a:p>
          <a:p>
            <a:r>
              <a:rPr lang="en-US" altLang="en-US" dirty="0"/>
              <a:t>	1.	Known as indirect or off-line medical control</a:t>
            </a:r>
          </a:p>
          <a:p>
            <a:endParaRPr lang="en-US" altLang="en-US" dirty="0"/>
          </a:p>
        </p:txBody>
      </p:sp>
      <p:sp>
        <p:nvSpPr>
          <p:cNvPr id="81923" name="Slide Number Placeholder 3">
            <a:extLst>
              <a:ext uri="{FF2B5EF4-FFF2-40B4-BE49-F238E27FC236}">
                <a16:creationId xmlns:a16="http://schemas.microsoft.com/office/drawing/2014/main" id="{F3F37AC4-4D3D-E141-9840-98AF9FE758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234F4D82-77B8-0042-9073-5DF07713FD99}" type="slidenum">
              <a:rPr lang="en-US" altLang="en-US" sz="1200" smtClean="0"/>
              <a:pPr/>
              <a:t>38</a:t>
            </a:fld>
            <a:endParaRPr lang="en-US" altLang="en-US" sz="1200"/>
          </a:p>
        </p:txBody>
      </p:sp>
    </p:spTree>
    <p:extLst>
      <p:ext uri="{BB962C8B-B14F-4D97-AF65-F5344CB8AC3E}">
        <p14:creationId xmlns:p14="http://schemas.microsoft.com/office/powerpoint/2010/main" val="24821544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C73D2715-3EF6-4B4D-AE70-7B1BF97C88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Notes Placeholder 2">
            <a:extLst>
              <a:ext uri="{FF2B5EF4-FFF2-40B4-BE49-F238E27FC236}">
                <a16:creationId xmlns:a16="http://schemas.microsoft.com/office/drawing/2014/main" id="{72DBA267-FFCB-5048-A308-3ABA0B7EF2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A second type of medical control is known as direct or online medical control.</a:t>
            </a:r>
          </a:p>
          <a:p>
            <a:r>
              <a:rPr lang="en-US" altLang="en-US" dirty="0"/>
              <a:t>	1.	Online medical control is provided by a physician who is in contact with prehospital EMS providers, usually paramedics or EMTs, by two-way radio or wireless (cell) phone.</a:t>
            </a:r>
          </a:p>
          <a:p>
            <a:r>
              <a:rPr lang="en-US" altLang="en-US" dirty="0"/>
              <a:t>	2.	In cases where large numbers of people are injured, or in cases of prolonged entrapment, physicians may respond to the scene of the incident to provide on-scene medical control.</a:t>
            </a:r>
          </a:p>
          <a:p>
            <a:endParaRPr lang="en-US" altLang="en-US" dirty="0"/>
          </a:p>
        </p:txBody>
      </p:sp>
      <p:sp>
        <p:nvSpPr>
          <p:cNvPr id="83971" name="Slide Number Placeholder 3">
            <a:extLst>
              <a:ext uri="{FF2B5EF4-FFF2-40B4-BE49-F238E27FC236}">
                <a16:creationId xmlns:a16="http://schemas.microsoft.com/office/drawing/2014/main" id="{7A098884-7028-1749-B197-66634E9C08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F19A5B92-9BEF-D942-9F83-6ED6866A1C18}" type="slidenum">
              <a:rPr lang="en-US" altLang="en-US" sz="1200" smtClean="0"/>
              <a:pPr/>
              <a:t>39</a:t>
            </a:fld>
            <a:endParaRPr lang="en-US" altLang="en-US" sz="1200"/>
          </a:p>
        </p:txBody>
      </p:sp>
    </p:spTree>
    <p:extLst>
      <p:ext uri="{BB962C8B-B14F-4D97-AF65-F5344CB8AC3E}">
        <p14:creationId xmlns:p14="http://schemas.microsoft.com/office/powerpoint/2010/main" val="5045423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7641D595-388F-E041-9A33-15AFA5AB4D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Notes Placeholder 2">
            <a:extLst>
              <a:ext uri="{FF2B5EF4-FFF2-40B4-BE49-F238E27FC236}">
                <a16:creationId xmlns:a16="http://schemas.microsoft.com/office/drawing/2014/main" id="{C8A56490-E5DB-EC4D-A779-47E8B1248B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IX. Quality Improvement</a:t>
            </a:r>
          </a:p>
          <a:p>
            <a:r>
              <a:rPr lang="en-US" altLang="en-US" dirty="0"/>
              <a:t>A.	Quality improvement is a process used by medical care systems to evaluate the effectiveness and safety of current treatments and procedures.</a:t>
            </a:r>
          </a:p>
          <a:p>
            <a:r>
              <a:rPr lang="en-US" altLang="en-US" dirty="0"/>
              <a:t>B.	It is also used to determine the effectiveness and safety of new treatments and procedures.</a:t>
            </a:r>
          </a:p>
          <a:p>
            <a:r>
              <a:rPr lang="en-US" altLang="en-US" dirty="0"/>
              <a:t>C.	The Institute of Medicine has identified six components of the quality improvement process.</a:t>
            </a:r>
          </a:p>
          <a:p>
            <a:r>
              <a:rPr lang="en-US" altLang="en-US" dirty="0"/>
              <a:t>	1.	Safety: Actions of EMRs must not cause harm to patients, bystanders, or EMS providers.</a:t>
            </a:r>
          </a:p>
          <a:p>
            <a:endParaRPr lang="en-US" altLang="en-US" dirty="0"/>
          </a:p>
        </p:txBody>
      </p:sp>
      <p:sp>
        <p:nvSpPr>
          <p:cNvPr id="86019" name="Slide Number Placeholder 3">
            <a:extLst>
              <a:ext uri="{FF2B5EF4-FFF2-40B4-BE49-F238E27FC236}">
                <a16:creationId xmlns:a16="http://schemas.microsoft.com/office/drawing/2014/main" id="{6D3D132F-60FD-BF40-AEB5-C3E906973E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68C744DA-C3D6-1942-8ED9-3C9034493D6E}" type="slidenum">
              <a:rPr lang="en-US" altLang="en-US" sz="1200" smtClean="0"/>
              <a:pPr/>
              <a:t>40</a:t>
            </a:fld>
            <a:endParaRPr lang="en-US" altLang="en-US" sz="1200"/>
          </a:p>
        </p:txBody>
      </p:sp>
    </p:spTree>
    <p:extLst>
      <p:ext uri="{BB962C8B-B14F-4D97-AF65-F5344CB8AC3E}">
        <p14:creationId xmlns:p14="http://schemas.microsoft.com/office/powerpoint/2010/main" val="5156274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07931E9A-AD7B-2D45-9969-AAC0C9EFE9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Notes Placeholder 2">
            <a:extLst>
              <a:ext uri="{FF2B5EF4-FFF2-40B4-BE49-F238E27FC236}">
                <a16:creationId xmlns:a16="http://schemas.microsoft.com/office/drawing/2014/main" id="{78F0889B-E0E4-8048-998B-43331A2393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2.	Effectiveness: EMS care should be based on scientific knowledge and provide the desired benefit to the patient.</a:t>
            </a:r>
          </a:p>
          <a:p>
            <a:r>
              <a:rPr lang="en-US" altLang="en-US"/>
              <a:t>	3.	Patient-centeredness: Be responsive to the patient’s physical needs as well as his or her values, religion, and heritage.</a:t>
            </a:r>
          </a:p>
          <a:p>
            <a:r>
              <a:rPr lang="en-US" altLang="en-US"/>
              <a:t>	4.	Timeliness: Provide care in a timely manner.</a:t>
            </a:r>
          </a:p>
          <a:p>
            <a:endParaRPr lang="en-US" altLang="en-US"/>
          </a:p>
        </p:txBody>
      </p:sp>
      <p:sp>
        <p:nvSpPr>
          <p:cNvPr id="88067" name="Slide Number Placeholder 3">
            <a:extLst>
              <a:ext uri="{FF2B5EF4-FFF2-40B4-BE49-F238E27FC236}">
                <a16:creationId xmlns:a16="http://schemas.microsoft.com/office/drawing/2014/main" id="{A800643C-2A4B-8041-BBDE-E827A92888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310669B2-5611-9F45-BFF5-9E8E207CF4A1}" type="slidenum">
              <a:rPr lang="en-US" altLang="en-US" sz="1200" smtClean="0"/>
              <a:pPr/>
              <a:t>41</a:t>
            </a:fld>
            <a:endParaRPr lang="en-US" altLang="en-US" sz="1200"/>
          </a:p>
        </p:txBody>
      </p:sp>
    </p:spTree>
    <p:extLst>
      <p:ext uri="{BB962C8B-B14F-4D97-AF65-F5344CB8AC3E}">
        <p14:creationId xmlns:p14="http://schemas.microsoft.com/office/powerpoint/2010/main" val="11006150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7AA7A7EA-A3C6-4041-904C-9E81520151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Notes Placeholder 2">
            <a:extLst>
              <a:ext uri="{FF2B5EF4-FFF2-40B4-BE49-F238E27FC236}">
                <a16:creationId xmlns:a16="http://schemas.microsoft.com/office/drawing/2014/main" id="{4F5B66D5-54D7-E24A-9431-D1D0DC055F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5.	Efficiency: Always strive to deliver care without wasting supplies, equipment, or time.</a:t>
            </a:r>
          </a:p>
          <a:p>
            <a:r>
              <a:rPr lang="en-US" altLang="en-US"/>
              <a:t>	6.	Equitability: Patient care should not vary between people of different genders, sexual orientations, ethnic backgrounds, geographic locations, or socioeconomic levels.</a:t>
            </a:r>
          </a:p>
          <a:p>
            <a:endParaRPr lang="en-US" altLang="en-US"/>
          </a:p>
        </p:txBody>
      </p:sp>
      <p:sp>
        <p:nvSpPr>
          <p:cNvPr id="90115" name="Slide Number Placeholder 3">
            <a:extLst>
              <a:ext uri="{FF2B5EF4-FFF2-40B4-BE49-F238E27FC236}">
                <a16:creationId xmlns:a16="http://schemas.microsoft.com/office/drawing/2014/main" id="{CB808E3A-24AC-FE4F-81D9-45B63484B2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A61EE632-98FC-7044-813E-727D75B932BC}" type="slidenum">
              <a:rPr lang="en-US" altLang="en-US" sz="1200" smtClean="0"/>
              <a:pPr/>
              <a:t>42</a:t>
            </a:fld>
            <a:endParaRPr lang="en-US" altLang="en-US" sz="1200"/>
          </a:p>
        </p:txBody>
      </p:sp>
    </p:spTree>
    <p:extLst>
      <p:ext uri="{BB962C8B-B14F-4D97-AF65-F5344CB8AC3E}">
        <p14:creationId xmlns:p14="http://schemas.microsoft.com/office/powerpoint/2010/main" val="30887630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a:extLst>
              <a:ext uri="{FF2B5EF4-FFF2-40B4-BE49-F238E27FC236}">
                <a16:creationId xmlns:a16="http://schemas.microsoft.com/office/drawing/2014/main" id="{B5180F21-3A9B-064A-951F-D04FBCA6BA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Notes Placeholder 2">
            <a:extLst>
              <a:ext uri="{FF2B5EF4-FFF2-40B4-BE49-F238E27FC236}">
                <a16:creationId xmlns:a16="http://schemas.microsoft.com/office/drawing/2014/main" id="{453982B5-2C36-184B-B37C-3434DAB23C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X. Your Certification</a:t>
            </a:r>
          </a:p>
          <a:p>
            <a:r>
              <a:rPr lang="en-US" altLang="en-US" dirty="0"/>
              <a:t>A.	Certification is process by which a person, institution, or program is evaluated and recognized as meeting certain standards to ensure safe and ethical patient care.</a:t>
            </a:r>
          </a:p>
          <a:p>
            <a:r>
              <a:rPr lang="en-US" altLang="en-US" dirty="0"/>
              <a:t>B.	Once certified as an EMR, you must follow national and state standards for your level of practice.</a:t>
            </a:r>
          </a:p>
          <a:p>
            <a:r>
              <a:rPr lang="en-US" altLang="en-US" dirty="0"/>
              <a:t>	1.	Your employer may set additional requirements for your conduct and practice.</a:t>
            </a:r>
          </a:p>
          <a:p>
            <a:r>
              <a:rPr lang="en-US" altLang="en-US" dirty="0"/>
              <a:t>C.	Your responsibility to make sure that you keep your certification current by maintaining continuing education requirements and keeping your skills up to date.</a:t>
            </a:r>
          </a:p>
          <a:p>
            <a:r>
              <a:rPr lang="en-US" altLang="en-US" dirty="0"/>
              <a:t>	1.	Failure to keep your certification current can result in penalties.</a:t>
            </a:r>
          </a:p>
          <a:p>
            <a:endParaRPr lang="en-US" altLang="en-US" dirty="0"/>
          </a:p>
        </p:txBody>
      </p:sp>
      <p:sp>
        <p:nvSpPr>
          <p:cNvPr id="92163" name="Slide Number Placeholder 3">
            <a:extLst>
              <a:ext uri="{FF2B5EF4-FFF2-40B4-BE49-F238E27FC236}">
                <a16:creationId xmlns:a16="http://schemas.microsoft.com/office/drawing/2014/main" id="{7B806F88-F5EF-9C4C-B23E-5EC988584F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D3E739FA-B372-4044-9398-63FEBFEEEC6D}" type="slidenum">
              <a:rPr lang="en-US" altLang="en-US" sz="1200" smtClean="0"/>
              <a:pPr/>
              <a:t>43</a:t>
            </a:fld>
            <a:endParaRPr lang="en-US" altLang="en-US" sz="1200"/>
          </a:p>
        </p:txBody>
      </p:sp>
    </p:spTree>
    <p:extLst>
      <p:ext uri="{BB962C8B-B14F-4D97-AF65-F5344CB8AC3E}">
        <p14:creationId xmlns:p14="http://schemas.microsoft.com/office/powerpoint/2010/main" val="953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a:extLst>
              <a:ext uri="{FF2B5EF4-FFF2-40B4-BE49-F238E27FC236}">
                <a16:creationId xmlns:a16="http://schemas.microsoft.com/office/drawing/2014/main" id="{5972E1AB-97AB-0048-B91F-64FDD66318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Notes Placeholder 2">
            <a:extLst>
              <a:ext uri="{FF2B5EF4-FFF2-40B4-BE49-F238E27FC236}">
                <a16:creationId xmlns:a16="http://schemas.microsoft.com/office/drawing/2014/main" id="{A2D2ED88-7486-2543-80D5-A8BA30049E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XI. Summary</a:t>
            </a:r>
          </a:p>
          <a:p>
            <a:r>
              <a:rPr lang="en-US" altLang="en-US" dirty="0"/>
              <a:t>A.	EMR is often the first medically trained person to arrive on the scene. The initial care provided is essential because it is available sooner than more advanced emergency medical care and could mean the difference between life and death.</a:t>
            </a:r>
          </a:p>
          <a:p>
            <a:r>
              <a:rPr lang="en-US" altLang="en-US" dirty="0"/>
              <a:t>B.	EMRs should understand their roles in the (EMS) system. Typical sequence of events of the EMS system is reporting, dispatch, emergency medical response, EMS vehicle response, and hospital care.</a:t>
            </a:r>
          </a:p>
          <a:p>
            <a:endParaRPr lang="en-US" altLang="en-US" dirty="0"/>
          </a:p>
        </p:txBody>
      </p:sp>
      <p:sp>
        <p:nvSpPr>
          <p:cNvPr id="94211" name="Slide Number Placeholder 3">
            <a:extLst>
              <a:ext uri="{FF2B5EF4-FFF2-40B4-BE49-F238E27FC236}">
                <a16:creationId xmlns:a16="http://schemas.microsoft.com/office/drawing/2014/main" id="{C35F16FB-19EE-2040-9DDB-C7FDB3434D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C33DD0B8-617E-E242-9D58-98A1B2015031}" type="slidenum">
              <a:rPr lang="en-US" altLang="en-US" sz="1200" smtClean="0"/>
              <a:pPr/>
              <a:t>44</a:t>
            </a:fld>
            <a:endParaRPr lang="en-US" altLang="en-US" sz="1200"/>
          </a:p>
        </p:txBody>
      </p:sp>
    </p:spTree>
    <p:extLst>
      <p:ext uri="{BB962C8B-B14F-4D97-AF65-F5344CB8AC3E}">
        <p14:creationId xmlns:p14="http://schemas.microsoft.com/office/powerpoint/2010/main" val="19922530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EA845AD6-5407-9F4F-A04E-DE74A83062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Notes Placeholder 2">
            <a:extLst>
              <a:ext uri="{FF2B5EF4-FFF2-40B4-BE49-F238E27FC236}">
                <a16:creationId xmlns:a16="http://schemas.microsoft.com/office/drawing/2014/main" id="{B5E87BDC-7DC1-0745-B5E7-4ED7F444E8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Tx/>
              <a:buAutoNum type="alphaUcPeriod" startAt="3"/>
            </a:pPr>
            <a:r>
              <a:rPr lang="en-US" altLang="en-US" dirty="0"/>
              <a:t>     Four basic goals of EMR training are to know what not to do, how to use your EMR life support kit, how to improvise, and how to assist other EMS providers.</a:t>
            </a:r>
          </a:p>
          <a:p>
            <a:pPr marL="228600" indent="-228600"/>
            <a:r>
              <a:rPr lang="en-US" altLang="en-US" dirty="0"/>
              <a:t>D.	As an EMR, your primary goal is to provide immediate care for a sick or injured patient. As more highly trained personnel (EMTs or paramedics) arrive on the scene, you will assist them in treating and preparing the patient for transportation.</a:t>
            </a:r>
          </a:p>
          <a:p>
            <a:pPr marL="228600" indent="-228600"/>
            <a:r>
              <a:rPr lang="en-US" altLang="en-US" dirty="0"/>
              <a:t>E.	Once your role in treating the patient is finished, you must record your observations about the scene, the patient’s condition, and the treatment you provided. Documentation should be clear, concise, accurate, and in accordance with the accepted policies of your organization.</a:t>
            </a:r>
          </a:p>
          <a:p>
            <a:pPr marL="228600" indent="-228600"/>
            <a:endParaRPr lang="en-US" altLang="en-US" dirty="0"/>
          </a:p>
        </p:txBody>
      </p:sp>
      <p:sp>
        <p:nvSpPr>
          <p:cNvPr id="96259" name="Slide Number Placeholder 3">
            <a:extLst>
              <a:ext uri="{FF2B5EF4-FFF2-40B4-BE49-F238E27FC236}">
                <a16:creationId xmlns:a16="http://schemas.microsoft.com/office/drawing/2014/main" id="{51BB1D7A-5C5F-574F-821B-1B2967ACA7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142A436B-032D-174E-A80C-57B03020D0EC}" type="slidenum">
              <a:rPr lang="en-US" altLang="en-US" sz="1200" smtClean="0"/>
              <a:pPr/>
              <a:t>45</a:t>
            </a:fld>
            <a:endParaRPr lang="en-US" altLang="en-US" sz="1200"/>
          </a:p>
        </p:txBody>
      </p:sp>
    </p:spTree>
    <p:extLst>
      <p:ext uri="{BB962C8B-B14F-4D97-AF65-F5344CB8AC3E}">
        <p14:creationId xmlns:p14="http://schemas.microsoft.com/office/powerpoint/2010/main" val="9733067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a:extLst>
              <a:ext uri="{FF2B5EF4-FFF2-40B4-BE49-F238E27FC236}">
                <a16:creationId xmlns:a16="http://schemas.microsoft.com/office/drawing/2014/main" id="{DD733A42-F046-3A42-A453-9D158C6EC3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Notes Placeholder 2">
            <a:extLst>
              <a:ext uri="{FF2B5EF4-FFF2-40B4-BE49-F238E27FC236}">
                <a16:creationId xmlns:a16="http://schemas.microsoft.com/office/drawing/2014/main" id="{4C25AB1D-976C-FD49-BA90-90644CC350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Medical information about a patient is confidential and should be shared only with other medical personnel who are involved in the care of that particular patient.</a:t>
            </a:r>
          </a:p>
          <a:p>
            <a:r>
              <a:rPr lang="en-US" altLang="en-US" dirty="0"/>
              <a:t>G.	The overall leader of medical care team is physician or medical director. To ensure that the patient receives appropriate medical treatment, it is important that EMRs receive direction from a physician.</a:t>
            </a:r>
          </a:p>
          <a:p>
            <a:r>
              <a:rPr lang="en-US" altLang="en-US" dirty="0"/>
              <a:t>H.	Quality improvement helps to determine the level of care rendered by an EMS service. It measures care in six component areas: safety, effectiveness, patient-centeredness, timeliness, efficiency, and equitability. EMS systems should have an ongoing quality improvement program.</a:t>
            </a:r>
          </a:p>
          <a:p>
            <a:endParaRPr lang="en-US" altLang="en-US" dirty="0"/>
          </a:p>
        </p:txBody>
      </p:sp>
      <p:sp>
        <p:nvSpPr>
          <p:cNvPr id="98307" name="Slide Number Placeholder 3">
            <a:extLst>
              <a:ext uri="{FF2B5EF4-FFF2-40B4-BE49-F238E27FC236}">
                <a16:creationId xmlns:a16="http://schemas.microsoft.com/office/drawing/2014/main" id="{2EDF73FE-F5C0-6A45-8091-7A2FE3F5AF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334099D1-6A95-F549-AE2E-757A4EB80912}" type="slidenum">
              <a:rPr lang="en-US" altLang="en-US" sz="1200" smtClean="0"/>
              <a:pPr/>
              <a:t>46</a:t>
            </a:fld>
            <a:endParaRPr lang="en-US" altLang="en-US" sz="1200"/>
          </a:p>
        </p:txBody>
      </p:sp>
    </p:spTree>
    <p:extLst>
      <p:ext uri="{BB962C8B-B14F-4D97-AF65-F5344CB8AC3E}">
        <p14:creationId xmlns:p14="http://schemas.microsoft.com/office/powerpoint/2010/main" val="39730055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E6F05C4F-82E3-8C41-B726-C10767DDDD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Notes Placeholder 2">
            <a:extLst>
              <a:ext uri="{FF2B5EF4-FFF2-40B4-BE49-F238E27FC236}">
                <a16:creationId xmlns:a16="http://schemas.microsoft.com/office/drawing/2014/main" id="{21B93650-C2AC-E143-8F01-03F32E025C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00355" name="Slide Number Placeholder 3">
            <a:extLst>
              <a:ext uri="{FF2B5EF4-FFF2-40B4-BE49-F238E27FC236}">
                <a16:creationId xmlns:a16="http://schemas.microsoft.com/office/drawing/2014/main" id="{C9950D09-AF10-D54D-87F5-FC83EE43E0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D8667474-439D-4A4D-BDD0-4F4BDC086EEC}" type="slidenum">
              <a:rPr lang="en-US" altLang="en-US" sz="1200" smtClean="0"/>
              <a:pPr/>
              <a:t>47</a:t>
            </a:fld>
            <a:endParaRPr lang="en-US" altLang="en-US" sz="1200"/>
          </a:p>
        </p:txBody>
      </p:sp>
    </p:spTree>
    <p:extLst>
      <p:ext uri="{BB962C8B-B14F-4D97-AF65-F5344CB8AC3E}">
        <p14:creationId xmlns:p14="http://schemas.microsoft.com/office/powerpoint/2010/main" val="2197869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a:extLst>
              <a:ext uri="{FF2B5EF4-FFF2-40B4-BE49-F238E27FC236}">
                <a16:creationId xmlns:a16="http://schemas.microsoft.com/office/drawing/2014/main" id="{8323ED8E-A82B-F04D-A1F0-8227F11390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Notes Placeholder 2">
            <a:extLst>
              <a:ext uri="{FF2B5EF4-FFF2-40B4-BE49-F238E27FC236}">
                <a16:creationId xmlns:a16="http://schemas.microsoft.com/office/drawing/2014/main" id="{C6C970C2-B851-9340-B0A1-AF0299F900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06499" name="Slide Number Placeholder 3">
            <a:extLst>
              <a:ext uri="{FF2B5EF4-FFF2-40B4-BE49-F238E27FC236}">
                <a16:creationId xmlns:a16="http://schemas.microsoft.com/office/drawing/2014/main" id="{F23B6C47-7026-2245-B322-11F52D9CF4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B91B8543-3FDC-F744-9CB4-B293D5658857}" type="slidenum">
              <a:rPr lang="en-US" altLang="en-US" sz="1200" smtClean="0"/>
              <a:pPr/>
              <a:t>52</a:t>
            </a:fld>
            <a:endParaRPr lang="en-US" altLang="en-US" sz="1200"/>
          </a:p>
        </p:txBody>
      </p:sp>
    </p:spTree>
    <p:extLst>
      <p:ext uri="{BB962C8B-B14F-4D97-AF65-F5344CB8AC3E}">
        <p14:creationId xmlns:p14="http://schemas.microsoft.com/office/powerpoint/2010/main" val="2513565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2022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EMS Systems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7E24BD3F-6CAF-684A-AAA3-8A604E58D679}"/>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3)</a:t>
            </a:r>
          </a:p>
        </p:txBody>
      </p:sp>
      <p:sp>
        <p:nvSpPr>
          <p:cNvPr id="5122" name="Rectangle 3">
            <a:extLst>
              <a:ext uri="{FF2B5EF4-FFF2-40B4-BE49-F238E27FC236}">
                <a16:creationId xmlns:a16="http://schemas.microsoft.com/office/drawing/2014/main" id="{B052AB2A-B470-A44F-80F4-390ED1A660E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a:latin typeface="Arial Black" panose="020B0604020202020204" pitchFamily="34" charset="0"/>
              </a:rPr>
              <a:t>Preparatory</a:t>
            </a:r>
          </a:p>
          <a:p>
            <a:pPr marL="0" indent="0">
              <a:spcBef>
                <a:spcPct val="35000"/>
              </a:spcBef>
              <a:buNone/>
            </a:pPr>
            <a:r>
              <a:rPr lang="en-US" altLang="en-US"/>
              <a:t>Uses simple knowledge of the emergency medical services (EMS) system, safety/well-being of the emergency medical responder (EMR), and medical/legal issues at the scene of an emergency while awaiting a higher level of care.</a:t>
            </a:r>
          </a:p>
        </p:txBody>
      </p:sp>
    </p:spTree>
    <p:extLst>
      <p:ext uri="{BB962C8B-B14F-4D97-AF65-F5344CB8AC3E}">
        <p14:creationId xmlns:p14="http://schemas.microsoft.com/office/powerpoint/2010/main" val="227726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a:extLst>
              <a:ext uri="{FF2B5EF4-FFF2-40B4-BE49-F238E27FC236}">
                <a16:creationId xmlns:a16="http://schemas.microsoft.com/office/drawing/2014/main" id="{26494A8B-E5D4-FB45-B7EF-215DB4EEA66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3)</a:t>
            </a:r>
          </a:p>
        </p:txBody>
      </p:sp>
      <p:sp>
        <p:nvSpPr>
          <p:cNvPr id="7170" name="Rectangle 3">
            <a:extLst>
              <a:ext uri="{FF2B5EF4-FFF2-40B4-BE49-F238E27FC236}">
                <a16:creationId xmlns:a16="http://schemas.microsoft.com/office/drawing/2014/main" id="{B065F07F-E759-0F46-BE0D-1DFCB677F0C0}"/>
              </a:ext>
            </a:extLst>
          </p:cNvPr>
          <p:cNvSpPr>
            <a:spLocks noGrp="1" noChangeArrowheads="1"/>
          </p:cNvSpPr>
          <p:nvPr>
            <p:ph type="body" idx="1"/>
          </p:nvPr>
        </p:nvSpPr>
        <p:spPr>
          <a:xfrm>
            <a:off x="774700" y="1574800"/>
            <a:ext cx="77724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EMS Systems</a:t>
            </a:r>
          </a:p>
          <a:p>
            <a:pPr eaLnBrk="1" hangingPunct="1">
              <a:spcBef>
                <a:spcPct val="35000"/>
              </a:spcBef>
            </a:pPr>
            <a:r>
              <a:rPr lang="en-US" altLang="en-US" dirty="0"/>
              <a:t>EMS systems</a:t>
            </a:r>
          </a:p>
          <a:p>
            <a:pPr eaLnBrk="1" hangingPunct="1">
              <a:spcBef>
                <a:spcPct val="35000"/>
              </a:spcBef>
            </a:pPr>
            <a:r>
              <a:rPr lang="en-US" altLang="en-US" dirty="0"/>
              <a:t>Roles/responsibilities/professionalism of EMS personnel</a:t>
            </a:r>
          </a:p>
          <a:p>
            <a:pPr eaLnBrk="1" hangingPunct="1">
              <a:spcBef>
                <a:spcPct val="35000"/>
              </a:spcBef>
            </a:pPr>
            <a:r>
              <a:rPr lang="en-US" altLang="en-US" dirty="0"/>
              <a:t>Quality improvement</a:t>
            </a:r>
          </a:p>
        </p:txBody>
      </p:sp>
    </p:spTree>
    <p:extLst>
      <p:ext uri="{BB962C8B-B14F-4D97-AF65-F5344CB8AC3E}">
        <p14:creationId xmlns:p14="http://schemas.microsoft.com/office/powerpoint/2010/main" val="1995838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0CD62679-1FBD-2A43-8013-AD20BE89514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3)</a:t>
            </a:r>
          </a:p>
        </p:txBody>
      </p:sp>
      <p:sp>
        <p:nvSpPr>
          <p:cNvPr id="9218" name="Rectangle 3">
            <a:extLst>
              <a:ext uri="{FF2B5EF4-FFF2-40B4-BE49-F238E27FC236}">
                <a16:creationId xmlns:a16="http://schemas.microsoft.com/office/drawing/2014/main" id="{B3DF4A3F-3BD4-A547-95E2-735EAC085AF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spcBef>
                <a:spcPct val="35000"/>
              </a:spcBef>
              <a:buNone/>
            </a:pPr>
            <a:r>
              <a:rPr lang="en-US" altLang="en-US" b="1" dirty="0"/>
              <a:t>Research</a:t>
            </a:r>
          </a:p>
          <a:p>
            <a:pPr marL="0" indent="0">
              <a:spcBef>
                <a:spcPct val="35000"/>
              </a:spcBef>
            </a:pPr>
            <a:r>
              <a:rPr lang="en-US" altLang="en-US" dirty="0"/>
              <a:t>  Impact of research on EMR care</a:t>
            </a:r>
          </a:p>
          <a:p>
            <a:pPr marL="0" indent="0">
              <a:spcBef>
                <a:spcPct val="35000"/>
              </a:spcBef>
            </a:pPr>
            <a:r>
              <a:rPr lang="en-US" altLang="en-US" dirty="0"/>
              <a:t>  Data collection</a:t>
            </a:r>
          </a:p>
          <a:p>
            <a:pPr marL="0" indent="0">
              <a:buNone/>
            </a:pPr>
            <a:r>
              <a:rPr lang="en-US" altLang="en-US" dirty="0">
                <a:latin typeface="Arial Black" panose="020B0604020202020204" pitchFamily="34" charset="0"/>
              </a:rPr>
              <a:t>Public Health</a:t>
            </a:r>
          </a:p>
          <a:p>
            <a:pPr marL="0" indent="0">
              <a:spcBef>
                <a:spcPct val="35000"/>
              </a:spcBef>
              <a:buNone/>
            </a:pPr>
            <a:r>
              <a:rPr lang="en-US" altLang="en-US" dirty="0"/>
              <a:t>Have an awareness of local public health resources and role EMS personnel play in public health emergencies.</a:t>
            </a:r>
          </a:p>
        </p:txBody>
      </p:sp>
    </p:spTree>
    <p:extLst>
      <p:ext uri="{BB962C8B-B14F-4D97-AF65-F5344CB8AC3E}">
        <p14:creationId xmlns:p14="http://schemas.microsoft.com/office/powerpoint/2010/main" val="244099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39914A5E-E7FC-CF46-8A6C-33EC65E89DE0}"/>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1266" name="Rectangle 3">
            <a:extLst>
              <a:ext uri="{FF2B5EF4-FFF2-40B4-BE49-F238E27FC236}">
                <a16:creationId xmlns:a16="http://schemas.microsoft.com/office/drawing/2014/main" id="{FB74C08B-9A03-4047-8D87-C178730AE0A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An EMR is often the first medically trained person to arrive on the scene of an emergency.</a:t>
            </a:r>
          </a:p>
          <a:p>
            <a:pPr eaLnBrk="1" hangingPunct="1">
              <a:spcBef>
                <a:spcPct val="35000"/>
              </a:spcBef>
            </a:pPr>
            <a:r>
              <a:rPr lang="en-US" altLang="en-US" dirty="0"/>
              <a:t>Initial care is usually followed by:</a:t>
            </a:r>
          </a:p>
          <a:p>
            <a:pPr lvl="1" eaLnBrk="1" hangingPunct="1">
              <a:spcBef>
                <a:spcPct val="35000"/>
              </a:spcBef>
            </a:pPr>
            <a:r>
              <a:rPr lang="en-US" altLang="en-US" dirty="0"/>
              <a:t>Emergency medical technicians (EMTs)</a:t>
            </a:r>
          </a:p>
          <a:p>
            <a:pPr lvl="1" eaLnBrk="1" hangingPunct="1">
              <a:spcBef>
                <a:spcPct val="35000"/>
              </a:spcBef>
            </a:pPr>
            <a:r>
              <a:rPr lang="en-US" altLang="en-US" dirty="0"/>
              <a:t>AEMTs and paramedics</a:t>
            </a:r>
          </a:p>
          <a:p>
            <a:pPr lvl="1" eaLnBrk="1" hangingPunct="1">
              <a:spcBef>
                <a:spcPct val="35000"/>
              </a:spcBef>
            </a:pPr>
            <a:r>
              <a:rPr lang="en-US" altLang="en-US" dirty="0"/>
              <a:t>Nurses and physicians</a:t>
            </a:r>
          </a:p>
          <a:p>
            <a:pPr lvl="1" eaLnBrk="1" hangingPunct="1">
              <a:spcBef>
                <a:spcPct val="35000"/>
              </a:spcBef>
            </a:pPr>
            <a:r>
              <a:rPr lang="en-US" altLang="en-US" dirty="0"/>
              <a:t>Other allied health professionals</a:t>
            </a:r>
          </a:p>
        </p:txBody>
      </p:sp>
    </p:spTree>
    <p:extLst>
      <p:ext uri="{BB962C8B-B14F-4D97-AF65-F5344CB8AC3E}">
        <p14:creationId xmlns:p14="http://schemas.microsoft.com/office/powerpoint/2010/main" val="174006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6CC0C08E-C887-FE41-973F-8A2B1D44FC02}"/>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(1 of 7)</a:t>
            </a:r>
          </a:p>
        </p:txBody>
      </p:sp>
      <p:sp>
        <p:nvSpPr>
          <p:cNvPr id="13314" name="Rectangle 3">
            <a:extLst>
              <a:ext uri="{FF2B5EF4-FFF2-40B4-BE49-F238E27FC236}">
                <a16:creationId xmlns:a16="http://schemas.microsoft.com/office/drawing/2014/main" id="{CC0EEEA1-837D-6046-99AB-27B7F2BFD580}"/>
              </a:ext>
            </a:extLst>
          </p:cNvPr>
          <p:cNvSpPr>
            <a:spLocks noGrp="1" noChangeArrowheads="1"/>
          </p:cNvSpPr>
          <p:nvPr>
            <p:ph type="body" idx="1"/>
          </p:nvPr>
        </p:nvSpPr>
        <p:spPr>
          <a:xfrm>
            <a:off x="6095999" y="1447800"/>
            <a:ext cx="5328213"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All agencies and personnel need to share a mutual understanding of their roles for an EMS system to operate smoothly.</a:t>
            </a:r>
          </a:p>
        </p:txBody>
      </p:sp>
      <p:sp>
        <p:nvSpPr>
          <p:cNvPr id="6" name="Rectangle 5"/>
          <p:cNvSpPr/>
          <p:nvPr/>
        </p:nvSpPr>
        <p:spPr>
          <a:xfrm>
            <a:off x="865292" y="5623967"/>
            <a:ext cx="4925908" cy="369332"/>
          </a:xfrm>
          <a:prstGeom prst="rect">
            <a:avLst/>
          </a:prstGeom>
        </p:spPr>
        <p:txBody>
          <a:bodyPr wrap="square">
            <a:spAutoFit/>
          </a:bodyPr>
          <a:lstStyle/>
          <a:p>
            <a:r>
              <a:rPr lang="en-US" b="1" cap="all" dirty="0"/>
              <a:t>Figure</a:t>
            </a:r>
            <a:r>
              <a:rPr lang="en-US" b="1" dirty="0"/>
              <a:t> 1-1 </a:t>
            </a:r>
            <a:r>
              <a:rPr lang="en-US" dirty="0"/>
              <a:t>The EMS system. </a:t>
            </a:r>
          </a:p>
        </p:txBody>
      </p:sp>
      <p:sp>
        <p:nvSpPr>
          <p:cNvPr id="7" name="Rectangle 6"/>
          <p:cNvSpPr/>
          <p:nvPr/>
        </p:nvSpPr>
        <p:spPr>
          <a:xfrm>
            <a:off x="865292" y="5968163"/>
            <a:ext cx="4456008" cy="246221"/>
          </a:xfrm>
          <a:prstGeom prst="rect">
            <a:avLst/>
          </a:prstGeom>
        </p:spPr>
        <p:txBody>
          <a:bodyPr wrap="square">
            <a:spAutoFit/>
          </a:bodyPr>
          <a:lstStyle/>
          <a:p>
            <a:r>
              <a:rPr lang="en-US" sz="1000" dirty="0"/>
              <a:t>© Jones &amp; Bartlett Learning. </a:t>
            </a:r>
          </a:p>
        </p:txBody>
      </p:sp>
      <p:pic>
        <p:nvPicPr>
          <p:cNvPr id="1026" name="Picture 2" descr="The first box on top in the flow diagram lists the following points: reporting; dispatch; first response; EMS response. This leads to two boxes listing the following: Basic life support (EMTs) OR Advanced life support (paramedics). Both these boxes then lead to the next box, which is Hospital care. This leads to a box which says Medical oversight. &#10;" title="A flow diagram depicts the steps in the EMS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292" y="1602369"/>
            <a:ext cx="2770642" cy="4022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93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76043DD2-3414-D444-8BE3-8C6E84607959}"/>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(2 of 7)</a:t>
            </a:r>
          </a:p>
        </p:txBody>
      </p:sp>
      <p:sp>
        <p:nvSpPr>
          <p:cNvPr id="15362" name="Rectangle 3">
            <a:extLst>
              <a:ext uri="{FF2B5EF4-FFF2-40B4-BE49-F238E27FC236}">
                <a16:creationId xmlns:a16="http://schemas.microsoft.com/office/drawing/2014/main" id="{66A452F2-5666-0B4E-813C-A8C2C81E24FF}"/>
              </a:ext>
            </a:extLst>
          </p:cNvPr>
          <p:cNvSpPr>
            <a:spLocks noGrp="1" noChangeArrowheads="1"/>
          </p:cNvSpPr>
          <p:nvPr>
            <p:ph type="body" idx="1"/>
          </p:nvPr>
        </p:nvSpPr>
        <p:spPr>
          <a:xfrm>
            <a:off x="6096000" y="1447800"/>
            <a:ext cx="4575858"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Reporting</a:t>
            </a:r>
          </a:p>
          <a:p>
            <a:pPr lvl="1" eaLnBrk="1" hangingPunct="1">
              <a:spcBef>
                <a:spcPct val="35000"/>
              </a:spcBef>
            </a:pPr>
            <a:r>
              <a:rPr lang="en-US" altLang="en-US" sz="2100" dirty="0"/>
              <a:t>Report of an incident activates EMS system.</a:t>
            </a:r>
          </a:p>
          <a:p>
            <a:pPr lvl="1" eaLnBrk="1" hangingPunct="1">
              <a:spcBef>
                <a:spcPct val="35000"/>
              </a:spcBef>
            </a:pPr>
            <a:r>
              <a:rPr lang="en-US" altLang="en-US" sz="2100" dirty="0"/>
              <a:t>An emergency response communications center or public safety answering point (PSAP) receives call reporting an incident.</a:t>
            </a:r>
          </a:p>
        </p:txBody>
      </p:sp>
      <p:sp>
        <p:nvSpPr>
          <p:cNvPr id="6" name="Rectangle 5"/>
          <p:cNvSpPr/>
          <p:nvPr/>
        </p:nvSpPr>
        <p:spPr>
          <a:xfrm>
            <a:off x="877992" y="5000413"/>
            <a:ext cx="4925908" cy="369332"/>
          </a:xfrm>
          <a:prstGeom prst="rect">
            <a:avLst/>
          </a:prstGeom>
        </p:spPr>
        <p:txBody>
          <a:bodyPr wrap="square">
            <a:spAutoFit/>
          </a:bodyPr>
          <a:lstStyle/>
          <a:p>
            <a:r>
              <a:rPr lang="en-US" b="1" cap="all" dirty="0"/>
              <a:t>Figure</a:t>
            </a:r>
            <a:r>
              <a:rPr lang="en-US" b="1" dirty="0"/>
              <a:t> 1-2 </a:t>
            </a:r>
            <a:r>
              <a:rPr lang="en-US" dirty="0"/>
              <a:t>Reporting an emergency. </a:t>
            </a:r>
          </a:p>
        </p:txBody>
      </p:sp>
      <p:sp>
        <p:nvSpPr>
          <p:cNvPr id="7" name="Rectangle 6"/>
          <p:cNvSpPr/>
          <p:nvPr/>
        </p:nvSpPr>
        <p:spPr>
          <a:xfrm>
            <a:off x="865292" y="5339539"/>
            <a:ext cx="4456008" cy="246221"/>
          </a:xfrm>
          <a:prstGeom prst="rect">
            <a:avLst/>
          </a:prstGeom>
        </p:spPr>
        <p:txBody>
          <a:bodyPr wrap="square">
            <a:spAutoFit/>
          </a:bodyPr>
          <a:lstStyle/>
          <a:p>
            <a:r>
              <a:rPr lang="en-US" sz="1000" dirty="0"/>
              <a:t>© Jones &amp; Bartlett Learning. Courtesy of MIEMSS. </a:t>
            </a:r>
          </a:p>
        </p:txBody>
      </p:sp>
      <p:pic>
        <p:nvPicPr>
          <p:cNvPr id="2050" name="Picture 2" descr="A woman kneels by a man sitting on the ground and leaning against a wall, who appears to be in distress. She has one hand on his shoulder and speaks into a cellphone using her other hand.&#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762" y="1633463"/>
            <a:ext cx="4405538" cy="33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19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125D116E-D5E5-D643-A408-123D4F817204}"/>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(3 of 7)</a:t>
            </a:r>
          </a:p>
        </p:txBody>
      </p:sp>
      <p:sp>
        <p:nvSpPr>
          <p:cNvPr id="17410" name="Rectangle 3">
            <a:extLst>
              <a:ext uri="{FF2B5EF4-FFF2-40B4-BE49-F238E27FC236}">
                <a16:creationId xmlns:a16="http://schemas.microsoft.com/office/drawing/2014/main" id="{BBA60D71-22EA-7448-B25D-2F25732D32AB}"/>
              </a:ext>
            </a:extLst>
          </p:cNvPr>
          <p:cNvSpPr>
            <a:spLocks noGrp="1" noChangeArrowheads="1"/>
          </p:cNvSpPr>
          <p:nvPr>
            <p:ph type="body" idx="1"/>
          </p:nvPr>
        </p:nvSpPr>
        <p:spPr>
          <a:xfrm>
            <a:off x="6096000" y="1447800"/>
            <a:ext cx="5129402"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Dispatch</a:t>
            </a:r>
          </a:p>
          <a:p>
            <a:pPr lvl="1" eaLnBrk="1" hangingPunct="1">
              <a:spcBef>
                <a:spcPct val="35000"/>
              </a:spcBef>
            </a:pPr>
            <a:r>
              <a:rPr lang="en-US" altLang="en-US" dirty="0"/>
              <a:t>Appropriate equipment and personnel are dispatched to scene.</a:t>
            </a:r>
          </a:p>
          <a:p>
            <a:pPr lvl="1" eaLnBrk="1" hangingPunct="1">
              <a:spcBef>
                <a:spcPct val="35000"/>
              </a:spcBef>
            </a:pPr>
            <a:r>
              <a:rPr lang="en-US" altLang="en-US" dirty="0"/>
              <a:t>Dispatch may occur by phone, pager, radio, computer, or other means.</a:t>
            </a:r>
          </a:p>
        </p:txBody>
      </p:sp>
      <p:sp>
        <p:nvSpPr>
          <p:cNvPr id="6" name="Rectangle 5"/>
          <p:cNvSpPr/>
          <p:nvPr/>
        </p:nvSpPr>
        <p:spPr>
          <a:xfrm>
            <a:off x="680589" y="4852741"/>
            <a:ext cx="4925908" cy="646331"/>
          </a:xfrm>
          <a:prstGeom prst="rect">
            <a:avLst/>
          </a:prstGeom>
        </p:spPr>
        <p:txBody>
          <a:bodyPr wrap="square">
            <a:spAutoFit/>
          </a:bodyPr>
          <a:lstStyle/>
          <a:p>
            <a:r>
              <a:rPr lang="en-US" b="1" cap="all" dirty="0"/>
              <a:t>Figure</a:t>
            </a:r>
            <a:r>
              <a:rPr lang="en-US" b="1" dirty="0"/>
              <a:t> 1-3 </a:t>
            </a:r>
            <a:r>
              <a:rPr lang="en-US" dirty="0"/>
              <a:t>An emergency response communications center receives the call. </a:t>
            </a:r>
          </a:p>
        </p:txBody>
      </p:sp>
      <p:sp>
        <p:nvSpPr>
          <p:cNvPr id="7" name="Rectangle 6"/>
          <p:cNvSpPr/>
          <p:nvPr/>
        </p:nvSpPr>
        <p:spPr>
          <a:xfrm>
            <a:off x="680589" y="5434017"/>
            <a:ext cx="4456008" cy="246221"/>
          </a:xfrm>
          <a:prstGeom prst="rect">
            <a:avLst/>
          </a:prstGeom>
        </p:spPr>
        <p:txBody>
          <a:bodyPr wrap="square">
            <a:spAutoFit/>
          </a:bodyPr>
          <a:lstStyle/>
          <a:p>
            <a:r>
              <a:rPr lang="en-US" sz="1000" dirty="0"/>
              <a:t>© Jones &amp; Bartlett Learning. Courtesy of MIEMSS. </a:t>
            </a:r>
          </a:p>
        </p:txBody>
      </p:sp>
      <p:pic>
        <p:nvPicPr>
          <p:cNvPr id="3074" name="Picture 2" descr="A photo shows the side view of a man wearing headphones and sitting in front of a monitor and keyboard, with his hand operating a mouse in front of him.&#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115" y="1622026"/>
            <a:ext cx="4830856" cy="3223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59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a:extLst>
              <a:ext uri="{FF2B5EF4-FFF2-40B4-BE49-F238E27FC236}">
                <a16:creationId xmlns:a16="http://schemas.microsoft.com/office/drawing/2014/main" id="{975A7A9E-408E-6B42-8A06-83567EFBCD1B}"/>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(4 of 7)</a:t>
            </a:r>
          </a:p>
        </p:txBody>
      </p:sp>
      <p:sp>
        <p:nvSpPr>
          <p:cNvPr id="19458" name="Rectangle 3">
            <a:extLst>
              <a:ext uri="{FF2B5EF4-FFF2-40B4-BE49-F238E27FC236}">
                <a16:creationId xmlns:a16="http://schemas.microsoft.com/office/drawing/2014/main" id="{167D0019-BD06-5E48-BBDA-964D29EC76B7}"/>
              </a:ext>
            </a:extLst>
          </p:cNvPr>
          <p:cNvSpPr>
            <a:spLocks noGrp="1" noChangeArrowheads="1"/>
          </p:cNvSpPr>
          <p:nvPr>
            <p:ph type="body" idx="1"/>
          </p:nvPr>
        </p:nvSpPr>
        <p:spPr>
          <a:xfrm>
            <a:off x="6106770" y="1436688"/>
            <a:ext cx="5201696"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First response</a:t>
            </a:r>
          </a:p>
          <a:p>
            <a:pPr lvl="1" eaLnBrk="1" hangingPunct="1">
              <a:spcBef>
                <a:spcPct val="35000"/>
              </a:spcBef>
            </a:pPr>
            <a:r>
              <a:rPr lang="en-US" altLang="en-US" dirty="0"/>
              <a:t>Firefighters or law enforcement personnel are likely to be first on scene.</a:t>
            </a:r>
          </a:p>
          <a:p>
            <a:pPr lvl="1" eaLnBrk="1" hangingPunct="1">
              <a:spcBef>
                <a:spcPct val="35000"/>
              </a:spcBef>
            </a:pPr>
            <a:r>
              <a:rPr lang="en-US" altLang="en-US" dirty="0"/>
              <a:t>EMR is a key element in providing emergency care.</a:t>
            </a:r>
          </a:p>
        </p:txBody>
      </p:sp>
      <p:sp>
        <p:nvSpPr>
          <p:cNvPr id="10" name="Rectangle 9"/>
          <p:cNvSpPr/>
          <p:nvPr/>
        </p:nvSpPr>
        <p:spPr>
          <a:xfrm>
            <a:off x="877992" y="5610001"/>
            <a:ext cx="4925908" cy="646331"/>
          </a:xfrm>
          <a:prstGeom prst="rect">
            <a:avLst/>
          </a:prstGeom>
        </p:spPr>
        <p:txBody>
          <a:bodyPr wrap="square">
            <a:spAutoFit/>
          </a:bodyPr>
          <a:lstStyle/>
          <a:p>
            <a:r>
              <a:rPr lang="en-US" b="1" cap="all" dirty="0"/>
              <a:t>Figure</a:t>
            </a:r>
            <a:r>
              <a:rPr lang="en-US" b="1" dirty="0"/>
              <a:t> 1-4 </a:t>
            </a:r>
            <a:r>
              <a:rPr lang="en-US" dirty="0"/>
              <a:t>Firefighters (A) and law enforcement personnel (B) are EMRs in many emergencies.  </a:t>
            </a:r>
          </a:p>
        </p:txBody>
      </p:sp>
      <p:sp>
        <p:nvSpPr>
          <p:cNvPr id="11" name="Rectangle 10"/>
          <p:cNvSpPr/>
          <p:nvPr/>
        </p:nvSpPr>
        <p:spPr>
          <a:xfrm>
            <a:off x="865292" y="6217000"/>
            <a:ext cx="4456008" cy="246221"/>
          </a:xfrm>
          <a:prstGeom prst="rect">
            <a:avLst/>
          </a:prstGeom>
        </p:spPr>
        <p:txBody>
          <a:bodyPr wrap="square">
            <a:spAutoFit/>
          </a:bodyPr>
          <a:lstStyle/>
          <a:p>
            <a:r>
              <a:rPr lang="en-US" sz="1000" dirty="0"/>
              <a:t>Courtesy of Captain David Jackson, Saginaw Township Fire Department. </a:t>
            </a:r>
          </a:p>
        </p:txBody>
      </p:sp>
      <p:sp>
        <p:nvSpPr>
          <p:cNvPr id="12" name="Rectangle 11"/>
          <p:cNvSpPr/>
          <p:nvPr/>
        </p:nvSpPr>
        <p:spPr>
          <a:xfrm>
            <a:off x="1017692" y="3246060"/>
            <a:ext cx="4456008" cy="246221"/>
          </a:xfrm>
          <a:prstGeom prst="rect">
            <a:avLst/>
          </a:prstGeom>
        </p:spPr>
        <p:txBody>
          <a:bodyPr wrap="square">
            <a:spAutoFit/>
          </a:bodyPr>
          <a:lstStyle/>
          <a:p>
            <a:r>
              <a:rPr lang="en-US" sz="1000" dirty="0"/>
              <a:t>© Corbis/Getty. </a:t>
            </a:r>
          </a:p>
        </p:txBody>
      </p:sp>
      <p:pic>
        <p:nvPicPr>
          <p:cNvPr id="4098" name="Picture 2" descr="In Photo B, officers in brown uniforms lean into the window of a white car that appears to be dented on that side. A few people are seen on the other side of the car.&#10;" title="Photo B shows law enforcement officials gathered around a car that has been in an accid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932" y="3695477"/>
            <a:ext cx="2895600" cy="1925638"/>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In Photo A, a team of firefighters in uniform can be seen standing around a badly mangled white car on the side of a street. The open back doors of an emergency vehicle can be seen in the background.&#10;" title="Photo A shows firefighters gathered around a car that has been in an accid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216" y="1271858"/>
            <a:ext cx="28956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42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BF9F53CE-28ED-814A-BB1B-EB20C3D2E987}"/>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(5 of 7)</a:t>
            </a:r>
          </a:p>
        </p:txBody>
      </p:sp>
      <p:sp>
        <p:nvSpPr>
          <p:cNvPr id="21506" name="Rectangle 3">
            <a:extLst>
              <a:ext uri="{FF2B5EF4-FFF2-40B4-BE49-F238E27FC236}">
                <a16:creationId xmlns:a16="http://schemas.microsoft.com/office/drawing/2014/main" id="{0CA5553E-9655-0C4D-9E21-4C149CD31B0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EMS response</a:t>
            </a:r>
          </a:p>
          <a:p>
            <a:pPr lvl="1" eaLnBrk="1" hangingPunct="1">
              <a:spcBef>
                <a:spcPct val="35000"/>
              </a:spcBef>
            </a:pPr>
            <a:r>
              <a:rPr lang="en-US" altLang="en-US" dirty="0"/>
              <a:t>An ambulance staffed by EMTs, AEMTs, or paramedics is the patient’s second contact with EMS system.</a:t>
            </a:r>
          </a:p>
          <a:p>
            <a:pPr lvl="1" eaLnBrk="1" hangingPunct="1">
              <a:spcBef>
                <a:spcPct val="35000"/>
              </a:spcBef>
            </a:pPr>
            <a:r>
              <a:rPr lang="en-US" altLang="en-US" dirty="0"/>
              <a:t>A properly equipped vehicle and EMT staff make up a basic life support (BLS) unit.</a:t>
            </a:r>
          </a:p>
          <a:p>
            <a:pPr lvl="1" eaLnBrk="1" hangingPunct="1">
              <a:spcBef>
                <a:spcPct val="35000"/>
              </a:spcBef>
            </a:pPr>
            <a:r>
              <a:rPr lang="en-US" altLang="en-US" dirty="0"/>
              <a:t>Patients may receive advanced life support (ALS) services from AEMTs or paramedics.</a:t>
            </a:r>
          </a:p>
        </p:txBody>
      </p:sp>
    </p:spTree>
    <p:extLst>
      <p:ext uri="{BB962C8B-B14F-4D97-AF65-F5344CB8AC3E}">
        <p14:creationId xmlns:p14="http://schemas.microsoft.com/office/powerpoint/2010/main" val="327509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a:extLst>
              <a:ext uri="{FF2B5EF4-FFF2-40B4-BE49-F238E27FC236}">
                <a16:creationId xmlns:a16="http://schemas.microsoft.com/office/drawing/2014/main" id="{8BEAFF87-2DBC-C347-AAB8-7777ABB3A905}"/>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(6 of 7)</a:t>
            </a:r>
          </a:p>
        </p:txBody>
      </p:sp>
      <p:sp>
        <p:nvSpPr>
          <p:cNvPr id="23554" name="Rectangle 3">
            <a:extLst>
              <a:ext uri="{FF2B5EF4-FFF2-40B4-BE49-F238E27FC236}">
                <a16:creationId xmlns:a16="http://schemas.microsoft.com/office/drawing/2014/main" id="{62B6D58F-13E5-A045-89B6-EDB307EB435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EMS response (cont’d)</a:t>
            </a:r>
          </a:p>
          <a:p>
            <a:pPr lvl="1" eaLnBrk="1" hangingPunct="1">
              <a:spcBef>
                <a:spcPct val="35000"/>
              </a:spcBef>
            </a:pPr>
            <a:r>
              <a:rPr lang="en-US" altLang="en-US" dirty="0"/>
              <a:t>All skill levels are based on what is learned in the EMR course.</a:t>
            </a:r>
          </a:p>
          <a:p>
            <a:pPr lvl="2" eaLnBrk="1" hangingPunct="1"/>
            <a:r>
              <a:rPr lang="en-US" altLang="en-US" sz="2000" dirty="0"/>
              <a:t>Airway maintenance</a:t>
            </a:r>
          </a:p>
          <a:p>
            <a:pPr lvl="2" eaLnBrk="1" hangingPunct="1"/>
            <a:r>
              <a:rPr lang="en-US" altLang="en-US" sz="2000" dirty="0"/>
              <a:t>Bleeding control</a:t>
            </a:r>
          </a:p>
          <a:p>
            <a:pPr lvl="2" eaLnBrk="1" hangingPunct="1"/>
            <a:r>
              <a:rPr lang="en-US" altLang="en-US" sz="2000" dirty="0"/>
              <a:t>Prevention, recognition, and treatment of shock</a:t>
            </a:r>
            <a:endParaRPr lang="en-US" altLang="en-US" sz="2400" dirty="0"/>
          </a:p>
        </p:txBody>
      </p:sp>
    </p:spTree>
    <p:extLst>
      <p:ext uri="{BB962C8B-B14F-4D97-AF65-F5344CB8AC3E}">
        <p14:creationId xmlns:p14="http://schemas.microsoft.com/office/powerpoint/2010/main" val="165291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a:extLst>
              <a:ext uri="{FF2B5EF4-FFF2-40B4-BE49-F238E27FC236}">
                <a16:creationId xmlns:a16="http://schemas.microsoft.com/office/drawing/2014/main" id="{392C7979-5FE2-914E-80B0-8451D5A27DA1}"/>
              </a:ext>
            </a:extLst>
          </p:cNvPr>
          <p:cNvSpPr>
            <a:spLocks noGrp="1" noChangeArrowheads="1"/>
          </p:cNvSpPr>
          <p:nvPr>
            <p:ph type="title"/>
          </p:nvPr>
        </p:nvSpPr>
        <p:spPr/>
        <p:txBody>
          <a:bodyPr/>
          <a:lstStyle/>
          <a:p>
            <a:pPr eaLnBrk="1" hangingPunct="1">
              <a:lnSpc>
                <a:spcPct val="85000"/>
              </a:lnSpc>
              <a:defRPr/>
            </a:pPr>
            <a:r>
              <a:rPr lang="en-US" dirty="0"/>
              <a:t>The EMS System </a:t>
            </a:r>
            <a:r>
              <a:rPr lang="en-US" sz="2800" b="0" dirty="0"/>
              <a:t>(7 of 7)</a:t>
            </a:r>
          </a:p>
        </p:txBody>
      </p:sp>
      <p:sp>
        <p:nvSpPr>
          <p:cNvPr id="25602" name="Rectangle 3">
            <a:extLst>
              <a:ext uri="{FF2B5EF4-FFF2-40B4-BE49-F238E27FC236}">
                <a16:creationId xmlns:a16="http://schemas.microsoft.com/office/drawing/2014/main" id="{8D1811E2-19F5-EB44-9825-330D117400F4}"/>
              </a:ext>
            </a:extLst>
          </p:cNvPr>
          <p:cNvSpPr>
            <a:spLocks noGrp="1" noChangeArrowheads="1"/>
          </p:cNvSpPr>
          <p:nvPr>
            <p:ph type="body" idx="1"/>
          </p:nvPr>
        </p:nvSpPr>
        <p:spPr>
          <a:xfrm>
            <a:off x="670741" y="1248483"/>
            <a:ext cx="8229600" cy="5334964"/>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Hospital care</a:t>
            </a:r>
          </a:p>
          <a:p>
            <a:pPr lvl="1" eaLnBrk="1" hangingPunct="1">
              <a:spcBef>
                <a:spcPct val="35000"/>
              </a:spcBef>
            </a:pPr>
            <a:r>
              <a:rPr lang="en-US" altLang="en-US" dirty="0"/>
              <a:t>Hospital emergency department is the patient’s third contact with EMS system.</a:t>
            </a:r>
          </a:p>
          <a:p>
            <a:pPr lvl="1" eaLnBrk="1" hangingPunct="1">
              <a:spcBef>
                <a:spcPct val="35000"/>
              </a:spcBef>
            </a:pPr>
            <a:r>
              <a:rPr lang="en-US" altLang="en-US" dirty="0"/>
              <a:t>Specialized treatment facilities include </a:t>
            </a:r>
          </a:p>
          <a:p>
            <a:pPr lvl="2" eaLnBrk="1" hangingPunct="1"/>
            <a:r>
              <a:rPr lang="en-US" altLang="en-US" sz="2000" dirty="0"/>
              <a:t>Trauma centers</a:t>
            </a:r>
          </a:p>
          <a:p>
            <a:pPr lvl="2" eaLnBrk="1" hangingPunct="1"/>
            <a:r>
              <a:rPr lang="en-US" altLang="en-US" sz="2000" dirty="0"/>
              <a:t>Spinal cord injury centers</a:t>
            </a:r>
          </a:p>
          <a:p>
            <a:pPr lvl="2" eaLnBrk="1" hangingPunct="1"/>
            <a:r>
              <a:rPr lang="en-US" altLang="en-US" sz="2000" dirty="0"/>
              <a:t>Hand centers</a:t>
            </a:r>
          </a:p>
          <a:p>
            <a:pPr lvl="2" eaLnBrk="1" hangingPunct="1"/>
            <a:r>
              <a:rPr lang="en-US" altLang="en-US" sz="2000" dirty="0"/>
              <a:t>Cardiac centers</a:t>
            </a:r>
          </a:p>
          <a:p>
            <a:pPr lvl="2" eaLnBrk="1" hangingPunct="1"/>
            <a:r>
              <a:rPr lang="en-US" altLang="en-US" sz="2000" dirty="0"/>
              <a:t>Stroke centers</a:t>
            </a:r>
          </a:p>
          <a:p>
            <a:pPr lvl="2" eaLnBrk="1" hangingPunct="1"/>
            <a:r>
              <a:rPr lang="en-US" altLang="en-US" sz="2000" dirty="0"/>
              <a:t>Burn centers</a:t>
            </a:r>
          </a:p>
          <a:p>
            <a:pPr lvl="2" eaLnBrk="1" hangingPunct="1"/>
            <a:r>
              <a:rPr lang="en-US" altLang="en-US" sz="2000" dirty="0"/>
              <a:t>Pediatric centers</a:t>
            </a:r>
          </a:p>
          <a:p>
            <a:pPr lvl="2" eaLnBrk="1" hangingPunct="1"/>
            <a:r>
              <a:rPr lang="en-US" altLang="en-US" sz="2000" dirty="0"/>
              <a:t>Poison control centers</a:t>
            </a:r>
          </a:p>
          <a:p>
            <a:pPr lvl="2" eaLnBrk="1" hangingPunct="1"/>
            <a:r>
              <a:rPr lang="en-US" altLang="en-US" sz="2000" dirty="0"/>
              <a:t>Perinatal centers</a:t>
            </a:r>
          </a:p>
          <a:p>
            <a:pPr marL="0" indent="0">
              <a:buNone/>
            </a:pPr>
            <a:endParaRPr lang="en-US" altLang="en-US" dirty="0"/>
          </a:p>
        </p:txBody>
      </p:sp>
    </p:spTree>
    <p:extLst>
      <p:ext uri="{BB962C8B-B14F-4D97-AF65-F5344CB8AC3E}">
        <p14:creationId xmlns:p14="http://schemas.microsoft.com/office/powerpoint/2010/main" val="292776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4868F32F-23E6-F14D-AB52-DAC059282A5C}"/>
              </a:ext>
            </a:extLst>
          </p:cNvPr>
          <p:cNvSpPr>
            <a:spLocks noGrp="1" noChangeArrowheads="1"/>
          </p:cNvSpPr>
          <p:nvPr>
            <p:ph type="title"/>
          </p:nvPr>
        </p:nvSpPr>
        <p:spPr/>
        <p:txBody>
          <a:bodyPr/>
          <a:lstStyle/>
          <a:p>
            <a:pPr eaLnBrk="1" hangingPunct="1">
              <a:lnSpc>
                <a:spcPct val="85000"/>
              </a:lnSpc>
              <a:defRPr/>
            </a:pPr>
            <a:r>
              <a:rPr lang="en-US" dirty="0"/>
              <a:t>Public Health and EMS </a:t>
            </a:r>
            <a:r>
              <a:rPr lang="en-US" sz="2800" b="0" dirty="0"/>
              <a:t>(1 of 2)</a:t>
            </a:r>
          </a:p>
        </p:txBody>
      </p:sp>
      <p:sp>
        <p:nvSpPr>
          <p:cNvPr id="27650" name="Rectangle 3">
            <a:extLst>
              <a:ext uri="{FF2B5EF4-FFF2-40B4-BE49-F238E27FC236}">
                <a16:creationId xmlns:a16="http://schemas.microsoft.com/office/drawing/2014/main" id="{A06D8F31-EA13-E541-B900-64C9FACF84F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Responsibilities of public health departments include:</a:t>
            </a:r>
          </a:p>
          <a:p>
            <a:pPr lvl="1" eaLnBrk="1" hangingPunct="1">
              <a:spcBef>
                <a:spcPct val="35000"/>
              </a:spcBef>
            </a:pPr>
            <a:r>
              <a:rPr lang="en-US" altLang="en-US" dirty="0"/>
              <a:t>Monitoring restaurant cleanliness</a:t>
            </a:r>
          </a:p>
          <a:p>
            <a:pPr lvl="1" eaLnBrk="1" hangingPunct="1">
              <a:spcBef>
                <a:spcPct val="35000"/>
              </a:spcBef>
            </a:pPr>
            <a:r>
              <a:rPr lang="en-US" altLang="en-US" dirty="0"/>
              <a:t>Conducting immunization programs</a:t>
            </a:r>
          </a:p>
          <a:p>
            <a:pPr lvl="1" eaLnBrk="1" hangingPunct="1">
              <a:spcBef>
                <a:spcPct val="35000"/>
              </a:spcBef>
            </a:pPr>
            <a:r>
              <a:rPr lang="en-US" altLang="en-US" dirty="0"/>
              <a:t>Determining incidence of contagious diseases</a:t>
            </a:r>
          </a:p>
          <a:p>
            <a:pPr lvl="1" eaLnBrk="1" hangingPunct="1">
              <a:spcBef>
                <a:spcPct val="35000"/>
              </a:spcBef>
            </a:pPr>
            <a:r>
              <a:rPr lang="en-US" altLang="en-US" dirty="0"/>
              <a:t>Preventing incident or progression of diseases</a:t>
            </a:r>
          </a:p>
        </p:txBody>
      </p:sp>
    </p:spTree>
    <p:extLst>
      <p:ext uri="{BB962C8B-B14F-4D97-AF65-F5344CB8AC3E}">
        <p14:creationId xmlns:p14="http://schemas.microsoft.com/office/powerpoint/2010/main" val="76635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a:extLst>
              <a:ext uri="{FF2B5EF4-FFF2-40B4-BE49-F238E27FC236}">
                <a16:creationId xmlns:a16="http://schemas.microsoft.com/office/drawing/2014/main" id="{D0BE3A3A-93F9-3841-9F35-DF8C4FB24337}"/>
              </a:ext>
            </a:extLst>
          </p:cNvPr>
          <p:cNvSpPr>
            <a:spLocks noGrp="1" noChangeArrowheads="1"/>
          </p:cNvSpPr>
          <p:nvPr>
            <p:ph type="title"/>
          </p:nvPr>
        </p:nvSpPr>
        <p:spPr/>
        <p:txBody>
          <a:bodyPr/>
          <a:lstStyle/>
          <a:p>
            <a:pPr eaLnBrk="1" hangingPunct="1">
              <a:lnSpc>
                <a:spcPct val="85000"/>
              </a:lnSpc>
              <a:defRPr/>
            </a:pPr>
            <a:r>
              <a:rPr lang="en-US" dirty="0"/>
              <a:t>Public Health and EMS </a:t>
            </a:r>
            <a:r>
              <a:rPr lang="en-US" sz="2800" b="0" dirty="0"/>
              <a:t>(2 of 2)</a:t>
            </a:r>
          </a:p>
        </p:txBody>
      </p:sp>
      <p:sp>
        <p:nvSpPr>
          <p:cNvPr id="29698" name="Rectangle 3">
            <a:extLst>
              <a:ext uri="{FF2B5EF4-FFF2-40B4-BE49-F238E27FC236}">
                <a16:creationId xmlns:a16="http://schemas.microsoft.com/office/drawing/2014/main" id="{61A2B835-B42A-704D-A8B0-F131854CB77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Education and screening programs </a:t>
            </a:r>
            <a:endParaRPr lang="en-US" altLang="en-US" dirty="0">
              <a:solidFill>
                <a:srgbClr val="FF0000"/>
              </a:solidFill>
            </a:endParaRPr>
          </a:p>
          <a:p>
            <a:pPr lvl="1" eaLnBrk="1" hangingPunct="1">
              <a:spcBef>
                <a:spcPct val="35000"/>
              </a:spcBef>
            </a:pPr>
            <a:r>
              <a:rPr lang="en-US" altLang="en-US" dirty="0"/>
              <a:t>Car seat installation programs</a:t>
            </a:r>
          </a:p>
          <a:p>
            <a:pPr lvl="1" eaLnBrk="1" hangingPunct="1">
              <a:spcBef>
                <a:spcPct val="35000"/>
              </a:spcBef>
            </a:pPr>
            <a:r>
              <a:rPr lang="en-US" altLang="en-US" dirty="0"/>
              <a:t>Programs to encourage seatbelt use</a:t>
            </a:r>
          </a:p>
          <a:p>
            <a:pPr lvl="1" eaLnBrk="1" hangingPunct="1">
              <a:spcBef>
                <a:spcPct val="35000"/>
              </a:spcBef>
            </a:pPr>
            <a:r>
              <a:rPr lang="en-US" altLang="en-US" dirty="0"/>
              <a:t>Alcohol awareness programs</a:t>
            </a:r>
          </a:p>
          <a:p>
            <a:pPr lvl="1" eaLnBrk="1" hangingPunct="1">
              <a:spcBef>
                <a:spcPct val="35000"/>
              </a:spcBef>
            </a:pPr>
            <a:r>
              <a:rPr lang="en-US" altLang="en-US" dirty="0"/>
              <a:t>Programs to encourage bicycle and motorcycle helmet use</a:t>
            </a:r>
          </a:p>
          <a:p>
            <a:pPr lvl="1" eaLnBrk="1" hangingPunct="1">
              <a:spcBef>
                <a:spcPct val="35000"/>
              </a:spcBef>
            </a:pPr>
            <a:r>
              <a:rPr lang="en-US" altLang="en-US" dirty="0"/>
              <a:t>Blood pressure screenings</a:t>
            </a:r>
          </a:p>
          <a:p>
            <a:pPr lvl="1" eaLnBrk="1" hangingPunct="1">
              <a:spcBef>
                <a:spcPct val="35000"/>
              </a:spcBef>
            </a:pPr>
            <a:r>
              <a:rPr lang="en-US" altLang="en-US" dirty="0"/>
              <a:t>Diabetes screenings</a:t>
            </a:r>
          </a:p>
        </p:txBody>
      </p:sp>
    </p:spTree>
    <p:extLst>
      <p:ext uri="{BB962C8B-B14F-4D97-AF65-F5344CB8AC3E}">
        <p14:creationId xmlns:p14="http://schemas.microsoft.com/office/powerpoint/2010/main" val="2547054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a:extLst>
              <a:ext uri="{FF2B5EF4-FFF2-40B4-BE49-F238E27FC236}">
                <a16:creationId xmlns:a16="http://schemas.microsoft.com/office/drawing/2014/main" id="{9483BD3E-937B-104C-8E49-FCCF99683BE8}"/>
              </a:ext>
            </a:extLst>
          </p:cNvPr>
          <p:cNvSpPr>
            <a:spLocks noGrp="1" noChangeArrowheads="1"/>
          </p:cNvSpPr>
          <p:nvPr>
            <p:ph type="title"/>
          </p:nvPr>
        </p:nvSpPr>
        <p:spPr/>
        <p:txBody>
          <a:bodyPr/>
          <a:lstStyle/>
          <a:p>
            <a:pPr eaLnBrk="1" hangingPunct="1">
              <a:lnSpc>
                <a:spcPct val="85000"/>
              </a:lnSpc>
              <a:defRPr/>
            </a:pPr>
            <a:r>
              <a:rPr lang="en-US" dirty="0"/>
              <a:t>History of EMS </a:t>
            </a:r>
            <a:r>
              <a:rPr lang="en-US" sz="2800" b="0" dirty="0"/>
              <a:t>(1 of 3)</a:t>
            </a:r>
          </a:p>
        </p:txBody>
      </p:sp>
      <p:sp>
        <p:nvSpPr>
          <p:cNvPr id="31746" name="Rectangle 3">
            <a:extLst>
              <a:ext uri="{FF2B5EF4-FFF2-40B4-BE49-F238E27FC236}">
                <a16:creationId xmlns:a16="http://schemas.microsoft.com/office/drawing/2014/main" id="{98EBC384-C4FA-904C-86B0-ECE44BBE5EB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a:spcBef>
                <a:spcPct val="35000"/>
              </a:spcBef>
            </a:pPr>
            <a:r>
              <a:rPr lang="en-US" altLang="en-US" dirty="0"/>
              <a:t>In the United States during the 1950s and 1960s, funeral homes, hospitals, and volunteer rescue squads provided most of ambulance service.</a:t>
            </a:r>
          </a:p>
          <a:p>
            <a:pPr>
              <a:spcBef>
                <a:spcPct val="35000"/>
              </a:spcBef>
            </a:pPr>
            <a:r>
              <a:rPr lang="en-US" altLang="en-US" dirty="0"/>
              <a:t>Civilian prehospital medical care lagged behind military emergency care.</a:t>
            </a:r>
          </a:p>
        </p:txBody>
      </p:sp>
    </p:spTree>
    <p:extLst>
      <p:ext uri="{BB962C8B-B14F-4D97-AF65-F5344CB8AC3E}">
        <p14:creationId xmlns:p14="http://schemas.microsoft.com/office/powerpoint/2010/main" val="424985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a:extLst>
              <a:ext uri="{FF2B5EF4-FFF2-40B4-BE49-F238E27FC236}">
                <a16:creationId xmlns:a16="http://schemas.microsoft.com/office/drawing/2014/main" id="{EA315EC1-E92C-8D4C-93EB-63595390C522}"/>
              </a:ext>
            </a:extLst>
          </p:cNvPr>
          <p:cNvSpPr>
            <a:spLocks noGrp="1" noChangeArrowheads="1"/>
          </p:cNvSpPr>
          <p:nvPr>
            <p:ph type="title"/>
          </p:nvPr>
        </p:nvSpPr>
        <p:spPr/>
        <p:txBody>
          <a:bodyPr/>
          <a:lstStyle/>
          <a:p>
            <a:pPr eaLnBrk="1" hangingPunct="1">
              <a:lnSpc>
                <a:spcPct val="85000"/>
              </a:lnSpc>
              <a:defRPr/>
            </a:pPr>
            <a:r>
              <a:rPr lang="en-US" dirty="0"/>
              <a:t>History of EMS </a:t>
            </a:r>
            <a:r>
              <a:rPr lang="en-US" sz="2800" b="0" dirty="0"/>
              <a:t>(2 of 3)</a:t>
            </a:r>
          </a:p>
        </p:txBody>
      </p:sp>
      <p:sp>
        <p:nvSpPr>
          <p:cNvPr id="33794" name="Rectangle 3">
            <a:extLst>
              <a:ext uri="{FF2B5EF4-FFF2-40B4-BE49-F238E27FC236}">
                <a16:creationId xmlns:a16="http://schemas.microsoft.com/office/drawing/2014/main" id="{39030333-51EB-DB47-A31E-67520133969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 1966, </a:t>
            </a:r>
            <a:r>
              <a:rPr lang="en-US" altLang="en-US" i="1" dirty="0"/>
              <a:t>Accidental Death and Disability: The Neglected Disease of Modern Society </a:t>
            </a:r>
            <a:r>
              <a:rPr lang="en-US" altLang="en-US" dirty="0"/>
              <a:t>was published.</a:t>
            </a:r>
          </a:p>
          <a:p>
            <a:pPr lvl="1" eaLnBrk="1" hangingPunct="1">
              <a:spcBef>
                <a:spcPct val="35000"/>
              </a:spcBef>
            </a:pPr>
            <a:r>
              <a:rPr lang="en-US" altLang="en-US" dirty="0"/>
              <a:t>Paper described deficiencies of emergency medical care.</a:t>
            </a:r>
          </a:p>
          <a:p>
            <a:pPr lvl="1" eaLnBrk="1" hangingPunct="1">
              <a:spcBef>
                <a:spcPct val="35000"/>
              </a:spcBef>
            </a:pPr>
            <a:r>
              <a:rPr lang="en-US" altLang="en-US" dirty="0"/>
              <a:t>Early 1970s: US Department of Transportation developed a national standard curriculum for training EMS providers.</a:t>
            </a:r>
          </a:p>
        </p:txBody>
      </p:sp>
    </p:spTree>
    <p:extLst>
      <p:ext uri="{BB962C8B-B14F-4D97-AF65-F5344CB8AC3E}">
        <p14:creationId xmlns:p14="http://schemas.microsoft.com/office/powerpoint/2010/main" val="345674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a:extLst>
              <a:ext uri="{FF2B5EF4-FFF2-40B4-BE49-F238E27FC236}">
                <a16:creationId xmlns:a16="http://schemas.microsoft.com/office/drawing/2014/main" id="{92AD892D-BD73-B746-A72E-C666D3E4767A}"/>
              </a:ext>
            </a:extLst>
          </p:cNvPr>
          <p:cNvSpPr>
            <a:spLocks noGrp="1" noChangeArrowheads="1"/>
          </p:cNvSpPr>
          <p:nvPr>
            <p:ph type="title"/>
          </p:nvPr>
        </p:nvSpPr>
        <p:spPr/>
        <p:txBody>
          <a:bodyPr/>
          <a:lstStyle/>
          <a:p>
            <a:pPr eaLnBrk="1" hangingPunct="1">
              <a:lnSpc>
                <a:spcPct val="85000"/>
              </a:lnSpc>
              <a:defRPr/>
            </a:pPr>
            <a:r>
              <a:rPr lang="en-US" dirty="0"/>
              <a:t>History of EMS </a:t>
            </a:r>
            <a:r>
              <a:rPr lang="en-US" sz="2800" b="0" dirty="0"/>
              <a:t>(3 of 3)</a:t>
            </a:r>
          </a:p>
        </p:txBody>
      </p:sp>
      <p:sp>
        <p:nvSpPr>
          <p:cNvPr id="35842" name="Rectangle 3">
            <a:extLst>
              <a:ext uri="{FF2B5EF4-FFF2-40B4-BE49-F238E27FC236}">
                <a16:creationId xmlns:a16="http://schemas.microsoft.com/office/drawing/2014/main" id="{3F57A776-15DA-C540-B637-67FB31A986C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During the 1980s, the use of advanced life support (ALS) within EMS became common.</a:t>
            </a:r>
          </a:p>
          <a:p>
            <a:pPr eaLnBrk="1" hangingPunct="1">
              <a:spcBef>
                <a:spcPct val="35000"/>
              </a:spcBef>
            </a:pPr>
            <a:r>
              <a:rPr lang="en-US" altLang="en-US" dirty="0"/>
              <a:t>Today, EMS providers are trained through standardized courses conducted at accredited training centers.</a:t>
            </a:r>
          </a:p>
          <a:p>
            <a:pPr eaLnBrk="1" hangingPunct="1">
              <a:spcBef>
                <a:spcPct val="35000"/>
              </a:spcBef>
            </a:pPr>
            <a:r>
              <a:rPr lang="en-US" altLang="en-US" dirty="0"/>
              <a:t>In January 2019 NHTSA, released the report, </a:t>
            </a:r>
            <a:r>
              <a:rPr lang="en-US" altLang="en-US" i="1" dirty="0"/>
              <a:t>EMS Agenda 2050: A People-Centered Vision for the Future of EMS</a:t>
            </a:r>
            <a:r>
              <a:rPr lang="en-US" altLang="en-US" dirty="0"/>
              <a:t>. </a:t>
            </a:r>
          </a:p>
        </p:txBody>
      </p:sp>
    </p:spTree>
    <p:extLst>
      <p:ext uri="{BB962C8B-B14F-4D97-AF65-F5344CB8AC3E}">
        <p14:creationId xmlns:p14="http://schemas.microsoft.com/office/powerpoint/2010/main" val="323034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DD340625-3B2C-744D-BB30-6DE23C3FE546}"/>
              </a:ext>
            </a:extLst>
          </p:cNvPr>
          <p:cNvSpPr>
            <a:spLocks noGrp="1" noChangeArrowheads="1"/>
          </p:cNvSpPr>
          <p:nvPr>
            <p:ph type="title"/>
          </p:nvPr>
        </p:nvSpPr>
        <p:spPr/>
        <p:txBody>
          <a:bodyPr/>
          <a:lstStyle/>
          <a:p>
            <a:pPr eaLnBrk="1" hangingPunct="1">
              <a:lnSpc>
                <a:spcPct val="85000"/>
              </a:lnSpc>
              <a:defRPr/>
            </a:pPr>
            <a:r>
              <a:rPr lang="en-US" dirty="0"/>
              <a:t>Ten Standard Components of an EMS System </a:t>
            </a:r>
            <a:r>
              <a:rPr lang="en-US" sz="2800" b="0" dirty="0"/>
              <a:t>(1 of 2)</a:t>
            </a:r>
          </a:p>
        </p:txBody>
      </p:sp>
      <p:sp>
        <p:nvSpPr>
          <p:cNvPr id="37890" name="Rectangle 3">
            <a:extLst>
              <a:ext uri="{FF2B5EF4-FFF2-40B4-BE49-F238E27FC236}">
                <a16:creationId xmlns:a16="http://schemas.microsoft.com/office/drawing/2014/main" id="{7CB8AE6A-77D1-AD47-A5F1-81877A47E1C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eaLnBrk="1" hangingPunct="1">
              <a:spcBef>
                <a:spcPct val="35000"/>
              </a:spcBef>
              <a:buFont typeface="+mj-lt"/>
              <a:buAutoNum type="arabicPeriod"/>
            </a:pPr>
            <a:r>
              <a:rPr lang="en-US" altLang="en-US" dirty="0"/>
              <a:t>Regulation and policy</a:t>
            </a:r>
          </a:p>
          <a:p>
            <a:pPr marL="457200" indent="-457200" eaLnBrk="1" hangingPunct="1">
              <a:spcBef>
                <a:spcPct val="35000"/>
              </a:spcBef>
              <a:buFont typeface="+mj-lt"/>
              <a:buAutoNum type="arabicPeriod"/>
            </a:pPr>
            <a:r>
              <a:rPr lang="en-US" altLang="en-US" dirty="0"/>
              <a:t>Resource management</a:t>
            </a:r>
          </a:p>
          <a:p>
            <a:pPr marL="457200" indent="-457200" eaLnBrk="1" hangingPunct="1">
              <a:spcBef>
                <a:spcPct val="35000"/>
              </a:spcBef>
              <a:buFont typeface="+mj-lt"/>
              <a:buAutoNum type="arabicPeriod"/>
            </a:pPr>
            <a:r>
              <a:rPr lang="en-US" altLang="en-US" dirty="0"/>
              <a:t>Human resources and training</a:t>
            </a:r>
          </a:p>
          <a:p>
            <a:pPr marL="457200" indent="-457200" eaLnBrk="1" hangingPunct="1">
              <a:spcBef>
                <a:spcPct val="35000"/>
              </a:spcBef>
              <a:buFont typeface="+mj-lt"/>
              <a:buAutoNum type="arabicPeriod"/>
            </a:pPr>
            <a:r>
              <a:rPr lang="en-US" altLang="en-US" dirty="0"/>
              <a:t>Transportation equipment and systems</a:t>
            </a:r>
          </a:p>
          <a:p>
            <a:pPr marL="457200" indent="-457200" eaLnBrk="1" hangingPunct="1">
              <a:spcBef>
                <a:spcPct val="35000"/>
              </a:spcBef>
              <a:buFont typeface="+mj-lt"/>
              <a:buAutoNum type="arabicPeriod"/>
            </a:pPr>
            <a:r>
              <a:rPr lang="en-US" altLang="en-US" dirty="0"/>
              <a:t>Medical and support facilities</a:t>
            </a:r>
          </a:p>
          <a:p>
            <a:pPr marL="457200" indent="-457200" eaLnBrk="1" hangingPunct="1">
              <a:spcBef>
                <a:spcPct val="35000"/>
              </a:spcBef>
              <a:buFont typeface="+mj-lt"/>
              <a:buAutoNum type="arabicPeriod"/>
            </a:pPr>
            <a:r>
              <a:rPr lang="en-US" altLang="en-US" dirty="0"/>
              <a:t>Communications system</a:t>
            </a:r>
          </a:p>
        </p:txBody>
      </p:sp>
    </p:spTree>
    <p:extLst>
      <p:ext uri="{BB962C8B-B14F-4D97-AF65-F5344CB8AC3E}">
        <p14:creationId xmlns:p14="http://schemas.microsoft.com/office/powerpoint/2010/main" val="150997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ECDC2789-D449-AF41-B950-521F842CC72C}"/>
              </a:ext>
            </a:extLst>
          </p:cNvPr>
          <p:cNvSpPr>
            <a:spLocks noGrp="1" noChangeArrowheads="1"/>
          </p:cNvSpPr>
          <p:nvPr>
            <p:ph type="title"/>
          </p:nvPr>
        </p:nvSpPr>
        <p:spPr/>
        <p:txBody>
          <a:bodyPr/>
          <a:lstStyle/>
          <a:p>
            <a:pPr eaLnBrk="1" hangingPunct="1">
              <a:lnSpc>
                <a:spcPct val="85000"/>
              </a:lnSpc>
              <a:defRPr/>
            </a:pPr>
            <a:r>
              <a:rPr lang="en-US" dirty="0"/>
              <a:t>Ten Standard Components of an EMS System </a:t>
            </a:r>
            <a:r>
              <a:rPr lang="en-US" sz="2800" b="0" dirty="0"/>
              <a:t>(2 of 2)</a:t>
            </a:r>
          </a:p>
        </p:txBody>
      </p:sp>
      <p:sp>
        <p:nvSpPr>
          <p:cNvPr id="39938" name="Rectangle 3">
            <a:extLst>
              <a:ext uri="{FF2B5EF4-FFF2-40B4-BE49-F238E27FC236}">
                <a16:creationId xmlns:a16="http://schemas.microsoft.com/office/drawing/2014/main" id="{281B3DB1-2196-644A-8DC8-2E12889C3F8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eaLnBrk="1" hangingPunct="1">
              <a:spcBef>
                <a:spcPct val="35000"/>
              </a:spcBef>
              <a:buFont typeface="+mj-lt"/>
              <a:buAutoNum type="arabicPeriod" startAt="7"/>
            </a:pPr>
            <a:r>
              <a:rPr lang="en-US" altLang="en-US" dirty="0"/>
              <a:t>Public information and education</a:t>
            </a:r>
          </a:p>
          <a:p>
            <a:pPr marL="457200" indent="-457200" eaLnBrk="1" hangingPunct="1">
              <a:spcBef>
                <a:spcPct val="35000"/>
              </a:spcBef>
              <a:buFont typeface="+mj-lt"/>
              <a:buAutoNum type="arabicPeriod" startAt="7"/>
            </a:pPr>
            <a:r>
              <a:rPr lang="en-US" altLang="en-US" dirty="0"/>
              <a:t>Medical direction</a:t>
            </a:r>
          </a:p>
          <a:p>
            <a:pPr marL="457200" indent="-457200" eaLnBrk="1" hangingPunct="1">
              <a:spcBef>
                <a:spcPct val="35000"/>
              </a:spcBef>
              <a:buFont typeface="+mj-lt"/>
              <a:buAutoNum type="arabicPeriod" startAt="7"/>
            </a:pPr>
            <a:r>
              <a:rPr lang="en-US" altLang="en-US" dirty="0"/>
              <a:t>Trauma system and development</a:t>
            </a:r>
          </a:p>
          <a:p>
            <a:pPr marL="457200" indent="-457200" eaLnBrk="1" hangingPunct="1">
              <a:spcBef>
                <a:spcPct val="35000"/>
              </a:spcBef>
              <a:buFont typeface="+mj-lt"/>
              <a:buAutoNum type="arabicPeriod" startAt="7"/>
            </a:pPr>
            <a:r>
              <a:rPr lang="en-US" altLang="en-US" dirty="0"/>
              <a:t>Evaluation</a:t>
            </a:r>
          </a:p>
        </p:txBody>
      </p:sp>
    </p:spTree>
    <p:extLst>
      <p:ext uri="{BB962C8B-B14F-4D97-AF65-F5344CB8AC3E}">
        <p14:creationId xmlns:p14="http://schemas.microsoft.com/office/powerpoint/2010/main" val="30699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7E0409B6-4177-F34C-9664-57B23C1FC0AF}"/>
              </a:ext>
            </a:extLst>
          </p:cNvPr>
          <p:cNvSpPr>
            <a:spLocks noGrp="1" noChangeArrowheads="1"/>
          </p:cNvSpPr>
          <p:nvPr>
            <p:ph type="title"/>
          </p:nvPr>
        </p:nvSpPr>
        <p:spPr/>
        <p:txBody>
          <a:bodyPr/>
          <a:lstStyle/>
          <a:p>
            <a:pPr eaLnBrk="1" hangingPunct="1">
              <a:lnSpc>
                <a:spcPct val="85000"/>
              </a:lnSpc>
              <a:defRPr/>
            </a:pPr>
            <a:r>
              <a:rPr lang="en-US" dirty="0"/>
              <a:t>A Word About Transportation </a:t>
            </a:r>
            <a:r>
              <a:rPr lang="en-US" sz="2800" b="0" dirty="0"/>
              <a:t>(1 of 2)</a:t>
            </a:r>
          </a:p>
        </p:txBody>
      </p:sp>
      <p:sp>
        <p:nvSpPr>
          <p:cNvPr id="41986" name="Rectangle 3">
            <a:extLst>
              <a:ext uri="{FF2B5EF4-FFF2-40B4-BE49-F238E27FC236}">
                <a16:creationId xmlns:a16="http://schemas.microsoft.com/office/drawing/2014/main" id="{240F3EC5-CE78-9247-A9AB-02C842273DA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Transport</a:t>
            </a:r>
          </a:p>
          <a:p>
            <a:pPr lvl="1" eaLnBrk="1" hangingPunct="1">
              <a:spcBef>
                <a:spcPct val="35000"/>
              </a:spcBef>
            </a:pPr>
            <a:r>
              <a:rPr lang="en-US" altLang="en-US"/>
              <a:t>A patient’s condition requires care by medical professionals, but speed in getting the patient to a medical facility is not most important.</a:t>
            </a:r>
          </a:p>
          <a:p>
            <a:pPr eaLnBrk="1" hangingPunct="1">
              <a:spcBef>
                <a:spcPct val="35000"/>
              </a:spcBef>
            </a:pPr>
            <a:r>
              <a:rPr lang="en-US" altLang="en-US"/>
              <a:t>Prompt transport</a:t>
            </a:r>
          </a:p>
          <a:p>
            <a:pPr lvl="1" eaLnBrk="1" hangingPunct="1">
              <a:spcBef>
                <a:spcPct val="35000"/>
              </a:spcBef>
            </a:pPr>
            <a:r>
              <a:rPr lang="en-US" altLang="en-US"/>
              <a:t>A patient’s condition is serious enough that the patient needs to be taken to an appropriate medical facility in a fairly short period of time.</a:t>
            </a:r>
          </a:p>
        </p:txBody>
      </p:sp>
    </p:spTree>
    <p:extLst>
      <p:ext uri="{BB962C8B-B14F-4D97-AF65-F5344CB8AC3E}">
        <p14:creationId xmlns:p14="http://schemas.microsoft.com/office/powerpoint/2010/main" val="2269290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a:extLst>
              <a:ext uri="{FF2B5EF4-FFF2-40B4-BE49-F238E27FC236}">
                <a16:creationId xmlns:a16="http://schemas.microsoft.com/office/drawing/2014/main" id="{871C84C4-6BF2-7F48-9F5F-CA5618003C89}"/>
              </a:ext>
            </a:extLst>
          </p:cNvPr>
          <p:cNvSpPr>
            <a:spLocks noGrp="1" noChangeArrowheads="1"/>
          </p:cNvSpPr>
          <p:nvPr>
            <p:ph type="title"/>
          </p:nvPr>
        </p:nvSpPr>
        <p:spPr/>
        <p:txBody>
          <a:bodyPr/>
          <a:lstStyle/>
          <a:p>
            <a:pPr eaLnBrk="1" hangingPunct="1">
              <a:lnSpc>
                <a:spcPct val="85000"/>
              </a:lnSpc>
              <a:defRPr/>
            </a:pPr>
            <a:r>
              <a:rPr lang="en-US" dirty="0"/>
              <a:t>A Word About Transportation </a:t>
            </a:r>
            <a:r>
              <a:rPr lang="en-US" sz="2800" b="0" dirty="0"/>
              <a:t>(2 of 2)</a:t>
            </a:r>
          </a:p>
        </p:txBody>
      </p:sp>
      <p:sp>
        <p:nvSpPr>
          <p:cNvPr id="44034" name="Rectangle 3">
            <a:extLst>
              <a:ext uri="{FF2B5EF4-FFF2-40B4-BE49-F238E27FC236}">
                <a16:creationId xmlns:a16="http://schemas.microsoft.com/office/drawing/2014/main" id="{76DA1CEA-DFC7-8A4D-A33C-3A012FC98583}"/>
              </a:ext>
            </a:extLst>
          </p:cNvPr>
          <p:cNvSpPr>
            <a:spLocks noGrp="1" noChangeArrowheads="1"/>
          </p:cNvSpPr>
          <p:nvPr>
            <p:ph type="body" idx="1"/>
          </p:nvPr>
        </p:nvSpPr>
        <p:spPr>
          <a:xfrm>
            <a:off x="6096000" y="1447800"/>
            <a:ext cx="5108294"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Rapid transport</a:t>
            </a:r>
          </a:p>
          <a:p>
            <a:pPr lvl="1" eaLnBrk="1" hangingPunct="1">
              <a:spcBef>
                <a:spcPct val="35000"/>
              </a:spcBef>
            </a:pPr>
            <a:r>
              <a:rPr lang="en-US" altLang="en-US" sz="2100" dirty="0"/>
              <a:t>When EMS personnel are unable to give the patient adequate life-saving care in field</a:t>
            </a:r>
          </a:p>
          <a:p>
            <a:pPr eaLnBrk="1" hangingPunct="1">
              <a:spcBef>
                <a:spcPct val="35000"/>
              </a:spcBef>
            </a:pPr>
            <a:r>
              <a:rPr lang="en-US" altLang="en-US" sz="2400" dirty="0"/>
              <a:t>An appropriate medical facility may be a hospital, trauma center, or medical clinic.</a:t>
            </a:r>
          </a:p>
        </p:txBody>
      </p:sp>
      <p:sp>
        <p:nvSpPr>
          <p:cNvPr id="7" name="Rectangle 6"/>
          <p:cNvSpPr/>
          <p:nvPr/>
        </p:nvSpPr>
        <p:spPr>
          <a:xfrm>
            <a:off x="1098265" y="4655142"/>
            <a:ext cx="4925908" cy="646331"/>
          </a:xfrm>
          <a:prstGeom prst="rect">
            <a:avLst/>
          </a:prstGeom>
        </p:spPr>
        <p:txBody>
          <a:bodyPr wrap="square">
            <a:spAutoFit/>
          </a:bodyPr>
          <a:lstStyle/>
          <a:p>
            <a:r>
              <a:rPr lang="en-US" b="1" cap="all" dirty="0"/>
              <a:t>Figure</a:t>
            </a:r>
            <a:r>
              <a:rPr lang="en-US" b="1" dirty="0"/>
              <a:t> 1-8 </a:t>
            </a:r>
            <a:r>
              <a:rPr lang="en-US" dirty="0"/>
              <a:t>Ambulance transport to a hospital or medical facility. </a:t>
            </a:r>
          </a:p>
        </p:txBody>
      </p:sp>
      <p:sp>
        <p:nvSpPr>
          <p:cNvPr id="8" name="Rectangle 7"/>
          <p:cNvSpPr/>
          <p:nvPr/>
        </p:nvSpPr>
        <p:spPr>
          <a:xfrm>
            <a:off x="1053974" y="5258009"/>
            <a:ext cx="4456008" cy="246221"/>
          </a:xfrm>
          <a:prstGeom prst="rect">
            <a:avLst/>
          </a:prstGeom>
        </p:spPr>
        <p:txBody>
          <a:bodyPr wrap="square">
            <a:spAutoFit/>
          </a:bodyPr>
          <a:lstStyle/>
          <a:p>
            <a:r>
              <a:rPr lang="en-US" sz="1000" dirty="0"/>
              <a:t>© Tribune Content Agency LLC / </a:t>
            </a:r>
            <a:r>
              <a:rPr lang="en-US" sz="1000" dirty="0" err="1"/>
              <a:t>Alamy</a:t>
            </a:r>
            <a:r>
              <a:rPr lang="en-US" sz="1000" dirty="0"/>
              <a:t> Stock Photo </a:t>
            </a:r>
          </a:p>
        </p:txBody>
      </p:sp>
      <p:pic>
        <p:nvPicPr>
          <p:cNvPr id="5122" name="Picture 2" descr="A photo shows a few fire rescue personnel wearing bright vests and face masks around a patient on a stretcher on wheels, in an outdoor location during the day.&#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265" y="1593334"/>
            <a:ext cx="3990062" cy="305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98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a:extLst>
              <a:ext uri="{FF2B5EF4-FFF2-40B4-BE49-F238E27FC236}">
                <a16:creationId xmlns:a16="http://schemas.microsoft.com/office/drawing/2014/main" id="{1DD79AC6-E559-444F-9EBB-2FACFBDE41C6}"/>
              </a:ext>
            </a:extLst>
          </p:cNvPr>
          <p:cNvSpPr>
            <a:spLocks noGrp="1" noChangeArrowheads="1"/>
          </p:cNvSpPr>
          <p:nvPr>
            <p:ph type="title"/>
          </p:nvPr>
        </p:nvSpPr>
        <p:spPr/>
        <p:txBody>
          <a:bodyPr/>
          <a:lstStyle/>
          <a:p>
            <a:pPr eaLnBrk="1" hangingPunct="1">
              <a:lnSpc>
                <a:spcPct val="85000"/>
              </a:lnSpc>
              <a:defRPr/>
            </a:pPr>
            <a:r>
              <a:rPr lang="en-US" dirty="0"/>
              <a:t>EMR Training </a:t>
            </a:r>
            <a:r>
              <a:rPr lang="en-US" sz="2800" b="0" dirty="0"/>
              <a:t>(1 of 3)</a:t>
            </a:r>
          </a:p>
        </p:txBody>
      </p:sp>
      <p:sp>
        <p:nvSpPr>
          <p:cNvPr id="46082" name="Rectangle 3">
            <a:extLst>
              <a:ext uri="{FF2B5EF4-FFF2-40B4-BE49-F238E27FC236}">
                <a16:creationId xmlns:a16="http://schemas.microsoft.com/office/drawing/2014/main" id="{AD80A90A-DE82-3B42-AD1A-15BCE491CCF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Skills and knowledge learned in EMR course provide the foundation for entire EMS system.</a:t>
            </a:r>
          </a:p>
        </p:txBody>
      </p:sp>
      <p:sp>
        <p:nvSpPr>
          <p:cNvPr id="7" name="Rectangle 6"/>
          <p:cNvSpPr/>
          <p:nvPr/>
        </p:nvSpPr>
        <p:spPr>
          <a:xfrm>
            <a:off x="3888422" y="5356438"/>
            <a:ext cx="4260005" cy="646331"/>
          </a:xfrm>
          <a:prstGeom prst="rect">
            <a:avLst/>
          </a:prstGeom>
        </p:spPr>
        <p:txBody>
          <a:bodyPr wrap="square">
            <a:spAutoFit/>
          </a:bodyPr>
          <a:lstStyle/>
          <a:p>
            <a:r>
              <a:rPr lang="en-US" b="1" cap="all" dirty="0"/>
              <a:t>Figure</a:t>
            </a:r>
            <a:r>
              <a:rPr lang="en-US" b="1" dirty="0"/>
              <a:t> 1-9 </a:t>
            </a:r>
            <a:r>
              <a:rPr lang="en-US" dirty="0"/>
              <a:t>A typical emergency scene with injured patients. </a:t>
            </a:r>
          </a:p>
        </p:txBody>
      </p:sp>
      <p:sp>
        <p:nvSpPr>
          <p:cNvPr id="8" name="Rectangle 7"/>
          <p:cNvSpPr/>
          <p:nvPr/>
        </p:nvSpPr>
        <p:spPr>
          <a:xfrm>
            <a:off x="3875723" y="5947856"/>
            <a:ext cx="4456008" cy="246221"/>
          </a:xfrm>
          <a:prstGeom prst="rect">
            <a:avLst/>
          </a:prstGeom>
        </p:spPr>
        <p:txBody>
          <a:bodyPr wrap="square">
            <a:spAutoFit/>
          </a:bodyPr>
          <a:lstStyle/>
          <a:p>
            <a:r>
              <a:rPr lang="en-US" sz="1000" dirty="0"/>
              <a:t>© Glen E. </a:t>
            </a:r>
            <a:r>
              <a:rPr lang="en-US" sz="1000" dirty="0" err="1"/>
              <a:t>Ellman</a:t>
            </a:r>
            <a:r>
              <a:rPr lang="en-US" sz="1000" dirty="0"/>
              <a:t> </a:t>
            </a:r>
          </a:p>
        </p:txBody>
      </p:sp>
      <p:pic>
        <p:nvPicPr>
          <p:cNvPr id="6146" name="Picture 2" descr="A photo shows several fire rescue personnel wearing khaki uniforms and protective masks around a patient on a stretcher placed on the ground. One member of the rescue team can be seen fixing a strap around the person's head or neck.&#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9373" y="2617265"/>
            <a:ext cx="4089400" cy="2764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060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A93B152F-41F5-3C4B-BFE3-2D4A23FFFC2D}"/>
              </a:ext>
            </a:extLst>
          </p:cNvPr>
          <p:cNvSpPr>
            <a:spLocks noGrp="1" noChangeArrowheads="1"/>
          </p:cNvSpPr>
          <p:nvPr>
            <p:ph type="title"/>
          </p:nvPr>
        </p:nvSpPr>
        <p:spPr/>
        <p:txBody>
          <a:bodyPr/>
          <a:lstStyle/>
          <a:p>
            <a:pPr eaLnBrk="1" hangingPunct="1">
              <a:lnSpc>
                <a:spcPct val="85000"/>
              </a:lnSpc>
              <a:defRPr/>
            </a:pPr>
            <a:r>
              <a:rPr lang="en-US" dirty="0"/>
              <a:t>EMR Training </a:t>
            </a:r>
            <a:r>
              <a:rPr lang="en-US" sz="2800" b="0" dirty="0"/>
              <a:t>(2 of 3)</a:t>
            </a:r>
          </a:p>
        </p:txBody>
      </p:sp>
      <p:sp>
        <p:nvSpPr>
          <p:cNvPr id="48130" name="Rectangle 3">
            <a:extLst>
              <a:ext uri="{FF2B5EF4-FFF2-40B4-BE49-F238E27FC236}">
                <a16:creationId xmlns:a16="http://schemas.microsoft.com/office/drawing/2014/main" id="{F8D0D96E-26F4-534C-8052-3256D7DC501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Skills are divided into two main groups:</a:t>
            </a:r>
          </a:p>
          <a:p>
            <a:pPr lvl="1" eaLnBrk="1" hangingPunct="1">
              <a:spcBef>
                <a:spcPct val="35000"/>
              </a:spcBef>
            </a:pPr>
            <a:r>
              <a:rPr lang="en-US" altLang="en-US" dirty="0"/>
              <a:t>Skills needed to treat injured trauma patients:</a:t>
            </a:r>
          </a:p>
          <a:p>
            <a:pPr lvl="2" eaLnBrk="1" hangingPunct="1"/>
            <a:r>
              <a:rPr lang="en-US" altLang="en-US" sz="2000" dirty="0"/>
              <a:t>Controlling airway, breathing, and circulation</a:t>
            </a:r>
          </a:p>
          <a:p>
            <a:pPr lvl="2" eaLnBrk="1" hangingPunct="1"/>
            <a:r>
              <a:rPr lang="en-US" altLang="en-US" sz="2000" dirty="0"/>
              <a:t>Controlling external bleeding (hemorrhage)</a:t>
            </a:r>
          </a:p>
          <a:p>
            <a:pPr lvl="2" eaLnBrk="1" hangingPunct="1"/>
            <a:r>
              <a:rPr lang="en-US" altLang="en-US" sz="2000" dirty="0"/>
              <a:t>Treating shock</a:t>
            </a:r>
          </a:p>
          <a:p>
            <a:pPr lvl="2" eaLnBrk="1" hangingPunct="1"/>
            <a:r>
              <a:rPr lang="en-US" altLang="en-US" sz="2000" dirty="0"/>
              <a:t>Treating wounds</a:t>
            </a:r>
          </a:p>
          <a:p>
            <a:pPr lvl="2" eaLnBrk="1" hangingPunct="1"/>
            <a:r>
              <a:rPr lang="en-US" altLang="en-US" sz="2000" dirty="0"/>
              <a:t>Splinting injuries to stabilize extremities</a:t>
            </a:r>
          </a:p>
        </p:txBody>
      </p:sp>
    </p:spTree>
    <p:extLst>
      <p:ext uri="{BB962C8B-B14F-4D97-AF65-F5344CB8AC3E}">
        <p14:creationId xmlns:p14="http://schemas.microsoft.com/office/powerpoint/2010/main" val="222454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D1E1BE21-727D-694C-89EF-5D2EF6522C4F}"/>
              </a:ext>
            </a:extLst>
          </p:cNvPr>
          <p:cNvSpPr>
            <a:spLocks noGrp="1" noChangeArrowheads="1"/>
          </p:cNvSpPr>
          <p:nvPr>
            <p:ph type="title"/>
          </p:nvPr>
        </p:nvSpPr>
        <p:spPr/>
        <p:txBody>
          <a:bodyPr/>
          <a:lstStyle/>
          <a:p>
            <a:pPr eaLnBrk="1" hangingPunct="1">
              <a:lnSpc>
                <a:spcPct val="85000"/>
              </a:lnSpc>
              <a:defRPr/>
            </a:pPr>
            <a:r>
              <a:rPr lang="en-US" dirty="0"/>
              <a:t>EMR Training </a:t>
            </a:r>
            <a:r>
              <a:rPr lang="en-US" sz="2800" b="0" dirty="0"/>
              <a:t>(3 of 3)</a:t>
            </a:r>
          </a:p>
        </p:txBody>
      </p:sp>
      <p:sp>
        <p:nvSpPr>
          <p:cNvPr id="50178" name="Rectangle 3">
            <a:extLst>
              <a:ext uri="{FF2B5EF4-FFF2-40B4-BE49-F238E27FC236}">
                <a16:creationId xmlns:a16="http://schemas.microsoft.com/office/drawing/2014/main" id="{0E490FAE-14EA-D34E-AE03-53C161FF4918}"/>
              </a:ext>
            </a:extLst>
          </p:cNvPr>
          <p:cNvSpPr>
            <a:spLocks noGrp="1" noChangeArrowheads="1"/>
          </p:cNvSpPr>
          <p:nvPr>
            <p:ph type="body" idx="1"/>
          </p:nvPr>
        </p:nvSpPr>
        <p:spPr>
          <a:xfrm>
            <a:off x="925830" y="1490870"/>
            <a:ext cx="10287000" cy="5014102"/>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Skills in two main groups (cont’d):</a:t>
            </a:r>
          </a:p>
          <a:p>
            <a:pPr lvl="1" eaLnBrk="1" hangingPunct="1">
              <a:spcBef>
                <a:spcPct val="35000"/>
              </a:spcBef>
            </a:pPr>
            <a:r>
              <a:rPr lang="en-US" altLang="en-US" dirty="0"/>
              <a:t>Skills needed to care for patients experiencing illness or serious medical problems:</a:t>
            </a:r>
          </a:p>
          <a:p>
            <a:pPr lvl="2" eaLnBrk="1" hangingPunct="1"/>
            <a:r>
              <a:rPr lang="en-US" altLang="en-US" sz="2000" dirty="0"/>
              <a:t>Heart attacks</a:t>
            </a:r>
          </a:p>
          <a:p>
            <a:pPr lvl="2" eaLnBrk="1" hangingPunct="1"/>
            <a:r>
              <a:rPr lang="en-US" altLang="en-US" sz="2000" dirty="0"/>
              <a:t>Seizures</a:t>
            </a:r>
          </a:p>
          <a:p>
            <a:pPr lvl="2" eaLnBrk="1" hangingPunct="1"/>
            <a:r>
              <a:rPr lang="en-US" altLang="en-US" sz="2000" dirty="0"/>
              <a:t>Problems associated with excessive heat or cold</a:t>
            </a:r>
          </a:p>
          <a:p>
            <a:pPr lvl="2" eaLnBrk="1" hangingPunct="1"/>
            <a:r>
              <a:rPr lang="en-US" altLang="en-US" sz="2000" dirty="0"/>
              <a:t>Alcohol and drug abuse</a:t>
            </a:r>
          </a:p>
          <a:p>
            <a:pPr lvl="2" eaLnBrk="1" hangingPunct="1"/>
            <a:r>
              <a:rPr lang="en-US" altLang="en-US" sz="2000" dirty="0"/>
              <a:t>Poisonings</a:t>
            </a:r>
          </a:p>
          <a:p>
            <a:pPr lvl="2" eaLnBrk="1" hangingPunct="1"/>
            <a:r>
              <a:rPr lang="en-US" altLang="en-US" sz="2000" dirty="0"/>
              <a:t>Bites and stings</a:t>
            </a:r>
          </a:p>
          <a:p>
            <a:pPr lvl="2" eaLnBrk="1" hangingPunct="1"/>
            <a:r>
              <a:rPr lang="en-US" altLang="en-US" sz="2000" dirty="0"/>
              <a:t>Altered mental status</a:t>
            </a:r>
          </a:p>
          <a:p>
            <a:pPr lvl="2" eaLnBrk="1" hangingPunct="1"/>
            <a:r>
              <a:rPr lang="en-US" altLang="en-US" sz="2000" dirty="0"/>
              <a:t>Behavioral or psychological crisis</a:t>
            </a:r>
          </a:p>
          <a:p>
            <a:pPr lvl="2" eaLnBrk="1" hangingPunct="1"/>
            <a:r>
              <a:rPr lang="en-US" altLang="en-US" sz="2000" dirty="0"/>
              <a:t>Emergency childbirth</a:t>
            </a:r>
            <a:endParaRPr lang="en-US" altLang="en-US" sz="2400" dirty="0"/>
          </a:p>
        </p:txBody>
      </p:sp>
    </p:spTree>
    <p:extLst>
      <p:ext uri="{BB962C8B-B14F-4D97-AF65-F5344CB8AC3E}">
        <p14:creationId xmlns:p14="http://schemas.microsoft.com/office/powerpoint/2010/main" val="674102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a:extLst>
              <a:ext uri="{FF2B5EF4-FFF2-40B4-BE49-F238E27FC236}">
                <a16:creationId xmlns:a16="http://schemas.microsoft.com/office/drawing/2014/main" id="{D98EACEE-C4EE-DF48-9518-81DB80C445BA}"/>
              </a:ext>
            </a:extLst>
          </p:cNvPr>
          <p:cNvSpPr>
            <a:spLocks noGrp="1" noChangeArrowheads="1"/>
          </p:cNvSpPr>
          <p:nvPr>
            <p:ph type="title"/>
          </p:nvPr>
        </p:nvSpPr>
        <p:spPr/>
        <p:txBody>
          <a:bodyPr/>
          <a:lstStyle/>
          <a:p>
            <a:pPr eaLnBrk="1" hangingPunct="1">
              <a:lnSpc>
                <a:spcPct val="85000"/>
              </a:lnSpc>
              <a:defRPr/>
            </a:pPr>
            <a:r>
              <a:rPr lang="en-US" dirty="0"/>
              <a:t>Goals of EMR Training </a:t>
            </a:r>
            <a:r>
              <a:rPr lang="en-US" sz="2800" b="0" dirty="0"/>
              <a:t>(1 of 5)</a:t>
            </a:r>
          </a:p>
        </p:txBody>
      </p:sp>
      <p:sp>
        <p:nvSpPr>
          <p:cNvPr id="54274" name="Rectangle 3">
            <a:extLst>
              <a:ext uri="{FF2B5EF4-FFF2-40B4-BE49-F238E27FC236}">
                <a16:creationId xmlns:a16="http://schemas.microsoft.com/office/drawing/2014/main" id="{65933075-CA7A-394E-9CCA-4E4139DC8FB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Basic goals of EMR training aim to teach you how to:</a:t>
            </a:r>
          </a:p>
          <a:p>
            <a:pPr lvl="1" eaLnBrk="1" hangingPunct="1">
              <a:spcBef>
                <a:spcPct val="35000"/>
              </a:spcBef>
            </a:pPr>
            <a:r>
              <a:rPr lang="en-US" altLang="en-US" dirty="0"/>
              <a:t>Evaluate, stabilize, and treat patients using a minimum of specialized equipment.</a:t>
            </a:r>
          </a:p>
          <a:p>
            <a:pPr lvl="1" eaLnBrk="1" hangingPunct="1">
              <a:spcBef>
                <a:spcPct val="35000"/>
              </a:spcBef>
            </a:pPr>
            <a:r>
              <a:rPr lang="en-US" altLang="en-US" dirty="0"/>
              <a:t>Improvise.</a:t>
            </a:r>
          </a:p>
          <a:p>
            <a:pPr lvl="1" eaLnBrk="1" hangingPunct="1">
              <a:spcBef>
                <a:spcPct val="35000"/>
              </a:spcBef>
            </a:pPr>
            <a:r>
              <a:rPr lang="en-US" altLang="en-US" dirty="0"/>
              <a:t>Help EMTs, AEMTs and paramedics when they arrive on the scene.</a:t>
            </a:r>
          </a:p>
        </p:txBody>
      </p:sp>
    </p:spTree>
    <p:extLst>
      <p:ext uri="{BB962C8B-B14F-4D97-AF65-F5344CB8AC3E}">
        <p14:creationId xmlns:p14="http://schemas.microsoft.com/office/powerpoint/2010/main" val="296850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a:extLst>
              <a:ext uri="{FF2B5EF4-FFF2-40B4-BE49-F238E27FC236}">
                <a16:creationId xmlns:a16="http://schemas.microsoft.com/office/drawing/2014/main" id="{2B0894E5-F4A0-E841-B82F-5D25091F7F57}"/>
              </a:ext>
            </a:extLst>
          </p:cNvPr>
          <p:cNvSpPr>
            <a:spLocks noGrp="1" noChangeArrowheads="1"/>
          </p:cNvSpPr>
          <p:nvPr>
            <p:ph type="title"/>
          </p:nvPr>
        </p:nvSpPr>
        <p:spPr/>
        <p:txBody>
          <a:bodyPr/>
          <a:lstStyle/>
          <a:p>
            <a:pPr eaLnBrk="1" hangingPunct="1">
              <a:lnSpc>
                <a:spcPct val="85000"/>
              </a:lnSpc>
              <a:defRPr/>
            </a:pPr>
            <a:r>
              <a:rPr lang="en-US" dirty="0"/>
              <a:t>Goals of EMR Training </a:t>
            </a:r>
            <a:r>
              <a:rPr lang="en-US" sz="2800" b="0" dirty="0"/>
              <a:t>(2 of 5)</a:t>
            </a:r>
          </a:p>
        </p:txBody>
      </p:sp>
      <p:sp>
        <p:nvSpPr>
          <p:cNvPr id="56322" name="Rectangle 3">
            <a:extLst>
              <a:ext uri="{FF2B5EF4-FFF2-40B4-BE49-F238E27FC236}">
                <a16:creationId xmlns:a16="http://schemas.microsoft.com/office/drawing/2014/main" id="{23327F06-7CE0-0C4F-9ECF-6903FF8DDA5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Know what you should </a:t>
            </a:r>
            <a:r>
              <a:rPr lang="en-US" altLang="en-US" i="1" dirty="0"/>
              <a:t>not</a:t>
            </a:r>
            <a:r>
              <a:rPr lang="en-US" altLang="en-US" dirty="0"/>
              <a:t> do.</a:t>
            </a:r>
          </a:p>
          <a:p>
            <a:pPr lvl="1" eaLnBrk="1" hangingPunct="1">
              <a:spcBef>
                <a:spcPct val="35000"/>
              </a:spcBef>
            </a:pPr>
            <a:r>
              <a:rPr lang="en-US" altLang="en-US" dirty="0"/>
              <a:t>It may be better to leave patient in the position in which he or she was found rather than move patient without proper equipment or personnel.</a:t>
            </a:r>
          </a:p>
          <a:p>
            <a:pPr lvl="1" eaLnBrk="1" hangingPunct="1">
              <a:spcBef>
                <a:spcPct val="35000"/>
              </a:spcBef>
            </a:pPr>
            <a:r>
              <a:rPr lang="en-US" altLang="en-US" b="1" dirty="0"/>
              <a:t>Never</a:t>
            </a:r>
            <a:r>
              <a:rPr lang="en-US" altLang="en-US" dirty="0"/>
              <a:t> judge patients based on their cultural background, religion, color, gender, sexual orientation, age, or socioeconomic status.</a:t>
            </a:r>
          </a:p>
        </p:txBody>
      </p:sp>
    </p:spTree>
    <p:extLst>
      <p:ext uri="{BB962C8B-B14F-4D97-AF65-F5344CB8AC3E}">
        <p14:creationId xmlns:p14="http://schemas.microsoft.com/office/powerpoint/2010/main" val="3366462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a:extLst>
              <a:ext uri="{FF2B5EF4-FFF2-40B4-BE49-F238E27FC236}">
                <a16:creationId xmlns:a16="http://schemas.microsoft.com/office/drawing/2014/main" id="{1651B8DB-78DD-2C4B-911F-1A1A80AEDD57}"/>
              </a:ext>
            </a:extLst>
          </p:cNvPr>
          <p:cNvSpPr>
            <a:spLocks noGrp="1" noChangeArrowheads="1"/>
          </p:cNvSpPr>
          <p:nvPr>
            <p:ph type="title"/>
          </p:nvPr>
        </p:nvSpPr>
        <p:spPr/>
        <p:txBody>
          <a:bodyPr/>
          <a:lstStyle/>
          <a:p>
            <a:pPr eaLnBrk="1" hangingPunct="1">
              <a:lnSpc>
                <a:spcPct val="85000"/>
              </a:lnSpc>
              <a:defRPr/>
            </a:pPr>
            <a:r>
              <a:rPr lang="en-US" dirty="0"/>
              <a:t>Goals of EMR Training </a:t>
            </a:r>
            <a:r>
              <a:rPr lang="en-US" sz="2800" b="0" dirty="0"/>
              <a:t>(3 of 5)</a:t>
            </a:r>
          </a:p>
        </p:txBody>
      </p:sp>
      <p:sp>
        <p:nvSpPr>
          <p:cNvPr id="58370" name="Rectangle 3">
            <a:extLst>
              <a:ext uri="{FF2B5EF4-FFF2-40B4-BE49-F238E27FC236}">
                <a16:creationId xmlns:a16="http://schemas.microsoft.com/office/drawing/2014/main" id="{F05782BC-FA12-064A-9DC3-4AC2F95378A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Know how to use your EMR life support kit.</a:t>
            </a:r>
          </a:p>
          <a:p>
            <a:pPr lvl="1" eaLnBrk="1" hangingPunct="1">
              <a:spcBef>
                <a:spcPct val="35000"/>
              </a:spcBef>
            </a:pPr>
            <a:r>
              <a:rPr lang="en-US" altLang="en-US" dirty="0"/>
              <a:t>An EMR life support kit should be small enough to fit in trunk of an automobile or on almost any police, fire, or rescue vehicle.</a:t>
            </a:r>
          </a:p>
          <a:p>
            <a:pPr lvl="1" eaLnBrk="1" hangingPunct="1">
              <a:spcBef>
                <a:spcPct val="35000"/>
              </a:spcBef>
            </a:pPr>
            <a:r>
              <a:rPr lang="en-US" altLang="en-US" dirty="0"/>
              <a:t>These supplies are all you need to provide immediate care for most patients you will encounter.</a:t>
            </a:r>
          </a:p>
        </p:txBody>
      </p:sp>
    </p:spTree>
    <p:extLst>
      <p:ext uri="{BB962C8B-B14F-4D97-AF65-F5344CB8AC3E}">
        <p14:creationId xmlns:p14="http://schemas.microsoft.com/office/powerpoint/2010/main" val="215457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4888B6DF-2297-0045-8F62-38A0148B35E1}"/>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Goals of EMR Training </a:t>
            </a:r>
            <a:r>
              <a:rPr lang="en-US" sz="2800" b="0" dirty="0">
                <a:solidFill>
                  <a:srgbClr val="F79646"/>
                </a:solidFill>
              </a:rPr>
              <a:t>(4 of 5)</a:t>
            </a:r>
          </a:p>
        </p:txBody>
      </p:sp>
      <p:sp>
        <p:nvSpPr>
          <p:cNvPr id="6" name="Rectangle 5"/>
          <p:cNvSpPr/>
          <p:nvPr/>
        </p:nvSpPr>
        <p:spPr>
          <a:xfrm>
            <a:off x="3769108" y="5403823"/>
            <a:ext cx="5630385" cy="369332"/>
          </a:xfrm>
          <a:prstGeom prst="rect">
            <a:avLst/>
          </a:prstGeom>
        </p:spPr>
        <p:txBody>
          <a:bodyPr wrap="square">
            <a:spAutoFit/>
          </a:bodyPr>
          <a:lstStyle/>
          <a:p>
            <a:r>
              <a:rPr lang="en-US" b="1" dirty="0">
                <a:solidFill>
                  <a:schemeClr val="bg2">
                    <a:lumMod val="95000"/>
                  </a:schemeClr>
                </a:solidFill>
              </a:rPr>
              <a:t>Figure 1-10 </a:t>
            </a:r>
            <a:r>
              <a:rPr lang="en-US" dirty="0">
                <a:solidFill>
                  <a:schemeClr val="bg2">
                    <a:lumMod val="95000"/>
                  </a:schemeClr>
                </a:solidFill>
              </a:rPr>
              <a:t>Suggested contents of an EMR life support kit. </a:t>
            </a:r>
          </a:p>
        </p:txBody>
      </p:sp>
      <p:sp>
        <p:nvSpPr>
          <p:cNvPr id="7" name="Rectangle 6"/>
          <p:cNvSpPr/>
          <p:nvPr/>
        </p:nvSpPr>
        <p:spPr>
          <a:xfrm>
            <a:off x="3756409" y="5742949"/>
            <a:ext cx="4456008" cy="246221"/>
          </a:xfrm>
          <a:prstGeom prst="rect">
            <a:avLst/>
          </a:prstGeom>
        </p:spPr>
        <p:txBody>
          <a:bodyPr wrap="square">
            <a:spAutoFit/>
          </a:bodyPr>
          <a:lstStyle/>
          <a:p>
            <a:r>
              <a:rPr lang="en-US" sz="1000" dirty="0">
                <a:solidFill>
                  <a:schemeClr val="bg2">
                    <a:lumMod val="95000"/>
                  </a:schemeClr>
                </a:solidFill>
              </a:rPr>
              <a:t>© Jones &amp; Bartlett Learning </a:t>
            </a:r>
          </a:p>
        </p:txBody>
      </p:sp>
      <p:pic>
        <p:nvPicPr>
          <p:cNvPr id="7170" name="Picture 2" descr="A photo shows a red emergency kit bag. The contents of the kit are displayed, which include dressing equipment, resuscitation equipment, bandages, gloves, eye protection, face masks, protective gown, adhesive tapes, etc.&#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2757" y="1617267"/>
            <a:ext cx="4482438" cy="3711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92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a:extLst>
              <a:ext uri="{FF2B5EF4-FFF2-40B4-BE49-F238E27FC236}">
                <a16:creationId xmlns:a16="http://schemas.microsoft.com/office/drawing/2014/main" id="{618DF0FD-7BCD-2A41-9E6C-18027B5B1CF8}"/>
              </a:ext>
            </a:extLst>
          </p:cNvPr>
          <p:cNvSpPr>
            <a:spLocks noGrp="1" noChangeArrowheads="1"/>
          </p:cNvSpPr>
          <p:nvPr>
            <p:ph type="title"/>
          </p:nvPr>
        </p:nvSpPr>
        <p:spPr/>
        <p:txBody>
          <a:bodyPr/>
          <a:lstStyle/>
          <a:p>
            <a:pPr eaLnBrk="1" hangingPunct="1">
              <a:lnSpc>
                <a:spcPct val="85000"/>
              </a:lnSpc>
              <a:defRPr/>
            </a:pPr>
            <a:r>
              <a:rPr lang="en-US" dirty="0"/>
              <a:t>Goals of EMR Training </a:t>
            </a:r>
            <a:r>
              <a:rPr lang="en-US" sz="2800" b="0" dirty="0"/>
              <a:t>(5 of 5)</a:t>
            </a:r>
          </a:p>
        </p:txBody>
      </p:sp>
      <p:sp>
        <p:nvSpPr>
          <p:cNvPr id="62466" name="Rectangle 3">
            <a:extLst>
              <a:ext uri="{FF2B5EF4-FFF2-40B4-BE49-F238E27FC236}">
                <a16:creationId xmlns:a16="http://schemas.microsoft.com/office/drawing/2014/main" id="{56788CA6-BADA-394D-BF1C-AA9B1C3E0B7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Know how to improvise.</a:t>
            </a:r>
          </a:p>
          <a:p>
            <a:pPr lvl="1" eaLnBrk="1" hangingPunct="1">
              <a:spcBef>
                <a:spcPct val="35000"/>
              </a:spcBef>
            </a:pPr>
            <a:r>
              <a:rPr lang="en-US" altLang="en-US"/>
              <a:t>You will often be in situations where little or no emergency medical equipment is available.</a:t>
            </a:r>
          </a:p>
          <a:p>
            <a:pPr eaLnBrk="1" hangingPunct="1">
              <a:spcBef>
                <a:spcPct val="35000"/>
              </a:spcBef>
            </a:pPr>
            <a:r>
              <a:rPr lang="en-US" altLang="en-US"/>
              <a:t>Know how to assist other EMS providers.</a:t>
            </a:r>
          </a:p>
          <a:p>
            <a:pPr lvl="1" eaLnBrk="1" hangingPunct="1">
              <a:spcBef>
                <a:spcPct val="35000"/>
              </a:spcBef>
            </a:pPr>
            <a:r>
              <a:rPr lang="en-US" altLang="en-US"/>
              <a:t>You may have to assist with certain procedures and you must know what to do in such cases.</a:t>
            </a:r>
          </a:p>
        </p:txBody>
      </p:sp>
    </p:spTree>
    <p:extLst>
      <p:ext uri="{BB962C8B-B14F-4D97-AF65-F5344CB8AC3E}">
        <p14:creationId xmlns:p14="http://schemas.microsoft.com/office/powerpoint/2010/main" val="3984042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A6F019FE-44A3-7F4A-9959-0BF6474D51E8}"/>
              </a:ext>
            </a:extLst>
          </p:cNvPr>
          <p:cNvSpPr>
            <a:spLocks noGrp="1" noChangeArrowheads="1"/>
          </p:cNvSpPr>
          <p:nvPr>
            <p:ph type="title"/>
          </p:nvPr>
        </p:nvSpPr>
        <p:spPr/>
        <p:txBody>
          <a:bodyPr/>
          <a:lstStyle/>
          <a:p>
            <a:pPr eaLnBrk="1" hangingPunct="1">
              <a:lnSpc>
                <a:spcPct val="85000"/>
              </a:lnSpc>
              <a:defRPr/>
            </a:pPr>
            <a:r>
              <a:rPr lang="en-US" dirty="0"/>
              <a:t>Additional Skills</a:t>
            </a:r>
          </a:p>
        </p:txBody>
      </p:sp>
      <p:sp>
        <p:nvSpPr>
          <p:cNvPr id="64514" name="Rectangle 3">
            <a:extLst>
              <a:ext uri="{FF2B5EF4-FFF2-40B4-BE49-F238E27FC236}">
                <a16:creationId xmlns:a16="http://schemas.microsoft.com/office/drawing/2014/main" id="{2CA731C1-AFC3-3149-AF19-EA5A978F0CB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EMRs operate in a variety of settings.</a:t>
            </a:r>
          </a:p>
          <a:p>
            <a:pPr lvl="1" eaLnBrk="1" hangingPunct="1">
              <a:spcBef>
                <a:spcPct val="35000"/>
              </a:spcBef>
            </a:pPr>
            <a:r>
              <a:rPr lang="en-US" altLang="en-US"/>
              <a:t>Urban areas may differ sharply from rural settings.</a:t>
            </a:r>
          </a:p>
          <a:p>
            <a:pPr lvl="1" eaLnBrk="1" hangingPunct="1">
              <a:spcBef>
                <a:spcPct val="35000"/>
              </a:spcBef>
            </a:pPr>
            <a:r>
              <a:rPr lang="en-US" altLang="en-US"/>
              <a:t>Regional variations in climate require you to use different skills and equipment in treating patients.</a:t>
            </a:r>
          </a:p>
          <a:p>
            <a:pPr lvl="1" eaLnBrk="1" hangingPunct="1">
              <a:spcBef>
                <a:spcPct val="35000"/>
              </a:spcBef>
            </a:pPr>
            <a:r>
              <a:rPr lang="en-US" altLang="en-US"/>
              <a:t>Supplemental skills may be required in your local EMS system.</a:t>
            </a:r>
          </a:p>
        </p:txBody>
      </p:sp>
    </p:spTree>
    <p:extLst>
      <p:ext uri="{BB962C8B-B14F-4D97-AF65-F5344CB8AC3E}">
        <p14:creationId xmlns:p14="http://schemas.microsoft.com/office/powerpoint/2010/main" val="366147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4F3686AC-D6E7-D54E-B9FD-30C83FAC6796}"/>
              </a:ext>
            </a:extLst>
          </p:cNvPr>
          <p:cNvSpPr>
            <a:spLocks noGrp="1" noChangeArrowheads="1"/>
          </p:cNvSpPr>
          <p:nvPr>
            <p:ph type="title"/>
          </p:nvPr>
        </p:nvSpPr>
        <p:spPr/>
        <p:txBody>
          <a:bodyPr/>
          <a:lstStyle/>
          <a:p>
            <a:pPr eaLnBrk="1" hangingPunct="1">
              <a:lnSpc>
                <a:spcPct val="85000"/>
              </a:lnSpc>
              <a:defRPr/>
            </a:pPr>
            <a:r>
              <a:rPr lang="en-US" dirty="0"/>
              <a:t>Roles and Responsibilities of EMR </a:t>
            </a:r>
            <a:r>
              <a:rPr lang="en-US" sz="2800" b="0" dirty="0"/>
              <a:t>(1 of 3)</a:t>
            </a:r>
          </a:p>
        </p:txBody>
      </p:sp>
      <p:sp>
        <p:nvSpPr>
          <p:cNvPr id="66562" name="Rectangle 3">
            <a:extLst>
              <a:ext uri="{FF2B5EF4-FFF2-40B4-BE49-F238E27FC236}">
                <a16:creationId xmlns:a16="http://schemas.microsoft.com/office/drawing/2014/main" id="{8C478887-AA40-1043-80F9-00F10E43AFD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Maintain your body in a healthy physical and mental condition. </a:t>
            </a:r>
          </a:p>
          <a:p>
            <a:pPr eaLnBrk="1" hangingPunct="1">
              <a:spcBef>
                <a:spcPct val="35000"/>
              </a:spcBef>
            </a:pPr>
            <a:r>
              <a:rPr lang="en-US" altLang="en-US"/>
              <a:t>Maintain equipment in a ready state.</a:t>
            </a:r>
          </a:p>
          <a:p>
            <a:pPr eaLnBrk="1" hangingPunct="1">
              <a:spcBef>
                <a:spcPct val="35000"/>
              </a:spcBef>
            </a:pPr>
            <a:r>
              <a:rPr lang="en-US" altLang="en-US"/>
              <a:t>Respond promptly and safely to the scene of an accident or sudden illness.</a:t>
            </a:r>
          </a:p>
          <a:p>
            <a:pPr eaLnBrk="1" hangingPunct="1">
              <a:spcBef>
                <a:spcPct val="35000"/>
              </a:spcBef>
            </a:pPr>
            <a:r>
              <a:rPr lang="en-US" altLang="en-US"/>
              <a:t>Ensure the scene is safe from hazards.</a:t>
            </a:r>
          </a:p>
          <a:p>
            <a:pPr eaLnBrk="1" hangingPunct="1">
              <a:spcBef>
                <a:spcPct val="35000"/>
              </a:spcBef>
            </a:pPr>
            <a:r>
              <a:rPr lang="en-US" altLang="en-US"/>
              <a:t>Protect yourself.</a:t>
            </a:r>
          </a:p>
          <a:p>
            <a:pPr eaLnBrk="1" hangingPunct="1">
              <a:spcBef>
                <a:spcPct val="35000"/>
              </a:spcBef>
            </a:pPr>
            <a:r>
              <a:rPr lang="en-US" altLang="en-US"/>
              <a:t>Protect the incident scene and patients from further harm.</a:t>
            </a:r>
          </a:p>
        </p:txBody>
      </p:sp>
    </p:spTree>
    <p:extLst>
      <p:ext uri="{BB962C8B-B14F-4D97-AF65-F5344CB8AC3E}">
        <p14:creationId xmlns:p14="http://schemas.microsoft.com/office/powerpoint/2010/main" val="180485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a:extLst>
              <a:ext uri="{FF2B5EF4-FFF2-40B4-BE49-F238E27FC236}">
                <a16:creationId xmlns:a16="http://schemas.microsoft.com/office/drawing/2014/main" id="{5F93ED24-D2C7-5042-9599-17F3AE79CE27}"/>
              </a:ext>
            </a:extLst>
          </p:cNvPr>
          <p:cNvSpPr>
            <a:spLocks noGrp="1" noChangeArrowheads="1"/>
          </p:cNvSpPr>
          <p:nvPr>
            <p:ph type="title"/>
          </p:nvPr>
        </p:nvSpPr>
        <p:spPr/>
        <p:txBody>
          <a:bodyPr/>
          <a:lstStyle/>
          <a:p>
            <a:pPr eaLnBrk="1" hangingPunct="1">
              <a:lnSpc>
                <a:spcPct val="85000"/>
              </a:lnSpc>
              <a:defRPr/>
            </a:pPr>
            <a:r>
              <a:rPr lang="en-US" dirty="0"/>
              <a:t>Roles and Responsibilities of EMR </a:t>
            </a:r>
            <a:r>
              <a:rPr lang="en-US" sz="2800" b="0" dirty="0"/>
              <a:t>(2 of 3)</a:t>
            </a:r>
          </a:p>
        </p:txBody>
      </p:sp>
      <p:sp>
        <p:nvSpPr>
          <p:cNvPr id="68610" name="Rectangle 3">
            <a:extLst>
              <a:ext uri="{FF2B5EF4-FFF2-40B4-BE49-F238E27FC236}">
                <a16:creationId xmlns:a16="http://schemas.microsoft.com/office/drawing/2014/main" id="{2A839A91-F0E7-2040-B7FB-37CA4790E58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Summon appropriate assistance.</a:t>
            </a:r>
          </a:p>
          <a:p>
            <a:pPr eaLnBrk="1" hangingPunct="1">
              <a:spcBef>
                <a:spcPct val="35000"/>
              </a:spcBef>
            </a:pPr>
            <a:r>
              <a:rPr lang="en-US" altLang="en-US"/>
              <a:t>Gain access to patients.</a:t>
            </a:r>
          </a:p>
          <a:p>
            <a:pPr eaLnBrk="1" hangingPunct="1">
              <a:spcBef>
                <a:spcPct val="35000"/>
              </a:spcBef>
            </a:pPr>
            <a:r>
              <a:rPr lang="en-US" altLang="en-US"/>
              <a:t>Perform patient assessment.</a:t>
            </a:r>
          </a:p>
          <a:p>
            <a:pPr eaLnBrk="1" hangingPunct="1">
              <a:spcBef>
                <a:spcPct val="35000"/>
              </a:spcBef>
            </a:pPr>
            <a:r>
              <a:rPr lang="en-US" altLang="en-US"/>
              <a:t>Administer emergency medical care.</a:t>
            </a:r>
          </a:p>
          <a:p>
            <a:pPr eaLnBrk="1" hangingPunct="1">
              <a:spcBef>
                <a:spcPct val="35000"/>
              </a:spcBef>
            </a:pPr>
            <a:r>
              <a:rPr lang="en-US" altLang="en-US"/>
              <a:t>Provide reassurance to patients and family members.</a:t>
            </a:r>
          </a:p>
          <a:p>
            <a:pPr eaLnBrk="1" hangingPunct="1">
              <a:spcBef>
                <a:spcPct val="35000"/>
              </a:spcBef>
            </a:pPr>
            <a:r>
              <a:rPr lang="en-US" altLang="en-US"/>
              <a:t>Move patients only when necessary.</a:t>
            </a:r>
          </a:p>
        </p:txBody>
      </p:sp>
    </p:spTree>
    <p:extLst>
      <p:ext uri="{BB962C8B-B14F-4D97-AF65-F5344CB8AC3E}">
        <p14:creationId xmlns:p14="http://schemas.microsoft.com/office/powerpoint/2010/main" val="4084986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1AE2175B-B43A-9346-8977-5369E287F510}"/>
              </a:ext>
            </a:extLst>
          </p:cNvPr>
          <p:cNvSpPr>
            <a:spLocks noGrp="1" noChangeArrowheads="1"/>
          </p:cNvSpPr>
          <p:nvPr>
            <p:ph type="title"/>
          </p:nvPr>
        </p:nvSpPr>
        <p:spPr/>
        <p:txBody>
          <a:bodyPr/>
          <a:lstStyle/>
          <a:p>
            <a:pPr eaLnBrk="1" hangingPunct="1">
              <a:lnSpc>
                <a:spcPct val="85000"/>
              </a:lnSpc>
              <a:defRPr/>
            </a:pPr>
            <a:r>
              <a:rPr lang="en-US" dirty="0"/>
              <a:t>Roles and Responsibilities of EMR </a:t>
            </a:r>
            <a:r>
              <a:rPr lang="en-US" sz="2800" b="0" dirty="0"/>
              <a:t>(3 of 3)</a:t>
            </a:r>
          </a:p>
        </p:txBody>
      </p:sp>
      <p:sp>
        <p:nvSpPr>
          <p:cNvPr id="70658" name="Rectangle 3">
            <a:extLst>
              <a:ext uri="{FF2B5EF4-FFF2-40B4-BE49-F238E27FC236}">
                <a16:creationId xmlns:a16="http://schemas.microsoft.com/office/drawing/2014/main" id="{60A978D1-644E-E94A-AE5C-720FF442C3C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Seek and then direct help from bystanders, if necessary.</a:t>
            </a:r>
          </a:p>
          <a:p>
            <a:pPr eaLnBrk="1" hangingPunct="1">
              <a:spcBef>
                <a:spcPct val="35000"/>
              </a:spcBef>
            </a:pPr>
            <a:r>
              <a:rPr lang="en-US" altLang="en-US"/>
              <a:t>Control activities of bystanders.</a:t>
            </a:r>
          </a:p>
          <a:p>
            <a:pPr eaLnBrk="1" hangingPunct="1">
              <a:spcBef>
                <a:spcPct val="35000"/>
              </a:spcBef>
            </a:pPr>
            <a:r>
              <a:rPr lang="en-US" altLang="en-US"/>
              <a:t>Assist EMTs and paramedics, as necessary.</a:t>
            </a:r>
          </a:p>
          <a:p>
            <a:pPr eaLnBrk="1" hangingPunct="1">
              <a:spcBef>
                <a:spcPct val="35000"/>
              </a:spcBef>
            </a:pPr>
            <a:r>
              <a:rPr lang="en-US" altLang="en-US"/>
              <a:t>Maintain continuity of patient care.</a:t>
            </a:r>
          </a:p>
          <a:p>
            <a:pPr eaLnBrk="1" hangingPunct="1">
              <a:spcBef>
                <a:spcPct val="35000"/>
              </a:spcBef>
            </a:pPr>
            <a:r>
              <a:rPr lang="en-US" altLang="en-US"/>
              <a:t>Document your care.</a:t>
            </a:r>
          </a:p>
          <a:p>
            <a:pPr eaLnBrk="1" hangingPunct="1">
              <a:spcBef>
                <a:spcPct val="35000"/>
              </a:spcBef>
            </a:pPr>
            <a:r>
              <a:rPr lang="en-US" altLang="en-US"/>
              <a:t>Keep your knowledge and skills up to date.</a:t>
            </a:r>
          </a:p>
        </p:txBody>
      </p:sp>
    </p:spTree>
    <p:extLst>
      <p:ext uri="{BB962C8B-B14F-4D97-AF65-F5344CB8AC3E}">
        <p14:creationId xmlns:p14="http://schemas.microsoft.com/office/powerpoint/2010/main" val="83396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0226B738-8A4D-724A-BC71-C7C17C0FE2AA}"/>
              </a:ext>
            </a:extLst>
          </p:cNvPr>
          <p:cNvSpPr>
            <a:spLocks noGrp="1" noChangeArrowheads="1"/>
          </p:cNvSpPr>
          <p:nvPr>
            <p:ph type="title"/>
          </p:nvPr>
        </p:nvSpPr>
        <p:spPr/>
        <p:txBody>
          <a:bodyPr/>
          <a:lstStyle/>
          <a:p>
            <a:pPr eaLnBrk="1" hangingPunct="1">
              <a:lnSpc>
                <a:spcPct val="85000"/>
              </a:lnSpc>
              <a:defRPr/>
            </a:pPr>
            <a:r>
              <a:rPr lang="en-US" dirty="0"/>
              <a:t>Importance of Documentation </a:t>
            </a:r>
            <a:r>
              <a:rPr lang="en-US" sz="2800" b="0" dirty="0"/>
              <a:t>(1 of 2)</a:t>
            </a:r>
          </a:p>
        </p:txBody>
      </p:sp>
      <p:sp>
        <p:nvSpPr>
          <p:cNvPr id="72706" name="Rectangle 3">
            <a:extLst>
              <a:ext uri="{FF2B5EF4-FFF2-40B4-BE49-F238E27FC236}">
                <a16:creationId xmlns:a16="http://schemas.microsoft.com/office/drawing/2014/main" id="{D9186EFE-4989-1345-8914-CD4FA3A09E0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Documentation should be clear, concise, accurate, and in according with accepted policies of your organization.</a:t>
            </a:r>
          </a:p>
          <a:p>
            <a:pPr eaLnBrk="1" hangingPunct="1">
              <a:spcBef>
                <a:spcPct val="35000"/>
              </a:spcBef>
            </a:pPr>
            <a:r>
              <a:rPr lang="en-US" altLang="en-US" dirty="0"/>
              <a:t>Provides a basis to evaluate quality of care given.</a:t>
            </a:r>
          </a:p>
        </p:txBody>
      </p:sp>
    </p:spTree>
    <p:extLst>
      <p:ext uri="{BB962C8B-B14F-4D97-AF65-F5344CB8AC3E}">
        <p14:creationId xmlns:p14="http://schemas.microsoft.com/office/powerpoint/2010/main" val="343355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34E8C179-359E-EA44-91CF-6B1EF3D5FADA}"/>
              </a:ext>
            </a:extLst>
          </p:cNvPr>
          <p:cNvSpPr>
            <a:spLocks noGrp="1" noChangeArrowheads="1"/>
          </p:cNvSpPr>
          <p:nvPr>
            <p:ph type="title"/>
          </p:nvPr>
        </p:nvSpPr>
        <p:spPr/>
        <p:txBody>
          <a:bodyPr/>
          <a:lstStyle/>
          <a:p>
            <a:pPr eaLnBrk="1" hangingPunct="1">
              <a:lnSpc>
                <a:spcPct val="85000"/>
              </a:lnSpc>
              <a:defRPr/>
            </a:pPr>
            <a:r>
              <a:rPr lang="en-US" dirty="0"/>
              <a:t> Importance of Documentation </a:t>
            </a:r>
            <a:r>
              <a:rPr lang="en-US" sz="2800" b="0" dirty="0"/>
              <a:t>(2 of 2)</a:t>
            </a:r>
          </a:p>
        </p:txBody>
      </p:sp>
      <p:sp>
        <p:nvSpPr>
          <p:cNvPr id="74754" name="Rectangle 3">
            <a:extLst>
              <a:ext uri="{FF2B5EF4-FFF2-40B4-BE49-F238E27FC236}">
                <a16:creationId xmlns:a16="http://schemas.microsoft.com/office/drawing/2014/main" id="{C1A6AF0D-D655-E843-97BC-5021573BBD7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Documentation should include:</a:t>
            </a:r>
          </a:p>
          <a:p>
            <a:pPr lvl="1" eaLnBrk="1" hangingPunct="1">
              <a:spcBef>
                <a:spcPct val="35000"/>
              </a:spcBef>
            </a:pPr>
            <a:r>
              <a:rPr lang="en-US" altLang="en-US" dirty="0"/>
              <a:t>Condition of the patient when found</a:t>
            </a:r>
          </a:p>
          <a:p>
            <a:pPr lvl="1" eaLnBrk="1" hangingPunct="1">
              <a:spcBef>
                <a:spcPct val="35000"/>
              </a:spcBef>
            </a:pPr>
            <a:r>
              <a:rPr lang="en-US" altLang="en-US" dirty="0"/>
              <a:t>Patient’s description of injury/illness</a:t>
            </a:r>
          </a:p>
          <a:p>
            <a:pPr lvl="1" eaLnBrk="1" hangingPunct="1">
              <a:spcBef>
                <a:spcPct val="35000"/>
              </a:spcBef>
            </a:pPr>
            <a:r>
              <a:rPr lang="en-US" altLang="en-US" dirty="0"/>
              <a:t>Initial and later vital signs</a:t>
            </a:r>
          </a:p>
          <a:p>
            <a:pPr lvl="1" eaLnBrk="1" hangingPunct="1">
              <a:spcBef>
                <a:spcPct val="35000"/>
              </a:spcBef>
            </a:pPr>
            <a:r>
              <a:rPr lang="en-US" altLang="en-US" dirty="0"/>
              <a:t>Treatment you gave patient</a:t>
            </a:r>
          </a:p>
          <a:p>
            <a:pPr lvl="1" eaLnBrk="1" hangingPunct="1">
              <a:spcBef>
                <a:spcPct val="35000"/>
              </a:spcBef>
            </a:pPr>
            <a:r>
              <a:rPr lang="en-US" altLang="en-US" dirty="0"/>
              <a:t>Agency and personnel who took over patient treatment</a:t>
            </a:r>
          </a:p>
          <a:p>
            <a:pPr lvl="1" eaLnBrk="1" hangingPunct="1">
              <a:spcBef>
                <a:spcPct val="35000"/>
              </a:spcBef>
            </a:pPr>
            <a:r>
              <a:rPr lang="en-US" altLang="en-US" dirty="0"/>
              <a:t>Any other helpful facts</a:t>
            </a:r>
          </a:p>
        </p:txBody>
      </p:sp>
    </p:spTree>
    <p:extLst>
      <p:ext uri="{BB962C8B-B14F-4D97-AF65-F5344CB8AC3E}">
        <p14:creationId xmlns:p14="http://schemas.microsoft.com/office/powerpoint/2010/main" val="1024790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a:extLst>
              <a:ext uri="{FF2B5EF4-FFF2-40B4-BE49-F238E27FC236}">
                <a16:creationId xmlns:a16="http://schemas.microsoft.com/office/drawing/2014/main" id="{A4B8BBF0-C72A-4F42-BA65-C4558FCB517F}"/>
              </a:ext>
            </a:extLst>
          </p:cNvPr>
          <p:cNvSpPr>
            <a:spLocks noGrp="1" noChangeArrowheads="1"/>
          </p:cNvSpPr>
          <p:nvPr>
            <p:ph type="title"/>
          </p:nvPr>
        </p:nvSpPr>
        <p:spPr/>
        <p:txBody>
          <a:bodyPr/>
          <a:lstStyle/>
          <a:p>
            <a:pPr eaLnBrk="1" hangingPunct="1">
              <a:lnSpc>
                <a:spcPct val="85000"/>
              </a:lnSpc>
              <a:defRPr/>
            </a:pPr>
            <a:r>
              <a:rPr lang="en-US" dirty="0"/>
              <a:t>Attitude and Conduct </a:t>
            </a:r>
            <a:r>
              <a:rPr lang="en-US" sz="2800" b="0" dirty="0"/>
              <a:t>(1 of 2)</a:t>
            </a:r>
          </a:p>
        </p:txBody>
      </p:sp>
      <p:sp>
        <p:nvSpPr>
          <p:cNvPr id="76802" name="Rectangle 3">
            <a:extLst>
              <a:ext uri="{FF2B5EF4-FFF2-40B4-BE49-F238E27FC236}">
                <a16:creationId xmlns:a16="http://schemas.microsoft.com/office/drawing/2014/main" id="{B2665EF8-0664-D447-9CE1-63C994012F0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To be a good EMR, you need to reflect certain characteristics.</a:t>
            </a:r>
          </a:p>
          <a:p>
            <a:pPr lvl="1" eaLnBrk="1" hangingPunct="1">
              <a:spcBef>
                <a:spcPct val="35000"/>
              </a:spcBef>
            </a:pPr>
            <a:r>
              <a:rPr lang="en-US" altLang="en-US"/>
              <a:t>Be honest and conduct yourself with integrity.</a:t>
            </a:r>
          </a:p>
          <a:p>
            <a:pPr lvl="1" eaLnBrk="1" hangingPunct="1">
              <a:spcBef>
                <a:spcPct val="35000"/>
              </a:spcBef>
            </a:pPr>
            <a:r>
              <a:rPr lang="en-US" altLang="en-US"/>
              <a:t>Be aware of patients’</a:t>
            </a:r>
            <a:r>
              <a:rPr lang="en-US" altLang="ja-JP">
                <a:solidFill>
                  <a:srgbClr val="FF0000"/>
                </a:solidFill>
              </a:rPr>
              <a:t> </a:t>
            </a:r>
            <a:r>
              <a:rPr lang="en-US" altLang="ja-JP"/>
              <a:t>feelings and have empathy for your patients.</a:t>
            </a:r>
          </a:p>
          <a:p>
            <a:pPr lvl="1" eaLnBrk="1" hangingPunct="1">
              <a:spcBef>
                <a:spcPct val="35000"/>
              </a:spcBef>
            </a:pPr>
            <a:r>
              <a:rPr lang="en-US" altLang="en-US"/>
              <a:t>Be motivated to get the job done and to understand the limits of your training/skills.</a:t>
            </a:r>
          </a:p>
          <a:p>
            <a:pPr lvl="1" eaLnBrk="1" hangingPunct="1">
              <a:spcBef>
                <a:spcPct val="35000"/>
              </a:spcBef>
            </a:pPr>
            <a:r>
              <a:rPr lang="en-US" altLang="en-US"/>
              <a:t>Be an advocate for your patients.</a:t>
            </a:r>
          </a:p>
        </p:txBody>
      </p:sp>
    </p:spTree>
    <p:extLst>
      <p:ext uri="{BB962C8B-B14F-4D97-AF65-F5344CB8AC3E}">
        <p14:creationId xmlns:p14="http://schemas.microsoft.com/office/powerpoint/2010/main" val="3543375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a:extLst>
              <a:ext uri="{FF2B5EF4-FFF2-40B4-BE49-F238E27FC236}">
                <a16:creationId xmlns:a16="http://schemas.microsoft.com/office/drawing/2014/main" id="{0ADFC569-99E8-F040-A893-AC5C3F6D1DEE}"/>
              </a:ext>
            </a:extLst>
          </p:cNvPr>
          <p:cNvSpPr>
            <a:spLocks noGrp="1" noChangeArrowheads="1"/>
          </p:cNvSpPr>
          <p:nvPr>
            <p:ph type="title"/>
          </p:nvPr>
        </p:nvSpPr>
        <p:spPr/>
        <p:txBody>
          <a:bodyPr/>
          <a:lstStyle/>
          <a:p>
            <a:pPr eaLnBrk="1" hangingPunct="1">
              <a:lnSpc>
                <a:spcPct val="85000"/>
              </a:lnSpc>
              <a:defRPr/>
            </a:pPr>
            <a:r>
              <a:rPr lang="en-US" dirty="0"/>
              <a:t>Attitude and Conduct </a:t>
            </a:r>
            <a:r>
              <a:rPr lang="en-US" sz="2800" b="0" dirty="0"/>
              <a:t>(2 of 2)</a:t>
            </a:r>
          </a:p>
        </p:txBody>
      </p:sp>
      <p:sp>
        <p:nvSpPr>
          <p:cNvPr id="78850" name="Rectangle 3">
            <a:extLst>
              <a:ext uri="{FF2B5EF4-FFF2-40B4-BE49-F238E27FC236}">
                <a16:creationId xmlns:a16="http://schemas.microsoft.com/office/drawing/2014/main" id="{FC07DC50-BE21-FE4C-8D72-1E538C2FAE0D}"/>
              </a:ext>
            </a:extLst>
          </p:cNvPr>
          <p:cNvSpPr>
            <a:spLocks noGrp="1" noChangeArrowheads="1"/>
          </p:cNvSpPr>
          <p:nvPr>
            <p:ph type="body" idx="1"/>
          </p:nvPr>
        </p:nvSpPr>
        <p:spPr>
          <a:xfrm>
            <a:off x="6095999" y="1447800"/>
            <a:ext cx="5357793"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Your appearance should be neat and professional at all times.</a:t>
            </a:r>
          </a:p>
        </p:txBody>
      </p:sp>
      <p:sp>
        <p:nvSpPr>
          <p:cNvPr id="7" name="Rectangle 6"/>
          <p:cNvSpPr/>
          <p:nvPr/>
        </p:nvSpPr>
        <p:spPr>
          <a:xfrm>
            <a:off x="674796" y="4856692"/>
            <a:ext cx="4925908" cy="646331"/>
          </a:xfrm>
          <a:prstGeom prst="rect">
            <a:avLst/>
          </a:prstGeom>
        </p:spPr>
        <p:txBody>
          <a:bodyPr wrap="square">
            <a:spAutoFit/>
          </a:bodyPr>
          <a:lstStyle/>
          <a:p>
            <a:r>
              <a:rPr lang="en-US" b="1" dirty="0"/>
              <a:t>Figure 1-11 </a:t>
            </a:r>
            <a:r>
              <a:rPr lang="en-US" dirty="0"/>
              <a:t>A professional attitude and neat appearance reassure patients. </a:t>
            </a:r>
          </a:p>
        </p:txBody>
      </p:sp>
      <p:sp>
        <p:nvSpPr>
          <p:cNvPr id="8" name="Rectangle 7"/>
          <p:cNvSpPr/>
          <p:nvPr/>
        </p:nvSpPr>
        <p:spPr>
          <a:xfrm>
            <a:off x="674796" y="5488657"/>
            <a:ext cx="4456008" cy="246221"/>
          </a:xfrm>
          <a:prstGeom prst="rect">
            <a:avLst/>
          </a:prstGeom>
        </p:spPr>
        <p:txBody>
          <a:bodyPr wrap="square">
            <a:spAutoFit/>
          </a:bodyPr>
          <a:lstStyle/>
          <a:p>
            <a:r>
              <a:rPr lang="en-US" sz="1000" dirty="0"/>
              <a:t>© REUTERS/Stefan Jeremiah </a:t>
            </a:r>
          </a:p>
        </p:txBody>
      </p:sp>
      <p:pic>
        <p:nvPicPr>
          <p:cNvPr id="8194" name="Picture 2" descr="A photo shows a man in an outdoor location wearing a uniform and carrying a red emergency airbag and other equipment like a gas cylinder, etc. He wears a protective mask and glove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74" y="1596739"/>
            <a:ext cx="4867274" cy="3252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579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a:extLst>
              <a:ext uri="{FF2B5EF4-FFF2-40B4-BE49-F238E27FC236}">
                <a16:creationId xmlns:a16="http://schemas.microsoft.com/office/drawing/2014/main" id="{B1034565-BFD3-354D-B607-E90C1E1EF98F}"/>
              </a:ext>
            </a:extLst>
          </p:cNvPr>
          <p:cNvSpPr>
            <a:spLocks noGrp="1" noChangeArrowheads="1"/>
          </p:cNvSpPr>
          <p:nvPr>
            <p:ph type="title"/>
          </p:nvPr>
        </p:nvSpPr>
        <p:spPr/>
        <p:txBody>
          <a:bodyPr/>
          <a:lstStyle/>
          <a:p>
            <a:pPr eaLnBrk="1" hangingPunct="1">
              <a:lnSpc>
                <a:spcPct val="85000"/>
              </a:lnSpc>
              <a:defRPr/>
            </a:pPr>
            <a:r>
              <a:rPr lang="en-US" dirty="0"/>
              <a:t>Medical Oversight </a:t>
            </a:r>
            <a:r>
              <a:rPr lang="en-US" sz="2800" b="0" dirty="0"/>
              <a:t>(1 of 2)</a:t>
            </a:r>
          </a:p>
        </p:txBody>
      </p:sp>
      <p:sp>
        <p:nvSpPr>
          <p:cNvPr id="80898" name="Rectangle 3">
            <a:extLst>
              <a:ext uri="{FF2B5EF4-FFF2-40B4-BE49-F238E27FC236}">
                <a16:creationId xmlns:a16="http://schemas.microsoft.com/office/drawing/2014/main" id="{48E642F5-16C3-1A47-ACBF-0337D63B1BF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Physician or medical director is overall leader of medical care team.</a:t>
            </a:r>
          </a:p>
          <a:p>
            <a:pPr eaLnBrk="1" hangingPunct="1">
              <a:spcBef>
                <a:spcPct val="35000"/>
              </a:spcBef>
            </a:pPr>
            <a:r>
              <a:rPr lang="en-US" altLang="en-US" dirty="0"/>
              <a:t>As indirect or off-line medical control, the physician: </a:t>
            </a:r>
          </a:p>
          <a:p>
            <a:pPr lvl="1" eaLnBrk="1" hangingPunct="1">
              <a:spcBef>
                <a:spcPct val="35000"/>
              </a:spcBef>
            </a:pPr>
            <a:r>
              <a:rPr lang="en-US" altLang="en-US" dirty="0"/>
              <a:t>Directs training courses</a:t>
            </a:r>
          </a:p>
          <a:p>
            <a:pPr lvl="1" eaLnBrk="1" hangingPunct="1">
              <a:spcBef>
                <a:spcPct val="35000"/>
              </a:spcBef>
            </a:pPr>
            <a:r>
              <a:rPr lang="en-US" altLang="en-US" dirty="0"/>
              <a:t>Helps set medical policies and procedures</a:t>
            </a:r>
          </a:p>
          <a:p>
            <a:pPr lvl="1" eaLnBrk="1" hangingPunct="1">
              <a:spcBef>
                <a:spcPct val="35000"/>
              </a:spcBef>
            </a:pPr>
            <a:r>
              <a:rPr lang="en-US" altLang="en-US" dirty="0"/>
              <a:t>Ensures quality management of EMS system</a:t>
            </a:r>
          </a:p>
        </p:txBody>
      </p:sp>
    </p:spTree>
    <p:extLst>
      <p:ext uri="{BB962C8B-B14F-4D97-AF65-F5344CB8AC3E}">
        <p14:creationId xmlns:p14="http://schemas.microsoft.com/office/powerpoint/2010/main" val="65652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a:extLst>
              <a:ext uri="{FF2B5EF4-FFF2-40B4-BE49-F238E27FC236}">
                <a16:creationId xmlns:a16="http://schemas.microsoft.com/office/drawing/2014/main" id="{CF12FA41-95BC-2A49-873E-F14BE75D6E4A}"/>
              </a:ext>
            </a:extLst>
          </p:cNvPr>
          <p:cNvSpPr>
            <a:spLocks noGrp="1" noChangeArrowheads="1"/>
          </p:cNvSpPr>
          <p:nvPr>
            <p:ph type="title"/>
          </p:nvPr>
        </p:nvSpPr>
        <p:spPr/>
        <p:txBody>
          <a:bodyPr/>
          <a:lstStyle/>
          <a:p>
            <a:pPr eaLnBrk="1" hangingPunct="1">
              <a:lnSpc>
                <a:spcPct val="85000"/>
              </a:lnSpc>
              <a:defRPr/>
            </a:pPr>
            <a:r>
              <a:rPr lang="en-US" dirty="0"/>
              <a:t>Medical Oversight </a:t>
            </a:r>
            <a:r>
              <a:rPr lang="en-US" sz="2800" b="0" dirty="0"/>
              <a:t>(2 of 2)</a:t>
            </a:r>
          </a:p>
        </p:txBody>
      </p:sp>
      <p:sp>
        <p:nvSpPr>
          <p:cNvPr id="82946" name="Rectangle 3">
            <a:extLst>
              <a:ext uri="{FF2B5EF4-FFF2-40B4-BE49-F238E27FC236}">
                <a16:creationId xmlns:a16="http://schemas.microsoft.com/office/drawing/2014/main" id="{D34EC744-C503-C048-BCBA-34F06EBB3E0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Online medical control is provided by a physician who is in contact with prehospital EMS providers by two-way radio or wireless (cell) phone.</a:t>
            </a:r>
          </a:p>
        </p:txBody>
      </p:sp>
    </p:spTree>
    <p:extLst>
      <p:ext uri="{BB962C8B-B14F-4D97-AF65-F5344CB8AC3E}">
        <p14:creationId xmlns:p14="http://schemas.microsoft.com/office/powerpoint/2010/main" val="3952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a:extLst>
              <a:ext uri="{FF2B5EF4-FFF2-40B4-BE49-F238E27FC236}">
                <a16:creationId xmlns:a16="http://schemas.microsoft.com/office/drawing/2014/main" id="{C55EF547-E03F-0646-B5A8-C17B44E7FB5C}"/>
              </a:ext>
            </a:extLst>
          </p:cNvPr>
          <p:cNvSpPr>
            <a:spLocks noGrp="1" noChangeArrowheads="1"/>
          </p:cNvSpPr>
          <p:nvPr>
            <p:ph type="title"/>
          </p:nvPr>
        </p:nvSpPr>
        <p:spPr/>
        <p:txBody>
          <a:bodyPr/>
          <a:lstStyle/>
          <a:p>
            <a:pPr eaLnBrk="1" hangingPunct="1">
              <a:lnSpc>
                <a:spcPct val="85000"/>
              </a:lnSpc>
              <a:defRPr/>
            </a:pPr>
            <a:r>
              <a:rPr lang="en-US" dirty="0"/>
              <a:t>Quality Improvement </a:t>
            </a:r>
            <a:r>
              <a:rPr lang="en-US" sz="2800" b="0" dirty="0"/>
              <a:t>(1 of 3)</a:t>
            </a:r>
          </a:p>
        </p:txBody>
      </p:sp>
      <p:sp>
        <p:nvSpPr>
          <p:cNvPr id="84994" name="Rectangle 3">
            <a:extLst>
              <a:ext uri="{FF2B5EF4-FFF2-40B4-BE49-F238E27FC236}">
                <a16:creationId xmlns:a16="http://schemas.microsoft.com/office/drawing/2014/main" id="{17D49C06-B2BC-7D4A-A3D7-C8351C263C1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Process used by medical care systems to evaluate effectiveness and safety of current treatments and procedures</a:t>
            </a:r>
          </a:p>
          <a:p>
            <a:pPr eaLnBrk="1" hangingPunct="1">
              <a:spcBef>
                <a:spcPct val="35000"/>
              </a:spcBef>
            </a:pPr>
            <a:r>
              <a:rPr lang="en-US" altLang="en-US" dirty="0"/>
              <a:t>Six components:</a:t>
            </a:r>
          </a:p>
          <a:p>
            <a:pPr lvl="1" eaLnBrk="1" hangingPunct="1">
              <a:spcBef>
                <a:spcPct val="35000"/>
              </a:spcBef>
            </a:pPr>
            <a:r>
              <a:rPr lang="en-US" altLang="en-US" dirty="0"/>
              <a:t>Safety: Actions of EMRs must not cause harm to patients, bystanders, or EMS providers.</a:t>
            </a:r>
          </a:p>
        </p:txBody>
      </p:sp>
    </p:spTree>
    <p:extLst>
      <p:ext uri="{BB962C8B-B14F-4D97-AF65-F5344CB8AC3E}">
        <p14:creationId xmlns:p14="http://schemas.microsoft.com/office/powerpoint/2010/main" val="28668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a:extLst>
              <a:ext uri="{FF2B5EF4-FFF2-40B4-BE49-F238E27FC236}">
                <a16:creationId xmlns:a16="http://schemas.microsoft.com/office/drawing/2014/main" id="{4D230BDA-0E4B-FE4B-BFE5-34CD745A313C}"/>
              </a:ext>
            </a:extLst>
          </p:cNvPr>
          <p:cNvSpPr>
            <a:spLocks noGrp="1" noChangeArrowheads="1"/>
          </p:cNvSpPr>
          <p:nvPr>
            <p:ph type="title"/>
          </p:nvPr>
        </p:nvSpPr>
        <p:spPr/>
        <p:txBody>
          <a:bodyPr/>
          <a:lstStyle/>
          <a:p>
            <a:pPr eaLnBrk="1" hangingPunct="1">
              <a:lnSpc>
                <a:spcPct val="85000"/>
              </a:lnSpc>
              <a:defRPr/>
            </a:pPr>
            <a:r>
              <a:rPr lang="en-US" dirty="0"/>
              <a:t>Quality Improvement </a:t>
            </a:r>
            <a:r>
              <a:rPr lang="en-US" sz="2800" b="0" dirty="0"/>
              <a:t>(2 of 3)</a:t>
            </a:r>
          </a:p>
        </p:txBody>
      </p:sp>
      <p:sp>
        <p:nvSpPr>
          <p:cNvPr id="87042" name="Rectangle 3">
            <a:extLst>
              <a:ext uri="{FF2B5EF4-FFF2-40B4-BE49-F238E27FC236}">
                <a16:creationId xmlns:a16="http://schemas.microsoft.com/office/drawing/2014/main" id="{671F6DEB-EE82-3046-B73E-7A941BED9E8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Six components (cont’d):</a:t>
            </a:r>
          </a:p>
          <a:p>
            <a:pPr lvl="1" eaLnBrk="1" hangingPunct="1">
              <a:spcBef>
                <a:spcPct val="35000"/>
              </a:spcBef>
            </a:pPr>
            <a:r>
              <a:rPr lang="en-US" altLang="en-US" dirty="0"/>
              <a:t>Effectiveness: EMR care should be based on scientific knowledge and provide  desired benefit to the patient.</a:t>
            </a:r>
          </a:p>
          <a:p>
            <a:pPr lvl="1" eaLnBrk="1" hangingPunct="1">
              <a:spcBef>
                <a:spcPct val="35000"/>
              </a:spcBef>
            </a:pPr>
            <a:r>
              <a:rPr lang="en-US" altLang="en-US" dirty="0"/>
              <a:t>Patient-centeredness: Be responsive to patient’s physical needs as well as his or her values, religion, and heritage.</a:t>
            </a:r>
          </a:p>
          <a:p>
            <a:pPr lvl="1" eaLnBrk="1" hangingPunct="1">
              <a:spcBef>
                <a:spcPct val="35000"/>
              </a:spcBef>
            </a:pPr>
            <a:r>
              <a:rPr lang="en-US" altLang="en-US" dirty="0"/>
              <a:t>Timeliness: Provide care in a timely manner.</a:t>
            </a:r>
          </a:p>
        </p:txBody>
      </p:sp>
    </p:spTree>
    <p:extLst>
      <p:ext uri="{BB962C8B-B14F-4D97-AF65-F5344CB8AC3E}">
        <p14:creationId xmlns:p14="http://schemas.microsoft.com/office/powerpoint/2010/main" val="928806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a:extLst>
              <a:ext uri="{FF2B5EF4-FFF2-40B4-BE49-F238E27FC236}">
                <a16:creationId xmlns:a16="http://schemas.microsoft.com/office/drawing/2014/main" id="{9FD6C226-B21A-7C4B-9739-5CBF07715606}"/>
              </a:ext>
            </a:extLst>
          </p:cNvPr>
          <p:cNvSpPr>
            <a:spLocks noGrp="1" noChangeArrowheads="1"/>
          </p:cNvSpPr>
          <p:nvPr>
            <p:ph type="title"/>
          </p:nvPr>
        </p:nvSpPr>
        <p:spPr/>
        <p:txBody>
          <a:bodyPr/>
          <a:lstStyle/>
          <a:p>
            <a:pPr eaLnBrk="1" hangingPunct="1">
              <a:lnSpc>
                <a:spcPct val="85000"/>
              </a:lnSpc>
              <a:defRPr/>
            </a:pPr>
            <a:r>
              <a:rPr lang="en-US" dirty="0"/>
              <a:t>Quality Improvement </a:t>
            </a:r>
            <a:r>
              <a:rPr lang="en-US" sz="2800" b="0" dirty="0"/>
              <a:t>(3 of 3)</a:t>
            </a:r>
          </a:p>
        </p:txBody>
      </p:sp>
      <p:sp>
        <p:nvSpPr>
          <p:cNvPr id="89090" name="Rectangle 3">
            <a:extLst>
              <a:ext uri="{FF2B5EF4-FFF2-40B4-BE49-F238E27FC236}">
                <a16:creationId xmlns:a16="http://schemas.microsoft.com/office/drawing/2014/main" id="{756A4ABF-386D-A842-B566-E77EF9000CA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Six components (cont’d):</a:t>
            </a:r>
          </a:p>
          <a:p>
            <a:pPr lvl="1" eaLnBrk="1" hangingPunct="1">
              <a:spcBef>
                <a:spcPct val="35000"/>
              </a:spcBef>
            </a:pPr>
            <a:r>
              <a:rPr lang="en-US" altLang="en-US" dirty="0"/>
              <a:t>Efficiency: Always strive to deliver care without wasting supplies, equipment, or time.</a:t>
            </a:r>
          </a:p>
          <a:p>
            <a:pPr lvl="1" eaLnBrk="1" hangingPunct="1">
              <a:spcBef>
                <a:spcPct val="35000"/>
              </a:spcBef>
            </a:pPr>
            <a:r>
              <a:rPr lang="en-US" altLang="en-US" dirty="0"/>
              <a:t>Equitability: Patient care should not vary between people of different genders, sexual orientations, ethnic backgrounds, geographic locations, or socioeconomic levels.</a:t>
            </a:r>
          </a:p>
        </p:txBody>
      </p:sp>
    </p:spTree>
    <p:extLst>
      <p:ext uri="{BB962C8B-B14F-4D97-AF65-F5344CB8AC3E}">
        <p14:creationId xmlns:p14="http://schemas.microsoft.com/office/powerpoint/2010/main" val="426468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a:extLst>
              <a:ext uri="{FF2B5EF4-FFF2-40B4-BE49-F238E27FC236}">
                <a16:creationId xmlns:a16="http://schemas.microsoft.com/office/drawing/2014/main" id="{91913161-A074-C340-9307-2C0B0E17A5CE}"/>
              </a:ext>
            </a:extLst>
          </p:cNvPr>
          <p:cNvSpPr>
            <a:spLocks noGrp="1" noChangeArrowheads="1"/>
          </p:cNvSpPr>
          <p:nvPr>
            <p:ph type="title"/>
          </p:nvPr>
        </p:nvSpPr>
        <p:spPr/>
        <p:txBody>
          <a:bodyPr/>
          <a:lstStyle/>
          <a:p>
            <a:pPr eaLnBrk="1" hangingPunct="1">
              <a:lnSpc>
                <a:spcPct val="85000"/>
              </a:lnSpc>
              <a:defRPr/>
            </a:pPr>
            <a:r>
              <a:rPr lang="en-US" dirty="0"/>
              <a:t>Your Certification</a:t>
            </a:r>
          </a:p>
        </p:txBody>
      </p:sp>
      <p:sp>
        <p:nvSpPr>
          <p:cNvPr id="91138" name="Rectangle 3">
            <a:extLst>
              <a:ext uri="{FF2B5EF4-FFF2-40B4-BE49-F238E27FC236}">
                <a16:creationId xmlns:a16="http://schemas.microsoft.com/office/drawing/2014/main" id="{D03845D2-F41D-9C45-97AB-C352048EF05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Once certified as an EMR, you must follow national and state standards for your level of certification. </a:t>
            </a:r>
          </a:p>
          <a:p>
            <a:pPr eaLnBrk="1" hangingPunct="1">
              <a:spcBef>
                <a:spcPct val="35000"/>
              </a:spcBef>
            </a:pPr>
            <a:r>
              <a:rPr lang="en-US" altLang="en-US" dirty="0"/>
              <a:t>Your responsibility to keep your certification current.</a:t>
            </a:r>
          </a:p>
          <a:p>
            <a:pPr lvl="1" eaLnBrk="1" hangingPunct="1">
              <a:spcBef>
                <a:spcPct val="35000"/>
              </a:spcBef>
            </a:pPr>
            <a:r>
              <a:rPr lang="en-US" altLang="en-US" dirty="0"/>
              <a:t>Maintain continuing education requirements.</a:t>
            </a:r>
          </a:p>
          <a:p>
            <a:pPr lvl="1" eaLnBrk="1" hangingPunct="1">
              <a:spcBef>
                <a:spcPct val="35000"/>
              </a:spcBef>
            </a:pPr>
            <a:r>
              <a:rPr lang="en-US" altLang="en-US" dirty="0"/>
              <a:t>Keep your skills up-to-date.</a:t>
            </a:r>
          </a:p>
          <a:p>
            <a:pPr lvl="1" eaLnBrk="1" hangingPunct="1">
              <a:spcBef>
                <a:spcPct val="35000"/>
              </a:spcBef>
            </a:pPr>
            <a:r>
              <a:rPr lang="en-US" altLang="en-US" dirty="0"/>
              <a:t>Failure to do so can result in penalties.</a:t>
            </a:r>
          </a:p>
        </p:txBody>
      </p:sp>
    </p:spTree>
    <p:extLst>
      <p:ext uri="{BB962C8B-B14F-4D97-AF65-F5344CB8AC3E}">
        <p14:creationId xmlns:p14="http://schemas.microsoft.com/office/powerpoint/2010/main" val="335775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a:extLst>
              <a:ext uri="{FF2B5EF4-FFF2-40B4-BE49-F238E27FC236}">
                <a16:creationId xmlns:a16="http://schemas.microsoft.com/office/drawing/2014/main" id="{C7C8672E-2032-1F4A-8645-FCE13CDBCC67}"/>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3)</a:t>
            </a:r>
          </a:p>
        </p:txBody>
      </p:sp>
      <p:sp>
        <p:nvSpPr>
          <p:cNvPr id="93186" name="Rectangle 3">
            <a:extLst>
              <a:ext uri="{FF2B5EF4-FFF2-40B4-BE49-F238E27FC236}">
                <a16:creationId xmlns:a16="http://schemas.microsoft.com/office/drawing/2014/main" id="{B1ED3C84-BFA2-3E4A-9A40-0DF3AF12407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EMR is often the first medically trained person to arrive on scene.</a:t>
            </a:r>
          </a:p>
          <a:p>
            <a:pPr eaLnBrk="1" hangingPunct="1">
              <a:spcBef>
                <a:spcPct val="35000"/>
              </a:spcBef>
            </a:pPr>
            <a:r>
              <a:rPr lang="en-US" altLang="en-US" dirty="0"/>
              <a:t>Typical sequence of events of EMS system is reporting, dispatch, emergency medical response, EMS vehicle response, and hospital care.</a:t>
            </a:r>
            <a:endParaRPr lang="en-US" altLang="en-US" dirty="0">
              <a:solidFill>
                <a:srgbClr val="FF0000"/>
              </a:solidFill>
            </a:endParaRPr>
          </a:p>
        </p:txBody>
      </p:sp>
    </p:spTree>
    <p:extLst>
      <p:ext uri="{BB962C8B-B14F-4D97-AF65-F5344CB8AC3E}">
        <p14:creationId xmlns:p14="http://schemas.microsoft.com/office/powerpoint/2010/main" val="4193122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a:extLst>
              <a:ext uri="{FF2B5EF4-FFF2-40B4-BE49-F238E27FC236}">
                <a16:creationId xmlns:a16="http://schemas.microsoft.com/office/drawing/2014/main" id="{C96892D1-61B0-4F41-B790-6FBDB729F255}"/>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3)</a:t>
            </a:r>
          </a:p>
        </p:txBody>
      </p:sp>
      <p:sp>
        <p:nvSpPr>
          <p:cNvPr id="95234" name="Rectangle 3">
            <a:extLst>
              <a:ext uri="{FF2B5EF4-FFF2-40B4-BE49-F238E27FC236}">
                <a16:creationId xmlns:a16="http://schemas.microsoft.com/office/drawing/2014/main" id="{76C17E03-FE7E-774F-9836-25252E1D52D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Four basic goals of EMR training are to know what not to do, how to use your EMR life support kit, how to improvise, and how to assist other EMS providers.</a:t>
            </a:r>
          </a:p>
          <a:p>
            <a:pPr eaLnBrk="1" hangingPunct="1">
              <a:spcBef>
                <a:spcPct val="35000"/>
              </a:spcBef>
            </a:pPr>
            <a:r>
              <a:rPr lang="en-US" altLang="en-US" dirty="0"/>
              <a:t>EMR’s primary goal is to provide immediate care for a sick or injured patient and to assist more highly trained personnel.</a:t>
            </a:r>
          </a:p>
          <a:p>
            <a:pPr eaLnBrk="1" hangingPunct="1">
              <a:spcBef>
                <a:spcPct val="35000"/>
              </a:spcBef>
            </a:pPr>
            <a:r>
              <a:rPr lang="en-US" altLang="en-US" dirty="0"/>
              <a:t>Documentation should be clear, concise, accurate, and in accordance with the accepted policies of your organization.</a:t>
            </a:r>
          </a:p>
          <a:p>
            <a:pPr eaLnBrk="1" hangingPunct="1"/>
            <a:endParaRPr lang="en-US" altLang="en-US" dirty="0"/>
          </a:p>
        </p:txBody>
      </p:sp>
    </p:spTree>
    <p:extLst>
      <p:ext uri="{BB962C8B-B14F-4D97-AF65-F5344CB8AC3E}">
        <p14:creationId xmlns:p14="http://schemas.microsoft.com/office/powerpoint/2010/main" val="311538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58B48942-F7DC-8A41-9682-1ACE40FFF16D}"/>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3)</a:t>
            </a:r>
          </a:p>
        </p:txBody>
      </p:sp>
      <p:sp>
        <p:nvSpPr>
          <p:cNvPr id="97282" name="Rectangle 3">
            <a:extLst>
              <a:ext uri="{FF2B5EF4-FFF2-40B4-BE49-F238E27FC236}">
                <a16:creationId xmlns:a16="http://schemas.microsoft.com/office/drawing/2014/main" id="{3401FF13-C0F2-6841-BCBD-4C99CDB6AC1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Medical information about a patient is confidential and should be shared only with other medical personnel involved in care of patient. </a:t>
            </a:r>
          </a:p>
          <a:p>
            <a:pPr eaLnBrk="1" hangingPunct="1">
              <a:spcBef>
                <a:spcPct val="35000"/>
              </a:spcBef>
            </a:pPr>
            <a:r>
              <a:rPr lang="en-US" altLang="en-US" dirty="0"/>
              <a:t>Overall leader of medical care team is physician or medical director.</a:t>
            </a:r>
          </a:p>
          <a:p>
            <a:pPr eaLnBrk="1" hangingPunct="1">
              <a:spcBef>
                <a:spcPct val="35000"/>
              </a:spcBef>
            </a:pPr>
            <a:r>
              <a:rPr lang="en-US" altLang="en-US" dirty="0"/>
              <a:t>Quality improvement measures care in six component areas: safety, effectiveness, patient-centeredness, timeliness, efficiency, and equitability. </a:t>
            </a:r>
          </a:p>
        </p:txBody>
      </p:sp>
    </p:spTree>
    <p:extLst>
      <p:ext uri="{BB962C8B-B14F-4D97-AF65-F5344CB8AC3E}">
        <p14:creationId xmlns:p14="http://schemas.microsoft.com/office/powerpoint/2010/main" val="247241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a:extLst>
              <a:ext uri="{FF2B5EF4-FFF2-40B4-BE49-F238E27FC236}">
                <a16:creationId xmlns:a16="http://schemas.microsoft.com/office/drawing/2014/main" id="{9732B1C9-A7C3-434B-80CD-F51C6D9F7D9E}"/>
              </a:ext>
            </a:extLst>
          </p:cNvPr>
          <p:cNvSpPr>
            <a:spLocks noGrp="1" noChangeArrowheads="1"/>
          </p:cNvSpPr>
          <p:nvPr>
            <p:ph type="title"/>
          </p:nvPr>
        </p:nvSpPr>
        <p:spPr/>
        <p:txBody>
          <a:bodyPr/>
          <a:lstStyle/>
          <a:p>
            <a:pPr eaLnBrk="1" hangingPunct="1">
              <a:lnSpc>
                <a:spcPct val="85000"/>
              </a:lnSpc>
              <a:defRPr/>
            </a:pPr>
            <a:r>
              <a:rPr lang="en-US" altLang="en-US" dirty="0"/>
              <a:t>Review </a:t>
            </a:r>
          </a:p>
        </p:txBody>
      </p:sp>
      <p:sp>
        <p:nvSpPr>
          <p:cNvPr id="99330" name="Rectangle 3">
            <a:extLst>
              <a:ext uri="{FF2B5EF4-FFF2-40B4-BE49-F238E27FC236}">
                <a16:creationId xmlns:a16="http://schemas.microsoft.com/office/drawing/2014/main" id="{DC3BFD1C-0292-8745-B5DC-1E1C502A9A3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The EMR must possess the ability to:</a:t>
            </a:r>
          </a:p>
          <a:p>
            <a:pPr marL="1028700" lvl="1" indent="-457200">
              <a:spcBef>
                <a:spcPct val="35000"/>
              </a:spcBef>
              <a:buFontTx/>
              <a:buAutoNum type="alphaUcPeriod"/>
            </a:pPr>
            <a:r>
              <a:rPr lang="en-US" altLang="en-US" dirty="0"/>
              <a:t>treat patients using limited equipment. </a:t>
            </a:r>
          </a:p>
          <a:p>
            <a:pPr marL="1028700" lvl="1" indent="-457200">
              <a:spcBef>
                <a:spcPct val="35000"/>
              </a:spcBef>
              <a:buFontTx/>
              <a:buAutoNum type="alphaUcPeriod"/>
            </a:pPr>
            <a:r>
              <a:rPr lang="en-US" altLang="en-US" dirty="0"/>
              <a:t>perform ALS-level skills. </a:t>
            </a:r>
          </a:p>
          <a:p>
            <a:pPr marL="1028700" lvl="1" indent="-457200">
              <a:spcBef>
                <a:spcPct val="35000"/>
              </a:spcBef>
              <a:buFontTx/>
              <a:buAutoNum type="alphaUcPeriod"/>
            </a:pPr>
            <a:r>
              <a:rPr lang="en-US" altLang="en-US" dirty="0"/>
              <a:t>keep severely injured patients alive for extended periods of time. </a:t>
            </a:r>
          </a:p>
          <a:p>
            <a:pPr marL="1028700" lvl="1" indent="-457200">
              <a:spcBef>
                <a:spcPct val="35000"/>
              </a:spcBef>
              <a:buFontTx/>
              <a:buAutoNum type="alphaUcPeriod"/>
            </a:pPr>
            <a:r>
              <a:rPr lang="en-US" altLang="en-US" dirty="0"/>
              <a:t>diagnose conditions in the field. </a:t>
            </a:r>
          </a:p>
          <a:p>
            <a:pPr marL="457200" indent="-457200">
              <a:buFontTx/>
              <a:buAutoNum type="arabicPeriod"/>
            </a:pPr>
            <a:endParaRPr lang="en-US" altLang="en-US" sz="2400" dirty="0"/>
          </a:p>
        </p:txBody>
      </p:sp>
    </p:spTree>
    <p:extLst>
      <p:ext uri="{BB962C8B-B14F-4D97-AF65-F5344CB8AC3E}">
        <p14:creationId xmlns:p14="http://schemas.microsoft.com/office/powerpoint/2010/main" val="68162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a:extLst>
              <a:ext uri="{FF2B5EF4-FFF2-40B4-BE49-F238E27FC236}">
                <a16:creationId xmlns:a16="http://schemas.microsoft.com/office/drawing/2014/main" id="{B940213C-C230-704B-80CF-D0ECB9A224F4}"/>
              </a:ext>
            </a:extLst>
          </p:cNvPr>
          <p:cNvSpPr>
            <a:spLocks noGrp="1" noChangeArrowheads="1"/>
          </p:cNvSpPr>
          <p:nvPr>
            <p:ph type="title"/>
          </p:nvPr>
        </p:nvSpPr>
        <p:spPr/>
        <p:txBody>
          <a:bodyPr/>
          <a:lstStyle/>
          <a:p>
            <a:pPr eaLnBrk="1" hangingPunct="1">
              <a:lnSpc>
                <a:spcPct val="85000"/>
              </a:lnSpc>
              <a:defRPr/>
            </a:pPr>
            <a:r>
              <a:rPr lang="en-US" altLang="en-US" dirty="0"/>
              <a:t>Review</a:t>
            </a:r>
            <a:r>
              <a:rPr lang="en-US" altLang="en-US" dirty="0">
                <a:solidFill>
                  <a:srgbClr val="FBBF00"/>
                </a:solidFill>
              </a:rPr>
              <a:t> </a:t>
            </a:r>
          </a:p>
        </p:txBody>
      </p:sp>
      <p:sp>
        <p:nvSpPr>
          <p:cNvPr id="53251" name="Rectangle 3">
            <a:extLst>
              <a:ext uri="{FF2B5EF4-FFF2-40B4-BE49-F238E27FC236}">
                <a16:creationId xmlns:a16="http://schemas.microsoft.com/office/drawing/2014/main" id="{BB65460C-388C-1E4A-859A-00B339A1AFA2}"/>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A. treat patients using limited equipment. </a:t>
            </a:r>
          </a:p>
        </p:txBody>
      </p:sp>
    </p:spTree>
    <p:extLst>
      <p:ext uri="{BB962C8B-B14F-4D97-AF65-F5344CB8AC3E}">
        <p14:creationId xmlns:p14="http://schemas.microsoft.com/office/powerpoint/2010/main" val="1278771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a:extLst>
              <a:ext uri="{FF2B5EF4-FFF2-40B4-BE49-F238E27FC236}">
                <a16:creationId xmlns:a16="http://schemas.microsoft.com/office/drawing/2014/main" id="{11F21938-08D8-4A4D-8826-3508352648DD}"/>
              </a:ext>
            </a:extLst>
          </p:cNvPr>
          <p:cNvSpPr>
            <a:spLocks noGrp="1" noChangeArrowheads="1"/>
          </p:cNvSpPr>
          <p:nvPr>
            <p:ph type="title"/>
          </p:nvPr>
        </p:nvSpPr>
        <p:spPr/>
        <p:txBody>
          <a:bodyPr/>
          <a:lstStyle/>
          <a:p>
            <a:pPr eaLnBrk="1" hangingPunct="1">
              <a:lnSpc>
                <a:spcPct val="85000"/>
              </a:lnSpc>
              <a:defRPr/>
            </a:pPr>
            <a:r>
              <a:rPr lang="en-US" altLang="en-US" dirty="0"/>
              <a:t>Review</a:t>
            </a:r>
            <a:r>
              <a:rPr lang="en-US" altLang="en-US" dirty="0">
                <a:solidFill>
                  <a:srgbClr val="FBBF00"/>
                </a:solidFill>
              </a:rPr>
              <a:t> </a:t>
            </a:r>
          </a:p>
        </p:txBody>
      </p:sp>
      <p:sp>
        <p:nvSpPr>
          <p:cNvPr id="102402" name="Rectangle 3">
            <a:extLst>
              <a:ext uri="{FF2B5EF4-FFF2-40B4-BE49-F238E27FC236}">
                <a16:creationId xmlns:a16="http://schemas.microsoft.com/office/drawing/2014/main" id="{A05277A6-D197-A64C-A88B-488D9CC3E69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dirty="0"/>
              <a:t>For a patient in cardiac arrest, which of the following interventions will you most likely be responsible for performing? </a:t>
            </a:r>
          </a:p>
          <a:p>
            <a:pPr marL="1028700" lvl="1" indent="-457200">
              <a:spcBef>
                <a:spcPct val="35000"/>
              </a:spcBef>
              <a:buFontTx/>
              <a:buAutoNum type="alphaUcPeriod"/>
            </a:pPr>
            <a:r>
              <a:rPr lang="en-US" altLang="en-US" dirty="0"/>
              <a:t>Administration of pain medication </a:t>
            </a:r>
          </a:p>
          <a:p>
            <a:pPr marL="1028700" lvl="1" indent="-457200">
              <a:spcBef>
                <a:spcPct val="35000"/>
              </a:spcBef>
              <a:buFontTx/>
              <a:buAutoNum type="alphaUcPeriod"/>
            </a:pPr>
            <a:r>
              <a:rPr lang="en-US" altLang="en-US" dirty="0"/>
              <a:t>CPR and defibrillation </a:t>
            </a:r>
          </a:p>
          <a:p>
            <a:pPr marL="1028700" lvl="1" indent="-457200">
              <a:spcBef>
                <a:spcPct val="35000"/>
              </a:spcBef>
              <a:buFontTx/>
              <a:buAutoNum type="alphaUcPeriod"/>
            </a:pPr>
            <a:r>
              <a:rPr lang="en-US" altLang="en-US" dirty="0"/>
              <a:t>Intravenous therapy </a:t>
            </a:r>
          </a:p>
          <a:p>
            <a:pPr marL="1028700" lvl="1" indent="-457200">
              <a:spcBef>
                <a:spcPct val="35000"/>
              </a:spcBef>
              <a:buFontTx/>
              <a:buAutoNum type="alphaUcPeriod"/>
            </a:pPr>
            <a:r>
              <a:rPr lang="en-US" altLang="en-US" dirty="0"/>
              <a:t>Intubation </a:t>
            </a:r>
          </a:p>
        </p:txBody>
      </p:sp>
    </p:spTree>
    <p:extLst>
      <p:ext uri="{BB962C8B-B14F-4D97-AF65-F5344CB8AC3E}">
        <p14:creationId xmlns:p14="http://schemas.microsoft.com/office/powerpoint/2010/main" val="421916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a:extLst>
              <a:ext uri="{FF2B5EF4-FFF2-40B4-BE49-F238E27FC236}">
                <a16:creationId xmlns:a16="http://schemas.microsoft.com/office/drawing/2014/main" id="{2C70C812-1635-394B-A89D-C7B03202C5B3}"/>
              </a:ext>
            </a:extLst>
          </p:cNvPr>
          <p:cNvSpPr>
            <a:spLocks noGrp="1" noChangeArrowheads="1"/>
          </p:cNvSpPr>
          <p:nvPr>
            <p:ph type="title"/>
          </p:nvPr>
        </p:nvSpPr>
        <p:spPr/>
        <p:txBody>
          <a:bodyPr/>
          <a:lstStyle/>
          <a:p>
            <a:pPr eaLnBrk="1" hangingPunct="1">
              <a:lnSpc>
                <a:spcPct val="85000"/>
              </a:lnSpc>
              <a:defRPr/>
            </a:pPr>
            <a:r>
              <a:rPr lang="en-US" altLang="en-US" dirty="0"/>
              <a:t>Review</a:t>
            </a:r>
            <a:r>
              <a:rPr lang="en-US" altLang="en-US" dirty="0">
                <a:solidFill>
                  <a:srgbClr val="FBBF00"/>
                </a:solidFill>
              </a:rPr>
              <a:t> </a:t>
            </a:r>
          </a:p>
        </p:txBody>
      </p:sp>
      <p:sp>
        <p:nvSpPr>
          <p:cNvPr id="55299" name="Rectangle 3">
            <a:extLst>
              <a:ext uri="{FF2B5EF4-FFF2-40B4-BE49-F238E27FC236}">
                <a16:creationId xmlns:a16="http://schemas.microsoft.com/office/drawing/2014/main" id="{91DE29E3-D134-604A-A63B-066A51A64705}"/>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B. CPR and defibrillation </a:t>
            </a:r>
          </a:p>
        </p:txBody>
      </p:sp>
    </p:spTree>
    <p:extLst>
      <p:ext uri="{BB962C8B-B14F-4D97-AF65-F5344CB8AC3E}">
        <p14:creationId xmlns:p14="http://schemas.microsoft.com/office/powerpoint/2010/main" val="112789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a:extLst>
              <a:ext uri="{FF2B5EF4-FFF2-40B4-BE49-F238E27FC236}">
                <a16:creationId xmlns:a16="http://schemas.microsoft.com/office/drawing/2014/main" id="{E11F32FD-9F9C-7743-A028-CB17EDF2BA29}"/>
              </a:ext>
            </a:extLst>
          </p:cNvPr>
          <p:cNvSpPr>
            <a:spLocks noGrp="1" noChangeArrowheads="1"/>
          </p:cNvSpPr>
          <p:nvPr>
            <p:ph type="title"/>
          </p:nvPr>
        </p:nvSpPr>
        <p:spPr/>
        <p:txBody>
          <a:bodyPr/>
          <a:lstStyle/>
          <a:p>
            <a:pPr eaLnBrk="1" hangingPunct="1">
              <a:lnSpc>
                <a:spcPct val="85000"/>
              </a:lnSpc>
              <a:defRPr/>
            </a:pPr>
            <a:r>
              <a:rPr lang="en-US" altLang="en-US" dirty="0"/>
              <a:t>Review</a:t>
            </a:r>
            <a:r>
              <a:rPr lang="en-US" altLang="en-US" dirty="0">
                <a:solidFill>
                  <a:srgbClr val="FBBF00"/>
                </a:solidFill>
              </a:rPr>
              <a:t> </a:t>
            </a:r>
          </a:p>
        </p:txBody>
      </p:sp>
      <p:sp>
        <p:nvSpPr>
          <p:cNvPr id="104450" name="Rectangle 3">
            <a:extLst>
              <a:ext uri="{FF2B5EF4-FFF2-40B4-BE49-F238E27FC236}">
                <a16:creationId xmlns:a16="http://schemas.microsoft.com/office/drawing/2014/main" id="{3E1EFEF5-67D7-4A44-864D-E6A94BB13DBE}"/>
              </a:ext>
            </a:extLst>
          </p:cNvPr>
          <p:cNvSpPr>
            <a:spLocks noGrp="1" noChangeArrowheads="1"/>
          </p:cNvSpPr>
          <p:nvPr>
            <p:ph type="body" idx="1"/>
          </p:nvPr>
        </p:nvSpPr>
        <p:spPr>
          <a:xfrm>
            <a:off x="973394" y="1425677"/>
            <a:ext cx="9704438" cy="47244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When EMTs or paramedics arrive at scene of an emergency, the EMR should:</a:t>
            </a:r>
          </a:p>
          <a:p>
            <a:pPr marL="1028700" lvl="1" indent="-457200">
              <a:spcBef>
                <a:spcPct val="35000"/>
              </a:spcBef>
              <a:buFontTx/>
              <a:buAutoNum type="alphaUcPeriod"/>
            </a:pPr>
            <a:r>
              <a:rPr lang="en-US" altLang="en-US" dirty="0"/>
              <a:t>cease all patient care. </a:t>
            </a:r>
          </a:p>
          <a:p>
            <a:pPr marL="1028700" lvl="1" indent="-457200">
              <a:spcBef>
                <a:spcPct val="35000"/>
              </a:spcBef>
              <a:buFontTx/>
              <a:buAutoNum type="alphaUcPeriod"/>
            </a:pPr>
            <a:r>
              <a:rPr lang="en-US" altLang="en-US" dirty="0"/>
              <a:t>prepare to accompany the patient to the hospital. </a:t>
            </a:r>
          </a:p>
          <a:p>
            <a:pPr marL="1028700" lvl="1" indent="-457200">
              <a:spcBef>
                <a:spcPct val="35000"/>
              </a:spcBef>
              <a:buFontTx/>
              <a:buAutoNum type="alphaUcPeriod"/>
            </a:pPr>
            <a:r>
              <a:rPr lang="en-US" altLang="en-US" dirty="0"/>
              <a:t>assist higher-level EMS providers in continuing care. </a:t>
            </a:r>
          </a:p>
          <a:p>
            <a:pPr marL="1028700" lvl="1" indent="-457200">
              <a:spcBef>
                <a:spcPct val="35000"/>
              </a:spcBef>
              <a:buFontTx/>
              <a:buAutoNum type="alphaUcPeriod"/>
            </a:pPr>
            <a:r>
              <a:rPr lang="en-US" altLang="en-US" dirty="0"/>
              <a:t>obtain signatures from all other EMS providers. </a:t>
            </a:r>
          </a:p>
        </p:txBody>
      </p:sp>
    </p:spTree>
    <p:extLst>
      <p:ext uri="{BB962C8B-B14F-4D97-AF65-F5344CB8AC3E}">
        <p14:creationId xmlns:p14="http://schemas.microsoft.com/office/powerpoint/2010/main" val="83431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a:extLst>
              <a:ext uri="{FF2B5EF4-FFF2-40B4-BE49-F238E27FC236}">
                <a16:creationId xmlns:a16="http://schemas.microsoft.com/office/drawing/2014/main" id="{3237FE3A-2A12-574B-8D4C-D8A597E63BE2}"/>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57347" name="Rectangle 3">
            <a:extLst>
              <a:ext uri="{FF2B5EF4-FFF2-40B4-BE49-F238E27FC236}">
                <a16:creationId xmlns:a16="http://schemas.microsoft.com/office/drawing/2014/main" id="{D19C4AF2-6A51-4F4A-8FE5-8C4B84E3330F}"/>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C.	</a:t>
            </a:r>
            <a:r>
              <a:rPr lang="en-US" altLang="en-US" b="1">
                <a:solidFill>
                  <a:schemeClr val="accent3"/>
                </a:solidFill>
              </a:rPr>
              <a:t>assist </a:t>
            </a:r>
            <a:r>
              <a:rPr lang="en-US" altLang="en-US" b="1"/>
              <a:t>higher-level </a:t>
            </a:r>
            <a:r>
              <a:rPr lang="en-US" altLang="en-US" b="1" dirty="0">
                <a:solidFill>
                  <a:schemeClr val="accent3"/>
                </a:solidFill>
              </a:rPr>
              <a:t>EMS providers in continuing care. </a:t>
            </a:r>
          </a:p>
        </p:txBody>
      </p:sp>
    </p:spTree>
    <p:extLst>
      <p:ext uri="{BB962C8B-B14F-4D97-AF65-F5344CB8AC3E}">
        <p14:creationId xmlns:p14="http://schemas.microsoft.com/office/powerpoint/2010/main" val="324860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425E4D5164AEF4EB74AA5D6D6EE479D" ma:contentTypeVersion="12" ma:contentTypeDescription="Create a new document." ma:contentTypeScope="" ma:versionID="58bf2b2f890302d35f7d54e5e5cac4ee">
  <xsd:schema xmlns:xsd="http://www.w3.org/2001/XMLSchema" xmlns:xs="http://www.w3.org/2001/XMLSchema" xmlns:p="http://schemas.microsoft.com/office/2006/metadata/properties" xmlns:ns3="ff0eb9e9-a981-4551-99fd-eb0d34a8c8ea" xmlns:ns4="42abe912-7d6d-4f73-a9d8-4938ff9bbb01" targetNamespace="http://schemas.microsoft.com/office/2006/metadata/properties" ma:root="true" ma:fieldsID="bd57abdcd4abec9ffd47578aa5ac9010" ns3:_="" ns4:_="">
    <xsd:import namespace="ff0eb9e9-a981-4551-99fd-eb0d34a8c8ea"/>
    <xsd:import namespace="42abe912-7d6d-4f73-a9d8-4938ff9bbb0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0eb9e9-a981-4551-99fd-eb0d34a8c8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abe912-7d6d-4f73-a9d8-4938ff9bbb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297A3D-4C7D-4D6E-A634-8C229F361410}">
  <ds:schemaRefs>
    <ds:schemaRef ds:uri="http://schemas.microsoft.com/sharepoint/v3/contenttype/forms"/>
  </ds:schemaRefs>
</ds:datastoreItem>
</file>

<file path=customXml/itemProps2.xml><?xml version="1.0" encoding="utf-8"?>
<ds:datastoreItem xmlns:ds="http://schemas.openxmlformats.org/officeDocument/2006/customXml" ds:itemID="{1D2EF655-A3C3-4F5A-8DE7-8E9635648C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0eb9e9-a981-4551-99fd-eb0d34a8c8ea"/>
    <ds:schemaRef ds:uri="42abe912-7d6d-4f73-a9d8-4938ff9bbb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81AF4D-9689-4173-B15E-EC9EA20F28DB}">
  <ds:schemaRefs>
    <ds:schemaRef ds:uri="http://schemas.microsoft.com/office/2006/documentManagement/types"/>
    <ds:schemaRef ds:uri="http://purl.org/dc/terms/"/>
    <ds:schemaRef ds:uri="ff0eb9e9-a981-4551-99fd-eb0d34a8c8ea"/>
    <ds:schemaRef ds:uri="http://purl.org/dc/dcmitype/"/>
    <ds:schemaRef ds:uri="http://schemas.microsoft.com/office/infopath/2007/PartnerControls"/>
    <ds:schemaRef ds:uri="42abe912-7d6d-4f73-a9d8-4938ff9bbb01"/>
    <ds:schemaRef ds:uri="http://purl.org/dc/elements/1.1/"/>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Educational subjects 16x9</Template>
  <TotalTime>286</TotalTime>
  <Words>6175</Words>
  <Application>Microsoft Macintosh PowerPoint</Application>
  <PresentationFormat>Widescreen</PresentationFormat>
  <Paragraphs>574</Paragraphs>
  <Slides>52</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Arial Black</vt:lpstr>
      <vt:lpstr>Calibri</vt:lpstr>
      <vt:lpstr>Times New Roman</vt:lpstr>
      <vt:lpstr>Wingdings</vt:lpstr>
      <vt:lpstr>Educational subjects 16x9</vt:lpstr>
      <vt:lpstr>EMS Systems</vt:lpstr>
      <vt:lpstr>National EMS Education Standard Competencies (1 of 3)</vt:lpstr>
      <vt:lpstr>National EMS Education Standard Competencies (2 of 3)</vt:lpstr>
      <vt:lpstr>National EMS Education Standard Competencies (3 of 3)</vt:lpstr>
      <vt:lpstr>Introduction</vt:lpstr>
      <vt:lpstr>The EMS System (1 of 7)</vt:lpstr>
      <vt:lpstr>The EMS System (2 of 7)</vt:lpstr>
      <vt:lpstr>The EMS System (3 of 7)</vt:lpstr>
      <vt:lpstr>The EMS System (4 of 7)</vt:lpstr>
      <vt:lpstr>The EMS System (5 of 7)</vt:lpstr>
      <vt:lpstr>The EMS System (6 of 7)</vt:lpstr>
      <vt:lpstr>The EMS System (7 of 7)</vt:lpstr>
      <vt:lpstr>Public Health and EMS (1 of 2)</vt:lpstr>
      <vt:lpstr>Public Health and EMS (2 of 2)</vt:lpstr>
      <vt:lpstr>History of EMS (1 of 3)</vt:lpstr>
      <vt:lpstr>History of EMS (2 of 3)</vt:lpstr>
      <vt:lpstr>History of EMS (3 of 3)</vt:lpstr>
      <vt:lpstr>Ten Standard Components of an EMS System (1 of 2)</vt:lpstr>
      <vt:lpstr>Ten Standard Components of an EMS System (2 of 2)</vt:lpstr>
      <vt:lpstr>A Word About Transportation (1 of 2)</vt:lpstr>
      <vt:lpstr>A Word About Transportation (2 of 2)</vt:lpstr>
      <vt:lpstr>EMR Training (1 of 3)</vt:lpstr>
      <vt:lpstr>EMR Training (2 of 3)</vt:lpstr>
      <vt:lpstr>EMR Training (3 of 3)</vt:lpstr>
      <vt:lpstr>Goals of EMR Training (1 of 5)</vt:lpstr>
      <vt:lpstr>Goals of EMR Training (2 of 5)</vt:lpstr>
      <vt:lpstr>Goals of EMR Training (3 of 5)</vt:lpstr>
      <vt:lpstr>Goals of EMR Training (4 of 5)</vt:lpstr>
      <vt:lpstr>Goals of EMR Training (5 of 5)</vt:lpstr>
      <vt:lpstr>Additional Skills</vt:lpstr>
      <vt:lpstr>Roles and Responsibilities of EMR (1 of 3)</vt:lpstr>
      <vt:lpstr>Roles and Responsibilities of EMR (2 of 3)</vt:lpstr>
      <vt:lpstr>Roles and Responsibilities of EMR (3 of 3)</vt:lpstr>
      <vt:lpstr>Importance of Documentation (1 of 2)</vt:lpstr>
      <vt:lpstr> Importance of Documentation (2 of 2)</vt:lpstr>
      <vt:lpstr>Attitude and Conduct (1 of 2)</vt:lpstr>
      <vt:lpstr>Attitude and Conduct (2 of 2)</vt:lpstr>
      <vt:lpstr>Medical Oversight (1 of 2)</vt:lpstr>
      <vt:lpstr>Medical Oversight (2 of 2)</vt:lpstr>
      <vt:lpstr>Quality Improvement (1 of 3)</vt:lpstr>
      <vt:lpstr>Quality Improvement (2 of 3)</vt:lpstr>
      <vt:lpstr>Quality Improvement (3 of 3)</vt:lpstr>
      <vt:lpstr>Your Certification</vt:lpstr>
      <vt:lpstr>Summary (1 of 3)</vt:lpstr>
      <vt:lpstr>Summary (2 of 3)</vt:lpstr>
      <vt:lpstr>Summary (3 of 3)</vt:lpstr>
      <vt:lpstr>Review </vt:lpstr>
      <vt:lpstr>Review </vt:lpstr>
      <vt:lpstr>Review </vt:lpstr>
      <vt:lpstr>Review </vt:lpstr>
      <vt:lpstr>Review </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EMS Systems</dc:title>
  <dc:creator>Bob Elling</dc:creator>
  <cp:lastModifiedBy>Kelly Sylvester</cp:lastModifiedBy>
  <cp:revision>43</cp:revision>
  <dcterms:created xsi:type="dcterms:W3CDTF">2020-07-19T15:37:24Z</dcterms:created>
  <dcterms:modified xsi:type="dcterms:W3CDTF">2020-11-30T21:48:17Z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0x010100B425E4D5164AEF4EB74AA5D6D6EE479D</vt:lpwstr>
  </property>
</Properties>
</file>