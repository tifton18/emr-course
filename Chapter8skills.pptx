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2"/>
  </p:notesMasterIdLst>
  <p:handoutMasterIdLst>
    <p:handoutMasterId r:id="rId13"/>
  </p:handoutMasterIdLst>
  <p:sldIdLst>
    <p:sldId id="739" r:id="rId2"/>
    <p:sldId id="735" r:id="rId3"/>
    <p:sldId id="740" r:id="rId4"/>
    <p:sldId id="741" r:id="rId5"/>
    <p:sldId id="742" r:id="rId6"/>
    <p:sldId id="743" r:id="rId7"/>
    <p:sldId id="744" r:id="rId8"/>
    <p:sldId id="745" r:id="rId9"/>
    <p:sldId id="746" r:id="rId10"/>
    <p:sldId id="74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5AA47-199E-4CBF-B21D-5F186A0A99E7}" v="99" dt="2020-08-10T16:05:51.470"/>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2029"/>
  </p:normalViewPr>
  <p:slideViewPr>
    <p:cSldViewPr snapToGrid="0">
      <p:cViewPr varScale="1">
        <p:scale>
          <a:sx n="75" d="100"/>
          <a:sy n="75" d="100"/>
        </p:scale>
        <p:origin x="1344" y="78"/>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59"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07E5AA47-199E-4CBF-B21D-5F186A0A99E7}"/>
    <pc:docChg chg="custSel modSld modMainMaster">
      <pc:chgData name="Paula-Yuan Gregory" userId="8839d734-a022-4f7a-aa1a-7ded42ea4e8b" providerId="ADAL" clId="{07E5AA47-199E-4CBF-B21D-5F186A0A99E7}" dt="2020-08-11T15:39:11.160" v="208" actId="20577"/>
      <pc:docMkLst>
        <pc:docMk/>
      </pc:docMkLst>
      <pc:sldChg chg="modSp">
        <pc:chgData name="Paula-Yuan Gregory" userId="8839d734-a022-4f7a-aa1a-7ded42ea4e8b" providerId="ADAL" clId="{07E5AA47-199E-4CBF-B21D-5F186A0A99E7}" dt="2020-08-11T15:39:11.160" v="208" actId="20577"/>
        <pc:sldMkLst>
          <pc:docMk/>
          <pc:sldMk cId="1732698309" sldId="258"/>
        </pc:sldMkLst>
        <pc:spChg chg="mod">
          <ac:chgData name="Paula-Yuan Gregory" userId="8839d734-a022-4f7a-aa1a-7ded42ea4e8b" providerId="ADAL" clId="{07E5AA47-199E-4CBF-B21D-5F186A0A99E7}" dt="2020-08-11T15:39:11.160" v="208" actId="20577"/>
          <ac:spMkLst>
            <pc:docMk/>
            <pc:sldMk cId="1732698309" sldId="258"/>
            <ac:spMk id="15" creationId="{CF4F1586-DE6A-1A40-AEF4-23ADA41937E4}"/>
          </ac:spMkLst>
        </pc:spChg>
      </pc:sldChg>
      <pc:sldChg chg="addSp delSp modSp">
        <pc:chgData name="Paula-Yuan Gregory" userId="8839d734-a022-4f7a-aa1a-7ded42ea4e8b" providerId="ADAL" clId="{07E5AA47-199E-4CBF-B21D-5F186A0A99E7}" dt="2020-08-10T15:59:45.998" v="112" actId="1076"/>
        <pc:sldMkLst>
          <pc:docMk/>
          <pc:sldMk cId="2021669146" sldId="741"/>
        </pc:sldMkLst>
        <pc:spChg chg="add mod">
          <ac:chgData name="Paula-Yuan Gregory" userId="8839d734-a022-4f7a-aa1a-7ded42ea4e8b" providerId="ADAL" clId="{07E5AA47-199E-4CBF-B21D-5F186A0A99E7}" dt="2020-08-10T15:59:45.998" v="112" actId="1076"/>
          <ac:spMkLst>
            <pc:docMk/>
            <pc:sldMk cId="2021669146" sldId="741"/>
            <ac:spMk id="6" creationId="{AFA6017C-47FF-4F32-95FF-EE340E43139A}"/>
          </ac:spMkLst>
        </pc:spChg>
        <pc:picChg chg="del">
          <ac:chgData name="Paula-Yuan Gregory" userId="8839d734-a022-4f7a-aa1a-7ded42ea4e8b" providerId="ADAL" clId="{07E5AA47-199E-4CBF-B21D-5F186A0A99E7}" dt="2020-08-10T15:59:36.204" v="93" actId="478"/>
          <ac:picMkLst>
            <pc:docMk/>
            <pc:sldMk cId="2021669146" sldId="741"/>
            <ac:picMk id="17411" creationId="{9A2F8220-5196-3549-97B2-7C2940D01BA1}"/>
          </ac:picMkLst>
        </pc:picChg>
      </pc:sldChg>
      <pc:sldChg chg="addSp delSp modSp">
        <pc:chgData name="Paula-Yuan Gregory" userId="8839d734-a022-4f7a-aa1a-7ded42ea4e8b" providerId="ADAL" clId="{07E5AA47-199E-4CBF-B21D-5F186A0A99E7}" dt="2020-08-10T16:00:10.395" v="132" actId="1076"/>
        <pc:sldMkLst>
          <pc:docMk/>
          <pc:sldMk cId="4068059589" sldId="747"/>
        </pc:sldMkLst>
        <pc:spChg chg="add mod">
          <ac:chgData name="Paula-Yuan Gregory" userId="8839d734-a022-4f7a-aa1a-7ded42ea4e8b" providerId="ADAL" clId="{07E5AA47-199E-4CBF-B21D-5F186A0A99E7}" dt="2020-08-10T16:00:10.395" v="132" actId="1076"/>
          <ac:spMkLst>
            <pc:docMk/>
            <pc:sldMk cId="4068059589" sldId="747"/>
            <ac:spMk id="6" creationId="{AFA6017C-47FF-4F32-95FF-EE340E43139A}"/>
          </ac:spMkLst>
        </pc:spChg>
        <pc:picChg chg="del">
          <ac:chgData name="Paula-Yuan Gregory" userId="8839d734-a022-4f7a-aa1a-7ded42ea4e8b" providerId="ADAL" clId="{07E5AA47-199E-4CBF-B21D-5F186A0A99E7}" dt="2020-08-10T16:00:02.956" v="113" actId="478"/>
          <ac:picMkLst>
            <pc:docMk/>
            <pc:sldMk cId="4068059589" sldId="747"/>
            <ac:picMk id="29699" creationId="{8B8F1A46-6573-9C4E-815F-07063B1B6E88}"/>
          </ac:picMkLst>
        </pc:picChg>
      </pc:sldChg>
      <pc:sldChg chg="addSp delSp modSp">
        <pc:chgData name="Paula-Yuan Gregory" userId="8839d734-a022-4f7a-aa1a-7ded42ea4e8b" providerId="ADAL" clId="{07E5AA47-199E-4CBF-B21D-5F186A0A99E7}" dt="2020-08-10T16:03:14.260" v="145" actId="20577"/>
        <pc:sldMkLst>
          <pc:docMk/>
          <pc:sldMk cId="1458110044" sldId="748"/>
        </pc:sldMkLst>
        <pc:spChg chg="add mod">
          <ac:chgData name="Paula-Yuan Gregory" userId="8839d734-a022-4f7a-aa1a-7ded42ea4e8b" providerId="ADAL" clId="{07E5AA47-199E-4CBF-B21D-5F186A0A99E7}" dt="2020-08-10T16:03:14.260" v="145" actId="20577"/>
          <ac:spMkLst>
            <pc:docMk/>
            <pc:sldMk cId="1458110044" sldId="748"/>
            <ac:spMk id="5" creationId="{AFA6017C-47FF-4F32-95FF-EE340E43139A}"/>
          </ac:spMkLst>
        </pc:spChg>
        <pc:spChg chg="mod">
          <ac:chgData name="Paula-Yuan Gregory" userId="8839d734-a022-4f7a-aa1a-7ded42ea4e8b" providerId="ADAL" clId="{07E5AA47-199E-4CBF-B21D-5F186A0A99E7}" dt="2020-08-06T16:18:30.625" v="66" actId="1036"/>
          <ac:spMkLst>
            <pc:docMk/>
            <pc:sldMk cId="1458110044" sldId="748"/>
            <ac:spMk id="31748" creationId="{8B04988E-E865-CF43-827C-7D5AB287D363}"/>
          </ac:spMkLst>
        </pc:spChg>
        <pc:picChg chg="del mod">
          <ac:chgData name="Paula-Yuan Gregory" userId="8839d734-a022-4f7a-aa1a-7ded42ea4e8b" providerId="ADAL" clId="{07E5AA47-199E-4CBF-B21D-5F186A0A99E7}" dt="2020-08-10T16:03:08.742" v="133" actId="478"/>
          <ac:picMkLst>
            <pc:docMk/>
            <pc:sldMk cId="1458110044" sldId="748"/>
            <ac:picMk id="31747" creationId="{6F45AB12-2F18-8447-BA0B-73C7B2C07B7B}"/>
          </ac:picMkLst>
        </pc:picChg>
      </pc:sldChg>
      <pc:sldChg chg="addSp delSp modSp">
        <pc:chgData name="Paula-Yuan Gregory" userId="8839d734-a022-4f7a-aa1a-7ded42ea4e8b" providerId="ADAL" clId="{07E5AA47-199E-4CBF-B21D-5F186A0A99E7}" dt="2020-08-10T16:03:30.781" v="159" actId="1076"/>
        <pc:sldMkLst>
          <pc:docMk/>
          <pc:sldMk cId="2476686328" sldId="749"/>
        </pc:sldMkLst>
        <pc:spChg chg="add mod">
          <ac:chgData name="Paula-Yuan Gregory" userId="8839d734-a022-4f7a-aa1a-7ded42ea4e8b" providerId="ADAL" clId="{07E5AA47-199E-4CBF-B21D-5F186A0A99E7}" dt="2020-08-10T16:03:30.781" v="159" actId="1076"/>
          <ac:spMkLst>
            <pc:docMk/>
            <pc:sldMk cId="2476686328" sldId="749"/>
            <ac:spMk id="6" creationId="{AFA6017C-47FF-4F32-95FF-EE340E43139A}"/>
          </ac:spMkLst>
        </pc:spChg>
        <pc:picChg chg="del">
          <ac:chgData name="Paula-Yuan Gregory" userId="8839d734-a022-4f7a-aa1a-7ded42ea4e8b" providerId="ADAL" clId="{07E5AA47-199E-4CBF-B21D-5F186A0A99E7}" dt="2020-08-10T16:03:21.986" v="146" actId="478"/>
          <ac:picMkLst>
            <pc:docMk/>
            <pc:sldMk cId="2476686328" sldId="749"/>
            <ac:picMk id="33795" creationId="{5AFD9C67-3243-7B4D-94C5-B95CFFC6C447}"/>
          </ac:picMkLst>
        </pc:picChg>
      </pc:sldChg>
      <pc:sldChg chg="addSp delSp modSp">
        <pc:chgData name="Paula-Yuan Gregory" userId="8839d734-a022-4f7a-aa1a-7ded42ea4e8b" providerId="ADAL" clId="{07E5AA47-199E-4CBF-B21D-5F186A0A99E7}" dt="2020-08-10T16:04:21.152" v="174" actId="1076"/>
        <pc:sldMkLst>
          <pc:docMk/>
          <pc:sldMk cId="1709711209" sldId="757"/>
        </pc:sldMkLst>
        <pc:spChg chg="add mod">
          <ac:chgData name="Paula-Yuan Gregory" userId="8839d734-a022-4f7a-aa1a-7ded42ea4e8b" providerId="ADAL" clId="{07E5AA47-199E-4CBF-B21D-5F186A0A99E7}" dt="2020-08-10T16:04:21.152" v="174" actId="1076"/>
          <ac:spMkLst>
            <pc:docMk/>
            <pc:sldMk cId="1709711209" sldId="757"/>
            <ac:spMk id="6" creationId="{AFA6017C-47FF-4F32-95FF-EE340E43139A}"/>
          </ac:spMkLst>
        </pc:spChg>
        <pc:picChg chg="del">
          <ac:chgData name="Paula-Yuan Gregory" userId="8839d734-a022-4f7a-aa1a-7ded42ea4e8b" providerId="ADAL" clId="{07E5AA47-199E-4CBF-B21D-5F186A0A99E7}" dt="2020-08-10T16:04:10.933" v="160" actId="478"/>
          <ac:picMkLst>
            <pc:docMk/>
            <pc:sldMk cId="1709711209" sldId="757"/>
            <ac:picMk id="4" creationId="{09DEA73D-5A8B-EC45-8116-54FF69F09FC1}"/>
          </ac:picMkLst>
        </pc:picChg>
      </pc:sldChg>
      <pc:sldChg chg="addSp delSp modSp">
        <pc:chgData name="Paula-Yuan Gregory" userId="8839d734-a022-4f7a-aa1a-7ded42ea4e8b" providerId="ADAL" clId="{07E5AA47-199E-4CBF-B21D-5F186A0A99E7}" dt="2020-08-10T16:05:00.206" v="189" actId="1076"/>
        <pc:sldMkLst>
          <pc:docMk/>
          <pc:sldMk cId="3251773752" sldId="763"/>
        </pc:sldMkLst>
        <pc:spChg chg="add mod">
          <ac:chgData name="Paula-Yuan Gregory" userId="8839d734-a022-4f7a-aa1a-7ded42ea4e8b" providerId="ADAL" clId="{07E5AA47-199E-4CBF-B21D-5F186A0A99E7}" dt="2020-08-10T16:05:00.206" v="189" actId="1076"/>
          <ac:spMkLst>
            <pc:docMk/>
            <pc:sldMk cId="3251773752" sldId="763"/>
            <ac:spMk id="6" creationId="{AFA6017C-47FF-4F32-95FF-EE340E43139A}"/>
          </ac:spMkLst>
        </pc:spChg>
        <pc:picChg chg="del">
          <ac:chgData name="Paula-Yuan Gregory" userId="8839d734-a022-4f7a-aa1a-7ded42ea4e8b" providerId="ADAL" clId="{07E5AA47-199E-4CBF-B21D-5F186A0A99E7}" dt="2020-08-10T16:04:53.182" v="175" actId="478"/>
          <ac:picMkLst>
            <pc:docMk/>
            <pc:sldMk cId="3251773752" sldId="763"/>
            <ac:picMk id="62467" creationId="{B5E0193B-DEF4-C24E-B39F-40659D813B92}"/>
          </ac:picMkLst>
        </pc:picChg>
      </pc:sldChg>
      <pc:sldChg chg="addSp delSp modSp">
        <pc:chgData name="Paula-Yuan Gregory" userId="8839d734-a022-4f7a-aa1a-7ded42ea4e8b" providerId="ADAL" clId="{07E5AA47-199E-4CBF-B21D-5F186A0A99E7}" dt="2020-08-10T16:05:58.708" v="206" actId="1076"/>
        <pc:sldMkLst>
          <pc:docMk/>
          <pc:sldMk cId="1797629057" sldId="767"/>
        </pc:sldMkLst>
        <pc:spChg chg="add mod">
          <ac:chgData name="Paula-Yuan Gregory" userId="8839d734-a022-4f7a-aa1a-7ded42ea4e8b" providerId="ADAL" clId="{07E5AA47-199E-4CBF-B21D-5F186A0A99E7}" dt="2020-08-10T16:05:58.708" v="206" actId="1076"/>
          <ac:spMkLst>
            <pc:docMk/>
            <pc:sldMk cId="1797629057" sldId="767"/>
            <ac:spMk id="5" creationId="{AFA6017C-47FF-4F32-95FF-EE340E43139A}"/>
          </ac:spMkLst>
        </pc:spChg>
        <pc:picChg chg="del">
          <ac:chgData name="Paula-Yuan Gregory" userId="8839d734-a022-4f7a-aa1a-7ded42ea4e8b" providerId="ADAL" clId="{07E5AA47-199E-4CBF-B21D-5F186A0A99E7}" dt="2020-08-10T16:05:51.111" v="190" actId="478"/>
          <ac:picMkLst>
            <pc:docMk/>
            <pc:sldMk cId="1797629057" sldId="767"/>
            <ac:picMk id="4" creationId="{B1EBDCDD-FFA7-8D43-885E-1C222A3005F2}"/>
          </ac:picMkLst>
        </pc:picChg>
      </pc:sldChg>
      <pc:sldMasterChg chg="modSp modSldLayout">
        <pc:chgData name="Paula-Yuan Gregory" userId="8839d734-a022-4f7a-aa1a-7ded42ea4e8b" providerId="ADAL" clId="{07E5AA47-199E-4CBF-B21D-5F186A0A99E7}" dt="2020-07-29T16:36:33.145" v="7" actId="20577"/>
        <pc:sldMasterMkLst>
          <pc:docMk/>
          <pc:sldMasterMk cId="2871921020" sldId="2147483648"/>
        </pc:sldMasterMkLst>
        <pc:spChg chg="mod">
          <ac:chgData name="Paula-Yuan Gregory" userId="8839d734-a022-4f7a-aa1a-7ded42ea4e8b" providerId="ADAL" clId="{07E5AA47-199E-4CBF-B21D-5F186A0A99E7}" dt="2020-07-29T16:36:27.074" v="3" actId="20577"/>
          <ac:spMkLst>
            <pc:docMk/>
            <pc:sldMasterMk cId="2871921020" sldId="2147483648"/>
            <ac:spMk id="7" creationId="{21F38BD8-3F75-CE4C-AFEF-0C6B45F77F8C}"/>
          </ac:spMkLst>
        </pc:spChg>
        <pc:sldLayoutChg chg="modSp">
          <pc:chgData name="Paula-Yuan Gregory" userId="8839d734-a022-4f7a-aa1a-7ded42ea4e8b" providerId="ADAL" clId="{07E5AA47-199E-4CBF-B21D-5F186A0A99E7}" dt="2020-07-29T16:36:33.145" v="7" actId="20577"/>
          <pc:sldLayoutMkLst>
            <pc:docMk/>
            <pc:sldMasterMk cId="2871921020" sldId="2147483648"/>
            <pc:sldLayoutMk cId="3047549913" sldId="2147483649"/>
          </pc:sldLayoutMkLst>
          <pc:spChg chg="mod">
            <ac:chgData name="Paula-Yuan Gregory" userId="8839d734-a022-4f7a-aa1a-7ded42ea4e8b" providerId="ADAL" clId="{07E5AA47-199E-4CBF-B21D-5F186A0A99E7}" dt="2020-07-29T16:36:33.145" v="7"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3871565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2134052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2573106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3355476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3027583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2186825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953380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1714523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820679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r>
              <a:rPr lang="en-US"/>
              <a:t>Click icon to add picture</a:t>
            </a:r>
          </a:p>
        </p:txBody>
      </p:sp>
      <p:sp>
        <p:nvSpPr>
          <p:cNvPr id="17" name="Rectangle 16">
            <a:extLst>
              <a:ext uri="{FF2B5EF4-FFF2-40B4-BE49-F238E27FC236}">
                <a16:creationId xmlns=""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a:t>
            </a:r>
            <a:r>
              <a:rPr lang="en-US" sz="800">
                <a:solidFill>
                  <a:schemeClr val="bg2"/>
                </a:solidFill>
                <a:latin typeface="Arial" panose="020B0604020202020204" pitchFamily="34" charset="0"/>
                <a:cs typeface="Arial" panose="020B0604020202020204" pitchFamily="34" charset="0"/>
              </a:rPr>
              <a:t>© 2022 </a:t>
            </a:r>
            <a:r>
              <a:rPr lang="en-US" sz="800" dirty="0">
                <a:solidFill>
                  <a:schemeClr val="bg2"/>
                </a:solidFill>
                <a:latin typeface="Arial" panose="020B0604020202020204" pitchFamily="34" charset="0"/>
                <a:cs typeface="Arial" panose="020B0604020202020204" pitchFamily="34" charset="0"/>
              </a:rPr>
              <a:t>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r>
              <a:rPr lang="en-US"/>
              <a:t>Click icon to add picture</a:t>
            </a:r>
          </a:p>
        </p:txBody>
      </p:sp>
      <p:sp>
        <p:nvSpPr>
          <p:cNvPr id="12" name="Text Placeholder 8">
            <a:extLst>
              <a:ext uri="{FF2B5EF4-FFF2-40B4-BE49-F238E27FC236}">
                <a16:creationId xmlns=""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8">
            <a:extLst>
              <a:ext uri="{FF2B5EF4-FFF2-40B4-BE49-F238E27FC236}">
                <a16:creationId xmlns=""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r>
              <a:rPr lang="en-US"/>
              <a:t>Click icon to add picture</a:t>
            </a: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a:extLst>
              <a:ext uri="{FF2B5EF4-FFF2-40B4-BE49-F238E27FC236}">
                <a16:creationId xmlns=""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8.jpeg"/><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xmlns="" id="{CF4F1586-DE6A-1A40-AEF4-23ADA41937E4}"/>
              </a:ext>
            </a:extLst>
          </p:cNvPr>
          <p:cNvSpPr>
            <a:spLocks noGrp="1"/>
          </p:cNvSpPr>
          <p:nvPr>
            <p:ph type="subTitle" idx="1"/>
          </p:nvPr>
        </p:nvSpPr>
        <p:spPr/>
        <p:txBody>
          <a:bodyPr/>
          <a:lstStyle/>
          <a:p>
            <a:r>
              <a:rPr lang="en-US" dirty="0"/>
              <a:t>CHAPTER 8</a:t>
            </a:r>
          </a:p>
        </p:txBody>
      </p:sp>
      <p:sp>
        <p:nvSpPr>
          <p:cNvPr id="19" name="Title 18">
            <a:extLst>
              <a:ext uri="{FF2B5EF4-FFF2-40B4-BE49-F238E27FC236}">
                <a16:creationId xmlns:a16="http://schemas.microsoft.com/office/drawing/2014/main" xmlns="" id="{A58A35F8-EA88-094E-8EAD-88FE6A07C447}"/>
              </a:ext>
            </a:extLst>
          </p:cNvPr>
          <p:cNvSpPr>
            <a:spLocks noGrp="1"/>
          </p:cNvSpPr>
          <p:nvPr>
            <p:ph type="ctrTitle"/>
          </p:nvPr>
        </p:nvSpPr>
        <p:spPr/>
        <p:txBody>
          <a:bodyPr/>
          <a:lstStyle/>
          <a:p>
            <a:r>
              <a:rPr lang="en-US" dirty="0"/>
              <a:t>Professional Rescuer CPR</a:t>
            </a:r>
          </a:p>
        </p:txBody>
      </p:sp>
      <p:pic>
        <p:nvPicPr>
          <p:cNvPr id="6" name="Picture 5"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2928734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8-1 </a:t>
            </a:r>
            <a:r>
              <a:rPr lang="en-US" sz="2800" dirty="0"/>
              <a:t>Performing Adult Chest </a:t>
            </a:r>
            <a:r>
              <a:rPr lang="en-US" sz="2800" dirty="0" smtClean="0"/>
              <a:t>Compressions </a:t>
            </a:r>
            <a:r>
              <a:rPr lang="en-US" sz="2800" b="0" dirty="0" smtClean="0"/>
              <a:t>(1-2)</a:t>
            </a:r>
            <a:endParaRPr lang="en-US" sz="2800" b="0" dirty="0"/>
          </a:p>
        </p:txBody>
      </p:sp>
      <p:sp>
        <p:nvSpPr>
          <p:cNvPr id="11" name="Rectangle 10"/>
          <p:cNvSpPr/>
          <p:nvPr/>
        </p:nvSpPr>
        <p:spPr>
          <a:xfrm>
            <a:off x="1049442" y="4416213"/>
            <a:ext cx="4436958" cy="830997"/>
          </a:xfrm>
          <a:prstGeom prst="rect">
            <a:avLst/>
          </a:prstGeom>
        </p:spPr>
        <p:txBody>
          <a:bodyPr wrap="square">
            <a:spAutoFit/>
          </a:bodyPr>
          <a:lstStyle/>
          <a:p>
            <a:r>
              <a:rPr lang="en-US" sz="1600" b="1" dirty="0" smtClean="0"/>
              <a:t>Step 1 </a:t>
            </a:r>
            <a:r>
              <a:rPr lang="en-US" sz="1600" dirty="0" smtClean="0"/>
              <a:t>Locate </a:t>
            </a:r>
            <a:r>
              <a:rPr lang="en-US" sz="1600" dirty="0"/>
              <a:t>the top and bottom of the sternum. Place the heel of your hand in the center of the chest, on the lower half of the sternum.</a:t>
            </a:r>
          </a:p>
        </p:txBody>
      </p:sp>
      <p:sp>
        <p:nvSpPr>
          <p:cNvPr id="12" name="Rectangle 11"/>
          <p:cNvSpPr/>
          <p:nvPr/>
        </p:nvSpPr>
        <p:spPr>
          <a:xfrm>
            <a:off x="1049442" y="5245101"/>
            <a:ext cx="2919308"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6057900" y="4149513"/>
            <a:ext cx="5334000" cy="2308324"/>
          </a:xfrm>
          <a:prstGeom prst="rect">
            <a:avLst/>
          </a:prstGeom>
        </p:spPr>
        <p:txBody>
          <a:bodyPr wrap="square">
            <a:spAutoFit/>
          </a:bodyPr>
          <a:lstStyle/>
          <a:p>
            <a:r>
              <a:rPr lang="en-US" sz="1600" b="1" dirty="0" smtClean="0"/>
              <a:t>Step 2 </a:t>
            </a:r>
            <a:r>
              <a:rPr lang="en-US" sz="1600" dirty="0" smtClean="0"/>
              <a:t>Place </a:t>
            </a:r>
            <a:r>
              <a:rPr lang="en-US" sz="1600" dirty="0"/>
              <a:t>your other hand on top of your first hand and interlock your fingers. It is important to locate and maintain the proper hand position while applying chest compressions. If your hands are too high, the force you apply will not produce adequate chest compressions. If your hands are too low, the force you apply may damage the liver. If your hands slip sideways off the sternum and onto the ribs, the compressions will not be effective and you may damage the ribs and lungs.</a:t>
            </a:r>
          </a:p>
        </p:txBody>
      </p:sp>
      <p:sp>
        <p:nvSpPr>
          <p:cNvPr id="15" name="Rectangle 14"/>
          <p:cNvSpPr/>
          <p:nvPr/>
        </p:nvSpPr>
        <p:spPr>
          <a:xfrm>
            <a:off x="6046892" y="6438900"/>
            <a:ext cx="2868508" cy="246221"/>
          </a:xfrm>
          <a:prstGeom prst="rect">
            <a:avLst/>
          </a:prstGeom>
        </p:spPr>
        <p:txBody>
          <a:bodyPr wrap="square">
            <a:spAutoFit/>
          </a:bodyPr>
          <a:lstStyle/>
          <a:p>
            <a:r>
              <a:rPr lang="en-US" sz="1000" dirty="0"/>
              <a:t>© Jones &amp; Bartlett Learning. Courtesy of MIEMSS. </a:t>
            </a:r>
          </a:p>
        </p:txBody>
      </p:sp>
      <p:pic>
        <p:nvPicPr>
          <p:cNvPr id="1027" name="Picture 3" descr="The photo shows a bare-chested man lying on his back on the floor. A person kneeling by the side places one gloved hand on the man's chest. &#10;" title="A photo shows Step 1 of the process of performing adult chest compress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1582381"/>
            <a:ext cx="4152900" cy="28075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photo shows a bare-chested man lying on his back on the floor. A person wearing gloves places both his hands on the man's chest, with one hand placed on top of the other.&#10;" title="A photo shows Step 2 of the process of performing adult chest compressions.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5850" y="1582381"/>
            <a:ext cx="3797300" cy="2567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62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8-1 </a:t>
            </a:r>
            <a:r>
              <a:rPr lang="en-US" sz="2800" dirty="0"/>
              <a:t>Performing Adult Chest </a:t>
            </a:r>
            <a:r>
              <a:rPr lang="en-US" sz="2800" dirty="0" smtClean="0"/>
              <a:t>Compressions </a:t>
            </a:r>
            <a:r>
              <a:rPr lang="en-US" sz="2800" b="0" dirty="0" smtClean="0"/>
              <a:t>(2-2</a:t>
            </a:r>
            <a:r>
              <a:rPr lang="en-US" sz="2800" b="0" dirty="0"/>
              <a:t>)</a:t>
            </a:r>
          </a:p>
        </p:txBody>
      </p:sp>
      <p:sp>
        <p:nvSpPr>
          <p:cNvPr id="14" name="Rectangle 13"/>
          <p:cNvSpPr/>
          <p:nvPr/>
        </p:nvSpPr>
        <p:spPr>
          <a:xfrm>
            <a:off x="914400" y="4022513"/>
            <a:ext cx="10287000" cy="2308324"/>
          </a:xfrm>
          <a:prstGeom prst="rect">
            <a:avLst/>
          </a:prstGeom>
        </p:spPr>
        <p:txBody>
          <a:bodyPr wrap="square">
            <a:spAutoFit/>
          </a:bodyPr>
          <a:lstStyle/>
          <a:p>
            <a:r>
              <a:rPr lang="en-US" sz="1600" b="1" dirty="0" smtClean="0"/>
              <a:t>Step 3 </a:t>
            </a:r>
            <a:r>
              <a:rPr lang="en-US" sz="1600" dirty="0" smtClean="0"/>
              <a:t>After </a:t>
            </a:r>
            <a:r>
              <a:rPr lang="en-US" sz="1600" dirty="0"/>
              <a:t>you have both hands in the proper position, compress the chest of an adult at least 2 inches (5 cm) straight down. For compressions to be effective, stay close to the patient’s side and lean forward so that your arms are directly over the patient. Keep your back straight and your elbows stiff so you can apply the force of your whole body to each compression, not just your arm muscles. Between compressions, make sure you completely release pressure on the chest to allow maximum filling of the patient’s heart. Never lean on the chest during compressions. Compressions must be rhythmic and continuous. Each compression cycle consists of one downward push followed by a rest so that the heart can refill with blood. Push hard and push fast. Compressions should be at the rate of 100 to 120 compressions per minute in all patients—adults, children, and infants. After every 30 chest compressions, give two rescue breaths (1 second per breath). Practice on a manikin until you can compress the chest smoothly and rhythmically</a:t>
            </a:r>
            <a:r>
              <a:rPr lang="en-US" sz="1600" dirty="0" smtClean="0"/>
              <a:t>.</a:t>
            </a:r>
            <a:endParaRPr lang="en-US" sz="1600" dirty="0"/>
          </a:p>
        </p:txBody>
      </p:sp>
      <p:sp>
        <p:nvSpPr>
          <p:cNvPr id="15" name="Rectangle 14"/>
          <p:cNvSpPr/>
          <p:nvPr/>
        </p:nvSpPr>
        <p:spPr>
          <a:xfrm>
            <a:off x="916092" y="6286500"/>
            <a:ext cx="2868508" cy="246221"/>
          </a:xfrm>
          <a:prstGeom prst="rect">
            <a:avLst/>
          </a:prstGeom>
        </p:spPr>
        <p:txBody>
          <a:bodyPr wrap="square">
            <a:spAutoFit/>
          </a:bodyPr>
          <a:lstStyle/>
          <a:p>
            <a:r>
              <a:rPr lang="en-US" sz="1000" dirty="0"/>
              <a:t>© Jones &amp; Bartlett Learning. Courtesy of MIEMSS. </a:t>
            </a:r>
          </a:p>
        </p:txBody>
      </p:sp>
      <p:pic>
        <p:nvPicPr>
          <p:cNvPr id="5" name="Picture 2" descr="The photo shows a bare-chested man lying on his back on the floor. An emergency responder kneels by the side and presses down with both his gloved hands on the man's chest, one hand placed on top of the other.&#10;" title="A photo shows Step 3 of the process of performing adult chest compress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1900" y="1512676"/>
            <a:ext cx="4572000" cy="2486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450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8-2 </a:t>
            </a:r>
            <a:r>
              <a:rPr lang="en-US" sz="2800" dirty="0"/>
              <a:t>Performing One-Rescuer Adult CPR </a:t>
            </a:r>
            <a:r>
              <a:rPr lang="en-US" sz="2800" b="0" dirty="0" smtClean="0"/>
              <a:t>(1-3)</a:t>
            </a:r>
            <a:endParaRPr lang="en-US" sz="2800" b="0" dirty="0"/>
          </a:p>
        </p:txBody>
      </p:sp>
      <p:sp>
        <p:nvSpPr>
          <p:cNvPr id="11" name="Rectangle 10"/>
          <p:cNvSpPr/>
          <p:nvPr/>
        </p:nvSpPr>
        <p:spPr>
          <a:xfrm>
            <a:off x="685800" y="4454313"/>
            <a:ext cx="4914900" cy="1815882"/>
          </a:xfrm>
          <a:prstGeom prst="rect">
            <a:avLst/>
          </a:prstGeom>
        </p:spPr>
        <p:txBody>
          <a:bodyPr wrap="square">
            <a:spAutoFit/>
          </a:bodyPr>
          <a:lstStyle/>
          <a:p>
            <a:r>
              <a:rPr lang="en-US" sz="1600" b="1" dirty="0" smtClean="0"/>
              <a:t>Step 1 </a:t>
            </a:r>
            <a:r>
              <a:rPr lang="en-US" sz="1600" dirty="0" smtClean="0"/>
              <a:t>Establish </a:t>
            </a:r>
            <a:r>
              <a:rPr lang="en-US" sz="1600" dirty="0"/>
              <a:t>unresponsiveness. Ask the patient, “Are you okay?” Gently shake the patient’s shoulder. If you do not get a response, call for additional help, activate the EMS system, and send someone to get an AED if one is available. Position the patient so he or she is flat on his or her back on a hard surface. Position yourself so that your knees are alongside the patient’s chest.</a:t>
            </a:r>
          </a:p>
        </p:txBody>
      </p:sp>
      <p:sp>
        <p:nvSpPr>
          <p:cNvPr id="12" name="Rectangle 11"/>
          <p:cNvSpPr/>
          <p:nvPr/>
        </p:nvSpPr>
        <p:spPr>
          <a:xfrm>
            <a:off x="674792" y="6273801"/>
            <a:ext cx="2919308"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5988050" y="4447963"/>
            <a:ext cx="5334000" cy="830997"/>
          </a:xfrm>
          <a:prstGeom prst="rect">
            <a:avLst/>
          </a:prstGeom>
        </p:spPr>
        <p:txBody>
          <a:bodyPr wrap="square">
            <a:spAutoFit/>
          </a:bodyPr>
          <a:lstStyle/>
          <a:p>
            <a:r>
              <a:rPr lang="en-US" sz="1600" b="1" dirty="0" smtClean="0"/>
              <a:t>Step 2 </a:t>
            </a:r>
            <a:r>
              <a:rPr lang="en-US" sz="1600" dirty="0" smtClean="0"/>
              <a:t>Determine </a:t>
            </a:r>
            <a:r>
              <a:rPr lang="en-US" sz="1600" dirty="0" err="1"/>
              <a:t>pulselessness</a:t>
            </a:r>
            <a:r>
              <a:rPr lang="en-US" sz="1600" dirty="0"/>
              <a:t> by checking the carotid pulse and simultaneously checking for no breathing or only gasping. Check the pulse and breathing for no more than 10 seconds.</a:t>
            </a:r>
          </a:p>
        </p:txBody>
      </p:sp>
      <p:sp>
        <p:nvSpPr>
          <p:cNvPr id="15" name="Rectangle 14"/>
          <p:cNvSpPr/>
          <p:nvPr/>
        </p:nvSpPr>
        <p:spPr>
          <a:xfrm>
            <a:off x="6002442" y="5251450"/>
            <a:ext cx="2868508" cy="246221"/>
          </a:xfrm>
          <a:prstGeom prst="rect">
            <a:avLst/>
          </a:prstGeom>
        </p:spPr>
        <p:txBody>
          <a:bodyPr wrap="square">
            <a:spAutoFit/>
          </a:bodyPr>
          <a:lstStyle/>
          <a:p>
            <a:r>
              <a:rPr lang="en-US" sz="1000" dirty="0"/>
              <a:t>© Jones &amp; Bartlett Learning. Courtesy of MIEMSS. </a:t>
            </a:r>
          </a:p>
        </p:txBody>
      </p:sp>
      <p:pic>
        <p:nvPicPr>
          <p:cNvPr id="2050" name="Picture 2" descr="The photo shows a responder's gloved hands checking the pulse by the side of an elderly man's neck as he lies on his back on the floor. &#10;" title="A photo shows Step 2 of the process of performing one-rescuer adult C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672355"/>
            <a:ext cx="4676794" cy="275005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The photo shows a bare-chested elderly man lying on his back on the floor. A person wearing a uniform and gloves kneels by the side and places her hands gently on the patient's chest.&#10;" title="A photo shows Step 1 of the process of performing one-rescuer adult C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950" y="1507099"/>
            <a:ext cx="4914900" cy="2890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84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8-2 </a:t>
            </a:r>
            <a:r>
              <a:rPr lang="en-US" sz="2800" dirty="0"/>
              <a:t>Performing One-Rescuer Adult CPR </a:t>
            </a:r>
            <a:r>
              <a:rPr lang="en-US" sz="2800" b="0" dirty="0" smtClean="0"/>
              <a:t>(2-3)</a:t>
            </a:r>
            <a:endParaRPr lang="en-US" sz="2800" b="0" dirty="0"/>
          </a:p>
        </p:txBody>
      </p:sp>
      <p:sp>
        <p:nvSpPr>
          <p:cNvPr id="14" name="Rectangle 13"/>
          <p:cNvSpPr/>
          <p:nvPr/>
        </p:nvSpPr>
        <p:spPr>
          <a:xfrm>
            <a:off x="1943100" y="4467013"/>
            <a:ext cx="9283700" cy="2062103"/>
          </a:xfrm>
          <a:prstGeom prst="rect">
            <a:avLst/>
          </a:prstGeom>
        </p:spPr>
        <p:txBody>
          <a:bodyPr wrap="square">
            <a:spAutoFit/>
          </a:bodyPr>
          <a:lstStyle/>
          <a:p>
            <a:r>
              <a:rPr lang="en-US" sz="1600" b="1" dirty="0" smtClean="0"/>
              <a:t>Step 3 </a:t>
            </a:r>
            <a:r>
              <a:rPr lang="en-US" sz="1600" dirty="0" smtClean="0"/>
              <a:t>If </a:t>
            </a:r>
            <a:r>
              <a:rPr lang="en-US" sz="1600" dirty="0"/>
              <a:t>the patient has no pulse and is not breathing or only gasping, begin chest compressions. Place the heel of one hand in the center of the chest, on the lower half of the sternum. Place your other hand on top of the first. Lock your fingers together and pull upward so that the only thing touching the patient’s chest is the heel of your hand. Lean forward so your shoulders are directly over your hands and the patient’s sternum. Keep your arms straight and compress the sternum at least 2 inches (5 cm), using the weight of your body. Relax between compressions, allowing the chest to fully recoil. Give 30 compressions at a rate of 100 to 120 compressions per minute, and count each one out loud as follows: “One and two and three and . . . .” Each set of 30 compressions should take between 15 and 18 seconds to complete.</a:t>
            </a:r>
          </a:p>
        </p:txBody>
      </p:sp>
      <p:sp>
        <p:nvSpPr>
          <p:cNvPr id="15" name="Rectangle 14"/>
          <p:cNvSpPr/>
          <p:nvPr/>
        </p:nvSpPr>
        <p:spPr>
          <a:xfrm>
            <a:off x="1932092" y="6477000"/>
            <a:ext cx="2868508" cy="246221"/>
          </a:xfrm>
          <a:prstGeom prst="rect">
            <a:avLst/>
          </a:prstGeom>
        </p:spPr>
        <p:txBody>
          <a:bodyPr wrap="square">
            <a:spAutoFit/>
          </a:bodyPr>
          <a:lstStyle/>
          <a:p>
            <a:r>
              <a:rPr lang="en-US" sz="1000" dirty="0"/>
              <a:t>© Jones &amp; Bartlett Learning. Courtesy of MIEMSS. </a:t>
            </a:r>
          </a:p>
        </p:txBody>
      </p:sp>
      <p:pic>
        <p:nvPicPr>
          <p:cNvPr id="3074" name="Picture 2" descr="The photo shows a bare-chested elderly man lying on his back on the floor. An emergency responder wearing gloves kneels by the side and presses down with both hands on the man's chest, one hand placed on top of the other.&#10;" title="A photo shows Step 3 of the process of performing one-rescuer adult C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1607131"/>
            <a:ext cx="4724400" cy="2778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696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8-2 </a:t>
            </a:r>
            <a:r>
              <a:rPr lang="en-US" sz="2800" dirty="0"/>
              <a:t>Performing One-Rescuer Adult CPR </a:t>
            </a:r>
            <a:r>
              <a:rPr lang="en-US" sz="2800" b="0" dirty="0" smtClean="0"/>
              <a:t>(3-3)</a:t>
            </a:r>
            <a:endParaRPr lang="en-US" sz="2800" b="0" dirty="0"/>
          </a:p>
        </p:txBody>
      </p:sp>
      <p:sp>
        <p:nvSpPr>
          <p:cNvPr id="11" name="Rectangle 10"/>
          <p:cNvSpPr/>
          <p:nvPr/>
        </p:nvSpPr>
        <p:spPr>
          <a:xfrm>
            <a:off x="774700" y="4651163"/>
            <a:ext cx="4914900" cy="830997"/>
          </a:xfrm>
          <a:prstGeom prst="rect">
            <a:avLst/>
          </a:prstGeom>
        </p:spPr>
        <p:txBody>
          <a:bodyPr wrap="square">
            <a:spAutoFit/>
          </a:bodyPr>
          <a:lstStyle/>
          <a:p>
            <a:r>
              <a:rPr lang="en-US" sz="1600" b="1" dirty="0" smtClean="0"/>
              <a:t>Step 4 </a:t>
            </a:r>
            <a:r>
              <a:rPr lang="en-US" sz="1600" dirty="0" smtClean="0"/>
              <a:t>After </a:t>
            </a:r>
            <a:r>
              <a:rPr lang="en-US" sz="1600" dirty="0"/>
              <a:t>30 chest compressions, open the airway using a head tilt–chin lift or a jaw-thrust maneuver if you suspect a head or spinal injury.</a:t>
            </a:r>
          </a:p>
        </p:txBody>
      </p:sp>
      <p:sp>
        <p:nvSpPr>
          <p:cNvPr id="12" name="Rectangle 11"/>
          <p:cNvSpPr/>
          <p:nvPr/>
        </p:nvSpPr>
        <p:spPr>
          <a:xfrm>
            <a:off x="750992" y="5467351"/>
            <a:ext cx="2919308"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6096000" y="4644813"/>
            <a:ext cx="5334000" cy="1323439"/>
          </a:xfrm>
          <a:prstGeom prst="rect">
            <a:avLst/>
          </a:prstGeom>
        </p:spPr>
        <p:txBody>
          <a:bodyPr wrap="square">
            <a:spAutoFit/>
          </a:bodyPr>
          <a:lstStyle/>
          <a:p>
            <a:r>
              <a:rPr lang="en-US" sz="1600" b="1" dirty="0" smtClean="0"/>
              <a:t>Step 5 </a:t>
            </a:r>
            <a:r>
              <a:rPr lang="en-US" sz="1600" dirty="0" smtClean="0"/>
              <a:t>Give </a:t>
            </a:r>
            <a:r>
              <a:rPr lang="en-US" sz="1600" dirty="0"/>
              <a:t>two rescue breaths (1 second each). Ensure that each breath produces visible chest rise. Continue cycles of 30 compressions and two rescue breaths until an AED arrives, patient care is assumed by other providers, or the patient starts to move.</a:t>
            </a:r>
          </a:p>
        </p:txBody>
      </p:sp>
      <p:sp>
        <p:nvSpPr>
          <p:cNvPr id="15" name="Rectangle 14"/>
          <p:cNvSpPr/>
          <p:nvPr/>
        </p:nvSpPr>
        <p:spPr>
          <a:xfrm>
            <a:off x="6084992" y="5918200"/>
            <a:ext cx="2868508" cy="246221"/>
          </a:xfrm>
          <a:prstGeom prst="rect">
            <a:avLst/>
          </a:prstGeom>
        </p:spPr>
        <p:txBody>
          <a:bodyPr wrap="square">
            <a:spAutoFit/>
          </a:bodyPr>
          <a:lstStyle/>
          <a:p>
            <a:r>
              <a:rPr lang="en-US" sz="1000" dirty="0"/>
              <a:t>© Jones &amp; Bartlett Learning. Courtesy of MIEMSS. </a:t>
            </a:r>
          </a:p>
        </p:txBody>
      </p:sp>
      <p:pic>
        <p:nvPicPr>
          <p:cNvPr id="4098" name="Picture 2" descr="The photo shows a bare-chested elderly man lying on his back on the floor. An emergency responder wearing gloves kneels by the side and bends down to the man's face and breathes into a mask placed over his nose and mouth.&#10;" title="A photo shows Step 5 of the process of performing one-rescuer adult C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5746" y="1699012"/>
            <a:ext cx="4914900" cy="2890064"/>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The photo shows a bare-chested elderly man lying on his back on the floor. An emergency responder wearing gloves kneels by the side and holds the man's face in her hands. She tilts his chin up while holding down his forehead with the other hand. &#10;" title="A photo shows Step 4 of the process of performing one-rescuer adult C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92" y="1699012"/>
            <a:ext cx="4914900" cy="2890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7132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8-3 </a:t>
            </a:r>
            <a:r>
              <a:rPr lang="en-US" sz="2800" dirty="0"/>
              <a:t>Performing Two-Rescuer Adult CPR </a:t>
            </a:r>
            <a:r>
              <a:rPr lang="en-US" sz="2800" b="0" dirty="0" smtClean="0"/>
              <a:t>(1-2)</a:t>
            </a:r>
            <a:endParaRPr lang="en-US" sz="2800" b="0" dirty="0"/>
          </a:p>
        </p:txBody>
      </p:sp>
      <p:sp>
        <p:nvSpPr>
          <p:cNvPr id="11" name="Rectangle 10"/>
          <p:cNvSpPr/>
          <p:nvPr/>
        </p:nvSpPr>
        <p:spPr>
          <a:xfrm>
            <a:off x="533400" y="4416213"/>
            <a:ext cx="3314700" cy="1323439"/>
          </a:xfrm>
          <a:prstGeom prst="rect">
            <a:avLst/>
          </a:prstGeom>
        </p:spPr>
        <p:txBody>
          <a:bodyPr wrap="square">
            <a:spAutoFit/>
          </a:bodyPr>
          <a:lstStyle/>
          <a:p>
            <a:r>
              <a:rPr lang="en-US" sz="1600" b="1" dirty="0" smtClean="0"/>
              <a:t>Step 1 </a:t>
            </a:r>
            <a:r>
              <a:rPr lang="en-US" sz="1600" dirty="0" smtClean="0"/>
              <a:t>Rescuer </a:t>
            </a:r>
            <a:r>
              <a:rPr lang="en-US" sz="1600" dirty="0"/>
              <a:t>1 establishes unresponsiveness. Rescuer 2 moves to the patient’s side to be ready to deliver chest compressions. Rescuer 1 activates the EMS system.</a:t>
            </a:r>
          </a:p>
        </p:txBody>
      </p:sp>
      <p:sp>
        <p:nvSpPr>
          <p:cNvPr id="12" name="Rectangle 11"/>
          <p:cNvSpPr/>
          <p:nvPr/>
        </p:nvSpPr>
        <p:spPr>
          <a:xfrm>
            <a:off x="522392" y="5670551"/>
            <a:ext cx="2780801"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4140200" y="4416213"/>
            <a:ext cx="3822700" cy="2062103"/>
          </a:xfrm>
          <a:prstGeom prst="rect">
            <a:avLst/>
          </a:prstGeom>
        </p:spPr>
        <p:txBody>
          <a:bodyPr wrap="square">
            <a:spAutoFit/>
          </a:bodyPr>
          <a:lstStyle/>
          <a:p>
            <a:r>
              <a:rPr lang="en-US" sz="1600" b="1" dirty="0" smtClean="0"/>
              <a:t>Step 2 </a:t>
            </a:r>
            <a:r>
              <a:rPr lang="en-US" sz="1600" dirty="0" smtClean="0"/>
              <a:t>If </a:t>
            </a:r>
            <a:r>
              <a:rPr lang="en-US" sz="1600" dirty="0"/>
              <a:t>the patient is unresponsive, rescuer 1 determines </a:t>
            </a:r>
            <a:r>
              <a:rPr lang="en-US" sz="1600" dirty="0" err="1"/>
              <a:t>pulselessness</a:t>
            </a:r>
            <a:r>
              <a:rPr lang="en-US" sz="1600" dirty="0"/>
              <a:t>. Rescuer 1 simultaneously checks for signs of circulation and breathing by checking the carotid pulse and watching for chest rise for no more than 10 seconds. If the patient has no pulse and is not breathing or only gasping, continue to step 3.</a:t>
            </a:r>
          </a:p>
        </p:txBody>
      </p:sp>
      <p:sp>
        <p:nvSpPr>
          <p:cNvPr id="15" name="Rectangle 14"/>
          <p:cNvSpPr/>
          <p:nvPr/>
        </p:nvSpPr>
        <p:spPr>
          <a:xfrm>
            <a:off x="4154592" y="6459379"/>
            <a:ext cx="2868508" cy="246221"/>
          </a:xfrm>
          <a:prstGeom prst="rect">
            <a:avLst/>
          </a:prstGeom>
        </p:spPr>
        <p:txBody>
          <a:bodyPr wrap="square">
            <a:spAutoFit/>
          </a:bodyPr>
          <a:lstStyle/>
          <a:p>
            <a:r>
              <a:rPr lang="en-US" sz="1000" dirty="0"/>
              <a:t>© Jones &amp; Bartlett Learning. Courtesy of MIEMSS. </a:t>
            </a:r>
          </a:p>
        </p:txBody>
      </p:sp>
      <p:sp>
        <p:nvSpPr>
          <p:cNvPr id="7" name="Rectangle 6"/>
          <p:cNvSpPr/>
          <p:nvPr/>
        </p:nvSpPr>
        <p:spPr>
          <a:xfrm>
            <a:off x="8242300" y="4352713"/>
            <a:ext cx="3556000" cy="1569660"/>
          </a:xfrm>
          <a:prstGeom prst="rect">
            <a:avLst/>
          </a:prstGeom>
        </p:spPr>
        <p:txBody>
          <a:bodyPr wrap="square">
            <a:spAutoFit/>
          </a:bodyPr>
          <a:lstStyle/>
          <a:p>
            <a:r>
              <a:rPr lang="en-US" sz="1600" b="1" dirty="0" smtClean="0"/>
              <a:t>Step 3 </a:t>
            </a:r>
            <a:r>
              <a:rPr lang="en-US" sz="1600" dirty="0" smtClean="0"/>
              <a:t>The </a:t>
            </a:r>
            <a:r>
              <a:rPr lang="en-US" sz="1600" dirty="0"/>
              <a:t>rescuers begin CPR, starting with chest compressions. Rescuer 2 performs 30 chest compressions at a rate of 100 to 120 compressions per minute. Establish responsiveness and lack of breathing.</a:t>
            </a:r>
          </a:p>
        </p:txBody>
      </p:sp>
      <p:sp>
        <p:nvSpPr>
          <p:cNvPr id="8" name="Rectangle 7"/>
          <p:cNvSpPr/>
          <p:nvPr/>
        </p:nvSpPr>
        <p:spPr>
          <a:xfrm>
            <a:off x="8231292" y="5867401"/>
            <a:ext cx="2983234" cy="254000"/>
          </a:xfrm>
          <a:prstGeom prst="rect">
            <a:avLst/>
          </a:prstGeom>
        </p:spPr>
        <p:txBody>
          <a:bodyPr wrap="square">
            <a:spAutoFit/>
          </a:bodyPr>
          <a:lstStyle/>
          <a:p>
            <a:r>
              <a:rPr lang="en-US" sz="1000" dirty="0"/>
              <a:t>© Jones &amp; Bartlett Learning. Courtesy of MIEMSS. </a:t>
            </a:r>
          </a:p>
        </p:txBody>
      </p:sp>
      <p:pic>
        <p:nvPicPr>
          <p:cNvPr id="5122" name="Picture 2" descr="The photo shows a bare-chested elderly man lying on his back on the floor. A person wearing a uniform and gloves kneels by the side and places her hands gently on the patient's chest.&#10;" title="A photo shows Step 1 of the process of performing two-rescuer adult C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2553282"/>
            <a:ext cx="3048000" cy="1792288"/>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The photo shows a responder's gloved hands checking the pulse on the side of an elderly man's neck as he lies on his back on the floor. A bag-mask device can be seen on the floor near the patient.&#10;" title="A photo shows Step 2 of the process of performing two-rescuer adult C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6342" y="2534232"/>
            <a:ext cx="3048000" cy="179228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The photo shows a bare-chested elderly man lying on his back on the floor. An emergency responder wearing gloves kneels by the side and presses down with both hands on the man's chest, one hand placed on top of the other.&#10;" title="A photo shows Step 3 of the process of performing two-rescuer adult C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56600" y="2199270"/>
            <a:ext cx="3048000" cy="212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798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8-3 </a:t>
            </a:r>
            <a:r>
              <a:rPr lang="en-US" sz="2800" dirty="0"/>
              <a:t>Performing Two-Rescuer Adult CPR </a:t>
            </a:r>
            <a:r>
              <a:rPr lang="en-US" sz="2800" b="0" dirty="0" smtClean="0"/>
              <a:t>(2-2)</a:t>
            </a:r>
            <a:endParaRPr lang="en-US" sz="2800" b="0" dirty="0"/>
          </a:p>
        </p:txBody>
      </p:sp>
      <p:sp>
        <p:nvSpPr>
          <p:cNvPr id="11" name="Rectangle 10"/>
          <p:cNvSpPr/>
          <p:nvPr/>
        </p:nvSpPr>
        <p:spPr>
          <a:xfrm>
            <a:off x="801792" y="4444576"/>
            <a:ext cx="4470400" cy="830997"/>
          </a:xfrm>
          <a:prstGeom prst="rect">
            <a:avLst/>
          </a:prstGeom>
        </p:spPr>
        <p:txBody>
          <a:bodyPr wrap="square">
            <a:spAutoFit/>
          </a:bodyPr>
          <a:lstStyle/>
          <a:p>
            <a:r>
              <a:rPr lang="en-US" sz="1600" b="1" dirty="0" smtClean="0"/>
              <a:t>Step 4 </a:t>
            </a:r>
            <a:r>
              <a:rPr lang="en-US" sz="1600" dirty="0" smtClean="0"/>
              <a:t>Rescuer </a:t>
            </a:r>
            <a:r>
              <a:rPr lang="en-US" sz="1600" dirty="0"/>
              <a:t>1 opens the airway with a head tilt–chin lift or, in the case of a trauma or if a head or spinal injury is suspected, a jaw-thrust maneuver.</a:t>
            </a:r>
          </a:p>
        </p:txBody>
      </p:sp>
      <p:sp>
        <p:nvSpPr>
          <p:cNvPr id="12" name="Rectangle 11"/>
          <p:cNvSpPr/>
          <p:nvPr/>
        </p:nvSpPr>
        <p:spPr>
          <a:xfrm>
            <a:off x="763692" y="5308601"/>
            <a:ext cx="3295764" cy="254000"/>
          </a:xfrm>
          <a:prstGeom prst="rect">
            <a:avLst/>
          </a:prstGeom>
        </p:spPr>
        <p:txBody>
          <a:bodyPr wrap="square">
            <a:spAutoFit/>
          </a:bodyPr>
          <a:lstStyle/>
          <a:p>
            <a:r>
              <a:rPr lang="en-US" sz="1000" dirty="0"/>
              <a:t>© Jones &amp; Bartlett Learning. Courtesy of MIEMSS. </a:t>
            </a:r>
          </a:p>
        </p:txBody>
      </p:sp>
      <p:sp>
        <p:nvSpPr>
          <p:cNvPr id="7" name="Rectangle 6"/>
          <p:cNvSpPr/>
          <p:nvPr/>
        </p:nvSpPr>
        <p:spPr>
          <a:xfrm>
            <a:off x="5816600" y="4454313"/>
            <a:ext cx="5486400" cy="1815882"/>
          </a:xfrm>
          <a:prstGeom prst="rect">
            <a:avLst/>
          </a:prstGeom>
        </p:spPr>
        <p:txBody>
          <a:bodyPr wrap="square">
            <a:spAutoFit/>
          </a:bodyPr>
          <a:lstStyle/>
          <a:p>
            <a:r>
              <a:rPr lang="en-US" sz="1600" b="1" dirty="0" smtClean="0"/>
              <a:t>Step 5 </a:t>
            </a:r>
            <a:r>
              <a:rPr lang="en-US" sz="1600" dirty="0" smtClean="0"/>
              <a:t>Rescuer </a:t>
            </a:r>
            <a:r>
              <a:rPr lang="en-US" sz="1600" dirty="0"/>
              <a:t>1 gives two ventilations of 1 second each and observes for visible chest rise. Continue CPR for five cycles of 30 compressions and two ventilations (about 2 minutes). After 2 minutes of CPR, the rescuers switch positions. The switch time should take no longer than 5 seconds. Continue cycles of 30 chest compressions and two ventilations until an AED arrives, ALS personnel take over, or the patient starts to move.</a:t>
            </a:r>
          </a:p>
        </p:txBody>
      </p:sp>
      <p:sp>
        <p:nvSpPr>
          <p:cNvPr id="8" name="Rectangle 7"/>
          <p:cNvSpPr/>
          <p:nvPr/>
        </p:nvSpPr>
        <p:spPr>
          <a:xfrm>
            <a:off x="5843692" y="6248401"/>
            <a:ext cx="2983234" cy="254000"/>
          </a:xfrm>
          <a:prstGeom prst="rect">
            <a:avLst/>
          </a:prstGeom>
        </p:spPr>
        <p:txBody>
          <a:bodyPr wrap="square">
            <a:spAutoFit/>
          </a:bodyPr>
          <a:lstStyle/>
          <a:p>
            <a:r>
              <a:rPr lang="en-US" sz="1000" dirty="0"/>
              <a:t>© Jones &amp; Bartlett Learning. Courtesy of MIEMSS. </a:t>
            </a:r>
          </a:p>
        </p:txBody>
      </p:sp>
      <p:pic>
        <p:nvPicPr>
          <p:cNvPr id="6146" name="Picture 2" descr="The photo shows a bare-chested elderly man lying on his back on the floor. Two emergency responders wearing gloves can be seen - one kneels above the man's head and holds a mask over his nose and mouth, while the other kneels by the side of the man's chest.&#10;" title="A photo shows Step 5 of the process of performing two-rescuer adult C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0842" y="1727781"/>
            <a:ext cx="4572000" cy="2688432"/>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3" descr="The photo shows a bare-chested elderly man lying on his back on the floor. An emergency responder wearing gloves kneels by the side and holds the man's face in her hands. She tilts his chin up while holding down his forehead with the other hand. &#10;" title="A photo shows Step 4 of the process of performing two-rescuer adult C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876" y="1725308"/>
            <a:ext cx="4505648" cy="2653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2944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700" b="0" dirty="0" smtClean="0"/>
              <a:t>Skill Drill 8-4 </a:t>
            </a:r>
            <a:r>
              <a:rPr lang="en-US" sz="2700" dirty="0"/>
              <a:t>Performing Automated External Defibrillation </a:t>
            </a:r>
            <a:r>
              <a:rPr lang="en-US" sz="2700" b="0" dirty="0" smtClean="0"/>
              <a:t>(1-2)</a:t>
            </a:r>
            <a:endParaRPr lang="en-US" sz="2700" b="0" dirty="0"/>
          </a:p>
        </p:txBody>
      </p:sp>
      <p:sp>
        <p:nvSpPr>
          <p:cNvPr id="11" name="Rectangle 10"/>
          <p:cNvSpPr/>
          <p:nvPr/>
        </p:nvSpPr>
        <p:spPr>
          <a:xfrm>
            <a:off x="317500" y="4435263"/>
            <a:ext cx="3454400" cy="1292662"/>
          </a:xfrm>
          <a:prstGeom prst="rect">
            <a:avLst/>
          </a:prstGeom>
        </p:spPr>
        <p:txBody>
          <a:bodyPr wrap="square">
            <a:spAutoFit/>
          </a:bodyPr>
          <a:lstStyle/>
          <a:p>
            <a:r>
              <a:rPr lang="en-US" sz="1300" b="1" dirty="0" smtClean="0"/>
              <a:t>Step 1 </a:t>
            </a:r>
            <a:r>
              <a:rPr lang="en-US" sz="1300" dirty="0" smtClean="0"/>
              <a:t>If </a:t>
            </a:r>
            <a:r>
              <a:rPr lang="en-US" sz="1300" dirty="0"/>
              <a:t>CPR is in progress when you arrive, check the effectiveness of the chest compressions by checking for a pulse. It is important to limit the amount of time compressions are interrupted. If the patient is responsive, do not apply the AED.</a:t>
            </a:r>
          </a:p>
        </p:txBody>
      </p:sp>
      <p:sp>
        <p:nvSpPr>
          <p:cNvPr id="12" name="Rectangle 11"/>
          <p:cNvSpPr/>
          <p:nvPr/>
        </p:nvSpPr>
        <p:spPr>
          <a:xfrm>
            <a:off x="287442" y="5708651"/>
            <a:ext cx="2780801"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4140200" y="4416213"/>
            <a:ext cx="3822700" cy="2092881"/>
          </a:xfrm>
          <a:prstGeom prst="rect">
            <a:avLst/>
          </a:prstGeom>
        </p:spPr>
        <p:txBody>
          <a:bodyPr wrap="square">
            <a:spAutoFit/>
          </a:bodyPr>
          <a:lstStyle/>
          <a:p>
            <a:r>
              <a:rPr lang="en-US" sz="1300" b="1" dirty="0" smtClean="0"/>
              <a:t>Step 2 </a:t>
            </a:r>
            <a:r>
              <a:rPr lang="en-US" sz="1300" dirty="0" smtClean="0"/>
              <a:t>If </a:t>
            </a:r>
            <a:r>
              <a:rPr lang="en-US" sz="1300" dirty="0"/>
              <a:t>the patient is unresponsive, begin providing chest compressions as soon as possible. Perform compressions and rescue breaths at a ratio of 30 compressions to two breaths, continuing until an AED arrives and is ready for use. It is important to start chest compressions and use the AED as soon as possible. Compressions provide vital blood flow to the heart and brain, improving the patient’s chance of survival. If the cardiac arrest is witnessed, attach the AED as soon as it is available.</a:t>
            </a:r>
          </a:p>
        </p:txBody>
      </p:sp>
      <p:sp>
        <p:nvSpPr>
          <p:cNvPr id="15" name="Rectangle 14"/>
          <p:cNvSpPr/>
          <p:nvPr/>
        </p:nvSpPr>
        <p:spPr>
          <a:xfrm>
            <a:off x="4154592" y="6459379"/>
            <a:ext cx="2868508" cy="246221"/>
          </a:xfrm>
          <a:prstGeom prst="rect">
            <a:avLst/>
          </a:prstGeom>
        </p:spPr>
        <p:txBody>
          <a:bodyPr wrap="square">
            <a:spAutoFit/>
          </a:bodyPr>
          <a:lstStyle/>
          <a:p>
            <a:r>
              <a:rPr lang="en-US" sz="1000" dirty="0"/>
              <a:t>© Jones &amp; Bartlett Learning. Courtesy of MIEMSS. </a:t>
            </a:r>
          </a:p>
        </p:txBody>
      </p:sp>
      <p:sp>
        <p:nvSpPr>
          <p:cNvPr id="7" name="Rectangle 6"/>
          <p:cNvSpPr/>
          <p:nvPr/>
        </p:nvSpPr>
        <p:spPr>
          <a:xfrm>
            <a:off x="8242300" y="4352713"/>
            <a:ext cx="3556000" cy="2092881"/>
          </a:xfrm>
          <a:prstGeom prst="rect">
            <a:avLst/>
          </a:prstGeom>
        </p:spPr>
        <p:txBody>
          <a:bodyPr wrap="square">
            <a:spAutoFit/>
          </a:bodyPr>
          <a:lstStyle/>
          <a:p>
            <a:r>
              <a:rPr lang="en-US" sz="1300" b="1" dirty="0" smtClean="0"/>
              <a:t>Step 3 </a:t>
            </a:r>
            <a:r>
              <a:rPr lang="en-US" sz="1300" dirty="0" smtClean="0"/>
              <a:t>Turn </a:t>
            </a:r>
            <a:r>
              <a:rPr lang="en-US" sz="1300" dirty="0"/>
              <a:t>on the AED. Remove clothing from the patient’s chest area. Apply the pads to the chest: one just to the right of the breastbone (sternum) just below the collarbone (clavicle), the other on the left lower chest area with the top of the pad 2 to 3 inches (5 to 8 cm) below the armpit. Be sure that the pads are attached to the patient cables (and that they are attached to the AED in some models). Plug the pads’ connectors into the AED.</a:t>
            </a:r>
          </a:p>
        </p:txBody>
      </p:sp>
      <p:sp>
        <p:nvSpPr>
          <p:cNvPr id="8" name="Rectangle 7"/>
          <p:cNvSpPr/>
          <p:nvPr/>
        </p:nvSpPr>
        <p:spPr>
          <a:xfrm>
            <a:off x="8256692" y="6413501"/>
            <a:ext cx="2983234" cy="254000"/>
          </a:xfrm>
          <a:prstGeom prst="rect">
            <a:avLst/>
          </a:prstGeom>
        </p:spPr>
        <p:txBody>
          <a:bodyPr wrap="square">
            <a:spAutoFit/>
          </a:bodyPr>
          <a:lstStyle/>
          <a:p>
            <a:r>
              <a:rPr lang="en-US" sz="1000" dirty="0"/>
              <a:t>© Jones &amp; Bartlett Learning. </a:t>
            </a:r>
            <a:r>
              <a:rPr lang="en-US" sz="1000" dirty="0" smtClean="0"/>
              <a:t>Courtesy </a:t>
            </a:r>
            <a:r>
              <a:rPr lang="en-US" sz="1000" dirty="0"/>
              <a:t>of MIEMSS. </a:t>
            </a:r>
          </a:p>
        </p:txBody>
      </p:sp>
      <p:pic>
        <p:nvPicPr>
          <p:cNvPr id="7170" name="Picture 2" descr="The photo shows a bare-chested elderly man lying on his back on the floor with defibrillator pads pasted on his chest. Two emergency responders wearing gloves can be seen kneeling by his side. One person can be seen pressing a button on the defibrillator device.&#10;" title="A photo shows Step 3 of the process of performing automated external defibrillatio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5684" y="2241026"/>
            <a:ext cx="3489116" cy="2051674"/>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The photo shows an elderly man lying on his back on the floor. A person wearing a uniform and gloves kneels by the side and feels for the carotid pulse by the side of the patient's neck, while also tilting his face and placing it close to the patient's face.&#10;" title="A photo shows Step 1 of the process of performing automated external defibrillation.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2221439"/>
            <a:ext cx="3543300" cy="208353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photo shows a bare-chested elderly man lying on his back on the floor. Two emergency responders wearing gloves can be seen - one takes out a pad from a defibrillator device on the side, while the other uses his hands to press down on the man's chest.&#10;" title="A photo shows Step 2 of the process of performing automated external defibrillation.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0050" y="2266950"/>
            <a:ext cx="3454400" cy="203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668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700" b="0" dirty="0" smtClean="0"/>
              <a:t>Skill Drill 8-4 </a:t>
            </a:r>
            <a:r>
              <a:rPr lang="en-US" sz="2700" dirty="0"/>
              <a:t>Performing Automated External Defibrillation </a:t>
            </a:r>
            <a:r>
              <a:rPr lang="en-US" sz="2700" b="0" dirty="0" smtClean="0"/>
              <a:t>(2-2)</a:t>
            </a:r>
            <a:endParaRPr lang="en-US" sz="2700" b="0" dirty="0"/>
          </a:p>
        </p:txBody>
      </p:sp>
      <p:sp>
        <p:nvSpPr>
          <p:cNvPr id="11" name="Rectangle 10"/>
          <p:cNvSpPr/>
          <p:nvPr/>
        </p:nvSpPr>
        <p:spPr>
          <a:xfrm>
            <a:off x="685800" y="4047913"/>
            <a:ext cx="5753100" cy="2400657"/>
          </a:xfrm>
          <a:prstGeom prst="rect">
            <a:avLst/>
          </a:prstGeom>
        </p:spPr>
        <p:txBody>
          <a:bodyPr wrap="square">
            <a:spAutoFit/>
          </a:bodyPr>
          <a:lstStyle/>
          <a:p>
            <a:r>
              <a:rPr lang="en-US" sz="1500" b="1" dirty="0" smtClean="0"/>
              <a:t>Step 4 </a:t>
            </a:r>
            <a:r>
              <a:rPr lang="en-US" sz="1500" dirty="0" smtClean="0"/>
              <a:t>Stop CPR. State aloud, “Clear the patient,” and ensure that no one is touching the patient. Push the analyze button, if there is one, and wait for the AED to determine if a </a:t>
            </a:r>
            <a:r>
              <a:rPr lang="en-US" sz="1500" dirty="0" err="1" smtClean="0"/>
              <a:t>shockable</a:t>
            </a:r>
            <a:r>
              <a:rPr lang="en-US" sz="1500" dirty="0" smtClean="0"/>
              <a:t> rhythm is present. If your AED has voice prompts, follow the verbal instructions. Allow the AED to analyze the rhythm. If a shock is not advised, perform five cycles (about 2 minutes) of CPR beginning with chest compressions. Then reassess the patient’s pulse and reanalyze the cardiac rhythm. If a shock is advised, reconfirm that no one is touching the patient and push the shock button. After the shock is delivered, immediately resume CPR, beginning with chest compressions.</a:t>
            </a:r>
            <a:endParaRPr lang="en-US" sz="1500" dirty="0"/>
          </a:p>
        </p:txBody>
      </p:sp>
      <p:sp>
        <p:nvSpPr>
          <p:cNvPr id="12" name="Rectangle 11"/>
          <p:cNvSpPr/>
          <p:nvPr/>
        </p:nvSpPr>
        <p:spPr>
          <a:xfrm>
            <a:off x="674792" y="6413501"/>
            <a:ext cx="2780801"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6883400" y="3997113"/>
            <a:ext cx="4584700" cy="1477328"/>
          </a:xfrm>
          <a:prstGeom prst="rect">
            <a:avLst/>
          </a:prstGeom>
        </p:spPr>
        <p:txBody>
          <a:bodyPr wrap="square">
            <a:spAutoFit/>
          </a:bodyPr>
          <a:lstStyle/>
          <a:p>
            <a:r>
              <a:rPr lang="en-US" sz="1500" b="1" dirty="0" smtClean="0"/>
              <a:t>Step 5 </a:t>
            </a:r>
            <a:r>
              <a:rPr lang="en-US" sz="1500" dirty="0" smtClean="0"/>
              <a:t>After </a:t>
            </a:r>
            <a:r>
              <a:rPr lang="en-US" sz="1500" dirty="0"/>
              <a:t>five cycles (about 2 minutes) of CPR, reanalyze the patient’s cardiac rhythm. Do not interrupt chest compressions for more than 10 seconds. Repeat the cycle of 2 minutes of CPR, one shock (if indicated), and 2 minutes of CPR. Arrange for transport, and contact medical control as needed.</a:t>
            </a:r>
          </a:p>
        </p:txBody>
      </p:sp>
      <p:sp>
        <p:nvSpPr>
          <p:cNvPr id="15" name="Rectangle 14"/>
          <p:cNvSpPr/>
          <p:nvPr/>
        </p:nvSpPr>
        <p:spPr>
          <a:xfrm>
            <a:off x="6897792" y="5468779"/>
            <a:ext cx="2868508" cy="246221"/>
          </a:xfrm>
          <a:prstGeom prst="rect">
            <a:avLst/>
          </a:prstGeom>
        </p:spPr>
        <p:txBody>
          <a:bodyPr wrap="square">
            <a:spAutoFit/>
          </a:bodyPr>
          <a:lstStyle/>
          <a:p>
            <a:r>
              <a:rPr lang="en-US" sz="1000" dirty="0"/>
              <a:t>© Jones &amp; Bartlett Learning. Courtesy of MIEMSS. </a:t>
            </a:r>
          </a:p>
        </p:txBody>
      </p:sp>
      <p:pic>
        <p:nvPicPr>
          <p:cNvPr id="8194" name="Picture 2" descr="The photo shows a bare-chested elderly man lying on his back on the floor with defibrillator pads attached to his chest. Two emergency responders wearing gloves can be seen kneeling by his side. One person can be seen pressing down with both hands on the man's chest, while the other holds a mask over the man's nose and mouth.&#10;" title="A photo shows Step 5 of the process of performing automated external defibrillatio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0550" y="1695242"/>
            <a:ext cx="3835400" cy="2255296"/>
          </a:xfrm>
          <a:prstGeom prst="rect">
            <a:avLst/>
          </a:prstGeom>
          <a:noFill/>
          <a:extLst>
            <a:ext uri="{909E8E84-426E-40DD-AFC4-6F175D3DCCD1}">
              <a14:hiddenFill xmlns:a14="http://schemas.microsoft.com/office/drawing/2010/main">
                <a:solidFill>
                  <a:srgbClr val="FFFFFF"/>
                </a:solidFill>
              </a14:hiddenFill>
            </a:ext>
          </a:extLst>
        </p:spPr>
      </p:pic>
      <p:pic>
        <p:nvPicPr>
          <p:cNvPr id="8195" name="Picture 3" descr="The photo shows a bare-chested elderly man lying on his back on the floor with defibrillator pads attached to his chest. Two emergency responders wearing gloves can be seen kneeling by his side. One person can be seen pressing a button on the defibrillator device while the other person is up on his knees on the other side of the patient.&#10;" title="A photo shows Step 4 of the process of performing automated external defibrillation.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050" y="1542048"/>
            <a:ext cx="4152900" cy="2441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71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TAPL_PPTx_template" id="{4E94D904-A370-A547-A421-E2EDEF91E72E}" vid="{303F4BD5-E208-0C4A-A0D7-FA535DEBCE4F}"/>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16x9</Template>
  <TotalTime>765</TotalTime>
  <Words>1537</Words>
  <Application>Microsoft Office PowerPoint</Application>
  <PresentationFormat>Widescreen</PresentationFormat>
  <Paragraphs>47</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ＭＳ Ｐゴシック</vt:lpstr>
      <vt:lpstr>Arial</vt:lpstr>
      <vt:lpstr>Calibri</vt:lpstr>
      <vt:lpstr>Wingdings</vt:lpstr>
      <vt:lpstr>Educational subjects 16x9</vt:lpstr>
      <vt:lpstr>Professional Rescuer CPR</vt:lpstr>
      <vt:lpstr>Skill Drill 8-1 Performing Adult Chest Compressions (1-2)</vt:lpstr>
      <vt:lpstr>Skill Drill 8-1 Performing Adult Chest Compressions (2-2)</vt:lpstr>
      <vt:lpstr>Skill Drill 8-2 Performing One-Rescuer Adult CPR (1-3)</vt:lpstr>
      <vt:lpstr>Skill Drill 8-2 Performing One-Rescuer Adult CPR (2-3)</vt:lpstr>
      <vt:lpstr>Skill Drill 8-2 Performing One-Rescuer Adult CPR (3-3)</vt:lpstr>
      <vt:lpstr>Skill Drill 8-3 Performing Two-Rescuer Adult CPR (1-2)</vt:lpstr>
      <vt:lpstr>Skill Drill 8-3 Performing Two-Rescuer Adult CPR (2-2)</vt:lpstr>
      <vt:lpstr>Skill Drill 8-4 Performing Automated External Defibrillation (1-2)</vt:lpstr>
      <vt:lpstr>Skill Drill 8-4 Performing Automated External Defibrillation (2-2)</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Bob Elling</dc:creator>
  <cp:lastModifiedBy>Ravi Shankar Jayavel</cp:lastModifiedBy>
  <cp:revision>101</cp:revision>
  <dcterms:created xsi:type="dcterms:W3CDTF">2020-07-20T18:35:12Z</dcterms:created>
  <dcterms:modified xsi:type="dcterms:W3CDTF">2020-11-30T10:09:45Z</dcterms:modified>
</cp:coreProperties>
</file>