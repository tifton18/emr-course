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60"/>
  </p:notesMasterIdLst>
  <p:handoutMasterIdLst>
    <p:handoutMasterId r:id="rId61"/>
  </p:handoutMasterIdLst>
  <p:sldIdLst>
    <p:sldId id="258" r:id="rId2"/>
    <p:sldId id="400" r:id="rId3"/>
    <p:sldId id="401" r:id="rId4"/>
    <p:sldId id="402" r:id="rId5"/>
    <p:sldId id="403" r:id="rId6"/>
    <p:sldId id="404" r:id="rId7"/>
    <p:sldId id="405" r:id="rId8"/>
    <p:sldId id="406" r:id="rId9"/>
    <p:sldId id="407" r:id="rId10"/>
    <p:sldId id="408" r:id="rId11"/>
    <p:sldId id="409" r:id="rId12"/>
    <p:sldId id="410" r:id="rId13"/>
    <p:sldId id="411" r:id="rId14"/>
    <p:sldId id="412" r:id="rId15"/>
    <p:sldId id="413" r:id="rId16"/>
    <p:sldId id="414" r:id="rId17"/>
    <p:sldId id="415" r:id="rId18"/>
    <p:sldId id="417" r:id="rId19"/>
    <p:sldId id="418" r:id="rId20"/>
    <p:sldId id="419" r:id="rId21"/>
    <p:sldId id="420" r:id="rId22"/>
    <p:sldId id="421" r:id="rId23"/>
    <p:sldId id="422" r:id="rId24"/>
    <p:sldId id="842" r:id="rId25"/>
    <p:sldId id="423" r:id="rId26"/>
    <p:sldId id="425" r:id="rId27"/>
    <p:sldId id="426" r:id="rId28"/>
    <p:sldId id="427" r:id="rId29"/>
    <p:sldId id="428" r:id="rId30"/>
    <p:sldId id="429" r:id="rId31"/>
    <p:sldId id="430" r:id="rId32"/>
    <p:sldId id="431" r:id="rId33"/>
    <p:sldId id="432" r:id="rId34"/>
    <p:sldId id="433" r:id="rId35"/>
    <p:sldId id="434" r:id="rId36"/>
    <p:sldId id="435" r:id="rId37"/>
    <p:sldId id="436" r:id="rId38"/>
    <p:sldId id="438" r:id="rId39"/>
    <p:sldId id="439" r:id="rId40"/>
    <p:sldId id="440" r:id="rId41"/>
    <p:sldId id="441" r:id="rId42"/>
    <p:sldId id="442" r:id="rId43"/>
    <p:sldId id="443" r:id="rId44"/>
    <p:sldId id="444" r:id="rId45"/>
    <p:sldId id="445" r:id="rId46"/>
    <p:sldId id="446" r:id="rId47"/>
    <p:sldId id="448" r:id="rId48"/>
    <p:sldId id="449" r:id="rId49"/>
    <p:sldId id="450" r:id="rId50"/>
    <p:sldId id="451" r:id="rId51"/>
    <p:sldId id="452" r:id="rId52"/>
    <p:sldId id="453" r:id="rId53"/>
    <p:sldId id="454" r:id="rId54"/>
    <p:sldId id="455" r:id="rId55"/>
    <p:sldId id="456" r:id="rId56"/>
    <p:sldId id="457" r:id="rId57"/>
    <p:sldId id="458" r:id="rId58"/>
    <p:sldId id="459"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B74"/>
    <a:srgbClr val="FFFFFF"/>
    <a:srgbClr val="FFC425"/>
    <a:srgbClr val="E5E6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97D7A2-8E2D-4C08-A370-ADD2AEE56C55}" v="18" dt="2020-08-10T18:12:01.015"/>
  </p1510:revLst>
</p1510:revInfo>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96" autoAdjust="0"/>
    <p:restoredTop sz="86667"/>
  </p:normalViewPr>
  <p:slideViewPr>
    <p:cSldViewPr snapToGrid="0">
      <p:cViewPr>
        <p:scale>
          <a:sx n="100" d="100"/>
          <a:sy n="100" d="100"/>
        </p:scale>
        <p:origin x="1864" y="384"/>
      </p:cViewPr>
      <p:guideLst>
        <p:guide orient="horz" pos="2160"/>
        <p:guide pos="3840"/>
      </p:guideLst>
    </p:cSldViewPr>
  </p:slideViewPr>
  <p:notesTextViewPr>
    <p:cViewPr>
      <p:scale>
        <a:sx n="1" d="1"/>
        <a:sy n="1" d="1"/>
      </p:scale>
      <p:origin x="0" y="0"/>
    </p:cViewPr>
  </p:notesTextViewPr>
  <p:notesViewPr>
    <p:cSldViewPr snapToGrid="0">
      <p:cViewPr varScale="1">
        <p:scale>
          <a:sx n="65" d="100"/>
          <a:sy n="65" d="100"/>
        </p:scale>
        <p:origin x="2784" y="4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a-Yuan Gregory" userId="8839d734-a022-4f7a-aa1a-7ded42ea4e8b" providerId="ADAL" clId="{0297D7A2-8E2D-4C08-A370-ADD2AEE56C55}"/>
    <pc:docChg chg="modSld modMainMaster">
      <pc:chgData name="Paula-Yuan Gregory" userId="8839d734-a022-4f7a-aa1a-7ded42ea4e8b" providerId="ADAL" clId="{0297D7A2-8E2D-4C08-A370-ADD2AEE56C55}" dt="2020-08-11T14:30:09.706" v="167" actId="20577"/>
      <pc:docMkLst>
        <pc:docMk/>
      </pc:docMkLst>
      <pc:sldChg chg="addSp delSp modSp">
        <pc:chgData name="Paula-Yuan Gregory" userId="8839d734-a022-4f7a-aa1a-7ded42ea4e8b" providerId="ADAL" clId="{0297D7A2-8E2D-4C08-A370-ADD2AEE56C55}" dt="2020-08-10T18:08:24.902" v="44" actId="20577"/>
        <pc:sldMkLst>
          <pc:docMk/>
          <pc:sldMk cId="3149394367" sldId="410"/>
        </pc:sldMkLst>
        <pc:spChg chg="add mod">
          <ac:chgData name="Paula-Yuan Gregory" userId="8839d734-a022-4f7a-aa1a-7ded42ea4e8b" providerId="ADAL" clId="{0297D7A2-8E2D-4C08-A370-ADD2AEE56C55}" dt="2020-08-10T18:08:24.902" v="44" actId="20577"/>
          <ac:spMkLst>
            <pc:docMk/>
            <pc:sldMk cId="3149394367" sldId="410"/>
            <ac:spMk id="2" creationId="{133DC8B2-80D2-4F26-BCF2-9AB4957301E3}"/>
          </ac:spMkLst>
        </pc:spChg>
        <pc:picChg chg="del">
          <ac:chgData name="Paula-Yuan Gregory" userId="8839d734-a022-4f7a-aa1a-7ded42ea4e8b" providerId="ADAL" clId="{0297D7A2-8E2D-4C08-A370-ADD2AEE56C55}" dt="2020-08-10T18:08:01.185" v="10" actId="478"/>
          <ac:picMkLst>
            <pc:docMk/>
            <pc:sldMk cId="3149394367" sldId="410"/>
            <ac:picMk id="25603" creationId="{54EF33E5-17D4-3A4C-8809-D8EEBC54D22C}"/>
          </ac:picMkLst>
        </pc:picChg>
      </pc:sldChg>
      <pc:sldChg chg="addSp delSp modSp">
        <pc:chgData name="Paula-Yuan Gregory" userId="8839d734-a022-4f7a-aa1a-7ded42ea4e8b" providerId="ADAL" clId="{0297D7A2-8E2D-4C08-A370-ADD2AEE56C55}" dt="2020-08-10T18:08:44.444" v="57" actId="20577"/>
        <pc:sldMkLst>
          <pc:docMk/>
          <pc:sldMk cId="3871656292" sldId="418"/>
        </pc:sldMkLst>
        <pc:spChg chg="add mod">
          <ac:chgData name="Paula-Yuan Gregory" userId="8839d734-a022-4f7a-aa1a-7ded42ea4e8b" providerId="ADAL" clId="{0297D7A2-8E2D-4C08-A370-ADD2AEE56C55}" dt="2020-08-10T18:08:44.444" v="57" actId="20577"/>
          <ac:spMkLst>
            <pc:docMk/>
            <pc:sldMk cId="3871656292" sldId="418"/>
            <ac:spMk id="6" creationId="{7D69CACD-5633-45FB-9E9B-76AC8CF25975}"/>
          </ac:spMkLst>
        </pc:spChg>
        <pc:picChg chg="del">
          <ac:chgData name="Paula-Yuan Gregory" userId="8839d734-a022-4f7a-aa1a-7ded42ea4e8b" providerId="ADAL" clId="{0297D7A2-8E2D-4C08-A370-ADD2AEE56C55}" dt="2020-08-10T18:08:42.286" v="45" actId="478"/>
          <ac:picMkLst>
            <pc:docMk/>
            <pc:sldMk cId="3871656292" sldId="418"/>
            <ac:picMk id="39939" creationId="{473EF067-30CE-AE45-8316-EB3E84E76444}"/>
          </ac:picMkLst>
        </pc:picChg>
      </pc:sldChg>
      <pc:sldChg chg="addSp delSp modSp">
        <pc:chgData name="Paula-Yuan Gregory" userId="8839d734-a022-4f7a-aa1a-7ded42ea4e8b" providerId="ADAL" clId="{0297D7A2-8E2D-4C08-A370-ADD2AEE56C55}" dt="2020-08-10T18:08:58.993" v="70" actId="20577"/>
        <pc:sldMkLst>
          <pc:docMk/>
          <pc:sldMk cId="2427298263" sldId="421"/>
        </pc:sldMkLst>
        <pc:spChg chg="add mod">
          <ac:chgData name="Paula-Yuan Gregory" userId="8839d734-a022-4f7a-aa1a-7ded42ea4e8b" providerId="ADAL" clId="{0297D7A2-8E2D-4C08-A370-ADD2AEE56C55}" dt="2020-08-10T18:08:58.993" v="70" actId="20577"/>
          <ac:spMkLst>
            <pc:docMk/>
            <pc:sldMk cId="2427298263" sldId="421"/>
            <ac:spMk id="6" creationId="{A347785D-AE98-4CB7-8EE1-E3A011D8EAF4}"/>
          </ac:spMkLst>
        </pc:spChg>
        <pc:picChg chg="del">
          <ac:chgData name="Paula-Yuan Gregory" userId="8839d734-a022-4f7a-aa1a-7ded42ea4e8b" providerId="ADAL" clId="{0297D7A2-8E2D-4C08-A370-ADD2AEE56C55}" dt="2020-08-10T18:08:56.852" v="58" actId="478"/>
          <ac:picMkLst>
            <pc:docMk/>
            <pc:sldMk cId="2427298263" sldId="421"/>
            <ac:picMk id="46083" creationId="{D1D5620D-E74B-0D4B-AFFA-2D6073CE7955}"/>
          </ac:picMkLst>
        </pc:picChg>
      </pc:sldChg>
      <pc:sldChg chg="addSp delSp modSp">
        <pc:chgData name="Paula-Yuan Gregory" userId="8839d734-a022-4f7a-aa1a-7ded42ea4e8b" providerId="ADAL" clId="{0297D7A2-8E2D-4C08-A370-ADD2AEE56C55}" dt="2020-08-10T18:10:34.664" v="114" actId="1076"/>
        <pc:sldMkLst>
          <pc:docMk/>
          <pc:sldMk cId="3579378555" sldId="429"/>
        </pc:sldMkLst>
        <pc:spChg chg="add mod">
          <ac:chgData name="Paula-Yuan Gregory" userId="8839d734-a022-4f7a-aa1a-7ded42ea4e8b" providerId="ADAL" clId="{0297D7A2-8E2D-4C08-A370-ADD2AEE56C55}" dt="2020-08-10T18:10:34.664" v="114" actId="1076"/>
          <ac:spMkLst>
            <pc:docMk/>
            <pc:sldMk cId="3579378555" sldId="429"/>
            <ac:spMk id="5" creationId="{FE11899A-6C3B-445A-8E20-E67BF766014A}"/>
          </ac:spMkLst>
        </pc:spChg>
        <pc:picChg chg="del">
          <ac:chgData name="Paula-Yuan Gregory" userId="8839d734-a022-4f7a-aa1a-7ded42ea4e8b" providerId="ADAL" clId="{0297D7A2-8E2D-4C08-A370-ADD2AEE56C55}" dt="2020-08-10T18:10:26.506" v="98" actId="478"/>
          <ac:picMkLst>
            <pc:docMk/>
            <pc:sldMk cId="3579378555" sldId="429"/>
            <ac:picMk id="62468" creationId="{C0AB814C-6596-F14B-A4BA-FB5F19037338}"/>
          </ac:picMkLst>
        </pc:picChg>
      </pc:sldChg>
      <pc:sldChg chg="addSp delSp modSp">
        <pc:chgData name="Paula-Yuan Gregory" userId="8839d734-a022-4f7a-aa1a-7ded42ea4e8b" providerId="ADAL" clId="{0297D7A2-8E2D-4C08-A370-ADD2AEE56C55}" dt="2020-08-10T18:11:03.015" v="141" actId="1076"/>
        <pc:sldMkLst>
          <pc:docMk/>
          <pc:sldMk cId="1537011516" sldId="431"/>
        </pc:sldMkLst>
        <pc:spChg chg="add mod">
          <ac:chgData name="Paula-Yuan Gregory" userId="8839d734-a022-4f7a-aa1a-7ded42ea4e8b" providerId="ADAL" clId="{0297D7A2-8E2D-4C08-A370-ADD2AEE56C55}" dt="2020-08-10T18:10:54.312" v="128" actId="20577"/>
          <ac:spMkLst>
            <pc:docMk/>
            <pc:sldMk cId="1537011516" sldId="431"/>
            <ac:spMk id="7" creationId="{BD2402D7-BF7C-4AAC-BC4B-0BA4B0F8BA44}"/>
          </ac:spMkLst>
        </pc:spChg>
        <pc:spChg chg="add mod">
          <ac:chgData name="Paula-Yuan Gregory" userId="8839d734-a022-4f7a-aa1a-7ded42ea4e8b" providerId="ADAL" clId="{0297D7A2-8E2D-4C08-A370-ADD2AEE56C55}" dt="2020-08-10T18:11:03.015" v="141" actId="1076"/>
          <ac:spMkLst>
            <pc:docMk/>
            <pc:sldMk cId="1537011516" sldId="431"/>
            <ac:spMk id="8" creationId="{3F26F246-B8F5-401E-A572-B092A01936E9}"/>
          </ac:spMkLst>
        </pc:spChg>
        <pc:picChg chg="del">
          <ac:chgData name="Paula-Yuan Gregory" userId="8839d734-a022-4f7a-aa1a-7ded42ea4e8b" providerId="ADAL" clId="{0297D7A2-8E2D-4C08-A370-ADD2AEE56C55}" dt="2020-08-10T18:10:50.259" v="115" actId="478"/>
          <ac:picMkLst>
            <pc:docMk/>
            <pc:sldMk cId="1537011516" sldId="431"/>
            <ac:picMk id="66565" creationId="{3C126013-E02D-5545-925A-E18590FB7EB3}"/>
          </ac:picMkLst>
        </pc:picChg>
        <pc:picChg chg="del">
          <ac:chgData name="Paula-Yuan Gregory" userId="8839d734-a022-4f7a-aa1a-7ded42ea4e8b" providerId="ADAL" clId="{0297D7A2-8E2D-4C08-A370-ADD2AEE56C55}" dt="2020-08-10T18:10:55.937" v="129" actId="478"/>
          <ac:picMkLst>
            <pc:docMk/>
            <pc:sldMk cId="1537011516" sldId="431"/>
            <ac:picMk id="66566" creationId="{B338CE40-14FA-4040-8D37-1BF8F0F0BF9D}"/>
          </ac:picMkLst>
        </pc:picChg>
      </pc:sldChg>
      <pc:sldChg chg="addSp delSp modSp">
        <pc:chgData name="Paula-Yuan Gregory" userId="8839d734-a022-4f7a-aa1a-7ded42ea4e8b" providerId="ADAL" clId="{0297D7A2-8E2D-4C08-A370-ADD2AEE56C55}" dt="2020-08-10T18:12:12.848" v="163" actId="1076"/>
        <pc:sldMkLst>
          <pc:docMk/>
          <pc:sldMk cId="3569331172" sldId="440"/>
        </pc:sldMkLst>
        <pc:spChg chg="add mod">
          <ac:chgData name="Paula-Yuan Gregory" userId="8839d734-a022-4f7a-aa1a-7ded42ea4e8b" providerId="ADAL" clId="{0297D7A2-8E2D-4C08-A370-ADD2AEE56C55}" dt="2020-08-10T18:12:12.848" v="163" actId="1076"/>
          <ac:spMkLst>
            <pc:docMk/>
            <pc:sldMk cId="3569331172" sldId="440"/>
            <ac:spMk id="11" creationId="{9EFE7ABB-721C-4C3B-B2C9-E40E7287308D}"/>
          </ac:spMkLst>
        </pc:spChg>
        <pc:grpChg chg="del">
          <ac:chgData name="Paula-Yuan Gregory" userId="8839d734-a022-4f7a-aa1a-7ded42ea4e8b" providerId="ADAL" clId="{0297D7A2-8E2D-4C08-A370-ADD2AEE56C55}" dt="2020-08-10T18:12:00.705" v="142" actId="478"/>
          <ac:grpSpMkLst>
            <pc:docMk/>
            <pc:sldMk cId="3569331172" sldId="440"/>
            <ac:grpSpMk id="82947" creationId="{AFA852B2-F952-2D4C-9FEF-1203FF0B8E9B}"/>
          </ac:grpSpMkLst>
        </pc:grpChg>
      </pc:sldChg>
      <pc:sldChg chg="addSp delSp modSp">
        <pc:chgData name="Paula-Yuan Gregory" userId="8839d734-a022-4f7a-aa1a-7ded42ea4e8b" providerId="ADAL" clId="{0297D7A2-8E2D-4C08-A370-ADD2AEE56C55}" dt="2020-08-10T18:09:32.726" v="97" actId="1076"/>
        <pc:sldMkLst>
          <pc:docMk/>
          <pc:sldMk cId="944485976" sldId="842"/>
        </pc:sldMkLst>
        <pc:spChg chg="add mod">
          <ac:chgData name="Paula-Yuan Gregory" userId="8839d734-a022-4f7a-aa1a-7ded42ea4e8b" providerId="ADAL" clId="{0297D7A2-8E2D-4C08-A370-ADD2AEE56C55}" dt="2020-08-10T18:09:18.343" v="83" actId="20577"/>
          <ac:spMkLst>
            <pc:docMk/>
            <pc:sldMk cId="944485976" sldId="842"/>
            <ac:spMk id="8" creationId="{660DFA22-91D1-4862-BF1D-1A78DE7FE04E}"/>
          </ac:spMkLst>
        </pc:spChg>
        <pc:spChg chg="add mod">
          <ac:chgData name="Paula-Yuan Gregory" userId="8839d734-a022-4f7a-aa1a-7ded42ea4e8b" providerId="ADAL" clId="{0297D7A2-8E2D-4C08-A370-ADD2AEE56C55}" dt="2020-08-10T18:09:32.726" v="97" actId="1076"/>
          <ac:spMkLst>
            <pc:docMk/>
            <pc:sldMk cId="944485976" sldId="842"/>
            <ac:spMk id="9" creationId="{B0BBFEB6-181C-4F77-AB8D-A3A3B41DCC03}"/>
          </ac:spMkLst>
        </pc:spChg>
        <pc:grpChg chg="del">
          <ac:chgData name="Paula-Yuan Gregory" userId="8839d734-a022-4f7a-aa1a-7ded42ea4e8b" providerId="ADAL" clId="{0297D7A2-8E2D-4C08-A370-ADD2AEE56C55}" dt="2020-08-10T18:09:14.981" v="71" actId="478"/>
          <ac:grpSpMkLst>
            <pc:docMk/>
            <pc:sldMk cId="944485976" sldId="842"/>
            <ac:grpSpMk id="50179" creationId="{6B9998FC-24A1-9743-A6B5-AC8EF369B7B5}"/>
          </ac:grpSpMkLst>
        </pc:grpChg>
      </pc:sldChg>
      <pc:sldMasterChg chg="modSp modSldLayout">
        <pc:chgData name="Paula-Yuan Gregory" userId="8839d734-a022-4f7a-aa1a-7ded42ea4e8b" providerId="ADAL" clId="{0297D7A2-8E2D-4C08-A370-ADD2AEE56C55}" dt="2020-08-11T14:30:09.706" v="167" actId="20577"/>
        <pc:sldMasterMkLst>
          <pc:docMk/>
          <pc:sldMasterMk cId="2871921020" sldId="2147483648"/>
        </pc:sldMasterMkLst>
        <pc:spChg chg="mod">
          <ac:chgData name="Paula-Yuan Gregory" userId="8839d734-a022-4f7a-aa1a-7ded42ea4e8b" providerId="ADAL" clId="{0297D7A2-8E2D-4C08-A370-ADD2AEE56C55}" dt="2020-08-11T14:30:09.706" v="167" actId="20577"/>
          <ac:spMkLst>
            <pc:docMk/>
            <pc:sldMasterMk cId="2871921020" sldId="2147483648"/>
            <ac:spMk id="7" creationId="{21F38BD8-3F75-CE4C-AFEF-0C6B45F77F8C}"/>
          </ac:spMkLst>
        </pc:spChg>
        <pc:sldLayoutChg chg="modSp">
          <pc:chgData name="Paula-Yuan Gregory" userId="8839d734-a022-4f7a-aa1a-7ded42ea4e8b" providerId="ADAL" clId="{0297D7A2-8E2D-4C08-A370-ADD2AEE56C55}" dt="2020-08-11T14:30:04.123" v="165" actId="20577"/>
          <pc:sldLayoutMkLst>
            <pc:docMk/>
            <pc:sldMasterMk cId="2871921020" sldId="2147483648"/>
            <pc:sldLayoutMk cId="3047549913" sldId="2147483649"/>
          </pc:sldLayoutMkLst>
          <pc:spChg chg="mod">
            <ac:chgData name="Paula-Yuan Gregory" userId="8839d734-a022-4f7a-aa1a-7ded42ea4e8b" providerId="ADAL" clId="{0297D7A2-8E2D-4C08-A370-ADD2AEE56C55}" dt="2020-08-11T14:30:04.123" v="165" actId="20577"/>
            <ac:spMkLst>
              <pc:docMk/>
              <pc:sldMasterMk cId="2871921020" sldId="2147483648"/>
              <pc:sldLayoutMk cId="3047549913" sldId="2147483649"/>
              <ac:spMk id="17" creationId="{BEEECFBC-FB4D-9945-A4FF-28E342055AC3}"/>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latin typeface="Arial" panose="020B0604020202020204" pitchFamily="34" charset="0"/>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EEBDA6D-DC69-4DCE-BAF7-6763517D3376}" type="datetimeFigureOut">
              <a:rPr lang="en-US">
                <a:latin typeface="Arial" panose="020B0604020202020204" pitchFamily="34" charset="0"/>
              </a:rPr>
              <a:t>11/30/20</a:t>
            </a:fld>
            <a:endParaRPr dirty="0">
              <a:latin typeface="Arial" panose="020B0604020202020204" pitchFamily="34"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dirty="0">
              <a:latin typeface="Arial" panose="020B0604020202020204" pitchFamily="34" charset="0"/>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977E94-A6AB-4E02-8E43-E89F9CF4757F}" type="slidenum">
              <a:rPr>
                <a:latin typeface="Arial" panose="020B0604020202020204" pitchFamily="34" charset="0"/>
              </a:rPr>
              <a:t>‹#›</a:t>
            </a:fld>
            <a:endParaRPr dirty="0">
              <a:latin typeface="Arial" panose="020B0604020202020204" pitchFamily="34" charset="0"/>
            </a:endParaRPr>
          </a:p>
        </p:txBody>
      </p:sp>
    </p:spTree>
    <p:extLst>
      <p:ext uri="{BB962C8B-B14F-4D97-AF65-F5344CB8AC3E}">
        <p14:creationId xmlns:p14="http://schemas.microsoft.com/office/powerpoint/2010/main" val="21542583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237F6C43-988E-4257-9A1C-C162EF036D58}" type="datetimeFigureOut">
              <a:rPr lang="en-US" smtClean="0"/>
              <a:pPr/>
              <a:t>11/30/20</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DED491D0-8E1B-49C7-849B-A28568D94497}" type="slidenum">
              <a:rPr lang="en-US" smtClean="0"/>
              <a:pPr/>
              <a:t>‹#›</a:t>
            </a:fld>
            <a:endParaRPr lang="en-US" dirty="0"/>
          </a:p>
        </p:txBody>
      </p:sp>
    </p:spTree>
    <p:extLst>
      <p:ext uri="{BB962C8B-B14F-4D97-AF65-F5344CB8AC3E}">
        <p14:creationId xmlns:p14="http://schemas.microsoft.com/office/powerpoint/2010/main" val="1726325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4A8DA57A-03F8-E246-9D1D-2CE156A73284}"/>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1AD22431-D5A2-CA48-9216-8A3CF8BCF107}"/>
              </a:ext>
            </a:extLst>
          </p:cNvPr>
          <p:cNvSpPr>
            <a:spLocks noGrp="1" noChangeArrowheads="1"/>
          </p:cNvSpPr>
          <p:nvPr>
            <p:ph type="body" idx="1"/>
          </p:nvPr>
        </p:nvSpPr>
        <p:spPr/>
        <p:txBody>
          <a:bodyPr/>
          <a:lstStyle/>
          <a:p>
            <a:pPr>
              <a:defRPr/>
            </a:pPr>
            <a:r>
              <a:rPr lang="en-US" b="1" dirty="0">
                <a:ea typeface="ＭＳ Ｐゴシック" charset="0"/>
              </a:rPr>
              <a:t>Assessment</a:t>
            </a:r>
          </a:p>
          <a:p>
            <a:pPr>
              <a:defRPr/>
            </a:pPr>
            <a:r>
              <a:rPr lang="en-US" dirty="0">
                <a:ea typeface="ＭＳ Ｐゴシック" charset="0"/>
              </a:rPr>
              <a:t>Use scene information and simple patient assessment findings to identify and manage immediate life threats and injuries within scope and practice of the EMR.</a:t>
            </a:r>
          </a:p>
          <a:p>
            <a:pPr eaLnBrk="1" hangingPunct="1">
              <a:defRPr/>
            </a:pPr>
            <a:endParaRPr lang="en-US" dirty="0">
              <a:ea typeface="ＭＳ Ｐゴシック" charset="0"/>
            </a:endParaRPr>
          </a:p>
        </p:txBody>
      </p:sp>
    </p:spTree>
    <p:extLst>
      <p:ext uri="{BB962C8B-B14F-4D97-AF65-F5344CB8AC3E}">
        <p14:creationId xmlns:p14="http://schemas.microsoft.com/office/powerpoint/2010/main" val="12734724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B0C20FE1-022C-8847-8BC8-95DFB05223F7}"/>
              </a:ext>
            </a:extLst>
          </p:cNvPr>
          <p:cNvSpPr>
            <a:spLocks noGrp="1" noRot="1" noChangeAspect="1" noChangeArrowheads="1" noTextEdit="1"/>
          </p:cNvSpPr>
          <p:nvPr>
            <p:ph type="sldImg"/>
          </p:nvPr>
        </p:nvSpPr>
        <p:spPr>
          <a:ln/>
        </p:spPr>
      </p:sp>
      <p:sp>
        <p:nvSpPr>
          <p:cNvPr id="66563" name="Rectangle 3">
            <a:extLst>
              <a:ext uri="{FF2B5EF4-FFF2-40B4-BE49-F238E27FC236}">
                <a16:creationId xmlns:a16="http://schemas.microsoft.com/office/drawing/2014/main" id="{B414E66C-4C84-2E44-B848-98AC67905C3B}"/>
              </a:ext>
            </a:extLst>
          </p:cNvPr>
          <p:cNvSpPr>
            <a:spLocks noGrp="1" noChangeArrowheads="1"/>
          </p:cNvSpPr>
          <p:nvPr>
            <p:ph type="body" idx="1"/>
          </p:nvPr>
        </p:nvSpPr>
        <p:spPr/>
        <p:txBody>
          <a:bodyPr/>
          <a:lstStyle/>
          <a:p>
            <a:pPr>
              <a:defRPr/>
            </a:pPr>
            <a:r>
              <a:rPr lang="en-US" altLang="en-US" b="1" i="1" dirty="0">
                <a:latin typeface="Calibri" pitchFamily="34" charset="0"/>
              </a:rPr>
              <a:t>Scene Size-Up</a:t>
            </a:r>
          </a:p>
          <a:p>
            <a:pPr>
              <a:defRPr/>
            </a:pPr>
            <a:r>
              <a:rPr lang="en-US" altLang="en-US" dirty="0">
                <a:latin typeface="Calibri" pitchFamily="34" charset="0"/>
              </a:rPr>
              <a:t>• Ensure scene safety.</a:t>
            </a:r>
          </a:p>
          <a:p>
            <a:pPr>
              <a:defRPr/>
            </a:pPr>
            <a:r>
              <a:rPr lang="en-US" altLang="en-US" dirty="0">
                <a:latin typeface="Calibri" pitchFamily="34" charset="0"/>
              </a:rPr>
              <a:t>• Determine mechanism of injury or nature of illness.</a:t>
            </a:r>
          </a:p>
          <a:p>
            <a:pPr>
              <a:defRPr/>
            </a:pPr>
            <a:r>
              <a:rPr lang="en-US" altLang="en-US" dirty="0">
                <a:latin typeface="Calibri" pitchFamily="34" charset="0"/>
              </a:rPr>
              <a:t>• Take standard precautions.</a:t>
            </a:r>
          </a:p>
          <a:p>
            <a:pPr>
              <a:defRPr/>
            </a:pPr>
            <a:r>
              <a:rPr lang="en-US" altLang="en-US" dirty="0">
                <a:latin typeface="Calibri" pitchFamily="34" charset="0"/>
              </a:rPr>
              <a:t>• Determine the number of patients.</a:t>
            </a:r>
          </a:p>
          <a:p>
            <a:pPr>
              <a:defRPr/>
            </a:pPr>
            <a:r>
              <a:rPr lang="en-US" altLang="en-US" dirty="0">
                <a:latin typeface="Calibri" pitchFamily="34" charset="0"/>
              </a:rPr>
              <a:t>• Consider additional resources.</a:t>
            </a:r>
          </a:p>
          <a:p>
            <a:pPr>
              <a:defRPr/>
            </a:pPr>
            <a:endParaRPr lang="en-US" altLang="en-US" dirty="0">
              <a:latin typeface="Calibri" pitchFamily="34" charset="0"/>
            </a:endParaRPr>
          </a:p>
          <a:p>
            <a:pPr>
              <a:defRPr/>
            </a:pPr>
            <a:endParaRPr lang="en-US" altLang="en-US" dirty="0">
              <a:latin typeface="Calibri" pitchFamily="34" charset="0"/>
            </a:endParaRPr>
          </a:p>
          <a:p>
            <a:pPr>
              <a:defRPr/>
            </a:pPr>
            <a:endParaRPr lang="en-US" altLang="en-US" dirty="0">
              <a:latin typeface="Calibri" pitchFamily="34" charset="0"/>
            </a:endParaRPr>
          </a:p>
          <a:p>
            <a:pPr>
              <a:defRPr/>
            </a:pPr>
            <a:endParaRPr lang="en-US" altLang="en-US" dirty="0">
              <a:latin typeface="Calibri" pitchFamily="34" charset="0"/>
            </a:endParaRPr>
          </a:p>
          <a:p>
            <a:pPr>
              <a:defRPr/>
            </a:pPr>
            <a:endParaRPr lang="en-US" altLang="en-US" dirty="0">
              <a:latin typeface="Calibri" pitchFamily="34" charset="0"/>
            </a:endParaRPr>
          </a:p>
          <a:p>
            <a:pPr>
              <a:defRPr/>
            </a:pPr>
            <a:r>
              <a:rPr lang="en-US" altLang="en-US" dirty="0">
                <a:latin typeface="Calibri" pitchFamily="34" charset="0"/>
              </a:rPr>
              <a:t>Standard precautions (p 173)</a:t>
            </a: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33499769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29B4C858-D1A2-6645-AE94-88EDA2BD1E65}"/>
              </a:ext>
            </a:extLst>
          </p:cNvPr>
          <p:cNvSpPr>
            <a:spLocks noGrp="1" noRot="1" noChangeAspect="1" noChangeArrowheads="1" noTextEdit="1"/>
          </p:cNvSpPr>
          <p:nvPr>
            <p:ph type="sldImg"/>
          </p:nvPr>
        </p:nvSpPr>
        <p:spPr>
          <a:ln/>
        </p:spPr>
      </p:sp>
      <p:sp>
        <p:nvSpPr>
          <p:cNvPr id="67587" name="Rectangle 3">
            <a:extLst>
              <a:ext uri="{FF2B5EF4-FFF2-40B4-BE49-F238E27FC236}">
                <a16:creationId xmlns:a16="http://schemas.microsoft.com/office/drawing/2014/main" id="{3ABFCD5D-D5C0-5D40-8B5D-1F3B3B4D3E16}"/>
              </a:ext>
            </a:extLst>
          </p:cNvPr>
          <p:cNvSpPr>
            <a:spLocks noGrp="1" noChangeArrowheads="1"/>
          </p:cNvSpPr>
          <p:nvPr>
            <p:ph type="body" idx="1"/>
          </p:nvPr>
        </p:nvSpPr>
        <p:spPr/>
        <p:txBody>
          <a:bodyPr/>
          <a:lstStyle/>
          <a:p>
            <a:pPr>
              <a:defRPr/>
            </a:pPr>
            <a:r>
              <a:rPr lang="en-US" altLang="en-US" b="1" i="1" dirty="0">
                <a:latin typeface="Calibri" pitchFamily="34" charset="0"/>
              </a:rPr>
              <a:t>Primary Assessment	</a:t>
            </a:r>
          </a:p>
          <a:p>
            <a:pPr>
              <a:defRPr/>
            </a:pPr>
            <a:r>
              <a:rPr lang="en-US" altLang="en-US" dirty="0">
                <a:latin typeface="Calibri" pitchFamily="34" charset="0"/>
              </a:rPr>
              <a:t>• Form a general impression.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Calibri" pitchFamily="34" charset="0"/>
              </a:rPr>
              <a:t>• Assess level of responsiveness.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Calibri" pitchFamily="34" charset="0"/>
              </a:rPr>
              <a:t>• Perform rapid exam to identify life threats.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Calibri" pitchFamily="34" charset="0"/>
              </a:rPr>
              <a:t>	Assess airway.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Calibri" pitchFamily="34" charset="0"/>
              </a:rPr>
              <a:t>	Assess breathing.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Calibri" pitchFamily="34" charset="0"/>
              </a:rPr>
              <a:t>	Assess circulation.</a:t>
            </a:r>
          </a:p>
          <a:p>
            <a:pPr>
              <a:defRPr/>
            </a:pPr>
            <a:r>
              <a:rPr lang="en-US" altLang="en-US" dirty="0">
                <a:latin typeface="Calibri" pitchFamily="34" charset="0"/>
              </a:rPr>
              <a:t>• Update responding EMS units.</a:t>
            </a: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22023408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D857057B-2AD0-A64F-8C2F-F97E6F5EDB91}"/>
              </a:ext>
            </a:extLst>
          </p:cNvPr>
          <p:cNvSpPr>
            <a:spLocks noGrp="1" noRot="1" noChangeAspect="1" noChangeArrowheads="1" noTextEdit="1"/>
          </p:cNvSpPr>
          <p:nvPr>
            <p:ph type="sldImg"/>
          </p:nvPr>
        </p:nvSpPr>
        <p:spPr>
          <a:ln/>
        </p:spPr>
      </p:sp>
      <p:sp>
        <p:nvSpPr>
          <p:cNvPr id="68611" name="Rectangle 3">
            <a:extLst>
              <a:ext uri="{FF2B5EF4-FFF2-40B4-BE49-F238E27FC236}">
                <a16:creationId xmlns:a16="http://schemas.microsoft.com/office/drawing/2014/main" id="{D2EB7A06-0B2C-4141-AA26-073F63B8F691}"/>
              </a:ext>
            </a:extLst>
          </p:cNvPr>
          <p:cNvSpPr>
            <a:spLocks noGrp="1" noChangeArrowheads="1"/>
          </p:cNvSpPr>
          <p:nvPr>
            <p:ph type="body" idx="1"/>
          </p:nvPr>
        </p:nvSpPr>
        <p:spPr/>
        <p:txBody>
          <a:bodyPr/>
          <a:lstStyle/>
          <a:p>
            <a:pPr>
              <a:defRPr/>
            </a:pPr>
            <a:r>
              <a:rPr lang="en-US" altLang="en-US" b="1" i="1" dirty="0">
                <a:latin typeface="Calibri" pitchFamily="34" charset="0"/>
              </a:rPr>
              <a:t>History Taking</a:t>
            </a:r>
          </a:p>
          <a:p>
            <a:pPr>
              <a:defRPr/>
            </a:pPr>
            <a:r>
              <a:rPr lang="en-US" altLang="en-US" dirty="0">
                <a:latin typeface="Calibri" pitchFamily="34" charset="0"/>
              </a:rPr>
              <a:t>• Determining the chief complaint (pp 178-179)</a:t>
            </a:r>
          </a:p>
          <a:p>
            <a:pPr>
              <a:defRPr/>
            </a:pPr>
            <a:r>
              <a:rPr lang="en-US" altLang="en-US" dirty="0">
                <a:latin typeface="Calibri" pitchFamily="34" charset="0"/>
              </a:rPr>
              <a:t>• SAMPLE: signs and symptoms, allergies, medications, pertinent past medical history, last meal, events leading up to incident</a:t>
            </a: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38587883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81833B69-A11F-A142-B0D3-C3B3FE467CBE}"/>
              </a:ext>
            </a:extLst>
          </p:cNvPr>
          <p:cNvSpPr>
            <a:spLocks noGrp="1" noRot="1" noChangeAspect="1" noChangeArrowheads="1" noTextEdit="1"/>
          </p:cNvSpPr>
          <p:nvPr>
            <p:ph type="sldImg"/>
          </p:nvPr>
        </p:nvSpPr>
        <p:spPr>
          <a:ln/>
        </p:spPr>
      </p:sp>
      <p:sp>
        <p:nvSpPr>
          <p:cNvPr id="69635" name="Rectangle 3">
            <a:extLst>
              <a:ext uri="{FF2B5EF4-FFF2-40B4-BE49-F238E27FC236}">
                <a16:creationId xmlns:a16="http://schemas.microsoft.com/office/drawing/2014/main" id="{AD04D4A5-4CFD-4F47-A90E-92F1DFCE1482}"/>
              </a:ext>
            </a:extLst>
          </p:cNvPr>
          <p:cNvSpPr>
            <a:spLocks noGrp="1" noChangeArrowheads="1"/>
          </p:cNvSpPr>
          <p:nvPr>
            <p:ph type="body" idx="1"/>
          </p:nvPr>
        </p:nvSpPr>
        <p:spPr/>
        <p:txBody>
          <a:bodyPr/>
          <a:lstStyle/>
          <a:p>
            <a:pPr>
              <a:defRPr/>
            </a:pPr>
            <a:r>
              <a:rPr lang="en-US" altLang="en-US" b="1" i="1" dirty="0">
                <a:latin typeface="Calibri" pitchFamily="34" charset="0"/>
              </a:rPr>
              <a:t>Secondary Assessment</a:t>
            </a:r>
          </a:p>
          <a:p>
            <a:pPr>
              <a:defRPr/>
            </a:pPr>
            <a:r>
              <a:rPr lang="en-US" altLang="en-US" dirty="0">
                <a:latin typeface="Calibri" pitchFamily="34" charset="0"/>
              </a:rPr>
              <a:t>• Systematically assess patient. (pp 181-187)</a:t>
            </a:r>
          </a:p>
          <a:p>
            <a:pPr>
              <a:defRPr/>
            </a:pPr>
            <a:r>
              <a:rPr lang="en-US" altLang="en-US" dirty="0">
                <a:latin typeface="Calibri" pitchFamily="34" charset="0"/>
              </a:rPr>
              <a:t>• Assessment of vital signs. (pp 187-191)</a:t>
            </a:r>
          </a:p>
          <a:p>
            <a:pPr>
              <a:defRPr/>
            </a:pPr>
            <a:r>
              <a:rPr lang="en-US" altLang="en-US" b="1" i="1" dirty="0">
                <a:latin typeface="Calibri" pitchFamily="34" charset="0"/>
              </a:rPr>
              <a:t>Reassessment</a:t>
            </a:r>
          </a:p>
          <a:p>
            <a:pPr>
              <a:defRPr/>
            </a:pPr>
            <a:r>
              <a:rPr lang="en-US" altLang="en-US" dirty="0">
                <a:latin typeface="Calibri" pitchFamily="34" charset="0"/>
              </a:rPr>
              <a:t>• Repeat primary assessment, reassess vital signs, chief complaint, recheck effectiveness of treatment, and identify and treat changes in patient’s condition. (pp 192-193)</a:t>
            </a: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18683349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766694BB-BF9B-D545-A63D-FBED57F11745}"/>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A9C5A4A5-BD1F-6846-AC3A-150BEDCEB3D9}"/>
              </a:ext>
            </a:extLst>
          </p:cNvPr>
          <p:cNvSpPr>
            <a:spLocks noGrp="1" noChangeArrowheads="1"/>
          </p:cNvSpPr>
          <p:nvPr>
            <p:ph type="body" idx="1"/>
          </p:nvPr>
        </p:nvSpPr>
        <p:spPr/>
        <p:txBody>
          <a:bodyPr/>
          <a:lstStyle/>
          <a:p>
            <a:pPr>
              <a:defRPr/>
            </a:pPr>
            <a:r>
              <a:rPr lang="en-US" altLang="en-US" dirty="0">
                <a:latin typeface="Calibri" pitchFamily="34" charset="0"/>
              </a:rPr>
              <a:t>I. Introduction</a:t>
            </a:r>
          </a:p>
          <a:p>
            <a:pPr>
              <a:defRPr/>
            </a:pPr>
            <a:r>
              <a:rPr lang="en-US" altLang="en-US" dirty="0">
                <a:latin typeface="Calibri" pitchFamily="34" charset="0"/>
              </a:rPr>
              <a:t>A.	EMRs are the first trained </a:t>
            </a:r>
            <a:r>
              <a:rPr lang="en-US" altLang="en-US" dirty="0">
                <a:solidFill>
                  <a:srgbClr val="FF0000"/>
                </a:solidFill>
                <a:latin typeface="Calibri" pitchFamily="34" charset="0"/>
              </a:rPr>
              <a:t>emergency medical services</a:t>
            </a:r>
            <a:r>
              <a:rPr lang="en-US" altLang="en-US" dirty="0">
                <a:latin typeface="Calibri" pitchFamily="34" charset="0"/>
              </a:rPr>
              <a:t> (EMS) providers at many emergency scenes. </a:t>
            </a:r>
          </a:p>
          <a:p>
            <a:pPr>
              <a:defRPr/>
            </a:pPr>
            <a:r>
              <a:rPr lang="en-US" altLang="en-US" dirty="0">
                <a:latin typeface="Calibri" pitchFamily="34" charset="0"/>
              </a:rPr>
              <a:t>	1.	Your assessment of scene and the patient will affect level of care requested for patient. </a:t>
            </a:r>
          </a:p>
          <a:p>
            <a:pPr>
              <a:defRPr/>
            </a:pPr>
            <a:r>
              <a:rPr lang="en-US" altLang="en-US" dirty="0">
                <a:latin typeface="Calibri" pitchFamily="34" charset="0"/>
              </a:rPr>
              <a:t>	2.	It is important that you are able to perform a systematic patient assessment to determine whether your patient has a medical condition or has sustained injuries from trauma. </a:t>
            </a:r>
          </a:p>
          <a:p>
            <a:pPr>
              <a:defRPr/>
            </a:pPr>
            <a:r>
              <a:rPr lang="en-US" altLang="en-US" dirty="0">
                <a:latin typeface="Calibri" pitchFamily="34" charset="0"/>
              </a:rPr>
              <a:t>B.	Patient assessment sequence consists of five steps: </a:t>
            </a:r>
          </a:p>
          <a:p>
            <a:pPr>
              <a:defRPr/>
            </a:pPr>
            <a:r>
              <a:rPr lang="en-US" altLang="en-US" dirty="0">
                <a:latin typeface="Calibri" pitchFamily="34" charset="0"/>
              </a:rPr>
              <a:t>	1.	Perform a scene size-up. </a:t>
            </a:r>
          </a:p>
          <a:p>
            <a:pPr>
              <a:defRPr/>
            </a:pPr>
            <a:r>
              <a:rPr lang="en-US" altLang="en-US" dirty="0">
                <a:latin typeface="Calibri" pitchFamily="34" charset="0"/>
              </a:rPr>
              <a:t>	2.	Perform a primary assessment. </a:t>
            </a:r>
          </a:p>
          <a:p>
            <a:pPr>
              <a:defRPr/>
            </a:pPr>
            <a:r>
              <a:rPr lang="en-US" altLang="en-US" dirty="0">
                <a:latin typeface="Calibri" pitchFamily="34" charset="0"/>
              </a:rPr>
              <a:t>	3.	Obtain patient’s medical history. </a:t>
            </a:r>
          </a:p>
          <a:p>
            <a:pPr>
              <a:defRPr/>
            </a:pPr>
            <a:r>
              <a:rPr lang="en-US" altLang="en-US" dirty="0">
                <a:latin typeface="Calibri" pitchFamily="34" charset="0"/>
              </a:rPr>
              <a:t>	4.	Perform a secondary assessment. </a:t>
            </a:r>
          </a:p>
          <a:p>
            <a:pPr>
              <a:defRPr/>
            </a:pPr>
            <a:r>
              <a:rPr lang="en-US" altLang="en-US" dirty="0">
                <a:latin typeface="Calibri" pitchFamily="34" charset="0"/>
              </a:rPr>
              <a:t>	5.	Perform a reassessment. </a:t>
            </a:r>
          </a:p>
          <a:p>
            <a:pPr>
              <a:defRPr/>
            </a:pPr>
            <a:r>
              <a:rPr lang="en-US" altLang="en-US" dirty="0">
                <a:latin typeface="Calibri" pitchFamily="34" charset="0"/>
              </a:rPr>
              <a:t>C.	This sequence allows you to systematically gather information you need. </a:t>
            </a: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903388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3AF0E1FE-D272-7640-B203-229389D7D772}"/>
              </a:ext>
            </a:extLst>
          </p:cNvPr>
          <p:cNvSpPr>
            <a:spLocks noGrp="1" noRot="1" noChangeAspect="1" noChangeArrowheads="1" noTextEdit="1"/>
          </p:cNvSpPr>
          <p:nvPr>
            <p:ph type="sldImg"/>
          </p:nvPr>
        </p:nvSpPr>
        <p:spPr>
          <a:ln/>
        </p:spPr>
      </p:sp>
      <p:sp>
        <p:nvSpPr>
          <p:cNvPr id="71683" name="Rectangle 3">
            <a:extLst>
              <a:ext uri="{FF2B5EF4-FFF2-40B4-BE49-F238E27FC236}">
                <a16:creationId xmlns:a16="http://schemas.microsoft.com/office/drawing/2014/main" id="{584F2C3A-8B79-D04F-80AF-864154629426}"/>
              </a:ext>
            </a:extLst>
          </p:cNvPr>
          <p:cNvSpPr>
            <a:spLocks noGrp="1" noChangeArrowheads="1"/>
          </p:cNvSpPr>
          <p:nvPr>
            <p:ph type="body" idx="1"/>
          </p:nvPr>
        </p:nvSpPr>
        <p:spPr/>
        <p:txBody>
          <a:bodyPr/>
          <a:lstStyle/>
          <a:p>
            <a:pPr>
              <a:defRPr/>
            </a:pPr>
            <a:r>
              <a:rPr lang="en-US" altLang="en-US" dirty="0">
                <a:latin typeface="Calibri" pitchFamily="34" charset="0"/>
              </a:rPr>
              <a:t>D.	Skills and knowledge presented in this chapter follow an assessment-based care model.</a:t>
            </a:r>
          </a:p>
          <a:p>
            <a:pPr>
              <a:defRPr/>
            </a:pPr>
            <a:r>
              <a:rPr lang="en-US" altLang="en-US" dirty="0">
                <a:latin typeface="Calibri" pitchFamily="34" charset="0"/>
              </a:rPr>
              <a:t>	1.	With assessment-based care, treatment rendered is based on patient’s symptoms. </a:t>
            </a:r>
          </a:p>
          <a:p>
            <a:pPr>
              <a:defRPr/>
            </a:pPr>
            <a:r>
              <a:rPr lang="en-US" altLang="en-US" dirty="0">
                <a:latin typeface="Calibri" pitchFamily="34" charset="0"/>
              </a:rPr>
              <a:t>	2.	Assessment-based care requires you to conduct a careful and thorough evaluation of patient so that you can provide appropriate care. </a:t>
            </a: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30045387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509E3E89-2CFB-4D4D-9ECE-2A77426FA297}"/>
              </a:ext>
            </a:extLst>
          </p:cNvPr>
          <p:cNvSpPr>
            <a:spLocks noGrp="1" noRot="1" noChangeAspect="1" noChangeArrowheads="1" noTextEdit="1"/>
          </p:cNvSpPr>
          <p:nvPr>
            <p:ph type="sldImg"/>
          </p:nvPr>
        </p:nvSpPr>
        <p:spPr>
          <a:ln/>
        </p:spPr>
      </p:sp>
      <p:sp>
        <p:nvSpPr>
          <p:cNvPr id="72707" name="Rectangle 3">
            <a:extLst>
              <a:ext uri="{FF2B5EF4-FFF2-40B4-BE49-F238E27FC236}">
                <a16:creationId xmlns:a16="http://schemas.microsoft.com/office/drawing/2014/main" id="{7B7227CC-A311-7B4B-B6F4-51139082F585}"/>
              </a:ext>
            </a:extLst>
          </p:cNvPr>
          <p:cNvSpPr>
            <a:spLocks noGrp="1" noChangeArrowheads="1"/>
          </p:cNvSpPr>
          <p:nvPr>
            <p:ph type="body" idx="1"/>
          </p:nvPr>
        </p:nvSpPr>
        <p:spPr/>
        <p:txBody>
          <a:bodyPr/>
          <a:lstStyle/>
          <a:p>
            <a:pPr>
              <a:defRPr/>
            </a:pPr>
            <a:r>
              <a:rPr lang="en-US" altLang="en-US" dirty="0">
                <a:latin typeface="Calibri" pitchFamily="34" charset="0"/>
              </a:rPr>
              <a:t>II. Patient Assessment Sequence</a:t>
            </a:r>
          </a:p>
          <a:p>
            <a:pPr>
              <a:defRPr/>
            </a:pPr>
            <a:r>
              <a:rPr lang="en-US" altLang="en-US" dirty="0">
                <a:latin typeface="Calibri" pitchFamily="34" charset="0"/>
              </a:rPr>
              <a:t>A.	Patient assessment sequence provides a framework so that you can:</a:t>
            </a:r>
          </a:p>
          <a:p>
            <a:pPr>
              <a:defRPr/>
            </a:pPr>
            <a:r>
              <a:rPr lang="en-US" altLang="en-US" dirty="0">
                <a:latin typeface="Calibri" pitchFamily="34" charset="0"/>
              </a:rPr>
              <a:t>	1.	Safely approach an emergency scene.</a:t>
            </a:r>
          </a:p>
          <a:p>
            <a:pPr>
              <a:defRPr/>
            </a:pPr>
            <a:r>
              <a:rPr lang="en-US" altLang="en-US" dirty="0">
                <a:latin typeface="Calibri" pitchFamily="34" charset="0"/>
              </a:rPr>
              <a:t>	2.	Conduct a primary assessment.</a:t>
            </a:r>
          </a:p>
          <a:p>
            <a:pPr>
              <a:defRPr/>
            </a:pPr>
            <a:r>
              <a:rPr lang="en-US" altLang="en-US" dirty="0">
                <a:latin typeface="Calibri" pitchFamily="34" charset="0"/>
              </a:rPr>
              <a:t>	3.	Obtain patient’s history.</a:t>
            </a:r>
          </a:p>
          <a:p>
            <a:pPr>
              <a:defRPr/>
            </a:pPr>
            <a:r>
              <a:rPr lang="en-US" altLang="en-US" dirty="0">
                <a:latin typeface="Calibri" pitchFamily="34" charset="0"/>
              </a:rPr>
              <a:t>	4.	Conduct a secondary assessment.</a:t>
            </a:r>
          </a:p>
          <a:p>
            <a:pPr>
              <a:defRPr/>
            </a:pPr>
            <a:r>
              <a:rPr lang="en-US" altLang="en-US" dirty="0">
                <a:latin typeface="Calibri" pitchFamily="34" charset="0"/>
              </a:rPr>
              <a:t>	5.	Conduct reassessment of patient.</a:t>
            </a: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42304939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E6E42792-1C80-4144-9C63-ADD64D8F6159}"/>
              </a:ext>
            </a:extLst>
          </p:cNvPr>
          <p:cNvSpPr>
            <a:spLocks noGrp="1" noRot="1" noChangeAspect="1" noChangeArrowheads="1" noTextEdit="1"/>
          </p:cNvSpPr>
          <p:nvPr>
            <p:ph type="sldImg"/>
          </p:nvPr>
        </p:nvSpPr>
        <p:spPr>
          <a:ln/>
        </p:spPr>
      </p:sp>
      <p:sp>
        <p:nvSpPr>
          <p:cNvPr id="73731" name="Rectangle 3">
            <a:extLst>
              <a:ext uri="{FF2B5EF4-FFF2-40B4-BE49-F238E27FC236}">
                <a16:creationId xmlns:a16="http://schemas.microsoft.com/office/drawing/2014/main" id="{85FDFEBF-0874-1F44-88BD-58C8A48B1720}"/>
              </a:ext>
            </a:extLst>
          </p:cNvPr>
          <p:cNvSpPr>
            <a:spLocks noGrp="1" noChangeArrowheads="1"/>
          </p:cNvSpPr>
          <p:nvPr>
            <p:ph type="body" idx="1"/>
          </p:nvPr>
        </p:nvSpPr>
        <p:spPr/>
        <p:txBody>
          <a:bodyPr/>
          <a:lstStyle/>
          <a:p>
            <a:pPr>
              <a:defRPr/>
            </a:pPr>
            <a:r>
              <a:rPr lang="en-US" dirty="0">
                <a:ea typeface="ＭＳ Ｐゴシック" charset="0"/>
              </a:rPr>
              <a:t>III. Scene Size-up</a:t>
            </a:r>
          </a:p>
          <a:p>
            <a:pPr>
              <a:defRPr/>
            </a:pPr>
            <a:r>
              <a:rPr lang="en-US" dirty="0">
                <a:ea typeface="ＭＳ Ｐゴシック" charset="0"/>
              </a:rPr>
              <a:t>A.	Scene size-up is a general overview of incident and its surroundings.</a:t>
            </a:r>
          </a:p>
          <a:p>
            <a:pPr>
              <a:defRPr/>
            </a:pPr>
            <a:r>
              <a:rPr lang="en-US" dirty="0">
                <a:ea typeface="ＭＳ Ｐゴシック" charset="0"/>
              </a:rPr>
              <a:t>B.	Review dispatch information:</a:t>
            </a:r>
          </a:p>
          <a:p>
            <a:pPr>
              <a:defRPr/>
            </a:pPr>
            <a:r>
              <a:rPr lang="en-US" dirty="0">
                <a:ea typeface="ＭＳ Ｐゴシック" charset="0"/>
              </a:rPr>
              <a:t>	1.	Anticipate possible conditions by reviewing and understanding dispatch information.</a:t>
            </a:r>
          </a:p>
          <a:p>
            <a:pPr>
              <a:defRPr/>
            </a:pPr>
            <a:r>
              <a:rPr lang="en-US" dirty="0">
                <a:ea typeface="ＭＳ Ｐゴシック" charset="0"/>
              </a:rPr>
              <a:t>	2.	Your dispatcher should have obtained following information:</a:t>
            </a:r>
          </a:p>
          <a:p>
            <a:pPr>
              <a:defRPr/>
            </a:pPr>
            <a:r>
              <a:rPr lang="en-US" dirty="0">
                <a:ea typeface="ＭＳ Ｐゴシック" charset="0"/>
              </a:rPr>
              <a:t>		a.	Location of incident.</a:t>
            </a:r>
          </a:p>
          <a:p>
            <a:pPr>
              <a:defRPr/>
            </a:pPr>
            <a:r>
              <a:rPr lang="en-US" dirty="0">
                <a:ea typeface="ＭＳ Ｐゴシック" charset="0"/>
              </a:rPr>
              <a:t>		b.	Main problem or type of incident.</a:t>
            </a:r>
          </a:p>
          <a:p>
            <a:pPr>
              <a:defRPr/>
            </a:pPr>
            <a:r>
              <a:rPr lang="en-US" dirty="0">
                <a:ea typeface="ＭＳ Ｐゴシック" charset="0"/>
              </a:rPr>
              <a:t>		c.	Number of people involved. </a:t>
            </a:r>
          </a:p>
          <a:p>
            <a:pPr>
              <a:defRPr/>
            </a:pPr>
            <a:r>
              <a:rPr lang="en-US" dirty="0">
                <a:ea typeface="ＭＳ Ｐゴシック" charset="0"/>
              </a:rPr>
              <a:t>		d.	Safety issues at scene.</a:t>
            </a:r>
          </a:p>
          <a:p>
            <a:pPr eaLnBrk="1" hangingPunct="1">
              <a:defRPr/>
            </a:pPr>
            <a:endParaRPr lang="en-US" dirty="0">
              <a:ea typeface="ＭＳ Ｐゴシック" charset="0"/>
            </a:endParaRPr>
          </a:p>
        </p:txBody>
      </p:sp>
    </p:spTree>
    <p:extLst>
      <p:ext uri="{BB962C8B-B14F-4D97-AF65-F5344CB8AC3E}">
        <p14:creationId xmlns:p14="http://schemas.microsoft.com/office/powerpoint/2010/main" val="33033893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C1B497A4-8613-C042-AC19-0279BD1B3DF7}"/>
              </a:ext>
            </a:extLst>
          </p:cNvPr>
          <p:cNvSpPr>
            <a:spLocks noGrp="1" noRot="1" noChangeAspect="1" noChangeArrowheads="1" noTextEdit="1"/>
          </p:cNvSpPr>
          <p:nvPr>
            <p:ph type="sldImg"/>
          </p:nvPr>
        </p:nvSpPr>
        <p:spPr>
          <a:ln/>
        </p:spPr>
      </p:sp>
      <p:sp>
        <p:nvSpPr>
          <p:cNvPr id="74755" name="Rectangle 3">
            <a:extLst>
              <a:ext uri="{FF2B5EF4-FFF2-40B4-BE49-F238E27FC236}">
                <a16:creationId xmlns:a16="http://schemas.microsoft.com/office/drawing/2014/main" id="{07B72146-1983-CC4D-8EFC-B76D4462A61D}"/>
              </a:ext>
            </a:extLst>
          </p:cNvPr>
          <p:cNvSpPr>
            <a:spLocks noGrp="1" noChangeArrowheads="1"/>
          </p:cNvSpPr>
          <p:nvPr>
            <p:ph type="body" idx="1"/>
          </p:nvPr>
        </p:nvSpPr>
        <p:spPr/>
        <p:txBody>
          <a:bodyPr/>
          <a:lstStyle/>
          <a:p>
            <a:pPr>
              <a:defRPr/>
            </a:pPr>
            <a:r>
              <a:rPr lang="en-US" dirty="0">
                <a:ea typeface="ＭＳ Ｐゴシック" charset="0"/>
              </a:rPr>
              <a:t>	3.	Other factors can also affect your actions:</a:t>
            </a:r>
          </a:p>
          <a:p>
            <a:pPr>
              <a:defRPr/>
            </a:pPr>
            <a:r>
              <a:rPr lang="en-US" dirty="0">
                <a:ea typeface="ＭＳ Ｐゴシック" charset="0"/>
              </a:rPr>
              <a:t>		a.	Time of day</a:t>
            </a:r>
          </a:p>
          <a:p>
            <a:pPr>
              <a:defRPr/>
            </a:pPr>
            <a:r>
              <a:rPr lang="en-US" dirty="0">
                <a:ea typeface="ＭＳ Ｐゴシック" charset="0"/>
              </a:rPr>
              <a:t>		b.	Day of the week</a:t>
            </a:r>
          </a:p>
          <a:p>
            <a:pPr>
              <a:defRPr/>
            </a:pPr>
            <a:r>
              <a:rPr lang="en-US" dirty="0">
                <a:ea typeface="ＭＳ Ｐゴシック" charset="0"/>
              </a:rPr>
              <a:t>		c.	Weather conditions</a:t>
            </a:r>
          </a:p>
          <a:p>
            <a:pPr>
              <a:defRPr/>
            </a:pPr>
            <a:r>
              <a:rPr lang="en-US" dirty="0">
                <a:ea typeface="ＭＳ Ｐゴシック" charset="0"/>
              </a:rPr>
              <a:t>	4.	Think about the resources that may be needed and mentally prepare for other situations you may find when you arrive on scene.</a:t>
            </a:r>
          </a:p>
          <a:p>
            <a:pPr>
              <a:defRPr/>
            </a:pPr>
            <a:r>
              <a:rPr lang="en-US" dirty="0">
                <a:ea typeface="ＭＳ Ｐゴシック" charset="0"/>
              </a:rPr>
              <a:t>	5.	If you should come across a medical emergency, notify the emergency medical dispatch center by using your two-way radio.</a:t>
            </a:r>
          </a:p>
          <a:p>
            <a:pPr>
              <a:defRPr/>
            </a:pPr>
            <a:r>
              <a:rPr lang="en-US" dirty="0">
                <a:ea typeface="ＭＳ Ｐゴシック" charset="0"/>
              </a:rPr>
              <a:t>		a.	If you do not have a two-way radio, use a cellular phone or send someone to call for help.</a:t>
            </a:r>
          </a:p>
          <a:p>
            <a:pPr eaLnBrk="1" hangingPunct="1">
              <a:defRPr/>
            </a:pPr>
            <a:endParaRPr lang="en-US" dirty="0">
              <a:ea typeface="ＭＳ Ｐゴシック" charset="0"/>
            </a:endParaRPr>
          </a:p>
        </p:txBody>
      </p:sp>
    </p:spTree>
    <p:extLst>
      <p:ext uri="{BB962C8B-B14F-4D97-AF65-F5344CB8AC3E}">
        <p14:creationId xmlns:p14="http://schemas.microsoft.com/office/powerpoint/2010/main" val="41551303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41C1AA03-C236-F948-8FA9-CF10653D989D}"/>
              </a:ext>
            </a:extLst>
          </p:cNvPr>
          <p:cNvSpPr>
            <a:spLocks noGrp="1" noRot="1" noChangeAspect="1" noChangeArrowheads="1" noTextEdit="1"/>
          </p:cNvSpPr>
          <p:nvPr>
            <p:ph type="sldImg"/>
          </p:nvPr>
        </p:nvSpPr>
        <p:spPr>
          <a:ln/>
        </p:spPr>
      </p:sp>
      <p:sp>
        <p:nvSpPr>
          <p:cNvPr id="75779" name="Rectangle 3">
            <a:extLst>
              <a:ext uri="{FF2B5EF4-FFF2-40B4-BE49-F238E27FC236}">
                <a16:creationId xmlns:a16="http://schemas.microsoft.com/office/drawing/2014/main" id="{1FE1F7B3-DE89-6945-8E4F-264A4887D543}"/>
              </a:ext>
            </a:extLst>
          </p:cNvPr>
          <p:cNvSpPr>
            <a:spLocks noGrp="1" noChangeArrowheads="1"/>
          </p:cNvSpPr>
          <p:nvPr>
            <p:ph type="body" idx="1"/>
          </p:nvPr>
        </p:nvSpPr>
        <p:spPr/>
        <p:txBody>
          <a:bodyPr/>
          <a:lstStyle/>
          <a:p>
            <a:pPr>
              <a:defRPr/>
            </a:pPr>
            <a:r>
              <a:rPr lang="en-US" dirty="0">
                <a:ea typeface="ＭＳ Ｐゴシック" charset="0"/>
              </a:rPr>
              <a:t>C.	Ensure scene safety.</a:t>
            </a:r>
          </a:p>
          <a:p>
            <a:pPr>
              <a:defRPr/>
            </a:pPr>
            <a:r>
              <a:rPr lang="en-US" dirty="0">
                <a:ea typeface="ＭＳ Ｐゴシック" charset="0"/>
              </a:rPr>
              <a:t>	1.	Park your vehicle so that it helps secure scene and minimizes traffic blockage.</a:t>
            </a:r>
          </a:p>
          <a:p>
            <a:pPr>
              <a:defRPr/>
            </a:pPr>
            <a:r>
              <a:rPr lang="en-US" dirty="0">
                <a:ea typeface="ＭＳ Ｐゴシック" charset="0"/>
              </a:rPr>
              <a:t>	2.	Scan scene to ensure that you are not putting yourself in danger and make these determinations:</a:t>
            </a:r>
          </a:p>
          <a:p>
            <a:pPr>
              <a:defRPr/>
            </a:pPr>
            <a:r>
              <a:rPr lang="en-US" dirty="0">
                <a:ea typeface="ＭＳ Ｐゴシック" charset="0"/>
              </a:rPr>
              <a:t>		a.	Extent of the incident.</a:t>
            </a:r>
          </a:p>
          <a:p>
            <a:pPr>
              <a:defRPr/>
            </a:pPr>
            <a:r>
              <a:rPr lang="en-US" dirty="0">
                <a:ea typeface="ＭＳ Ｐゴシック" charset="0"/>
              </a:rPr>
              <a:t>		b.	Possible number of people injured.</a:t>
            </a:r>
          </a:p>
          <a:p>
            <a:pPr>
              <a:defRPr/>
            </a:pPr>
            <a:r>
              <a:rPr lang="en-US" dirty="0">
                <a:ea typeface="ＭＳ Ｐゴシック" charset="0"/>
              </a:rPr>
              <a:t>		c.	Presence of possible hazards.</a:t>
            </a:r>
          </a:p>
          <a:p>
            <a:pPr eaLnBrk="1" hangingPunct="1">
              <a:defRPr/>
            </a:pPr>
            <a:endParaRPr lang="en-US" dirty="0">
              <a:ea typeface="ＭＳ Ｐゴシック" charset="0"/>
            </a:endParaRPr>
          </a:p>
          <a:p>
            <a:pPr eaLnBrk="1" hangingPunct="1">
              <a:defRPr/>
            </a:pPr>
            <a:r>
              <a:rPr lang="en-US" dirty="0">
                <a:ea typeface="ＭＳ Ｐゴシック" charset="0"/>
              </a:rPr>
              <a:t>Figure: Perform a scene size-up.</a:t>
            </a:r>
          </a:p>
        </p:txBody>
      </p:sp>
    </p:spTree>
    <p:extLst>
      <p:ext uri="{BB962C8B-B14F-4D97-AF65-F5344CB8AC3E}">
        <p14:creationId xmlns:p14="http://schemas.microsoft.com/office/powerpoint/2010/main" val="20314730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6DE4E23F-4DD7-1747-9034-043824513BBD}"/>
              </a:ext>
            </a:extLst>
          </p:cNvPr>
          <p:cNvSpPr>
            <a:spLocks noGrp="1" noRot="1" noChangeAspect="1" noChangeArrowheads="1" noTextEdit="1"/>
          </p:cNvSpPr>
          <p:nvPr>
            <p:ph type="sldImg"/>
          </p:nvPr>
        </p:nvSpPr>
        <p:spPr>
          <a:ln/>
        </p:spPr>
      </p:sp>
      <p:sp>
        <p:nvSpPr>
          <p:cNvPr id="76803" name="Rectangle 3">
            <a:extLst>
              <a:ext uri="{FF2B5EF4-FFF2-40B4-BE49-F238E27FC236}">
                <a16:creationId xmlns:a16="http://schemas.microsoft.com/office/drawing/2014/main" id="{5E097E5D-6FA1-9240-821D-70C21E145E8F}"/>
              </a:ext>
            </a:extLst>
          </p:cNvPr>
          <p:cNvSpPr>
            <a:spLocks noGrp="1" noChangeArrowheads="1"/>
          </p:cNvSpPr>
          <p:nvPr>
            <p:ph type="body" idx="1"/>
          </p:nvPr>
        </p:nvSpPr>
        <p:spPr/>
        <p:txBody>
          <a:bodyPr/>
          <a:lstStyle/>
          <a:p>
            <a:pPr>
              <a:defRPr/>
            </a:pPr>
            <a:r>
              <a:rPr lang="en-US" dirty="0">
                <a:ea typeface="ＭＳ Ｐゴシック" charset="0"/>
              </a:rPr>
              <a:t>	3.	Hazards can be visible or invisible.</a:t>
            </a:r>
          </a:p>
          <a:p>
            <a:pPr>
              <a:defRPr/>
            </a:pPr>
            <a:r>
              <a:rPr lang="en-US" dirty="0">
                <a:ea typeface="ＭＳ Ｐゴシック" charset="0"/>
              </a:rPr>
              <a:t>		a.	Visible hazards include:</a:t>
            </a:r>
          </a:p>
          <a:p>
            <a:pPr>
              <a:defRPr/>
            </a:pPr>
            <a:r>
              <a:rPr lang="en-US" dirty="0">
                <a:ea typeface="ＭＳ Ｐゴシック" charset="0"/>
              </a:rPr>
              <a:t>			</a:t>
            </a:r>
            <a:r>
              <a:rPr lang="en-US" dirty="0" err="1">
                <a:ea typeface="ＭＳ Ｐゴシック" charset="0"/>
              </a:rPr>
              <a:t>i</a:t>
            </a:r>
            <a:r>
              <a:rPr lang="en-US" dirty="0">
                <a:ea typeface="ＭＳ Ｐゴシック" charset="0"/>
              </a:rPr>
              <a:t>.	Scene of a crash.</a:t>
            </a:r>
          </a:p>
          <a:p>
            <a:pPr>
              <a:defRPr/>
            </a:pPr>
            <a:r>
              <a:rPr lang="en-US" dirty="0">
                <a:ea typeface="ＭＳ Ｐゴシック" charset="0"/>
              </a:rPr>
              <a:t>			ii.	Fallen electrical wires.</a:t>
            </a:r>
          </a:p>
          <a:p>
            <a:pPr>
              <a:defRPr/>
            </a:pPr>
            <a:r>
              <a:rPr lang="en-US" dirty="0">
                <a:ea typeface="ＭＳ Ｐゴシック" charset="0"/>
              </a:rPr>
              <a:t>			iii.	Traffic.</a:t>
            </a:r>
          </a:p>
          <a:p>
            <a:pPr>
              <a:defRPr/>
            </a:pPr>
            <a:r>
              <a:rPr lang="en-US" dirty="0">
                <a:ea typeface="ＭＳ Ｐゴシック" charset="0"/>
              </a:rPr>
              <a:t>			iv.	Spilled gasoline.</a:t>
            </a:r>
          </a:p>
          <a:p>
            <a:pPr>
              <a:defRPr/>
            </a:pPr>
            <a:r>
              <a:rPr lang="en-US" dirty="0">
                <a:ea typeface="ＭＳ Ｐゴシック" charset="0"/>
              </a:rPr>
              <a:t>			v.	Unstable buildings.</a:t>
            </a:r>
          </a:p>
          <a:p>
            <a:pPr>
              <a:defRPr/>
            </a:pPr>
            <a:r>
              <a:rPr lang="en-US" dirty="0">
                <a:ea typeface="ＭＳ Ｐゴシック" charset="0"/>
              </a:rPr>
              <a:t>			vi.	Crime scene.</a:t>
            </a:r>
          </a:p>
          <a:p>
            <a:pPr>
              <a:defRPr/>
            </a:pPr>
            <a:r>
              <a:rPr lang="en-US" dirty="0">
                <a:ea typeface="ＭＳ Ｐゴシック" charset="0"/>
              </a:rPr>
              <a:t>			vii.	Weather.</a:t>
            </a:r>
          </a:p>
          <a:p>
            <a:pPr>
              <a:defRPr/>
            </a:pPr>
            <a:r>
              <a:rPr lang="en-US" dirty="0">
                <a:ea typeface="ＭＳ Ｐゴシック" charset="0"/>
              </a:rPr>
              <a:t>			viii.	Crowds.</a:t>
            </a:r>
          </a:p>
          <a:p>
            <a:pPr>
              <a:defRPr/>
            </a:pPr>
            <a:r>
              <a:rPr lang="en-US" dirty="0">
                <a:ea typeface="ＭＳ Ｐゴシック" charset="0"/>
              </a:rPr>
              <a:t>			ix.	Unstable surfaces such as slopes, ice, and water.</a:t>
            </a:r>
          </a:p>
        </p:txBody>
      </p:sp>
    </p:spTree>
    <p:extLst>
      <p:ext uri="{BB962C8B-B14F-4D97-AF65-F5344CB8AC3E}">
        <p14:creationId xmlns:p14="http://schemas.microsoft.com/office/powerpoint/2010/main" val="2553682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BBCCE0D2-8DA6-FE4F-83EA-853F5C2F8DF7}"/>
              </a:ext>
            </a:extLst>
          </p:cNvPr>
          <p:cNvSpPr>
            <a:spLocks noGrp="1" noRot="1" noChangeAspect="1" noChangeArrowheads="1" noTextEdit="1"/>
          </p:cNvSpPr>
          <p:nvPr>
            <p:ph type="sldImg"/>
          </p:nvPr>
        </p:nvSpPr>
        <p:spPr>
          <a:ln/>
        </p:spPr>
      </p:sp>
      <p:sp>
        <p:nvSpPr>
          <p:cNvPr id="77827" name="Rectangle 3">
            <a:extLst>
              <a:ext uri="{FF2B5EF4-FFF2-40B4-BE49-F238E27FC236}">
                <a16:creationId xmlns:a16="http://schemas.microsoft.com/office/drawing/2014/main" id="{560AF3B2-01DF-CA46-91EB-BD3D4AFD4349}"/>
              </a:ext>
            </a:extLst>
          </p:cNvPr>
          <p:cNvSpPr>
            <a:spLocks noGrp="1" noChangeArrowheads="1"/>
          </p:cNvSpPr>
          <p:nvPr>
            <p:ph type="body" idx="1"/>
          </p:nvPr>
        </p:nvSpPr>
        <p:spPr/>
        <p:txBody>
          <a:bodyPr/>
          <a:lstStyle/>
          <a:p>
            <a:pPr>
              <a:defRPr/>
            </a:pPr>
            <a:r>
              <a:rPr lang="en-US" dirty="0">
                <a:ea typeface="ＭＳ Ｐゴシック" charset="0"/>
              </a:rPr>
              <a:t>		b.	Invisible hazards include:</a:t>
            </a:r>
          </a:p>
          <a:p>
            <a:pPr>
              <a:defRPr/>
            </a:pPr>
            <a:r>
              <a:rPr lang="en-US" dirty="0">
                <a:ea typeface="ＭＳ Ｐゴシック" charset="0"/>
              </a:rPr>
              <a:t>			</a:t>
            </a:r>
            <a:r>
              <a:rPr lang="en-US" dirty="0" err="1">
                <a:ea typeface="ＭＳ Ｐゴシック" charset="0"/>
              </a:rPr>
              <a:t>i</a:t>
            </a:r>
            <a:r>
              <a:rPr lang="en-US" dirty="0">
                <a:ea typeface="ＭＳ Ｐゴシック" charset="0"/>
              </a:rPr>
              <a:t>.	Electricity.</a:t>
            </a:r>
          </a:p>
          <a:p>
            <a:pPr>
              <a:defRPr/>
            </a:pPr>
            <a:r>
              <a:rPr lang="en-US" dirty="0">
                <a:ea typeface="ＭＳ Ｐゴシック" charset="0"/>
              </a:rPr>
              <a:t>			ii.	Biologic hazards.</a:t>
            </a:r>
          </a:p>
          <a:p>
            <a:pPr>
              <a:defRPr/>
            </a:pPr>
            <a:r>
              <a:rPr lang="en-US" dirty="0">
                <a:ea typeface="ＭＳ Ｐゴシック" charset="0"/>
              </a:rPr>
              <a:t>			iii.	Hazardous materials.</a:t>
            </a:r>
          </a:p>
          <a:p>
            <a:pPr>
              <a:defRPr/>
            </a:pPr>
            <a:r>
              <a:rPr lang="en-US" dirty="0">
                <a:ea typeface="ＭＳ Ｐゴシック" charset="0"/>
              </a:rPr>
              <a:t>			iv.	Poisonous fumes. </a:t>
            </a:r>
          </a:p>
          <a:p>
            <a:pPr>
              <a:defRPr/>
            </a:pPr>
            <a:r>
              <a:rPr lang="en-US" dirty="0">
                <a:ea typeface="ＭＳ Ｐゴシック" charset="0"/>
              </a:rPr>
              <a:t>	4.	Note hazards, consider your ability to manage them, and decide whether to call for assistance. </a:t>
            </a:r>
          </a:p>
          <a:p>
            <a:pPr>
              <a:defRPr/>
            </a:pPr>
            <a:r>
              <a:rPr lang="en-US" dirty="0">
                <a:ea typeface="ＭＳ Ｐゴシック" charset="0"/>
              </a:rPr>
              <a:t>	5.	If a scene is unsafe, keep people away until specially trained teams arrive.</a:t>
            </a:r>
          </a:p>
          <a:p>
            <a:pPr>
              <a:defRPr/>
            </a:pPr>
            <a:r>
              <a:rPr lang="en-US" dirty="0">
                <a:ea typeface="ＭＳ Ｐゴシック" charset="0"/>
              </a:rPr>
              <a:t>	6.	Identify potential exit routes from the scene in the event a hazard becomes life threatening, and wear appropriate personal protective equipment.</a:t>
            </a:r>
          </a:p>
          <a:p>
            <a:pPr eaLnBrk="1" hangingPunct="1">
              <a:defRPr/>
            </a:pPr>
            <a:endParaRPr lang="en-US" dirty="0">
              <a:ea typeface="ＭＳ Ｐゴシック" charset="0"/>
            </a:endParaRPr>
          </a:p>
        </p:txBody>
      </p:sp>
    </p:spTree>
    <p:extLst>
      <p:ext uri="{BB962C8B-B14F-4D97-AF65-F5344CB8AC3E}">
        <p14:creationId xmlns:p14="http://schemas.microsoft.com/office/powerpoint/2010/main" val="3435366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48868BAA-1E99-A649-8B3E-4E38F23F70EC}"/>
              </a:ext>
            </a:extLst>
          </p:cNvPr>
          <p:cNvSpPr>
            <a:spLocks noGrp="1" noRot="1" noChangeAspect="1" noChangeArrowheads="1" noTextEdit="1"/>
          </p:cNvSpPr>
          <p:nvPr>
            <p:ph type="sldImg"/>
          </p:nvPr>
        </p:nvSpPr>
        <p:spPr>
          <a:ln/>
        </p:spPr>
      </p:sp>
      <p:sp>
        <p:nvSpPr>
          <p:cNvPr id="78851" name="Rectangle 3">
            <a:extLst>
              <a:ext uri="{FF2B5EF4-FFF2-40B4-BE49-F238E27FC236}">
                <a16:creationId xmlns:a16="http://schemas.microsoft.com/office/drawing/2014/main" id="{B638AEA4-F317-3A44-903E-595F2FC89696}"/>
              </a:ext>
            </a:extLst>
          </p:cNvPr>
          <p:cNvSpPr>
            <a:spLocks noGrp="1" noChangeArrowheads="1"/>
          </p:cNvSpPr>
          <p:nvPr>
            <p:ph type="body" idx="1"/>
          </p:nvPr>
        </p:nvSpPr>
        <p:spPr/>
        <p:txBody>
          <a:bodyPr/>
          <a:lstStyle/>
          <a:p>
            <a:pPr>
              <a:defRPr/>
            </a:pPr>
            <a:r>
              <a:rPr lang="en-US" altLang="en-US" dirty="0">
                <a:latin typeface="Calibri" pitchFamily="34" charset="0"/>
              </a:rPr>
              <a:t>D.	Determine mechanism of injury (MOI) or nature of illness (NOI).</a:t>
            </a:r>
          </a:p>
          <a:p>
            <a:pPr>
              <a:defRPr/>
            </a:pPr>
            <a:r>
              <a:rPr lang="en-US" altLang="en-US" dirty="0">
                <a:latin typeface="Calibri" pitchFamily="34" charset="0"/>
              </a:rPr>
              <a:t>	1.	Look for clues that may indicate how accident happened.</a:t>
            </a:r>
          </a:p>
          <a:p>
            <a:pPr>
              <a:defRPr/>
            </a:pPr>
            <a:r>
              <a:rPr lang="en-US" altLang="en-US" dirty="0">
                <a:latin typeface="Calibri" pitchFamily="34" charset="0"/>
              </a:rPr>
              <a:t>	2.	If you can determine MOI or NOI, you can sometimes predict patient’s injuries.</a:t>
            </a:r>
          </a:p>
          <a:p>
            <a:pPr>
              <a:defRPr/>
            </a:pPr>
            <a:r>
              <a:rPr lang="en-US" altLang="en-US" dirty="0">
                <a:latin typeface="Calibri" pitchFamily="34" charset="0"/>
              </a:rPr>
              <a:t>	3.	Ask patient, family members, or bystanders for additional information.</a:t>
            </a:r>
          </a:p>
          <a:p>
            <a:pPr>
              <a:defRPr/>
            </a:pPr>
            <a:r>
              <a:rPr lang="en-US" altLang="en-US" dirty="0">
                <a:latin typeface="Calibri" pitchFamily="34" charset="0"/>
              </a:rPr>
              <a:t>	4.	Do not rule out any injury without conducting a secondary assessment of patient.</a:t>
            </a: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37602230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DE98F486-9E5E-DB42-ADF3-479C79B17FCB}"/>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578FEB3E-4325-9B4C-9353-A0D3F7891236}"/>
              </a:ext>
            </a:extLst>
          </p:cNvPr>
          <p:cNvSpPr>
            <a:spLocks noGrp="1" noChangeArrowheads="1"/>
          </p:cNvSpPr>
          <p:nvPr>
            <p:ph type="body" idx="1"/>
          </p:nvPr>
        </p:nvSpPr>
        <p:spPr/>
        <p:txBody>
          <a:bodyPr/>
          <a:lstStyle/>
          <a:p>
            <a:pPr>
              <a:defRPr/>
            </a:pPr>
            <a:r>
              <a:rPr lang="en-US" dirty="0">
                <a:ea typeface="ＭＳ Ｐゴシック" charset="0"/>
              </a:rPr>
              <a:t>E.	Take standard precautions.</a:t>
            </a:r>
          </a:p>
          <a:p>
            <a:pPr>
              <a:defRPr/>
            </a:pPr>
            <a:r>
              <a:rPr lang="en-US" dirty="0">
                <a:ea typeface="ＭＳ Ｐゴシック" charset="0"/>
              </a:rPr>
              <a:t>	1.	Before arriving at the scene, prepare yourself by anticipating the types of standard precautions for infectious diseases that may be required.</a:t>
            </a:r>
            <a:endParaRPr lang="en-US" b="1" dirty="0">
              <a:ea typeface="ＭＳ Ｐゴシック" charset="0"/>
            </a:endParaRPr>
          </a:p>
          <a:p>
            <a:pPr>
              <a:defRPr/>
            </a:pPr>
            <a:r>
              <a:rPr lang="en-US" dirty="0">
                <a:ea typeface="ＭＳ Ｐゴシック" charset="0"/>
              </a:rPr>
              <a:t>	2.	Always have gloves and a mask readily available.</a:t>
            </a:r>
            <a:endParaRPr lang="en-US" b="1" dirty="0">
              <a:ea typeface="ＭＳ Ｐゴシック" charset="0"/>
            </a:endParaRPr>
          </a:p>
          <a:p>
            <a:pPr>
              <a:defRPr/>
            </a:pPr>
            <a:r>
              <a:rPr lang="en-US" dirty="0">
                <a:ea typeface="ＭＳ Ｐゴシック" charset="0"/>
              </a:rPr>
              <a:t>	3.	Consider whether use of additional protection, such as eye protection, gowns, or masks, may be necessary.</a:t>
            </a:r>
            <a:endParaRPr lang="en-US" b="1" dirty="0">
              <a:ea typeface="ＭＳ Ｐゴシック" charset="0"/>
            </a:endParaRPr>
          </a:p>
          <a:p>
            <a:pPr>
              <a:defRPr/>
            </a:pPr>
            <a:r>
              <a:rPr lang="en-US" dirty="0">
                <a:ea typeface="ＭＳ Ｐゴシック" charset="0"/>
              </a:rPr>
              <a:t>	4.	Wash your hands thoroughly after contact with a patient or contaminated materials.</a:t>
            </a:r>
            <a:endParaRPr lang="en-US" b="1" dirty="0">
              <a:ea typeface="ＭＳ Ｐゴシック" charset="0"/>
            </a:endParaRPr>
          </a:p>
          <a:p>
            <a:pPr eaLnBrk="1" hangingPunct="1">
              <a:defRPr/>
            </a:pPr>
            <a:endParaRPr lang="en-US" dirty="0">
              <a:ea typeface="ＭＳ Ｐゴシック" charset="0"/>
            </a:endParaRPr>
          </a:p>
        </p:txBody>
      </p:sp>
    </p:spTree>
    <p:extLst>
      <p:ext uri="{BB962C8B-B14F-4D97-AF65-F5344CB8AC3E}">
        <p14:creationId xmlns:p14="http://schemas.microsoft.com/office/powerpoint/2010/main" val="34733484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2B7CE103-E210-2546-82E3-6C74E514802C}"/>
              </a:ext>
            </a:extLst>
          </p:cNvPr>
          <p:cNvSpPr>
            <a:spLocks noGrp="1" noRot="1" noChangeAspect="1" noChangeArrowheads="1" noTextEdit="1"/>
          </p:cNvSpPr>
          <p:nvPr>
            <p:ph type="sldImg"/>
          </p:nvPr>
        </p:nvSpPr>
        <p:spPr>
          <a:ln/>
        </p:spPr>
      </p:sp>
      <p:sp>
        <p:nvSpPr>
          <p:cNvPr id="80899" name="Rectangle 3">
            <a:extLst>
              <a:ext uri="{FF2B5EF4-FFF2-40B4-BE49-F238E27FC236}">
                <a16:creationId xmlns:a16="http://schemas.microsoft.com/office/drawing/2014/main" id="{A9EAF13F-DEBE-0940-80D8-6D234D0AD78C}"/>
              </a:ext>
            </a:extLst>
          </p:cNvPr>
          <p:cNvSpPr>
            <a:spLocks noGrp="1" noChangeArrowheads="1"/>
          </p:cNvSpPr>
          <p:nvPr>
            <p:ph type="body" idx="1"/>
          </p:nvPr>
        </p:nvSpPr>
        <p:spPr/>
        <p:txBody>
          <a:bodyPr/>
          <a:lstStyle/>
          <a:p>
            <a:pPr>
              <a:defRPr/>
            </a:pPr>
            <a:r>
              <a:rPr lang="en-US" dirty="0">
                <a:ea typeface="ＭＳ Ｐゴシック" charset="0"/>
              </a:rPr>
              <a:t>F.	Determine the number of patients.</a:t>
            </a:r>
          </a:p>
          <a:p>
            <a:pPr>
              <a:defRPr/>
            </a:pPr>
            <a:r>
              <a:rPr lang="en-US" dirty="0">
                <a:ea typeface="ＭＳ Ｐゴシック" charset="0"/>
              </a:rPr>
              <a:t>	1.	Call for additional assistance if you think you will need help.</a:t>
            </a:r>
            <a:endParaRPr lang="en-US" b="1" dirty="0">
              <a:ea typeface="ＭＳ Ｐゴシック" charset="0"/>
            </a:endParaRPr>
          </a:p>
          <a:p>
            <a:pPr>
              <a:defRPr/>
            </a:pPr>
            <a:r>
              <a:rPr lang="en-US" dirty="0">
                <a:ea typeface="ＭＳ Ｐゴシック" charset="0"/>
              </a:rPr>
              <a:t>	2.	It may be necessary to sort patients into groups according to severity of their injuries to determine which patients should be treated and transported first.</a:t>
            </a:r>
            <a:endParaRPr lang="en-US" b="1" dirty="0">
              <a:ea typeface="ＭＳ Ｐゴシック" charset="0"/>
            </a:endParaRPr>
          </a:p>
          <a:p>
            <a:pPr>
              <a:defRPr/>
            </a:pPr>
            <a:r>
              <a:rPr lang="en-US" dirty="0">
                <a:ea typeface="ＭＳ Ｐゴシック" charset="0"/>
              </a:rPr>
              <a:t>G.	Consider additional resources, including:</a:t>
            </a:r>
          </a:p>
          <a:p>
            <a:pPr>
              <a:defRPr/>
            </a:pPr>
            <a:r>
              <a:rPr lang="en-US" dirty="0">
                <a:ea typeface="ＭＳ Ｐゴシック" charset="0"/>
              </a:rPr>
              <a:t>	1.	Law enforcement personnel for traffic control or crowd control.</a:t>
            </a:r>
          </a:p>
          <a:p>
            <a:pPr>
              <a:defRPr/>
            </a:pPr>
            <a:r>
              <a:rPr lang="en-US" dirty="0">
                <a:ea typeface="ＭＳ Ｐゴシック" charset="0"/>
              </a:rPr>
              <a:t>	2.	Fire department units for spilled fuel, fire, or extrication.</a:t>
            </a:r>
          </a:p>
          <a:p>
            <a:pPr>
              <a:defRPr/>
            </a:pPr>
            <a:r>
              <a:rPr lang="en-US" dirty="0">
                <a:ea typeface="ＭＳ Ｐゴシック" charset="0"/>
              </a:rPr>
              <a:t>	3.	Utility company personnel for damaged utility lines.</a:t>
            </a:r>
          </a:p>
          <a:p>
            <a:pPr>
              <a:defRPr/>
            </a:pPr>
            <a:r>
              <a:rPr lang="en-US" dirty="0">
                <a:ea typeface="ＭＳ Ｐゴシック" charset="0"/>
              </a:rPr>
              <a:t>	4.	Wrecker operators for vehicle removal</a:t>
            </a:r>
          </a:p>
          <a:p>
            <a:pPr>
              <a:defRPr/>
            </a:pPr>
            <a:r>
              <a:rPr lang="en-US" dirty="0">
                <a:ea typeface="ＭＳ Ｐゴシック" charset="0"/>
              </a:rPr>
              <a:t>H.	Report on need for additional resources to dispatch at same time you report on number of patients.</a:t>
            </a:r>
          </a:p>
          <a:p>
            <a:pPr eaLnBrk="1" hangingPunct="1">
              <a:defRPr/>
            </a:pPr>
            <a:endParaRPr lang="en-US" dirty="0">
              <a:ea typeface="ＭＳ Ｐゴシック" charset="0"/>
            </a:endParaRPr>
          </a:p>
        </p:txBody>
      </p:sp>
    </p:spTree>
    <p:extLst>
      <p:ext uri="{BB962C8B-B14F-4D97-AF65-F5344CB8AC3E}">
        <p14:creationId xmlns:p14="http://schemas.microsoft.com/office/powerpoint/2010/main" val="30063705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CCAE3A9E-3D85-D14C-9923-F1540F7DF4AE}"/>
              </a:ext>
            </a:extLst>
          </p:cNvPr>
          <p:cNvSpPr>
            <a:spLocks noGrp="1" noRot="1" noChangeAspect="1" noChangeArrowheads="1" noTextEdit="1"/>
          </p:cNvSpPr>
          <p:nvPr>
            <p:ph type="sldImg"/>
          </p:nvPr>
        </p:nvSpPr>
        <p:spPr>
          <a:ln/>
        </p:spPr>
      </p:sp>
      <p:sp>
        <p:nvSpPr>
          <p:cNvPr id="81923" name="Rectangle 3">
            <a:extLst>
              <a:ext uri="{FF2B5EF4-FFF2-40B4-BE49-F238E27FC236}">
                <a16:creationId xmlns:a16="http://schemas.microsoft.com/office/drawing/2014/main" id="{324D75A7-204C-D64B-A0F8-D0AA891C6720}"/>
              </a:ext>
            </a:extLst>
          </p:cNvPr>
          <p:cNvSpPr>
            <a:spLocks noGrp="1" noChangeArrowheads="1"/>
          </p:cNvSpPr>
          <p:nvPr>
            <p:ph type="body" idx="1"/>
          </p:nvPr>
        </p:nvSpPr>
        <p:spPr/>
        <p:txBody>
          <a:bodyPr/>
          <a:lstStyle/>
          <a:p>
            <a:pPr>
              <a:defRPr/>
            </a:pPr>
            <a:r>
              <a:rPr lang="en-US" altLang="en-US" dirty="0">
                <a:latin typeface="Calibri" pitchFamily="34" charset="0"/>
              </a:rPr>
              <a:t>IV. Primary Assessment</a:t>
            </a:r>
          </a:p>
          <a:p>
            <a:pPr>
              <a:defRPr/>
            </a:pPr>
            <a:r>
              <a:rPr lang="en-US" altLang="en-US" dirty="0">
                <a:latin typeface="Calibri" pitchFamily="34" charset="0"/>
              </a:rPr>
              <a:t>A.	Purpose of primary assessment is to identify life threats to patient.</a:t>
            </a:r>
          </a:p>
          <a:p>
            <a:pPr>
              <a:defRPr/>
            </a:pPr>
            <a:r>
              <a:rPr lang="en-US" altLang="en-US" dirty="0">
                <a:latin typeface="Calibri" pitchFamily="34" charset="0"/>
              </a:rPr>
              <a:t>	1.	These life threats are related to problems with patient’s airway, breathing, and circulation.</a:t>
            </a:r>
          </a:p>
          <a:p>
            <a:pPr>
              <a:defRPr/>
            </a:pPr>
            <a:r>
              <a:rPr lang="en-US" altLang="en-US" dirty="0">
                <a:latin typeface="Calibri" pitchFamily="34" charset="0"/>
              </a:rPr>
              <a:t>	2.	It is important to identify any life-threatening conditions quickly so you can take immediate actions to correct these conditions.</a:t>
            </a:r>
          </a:p>
          <a:p>
            <a:pPr>
              <a:defRPr/>
            </a:pPr>
            <a:r>
              <a:rPr lang="en-US" altLang="en-US" dirty="0">
                <a:latin typeface="Calibri" pitchFamily="34" charset="0"/>
              </a:rPr>
              <a:t>B.	Form a general impression. </a:t>
            </a:r>
          </a:p>
          <a:p>
            <a:pPr>
              <a:defRPr/>
            </a:pPr>
            <a:r>
              <a:rPr lang="en-US" altLang="en-US" dirty="0">
                <a:latin typeface="Calibri" pitchFamily="34" charset="0"/>
              </a:rPr>
              <a:t>	1.	Note sex and approximate age of patient.</a:t>
            </a:r>
          </a:p>
          <a:p>
            <a:pPr>
              <a:defRPr/>
            </a:pPr>
            <a:r>
              <a:rPr lang="en-US" altLang="en-US" dirty="0">
                <a:latin typeface="Calibri" pitchFamily="34" charset="0"/>
              </a:rPr>
              <a:t>	2.	Your impressions may help you determine whether patient has experienced trauma or illness.</a:t>
            </a:r>
          </a:p>
          <a:p>
            <a:pPr>
              <a:defRPr/>
            </a:pPr>
            <a:r>
              <a:rPr lang="en-US" altLang="en-US" dirty="0">
                <a:latin typeface="Calibri" pitchFamily="34" charset="0"/>
              </a:rPr>
              <a:t>	3.	Patient’s position or the sounds he or she is making may help indicate the nature of problem.</a:t>
            </a:r>
          </a:p>
          <a:p>
            <a:pPr>
              <a:defRPr/>
            </a:pPr>
            <a:r>
              <a:rPr lang="en-US" altLang="en-US" dirty="0">
                <a:latin typeface="Calibri" pitchFamily="34" charset="0"/>
              </a:rPr>
              <a:t>	4.	As you address the patient, you may gain some insight into the patient’s level of consciousness.</a:t>
            </a:r>
          </a:p>
          <a:p>
            <a:pPr>
              <a:defRPr/>
            </a:pPr>
            <a:r>
              <a:rPr lang="en-US" altLang="en-US" dirty="0">
                <a:latin typeface="Calibri" pitchFamily="34" charset="0"/>
              </a:rPr>
              <a:t>	5.	Do not let your initial impression block out later information.</a:t>
            </a: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3472254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09651ECF-B3EA-894B-A881-B96E427485A4}"/>
              </a:ext>
            </a:extLst>
          </p:cNvPr>
          <p:cNvSpPr>
            <a:spLocks noGrp="1" noRot="1" noChangeAspect="1" noChangeArrowheads="1" noTextEdit="1"/>
          </p:cNvSpPr>
          <p:nvPr>
            <p:ph type="sldImg"/>
          </p:nvPr>
        </p:nvSpPr>
        <p:spPr>
          <a:ln/>
        </p:spPr>
      </p:sp>
      <p:sp>
        <p:nvSpPr>
          <p:cNvPr id="82947" name="Rectangle 3">
            <a:extLst>
              <a:ext uri="{FF2B5EF4-FFF2-40B4-BE49-F238E27FC236}">
                <a16:creationId xmlns:a16="http://schemas.microsoft.com/office/drawing/2014/main" id="{7F558993-D489-8E42-BC46-1A061792F410}"/>
              </a:ext>
            </a:extLst>
          </p:cNvPr>
          <p:cNvSpPr>
            <a:spLocks noGrp="1" noChangeArrowheads="1"/>
          </p:cNvSpPr>
          <p:nvPr>
            <p:ph type="body" idx="1"/>
          </p:nvPr>
        </p:nvSpPr>
        <p:spPr/>
        <p:txBody>
          <a:bodyPr/>
          <a:lstStyle/>
          <a:p>
            <a:pPr>
              <a:defRPr/>
            </a:pPr>
            <a:r>
              <a:rPr lang="en-US" altLang="en-US" dirty="0">
                <a:latin typeface="Calibri" pitchFamily="34" charset="0"/>
              </a:rPr>
              <a:t>C.	Assess level of responsiveness.</a:t>
            </a:r>
          </a:p>
          <a:p>
            <a:pPr>
              <a:defRPr/>
            </a:pPr>
            <a:r>
              <a:rPr lang="en-US" altLang="en-US" dirty="0">
                <a:latin typeface="Calibri" pitchFamily="34" charset="0"/>
              </a:rPr>
              <a:t>	1.	Introduce yourself to establish following:</a:t>
            </a:r>
          </a:p>
          <a:p>
            <a:pPr>
              <a:defRPr/>
            </a:pPr>
            <a:r>
              <a:rPr lang="en-US" altLang="en-US" dirty="0">
                <a:latin typeface="Calibri" pitchFamily="34" charset="0"/>
              </a:rPr>
              <a:t>		a.	Your reason for being at the scene.</a:t>
            </a:r>
          </a:p>
          <a:p>
            <a:pPr>
              <a:defRPr/>
            </a:pPr>
            <a:r>
              <a:rPr lang="en-US" altLang="en-US" dirty="0">
                <a:latin typeface="Calibri" pitchFamily="34" charset="0"/>
              </a:rPr>
              <a:t>		b.	Fact that you will be helping patient.</a:t>
            </a:r>
          </a:p>
          <a:p>
            <a:pPr>
              <a:defRPr/>
            </a:pPr>
            <a:r>
              <a:rPr lang="en-US" altLang="en-US" dirty="0">
                <a:latin typeface="Calibri" pitchFamily="34" charset="0"/>
              </a:rPr>
              <a:t>		c.	Level of consciousness of patient.</a:t>
            </a:r>
          </a:p>
          <a:p>
            <a:pPr>
              <a:defRPr/>
            </a:pPr>
            <a:r>
              <a:rPr lang="en-US" altLang="en-US" dirty="0">
                <a:latin typeface="Calibri" pitchFamily="34" charset="0"/>
              </a:rPr>
              <a:t>	2.	Introduction should put patient at ease.</a:t>
            </a:r>
          </a:p>
          <a:p>
            <a:pPr>
              <a:defRPr/>
            </a:pPr>
            <a:r>
              <a:rPr lang="en-US" altLang="en-US" dirty="0">
                <a:latin typeface="Calibri" pitchFamily="34" charset="0"/>
              </a:rPr>
              <a:t>	3.	Ask patient’s name, and then use it when talking with patient, family, or friends.</a:t>
            </a:r>
          </a:p>
          <a:p>
            <a:pPr>
              <a:defRPr/>
            </a:pPr>
            <a:r>
              <a:rPr lang="en-US" altLang="en-US" dirty="0">
                <a:latin typeface="Calibri" pitchFamily="34" charset="0"/>
              </a:rPr>
              <a:t>	4.	Introduce yourself even if patient appears to be unconscious. </a:t>
            </a:r>
          </a:p>
          <a:p>
            <a:pPr>
              <a:defRPr/>
            </a:pPr>
            <a:r>
              <a:rPr lang="en-US" altLang="en-US" dirty="0">
                <a:latin typeface="Calibri" pitchFamily="34" charset="0"/>
              </a:rPr>
              <a:t>		a.	Many patients who appear to be unconscious can hear your voice. </a:t>
            </a:r>
          </a:p>
          <a:p>
            <a:pPr>
              <a:defRPr/>
            </a:pPr>
            <a:r>
              <a:rPr lang="en-US" altLang="en-US" dirty="0">
                <a:latin typeface="Calibri" pitchFamily="34" charset="0"/>
              </a:rPr>
              <a:t>		b.	Call to patient in a tone of voice that is loud enough for patient to hear.</a:t>
            </a:r>
          </a:p>
          <a:p>
            <a:pPr>
              <a:defRPr/>
            </a:pPr>
            <a:r>
              <a:rPr lang="en-US" altLang="en-US" dirty="0">
                <a:latin typeface="Calibri" pitchFamily="34" charset="0"/>
              </a:rPr>
              <a:t>		c.	If patient does not respond, gently touch patient or shake the patient’s shoulder to see if you can generate a response.</a:t>
            </a:r>
          </a:p>
          <a:p>
            <a:pPr>
              <a:defRPr/>
            </a:pPr>
            <a:r>
              <a:rPr lang="en-US" altLang="en-US" dirty="0">
                <a:latin typeface="Calibri" pitchFamily="34" charset="0"/>
              </a:rPr>
              <a:t>	5.	Patient’s level of consciousness can range from fully conscious to unconscious. </a:t>
            </a:r>
          </a:p>
          <a:p>
            <a:pPr eaLnBrk="1" hangingPunct="1">
              <a:defRPr/>
            </a:pPr>
            <a:endParaRPr lang="en-US" altLang="en-US" dirty="0">
              <a:latin typeface="Calibri" pitchFamily="34" charset="0"/>
            </a:endParaRPr>
          </a:p>
          <a:p>
            <a:pPr>
              <a:defRPr/>
            </a:pPr>
            <a:r>
              <a:rPr lang="en-US" altLang="en-US" dirty="0">
                <a:latin typeface="Calibri" pitchFamily="34" charset="0"/>
              </a:rPr>
              <a:t>Figure: As you approach the patient, introduce yourself. If a patient appears unconscious, gently touch or shake the patient’s shoulder to get a response.</a:t>
            </a:r>
          </a:p>
        </p:txBody>
      </p:sp>
    </p:spTree>
    <p:extLst>
      <p:ext uri="{BB962C8B-B14F-4D97-AF65-F5344CB8AC3E}">
        <p14:creationId xmlns:p14="http://schemas.microsoft.com/office/powerpoint/2010/main" val="8396918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7B679063-A24F-B44C-A0F3-5902B6DDFF60}"/>
              </a:ext>
            </a:extLst>
          </p:cNvPr>
          <p:cNvSpPr>
            <a:spLocks noGrp="1" noRot="1" noChangeAspect="1" noChangeArrowheads="1" noTextEdit="1"/>
          </p:cNvSpPr>
          <p:nvPr>
            <p:ph type="sldImg"/>
          </p:nvPr>
        </p:nvSpPr>
        <p:spPr>
          <a:ln/>
        </p:spPr>
      </p:sp>
      <p:sp>
        <p:nvSpPr>
          <p:cNvPr id="83971" name="Rectangle 3">
            <a:extLst>
              <a:ext uri="{FF2B5EF4-FFF2-40B4-BE49-F238E27FC236}">
                <a16:creationId xmlns:a16="http://schemas.microsoft.com/office/drawing/2014/main" id="{077793AE-893A-2140-935B-70739E4D80D2}"/>
              </a:ext>
            </a:extLst>
          </p:cNvPr>
          <p:cNvSpPr>
            <a:spLocks noGrp="1" noChangeArrowheads="1"/>
          </p:cNvSpPr>
          <p:nvPr>
            <p:ph type="body" idx="1"/>
          </p:nvPr>
        </p:nvSpPr>
        <p:spPr/>
        <p:txBody>
          <a:bodyPr/>
          <a:lstStyle/>
          <a:p>
            <a:pPr>
              <a:defRPr/>
            </a:pPr>
            <a:r>
              <a:rPr lang="en-US" altLang="en-US" dirty="0">
                <a:latin typeface="Calibri" pitchFamily="34" charset="0"/>
              </a:rPr>
              <a:t>	6.	Describe the patient’s level of consciousness using the AVPU scale:</a:t>
            </a:r>
          </a:p>
          <a:p>
            <a:pPr>
              <a:defRPr/>
            </a:pPr>
            <a:r>
              <a:rPr lang="en-US" altLang="en-US" dirty="0">
                <a:latin typeface="Calibri" pitchFamily="34" charset="0"/>
              </a:rPr>
              <a:t>		a.	Alert</a:t>
            </a:r>
          </a:p>
          <a:p>
            <a:pPr>
              <a:defRPr/>
            </a:pPr>
            <a:r>
              <a:rPr lang="en-US" altLang="en-US" dirty="0">
                <a:latin typeface="Calibri" pitchFamily="34" charset="0"/>
              </a:rPr>
              <a:t>			</a:t>
            </a:r>
            <a:r>
              <a:rPr lang="en-US" altLang="en-US" dirty="0" err="1">
                <a:latin typeface="Calibri" pitchFamily="34" charset="0"/>
              </a:rPr>
              <a:t>i</a:t>
            </a:r>
            <a:r>
              <a:rPr lang="en-US" altLang="en-US" dirty="0">
                <a:latin typeface="Calibri" pitchFamily="34" charset="0"/>
              </a:rPr>
              <a:t>.	An “alert and oriented” patient knows his or her name, where he or she is, and the correct date or day of the week. </a:t>
            </a:r>
          </a:p>
          <a:p>
            <a:pPr>
              <a:defRPr/>
            </a:pPr>
            <a:r>
              <a:rPr lang="en-US" altLang="en-US" dirty="0">
                <a:latin typeface="Calibri" pitchFamily="34" charset="0"/>
              </a:rPr>
              <a:t>		b.	Verbal</a:t>
            </a:r>
          </a:p>
          <a:p>
            <a:pPr>
              <a:defRPr/>
            </a:pPr>
            <a:r>
              <a:rPr lang="en-US" altLang="en-US" dirty="0">
                <a:latin typeface="Calibri" pitchFamily="34" charset="0"/>
              </a:rPr>
              <a:t>			</a:t>
            </a:r>
            <a:r>
              <a:rPr lang="en-US" altLang="en-US" dirty="0" err="1">
                <a:latin typeface="Calibri" pitchFamily="34" charset="0"/>
              </a:rPr>
              <a:t>i</a:t>
            </a:r>
            <a:r>
              <a:rPr lang="en-US" altLang="en-US" dirty="0">
                <a:latin typeface="Calibri" pitchFamily="34" charset="0"/>
              </a:rPr>
              <a:t>.	A patient is “responsive to verbal stimuli” even if he or she reacts only to loud sounds. </a:t>
            </a:r>
          </a:p>
          <a:p>
            <a:pPr>
              <a:defRPr/>
            </a:pPr>
            <a:r>
              <a:rPr lang="en-US" altLang="en-US" dirty="0">
                <a:latin typeface="Calibri" pitchFamily="34" charset="0"/>
              </a:rPr>
              <a:t>		c.	Pain</a:t>
            </a:r>
          </a:p>
          <a:p>
            <a:pPr>
              <a:defRPr/>
            </a:pPr>
            <a:r>
              <a:rPr lang="en-US" altLang="en-US" dirty="0">
                <a:latin typeface="Calibri" pitchFamily="34" charset="0"/>
              </a:rPr>
              <a:t>			</a:t>
            </a:r>
            <a:r>
              <a:rPr lang="en-US" altLang="en-US" dirty="0" err="1">
                <a:latin typeface="Calibri" pitchFamily="34" charset="0"/>
              </a:rPr>
              <a:t>i</a:t>
            </a:r>
            <a:r>
              <a:rPr lang="en-US" altLang="en-US" dirty="0">
                <a:latin typeface="Calibri" pitchFamily="34" charset="0"/>
              </a:rPr>
              <a:t>.	Response to pain is tested by pinching patient’s earlobe or skin over collarbone. </a:t>
            </a:r>
          </a:p>
          <a:p>
            <a:pPr>
              <a:defRPr/>
            </a:pPr>
            <a:r>
              <a:rPr lang="en-US" altLang="en-US" dirty="0">
                <a:latin typeface="Calibri" pitchFamily="34" charset="0"/>
              </a:rPr>
              <a:t>			ii.	A patient who withdraws from stimulus is said to be “responsive to painful stimuli.”</a:t>
            </a:r>
          </a:p>
          <a:p>
            <a:pPr>
              <a:defRPr/>
            </a:pPr>
            <a:r>
              <a:rPr lang="en-US" altLang="en-US" dirty="0">
                <a:latin typeface="Calibri" pitchFamily="34" charset="0"/>
              </a:rPr>
              <a:t>		d.	Unresponsive</a:t>
            </a:r>
          </a:p>
          <a:p>
            <a:pPr>
              <a:defRPr/>
            </a:pPr>
            <a:r>
              <a:rPr lang="en-US" altLang="en-US" dirty="0">
                <a:latin typeface="Calibri" pitchFamily="34" charset="0"/>
              </a:rPr>
              <a:t>			</a:t>
            </a:r>
            <a:r>
              <a:rPr lang="en-US" altLang="en-US" dirty="0" err="1">
                <a:latin typeface="Calibri" pitchFamily="34" charset="0"/>
              </a:rPr>
              <a:t>i</a:t>
            </a:r>
            <a:r>
              <a:rPr lang="en-US" altLang="en-US" dirty="0">
                <a:latin typeface="Calibri" pitchFamily="34" charset="0"/>
              </a:rPr>
              <a:t>.	Patient does not respond to either verbal or painful stimuli. </a:t>
            </a: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21982607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73B7A860-FE2A-5A40-B31F-1931BC8C816E}"/>
              </a:ext>
            </a:extLst>
          </p:cNvPr>
          <p:cNvSpPr>
            <a:spLocks noGrp="1" noRot="1" noChangeAspect="1" noChangeArrowheads="1" noTextEdit="1"/>
          </p:cNvSpPr>
          <p:nvPr>
            <p:ph type="sldImg"/>
          </p:nvPr>
        </p:nvSpPr>
        <p:spPr>
          <a:ln/>
        </p:spPr>
      </p:sp>
      <p:sp>
        <p:nvSpPr>
          <p:cNvPr id="84995" name="Rectangle 3">
            <a:extLst>
              <a:ext uri="{FF2B5EF4-FFF2-40B4-BE49-F238E27FC236}">
                <a16:creationId xmlns:a16="http://schemas.microsoft.com/office/drawing/2014/main" id="{6863470B-6C7E-5542-8054-C7EEF95CCC32}"/>
              </a:ext>
            </a:extLst>
          </p:cNvPr>
          <p:cNvSpPr>
            <a:spLocks noGrp="1" noChangeArrowheads="1"/>
          </p:cNvSpPr>
          <p:nvPr>
            <p:ph type="body" idx="1"/>
          </p:nvPr>
        </p:nvSpPr>
        <p:spPr/>
        <p:txBody>
          <a:bodyPr/>
          <a:lstStyle/>
          <a:p>
            <a:pPr>
              <a:defRPr/>
            </a:pPr>
            <a:r>
              <a:rPr lang="en-US" altLang="en-US" dirty="0">
                <a:latin typeface="Calibri" pitchFamily="34" charset="0"/>
              </a:rPr>
              <a:t>D.	Perform a rapid exam to identify life threats. Sequence is “AB” unless suspected cardiac arrest or arterial external bleeding then do “CAB.”</a:t>
            </a:r>
          </a:p>
          <a:p>
            <a:pPr>
              <a:defRPr/>
            </a:pPr>
            <a:r>
              <a:rPr lang="en-US" altLang="en-US" dirty="0">
                <a:latin typeface="Calibri" pitchFamily="34" charset="0"/>
              </a:rPr>
              <a:t>	1.	Assess the airway.</a:t>
            </a:r>
          </a:p>
          <a:p>
            <a:pPr>
              <a:defRPr/>
            </a:pPr>
            <a:r>
              <a:rPr lang="en-US" altLang="en-US" dirty="0">
                <a:latin typeface="Calibri" pitchFamily="34" charset="0"/>
              </a:rPr>
              <a:t>		a.	If patient is alert and able to answer questions without difficulty, airway is open.</a:t>
            </a:r>
          </a:p>
          <a:p>
            <a:pPr>
              <a:defRPr/>
            </a:pPr>
            <a:r>
              <a:rPr lang="en-US" altLang="en-US" dirty="0">
                <a:latin typeface="Calibri" pitchFamily="34" charset="0"/>
              </a:rPr>
              <a:t>		b.	In an unconscious patient, you must open airway using head tilt–chin lift maneuver for patients with medical problems and jaw-thrust maneuver for patients who have suffered trauma. </a:t>
            </a:r>
          </a:p>
          <a:p>
            <a:pPr>
              <a:defRPr/>
            </a:pPr>
            <a:r>
              <a:rPr lang="en-US" altLang="en-US" dirty="0">
                <a:latin typeface="Calibri" pitchFamily="34" charset="0"/>
              </a:rPr>
              <a:t>		c.	Inspect airway for foreign bodies or secretions.</a:t>
            </a:r>
          </a:p>
          <a:p>
            <a:pPr>
              <a:defRPr/>
            </a:pPr>
            <a:r>
              <a:rPr lang="en-US" altLang="en-US" dirty="0">
                <a:latin typeface="Calibri" pitchFamily="34" charset="0"/>
              </a:rPr>
              <a:t>		d.	Clear airway as needed, using finger sweeps or suction. </a:t>
            </a:r>
          </a:p>
          <a:p>
            <a:pPr>
              <a:defRPr/>
            </a:pPr>
            <a:r>
              <a:rPr lang="en-US" altLang="en-US" dirty="0">
                <a:latin typeface="Calibri" pitchFamily="34" charset="0"/>
              </a:rPr>
              <a:t>		e.	You may need to insert an airway adjunct. </a:t>
            </a: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21044651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8B4D367F-281B-B747-BD8F-21C57A8F6695}"/>
              </a:ext>
            </a:extLst>
          </p:cNvPr>
          <p:cNvSpPr>
            <a:spLocks noGrp="1" noRot="1" noChangeAspect="1" noChangeArrowheads="1" noTextEdit="1"/>
          </p:cNvSpPr>
          <p:nvPr>
            <p:ph type="sldImg"/>
          </p:nvPr>
        </p:nvSpPr>
        <p:spPr>
          <a:ln/>
        </p:spPr>
      </p:sp>
      <p:sp>
        <p:nvSpPr>
          <p:cNvPr id="86019" name="Rectangle 3">
            <a:extLst>
              <a:ext uri="{FF2B5EF4-FFF2-40B4-BE49-F238E27FC236}">
                <a16:creationId xmlns:a16="http://schemas.microsoft.com/office/drawing/2014/main" id="{692A1302-96DC-4743-BE84-6BA83FE16E7E}"/>
              </a:ext>
            </a:extLst>
          </p:cNvPr>
          <p:cNvSpPr>
            <a:spLocks noGrp="1" noChangeArrowheads="1"/>
          </p:cNvSpPr>
          <p:nvPr>
            <p:ph type="body" idx="1"/>
          </p:nvPr>
        </p:nvSpPr>
        <p:spPr/>
        <p:txBody>
          <a:bodyPr/>
          <a:lstStyle/>
          <a:p>
            <a:pPr>
              <a:defRPr/>
            </a:pPr>
            <a:r>
              <a:rPr lang="en-US" altLang="en-US" dirty="0">
                <a:latin typeface="Calibri" pitchFamily="34" charset="0"/>
              </a:rPr>
              <a:t>	2.	Assess breathing.</a:t>
            </a:r>
            <a:endParaRPr lang="en-US" altLang="en-US" b="1" dirty="0">
              <a:latin typeface="Calibri" pitchFamily="34" charset="0"/>
            </a:endParaRPr>
          </a:p>
          <a:p>
            <a:pPr>
              <a:defRPr/>
            </a:pPr>
            <a:r>
              <a:rPr lang="en-US" altLang="en-US" dirty="0">
                <a:latin typeface="Calibri" pitchFamily="34" charset="0"/>
              </a:rPr>
              <a:t>		a.	Assess rate and quality of patient’s breathing.</a:t>
            </a:r>
          </a:p>
          <a:p>
            <a:pPr>
              <a:defRPr/>
            </a:pPr>
            <a:r>
              <a:rPr lang="en-US" altLang="en-US" dirty="0">
                <a:latin typeface="Calibri" pitchFamily="34" charset="0"/>
              </a:rPr>
              <a:t>		b.	If patient is unconscious, use look, listen, and feel approach.</a:t>
            </a:r>
          </a:p>
          <a:p>
            <a:pPr>
              <a:defRPr/>
            </a:pPr>
            <a:r>
              <a:rPr lang="en-US" altLang="en-US" dirty="0">
                <a:latin typeface="Calibri" pitchFamily="34" charset="0"/>
              </a:rPr>
              <a:t>		c.	If patient is having difficulty breathing or if you hear unusual sounds, check for an object in patient’s mouth and remove it.</a:t>
            </a:r>
          </a:p>
          <a:p>
            <a:pPr>
              <a:defRPr/>
            </a:pPr>
            <a:r>
              <a:rPr lang="en-US" altLang="en-US" dirty="0">
                <a:latin typeface="Calibri" pitchFamily="34" charset="0"/>
              </a:rPr>
              <a:t>		d.	If you cannot detect any movement of chest and no sounds of air are coming from nose and mouth, breathing is absent. </a:t>
            </a:r>
          </a:p>
          <a:p>
            <a:pPr>
              <a:defRPr/>
            </a:pPr>
            <a:r>
              <a:rPr lang="en-US" altLang="en-US" dirty="0">
                <a:latin typeface="Calibri" pitchFamily="34" charset="0"/>
              </a:rPr>
              <a:t>			</a:t>
            </a:r>
            <a:r>
              <a:rPr lang="en-US" altLang="en-US" dirty="0" err="1">
                <a:latin typeface="Calibri" pitchFamily="34" charset="0"/>
              </a:rPr>
              <a:t>i</a:t>
            </a:r>
            <a:r>
              <a:rPr lang="en-US" altLang="en-US" dirty="0">
                <a:latin typeface="Calibri" pitchFamily="34" charset="0"/>
              </a:rPr>
              <a:t>.	Take immediate steps to open patient’s airway and perform rescue breathing.</a:t>
            </a:r>
          </a:p>
          <a:p>
            <a:pPr>
              <a:defRPr/>
            </a:pPr>
            <a:r>
              <a:rPr lang="en-US" altLang="en-US" dirty="0">
                <a:latin typeface="Calibri" pitchFamily="34" charset="0"/>
              </a:rPr>
              <a:t>			ii.	If trauma is suspected, protect cervical spine by keeping patient’s head in a neutral position and using jaw-thrust maneuver to open airway.</a:t>
            </a:r>
          </a:p>
          <a:p>
            <a:pPr eaLnBrk="1" hangingPunct="1">
              <a:defRPr/>
            </a:pPr>
            <a:endParaRPr lang="en-US" altLang="en-US" dirty="0">
              <a:latin typeface="Calibri" pitchFamily="34" charset="0"/>
            </a:endParaRPr>
          </a:p>
          <a:p>
            <a:pPr eaLnBrk="1" hangingPunct="1">
              <a:defRPr/>
            </a:pPr>
            <a:r>
              <a:rPr lang="en-US" altLang="en-US" dirty="0">
                <a:latin typeface="Calibri" pitchFamily="34" charset="0"/>
              </a:rPr>
              <a:t>Figure: Check the patient’s breathing.</a:t>
            </a:r>
          </a:p>
        </p:txBody>
      </p:sp>
    </p:spTree>
    <p:extLst>
      <p:ext uri="{BB962C8B-B14F-4D97-AF65-F5344CB8AC3E}">
        <p14:creationId xmlns:p14="http://schemas.microsoft.com/office/powerpoint/2010/main" val="1764939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8070BF66-A5A9-5E47-BCCF-811654E9949D}"/>
              </a:ext>
            </a:extLst>
          </p:cNvPr>
          <p:cNvSpPr>
            <a:spLocks noGrp="1" noRot="1" noChangeAspect="1" noChangeArrowheads="1" noTextEdit="1"/>
          </p:cNvSpPr>
          <p:nvPr>
            <p:ph type="sldImg"/>
          </p:nvPr>
        </p:nvSpPr>
        <p:spPr>
          <a:ln/>
        </p:spPr>
      </p:sp>
      <p:sp>
        <p:nvSpPr>
          <p:cNvPr id="87043" name="Rectangle 3">
            <a:extLst>
              <a:ext uri="{FF2B5EF4-FFF2-40B4-BE49-F238E27FC236}">
                <a16:creationId xmlns:a16="http://schemas.microsoft.com/office/drawing/2014/main" id="{1ADB58D3-F21E-DE42-A29B-71DAA9B36BC5}"/>
              </a:ext>
            </a:extLst>
          </p:cNvPr>
          <p:cNvSpPr>
            <a:spLocks noGrp="1" noChangeArrowheads="1"/>
          </p:cNvSpPr>
          <p:nvPr>
            <p:ph type="body" idx="1"/>
          </p:nvPr>
        </p:nvSpPr>
        <p:spPr/>
        <p:txBody>
          <a:bodyPr/>
          <a:lstStyle/>
          <a:p>
            <a:pPr>
              <a:defRPr/>
            </a:pPr>
            <a:r>
              <a:rPr lang="en-US" altLang="en-US" dirty="0">
                <a:latin typeface="Calibri" pitchFamily="34" charset="0"/>
              </a:rPr>
              <a:t>	3.	Assess circulation.</a:t>
            </a:r>
            <a:endParaRPr lang="en-US" altLang="en-US" b="1" dirty="0">
              <a:latin typeface="Calibri" pitchFamily="34" charset="0"/>
            </a:endParaRPr>
          </a:p>
          <a:p>
            <a:pPr>
              <a:defRPr/>
            </a:pPr>
            <a:r>
              <a:rPr lang="en-US" altLang="en-US" dirty="0">
                <a:latin typeface="Calibri" pitchFamily="34" charset="0"/>
              </a:rPr>
              <a:t>		a.	If patient in unconscious, check a carotid pulse.</a:t>
            </a:r>
          </a:p>
          <a:p>
            <a:pPr>
              <a:defRPr/>
            </a:pPr>
            <a:r>
              <a:rPr lang="en-US" altLang="en-US" dirty="0">
                <a:latin typeface="Calibri" pitchFamily="34" charset="0"/>
              </a:rPr>
              <a:t>			</a:t>
            </a:r>
            <a:r>
              <a:rPr lang="en-US" altLang="en-US" dirty="0" err="1">
                <a:latin typeface="Calibri" pitchFamily="34" charset="0"/>
              </a:rPr>
              <a:t>i</a:t>
            </a:r>
            <a:r>
              <a:rPr lang="en-US" altLang="en-US" dirty="0">
                <a:latin typeface="Calibri" pitchFamily="34" charset="0"/>
              </a:rPr>
              <a:t>.	Place your index and middle fingers together and touch larynx. </a:t>
            </a:r>
          </a:p>
          <a:p>
            <a:pPr>
              <a:defRPr/>
            </a:pPr>
            <a:r>
              <a:rPr lang="en-US" altLang="en-US" dirty="0">
                <a:latin typeface="Calibri" pitchFamily="34" charset="0"/>
              </a:rPr>
              <a:t>			ii.	Slide your two fingers off larynx toward patient’s ear until you feel a slight notch. </a:t>
            </a:r>
          </a:p>
          <a:p>
            <a:pPr>
              <a:defRPr/>
            </a:pPr>
            <a:r>
              <a:rPr lang="en-US" altLang="en-US" dirty="0">
                <a:latin typeface="Calibri" pitchFamily="34" charset="0"/>
              </a:rPr>
              <a:t>			iii.	Practice this maneuver until you can find a carotid pulse within 5 seconds of touching larynx.</a:t>
            </a:r>
          </a:p>
          <a:p>
            <a:pPr>
              <a:defRPr/>
            </a:pPr>
            <a:r>
              <a:rPr lang="en-US" altLang="en-US" dirty="0">
                <a:latin typeface="Calibri" pitchFamily="34" charset="0"/>
              </a:rPr>
              <a:t>		b.	If patient is conscious, assess radial pulse.</a:t>
            </a:r>
          </a:p>
          <a:p>
            <a:pPr>
              <a:defRPr/>
            </a:pPr>
            <a:r>
              <a:rPr lang="en-US" altLang="en-US" dirty="0">
                <a:latin typeface="Calibri" pitchFamily="34" charset="0"/>
              </a:rPr>
              <a:t>			</a:t>
            </a:r>
            <a:r>
              <a:rPr lang="en-US" altLang="en-US" dirty="0" err="1">
                <a:latin typeface="Calibri" pitchFamily="34" charset="0"/>
              </a:rPr>
              <a:t>i</a:t>
            </a:r>
            <a:r>
              <a:rPr lang="en-US" altLang="en-US" dirty="0">
                <a:latin typeface="Calibri" pitchFamily="34" charset="0"/>
              </a:rPr>
              <a:t>.	Place your index and middle fingers on patient’s wrist at thumb side.</a:t>
            </a:r>
          </a:p>
          <a:p>
            <a:pPr>
              <a:defRPr/>
            </a:pPr>
            <a:r>
              <a:rPr lang="en-US" altLang="en-US" dirty="0">
                <a:latin typeface="Calibri" pitchFamily="34" charset="0"/>
              </a:rPr>
              <a:t>		c.	Quickly check patient for severe external bleeding.</a:t>
            </a:r>
          </a:p>
          <a:p>
            <a:pPr>
              <a:defRPr/>
            </a:pPr>
            <a:r>
              <a:rPr lang="en-US" altLang="en-US" dirty="0">
                <a:latin typeface="Calibri" pitchFamily="34" charset="0"/>
              </a:rPr>
              <a:t>			</a:t>
            </a:r>
            <a:r>
              <a:rPr lang="en-US" altLang="en-US" dirty="0" err="1">
                <a:latin typeface="Calibri" pitchFamily="34" charset="0"/>
              </a:rPr>
              <a:t>i</a:t>
            </a:r>
            <a:r>
              <a:rPr lang="en-US" altLang="en-US" dirty="0">
                <a:latin typeface="Calibri" pitchFamily="34" charset="0"/>
              </a:rPr>
              <a:t>.	If you discover severe bleeding, you must take immediate action to control it by applying direct pressure over wound.</a:t>
            </a: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35908057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A95262D9-2CD7-8846-806C-28BD29ED449B}"/>
              </a:ext>
            </a:extLst>
          </p:cNvPr>
          <p:cNvSpPr>
            <a:spLocks noGrp="1" noRot="1" noChangeAspect="1" noChangeArrowheads="1" noTextEdit="1"/>
          </p:cNvSpPr>
          <p:nvPr>
            <p:ph type="sldImg"/>
          </p:nvPr>
        </p:nvSpPr>
        <p:spPr>
          <a:ln/>
        </p:spPr>
      </p:sp>
      <p:sp>
        <p:nvSpPr>
          <p:cNvPr id="88067" name="Rectangle 3">
            <a:extLst>
              <a:ext uri="{FF2B5EF4-FFF2-40B4-BE49-F238E27FC236}">
                <a16:creationId xmlns:a16="http://schemas.microsoft.com/office/drawing/2014/main" id="{E48565F2-D165-E74F-A0D0-E579FA7EF12A}"/>
              </a:ext>
            </a:extLst>
          </p:cNvPr>
          <p:cNvSpPr>
            <a:spLocks noGrp="1" noChangeArrowheads="1"/>
          </p:cNvSpPr>
          <p:nvPr>
            <p:ph type="body" idx="1"/>
          </p:nvPr>
        </p:nvSpPr>
        <p:spPr/>
        <p:txBody>
          <a:bodyPr/>
          <a:lstStyle/>
          <a:p>
            <a:pPr>
              <a:defRPr/>
            </a:pPr>
            <a:r>
              <a:rPr lang="en-US" altLang="en-US" dirty="0">
                <a:latin typeface="Calibri" pitchFamily="34" charset="0"/>
              </a:rPr>
              <a:t>Figure: </a:t>
            </a:r>
            <a:r>
              <a:rPr lang="en-US" altLang="en-US" b="1" dirty="0">
                <a:latin typeface="Calibri" pitchFamily="34" charset="0"/>
              </a:rPr>
              <a:t>(Left) </a:t>
            </a:r>
            <a:r>
              <a:rPr lang="en-US" altLang="en-US" dirty="0">
                <a:latin typeface="Calibri" pitchFamily="34" charset="0"/>
              </a:rPr>
              <a:t>Check an unconscious patient’s circulation by checking carotid pulse. </a:t>
            </a:r>
            <a:r>
              <a:rPr lang="en-US" altLang="en-US" b="1" dirty="0">
                <a:latin typeface="Calibri" pitchFamily="34" charset="0"/>
              </a:rPr>
              <a:t>(Right) </a:t>
            </a:r>
            <a:r>
              <a:rPr lang="en-US" altLang="en-US" dirty="0">
                <a:latin typeface="Calibri" pitchFamily="34" charset="0"/>
              </a:rPr>
              <a:t>Take radial pulse if patient is conscious.</a:t>
            </a:r>
          </a:p>
        </p:txBody>
      </p:sp>
    </p:spTree>
    <p:extLst>
      <p:ext uri="{BB962C8B-B14F-4D97-AF65-F5344CB8AC3E}">
        <p14:creationId xmlns:p14="http://schemas.microsoft.com/office/powerpoint/2010/main" val="41564796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12A5BE8A-C8E9-0A41-8958-32D6045ABE99}"/>
              </a:ext>
            </a:extLst>
          </p:cNvPr>
          <p:cNvSpPr>
            <a:spLocks noGrp="1" noRot="1" noChangeAspect="1" noChangeArrowheads="1" noTextEdit="1"/>
          </p:cNvSpPr>
          <p:nvPr>
            <p:ph type="sldImg"/>
          </p:nvPr>
        </p:nvSpPr>
        <p:spPr>
          <a:ln/>
        </p:spPr>
      </p:sp>
      <p:sp>
        <p:nvSpPr>
          <p:cNvPr id="89091" name="Rectangle 3">
            <a:extLst>
              <a:ext uri="{FF2B5EF4-FFF2-40B4-BE49-F238E27FC236}">
                <a16:creationId xmlns:a16="http://schemas.microsoft.com/office/drawing/2014/main" id="{B90806B4-51E3-2C48-9FFD-F02D20DD06E7}"/>
              </a:ext>
            </a:extLst>
          </p:cNvPr>
          <p:cNvSpPr>
            <a:spLocks noGrp="1" noChangeArrowheads="1"/>
          </p:cNvSpPr>
          <p:nvPr>
            <p:ph type="body" idx="1"/>
          </p:nvPr>
        </p:nvSpPr>
        <p:spPr/>
        <p:txBody>
          <a:bodyPr/>
          <a:lstStyle/>
          <a:p>
            <a:pPr>
              <a:defRPr/>
            </a:pPr>
            <a:r>
              <a:rPr lang="en-US" altLang="en-US" dirty="0">
                <a:latin typeface="Calibri" pitchFamily="34" charset="0"/>
              </a:rPr>
              <a:t>		d.	Quickly assess patient’s skin color and temperature. Skin color is described as follows:</a:t>
            </a:r>
          </a:p>
          <a:p>
            <a:pPr>
              <a:defRPr/>
            </a:pPr>
            <a:r>
              <a:rPr lang="en-US" altLang="en-US" dirty="0">
                <a:latin typeface="Calibri" pitchFamily="34" charset="0"/>
              </a:rPr>
              <a:t>			</a:t>
            </a:r>
            <a:r>
              <a:rPr lang="en-US" altLang="en-US" dirty="0" err="1">
                <a:latin typeface="Calibri" pitchFamily="34" charset="0"/>
              </a:rPr>
              <a:t>i</a:t>
            </a:r>
            <a:r>
              <a:rPr lang="en-US" altLang="en-US" dirty="0">
                <a:latin typeface="Calibri" pitchFamily="34" charset="0"/>
              </a:rPr>
              <a:t>.	Pale—white or light color, indicating decreased circulation to that part of body or to all of body.</a:t>
            </a:r>
          </a:p>
          <a:p>
            <a:pPr>
              <a:defRPr/>
            </a:pPr>
            <a:r>
              <a:rPr lang="en-US" altLang="en-US" dirty="0">
                <a:latin typeface="Calibri" pitchFamily="34" charset="0"/>
              </a:rPr>
              <a:t>			ii.	Flushed—red in color, indicating excess circulation to that part of body. </a:t>
            </a:r>
          </a:p>
          <a:p>
            <a:pPr>
              <a:defRPr/>
            </a:pPr>
            <a:r>
              <a:rPr lang="en-US" altLang="en-US" dirty="0">
                <a:latin typeface="Calibri" pitchFamily="34" charset="0"/>
              </a:rPr>
              <a:t>			iii. 	Blue—also called cyanosis, indicating lack of oxygen and possible airway problems. </a:t>
            </a:r>
          </a:p>
          <a:p>
            <a:pPr>
              <a:defRPr/>
            </a:pPr>
            <a:r>
              <a:rPr lang="en-US" altLang="en-US" dirty="0">
                <a:latin typeface="Calibri" pitchFamily="34" charset="0"/>
              </a:rPr>
              <a:t>			iv. 	Yellow—also called jaundice, indicating liver problems.</a:t>
            </a:r>
          </a:p>
          <a:p>
            <a:pPr>
              <a:defRPr/>
            </a:pPr>
            <a:r>
              <a:rPr lang="en-US" altLang="en-US" dirty="0">
                <a:latin typeface="Calibri" pitchFamily="34" charset="0"/>
              </a:rPr>
              <a:t>			v.	Normal.</a:t>
            </a: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40736675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680A340D-FCC6-FC48-ACA3-2B3110ACF395}"/>
              </a:ext>
            </a:extLst>
          </p:cNvPr>
          <p:cNvSpPr>
            <a:spLocks noGrp="1" noRot="1" noChangeAspect="1" noChangeArrowheads="1" noTextEdit="1"/>
          </p:cNvSpPr>
          <p:nvPr>
            <p:ph type="sldImg"/>
          </p:nvPr>
        </p:nvSpPr>
        <p:spPr>
          <a:ln/>
        </p:spPr>
      </p:sp>
      <p:sp>
        <p:nvSpPr>
          <p:cNvPr id="90115" name="Rectangle 3">
            <a:extLst>
              <a:ext uri="{FF2B5EF4-FFF2-40B4-BE49-F238E27FC236}">
                <a16:creationId xmlns:a16="http://schemas.microsoft.com/office/drawing/2014/main" id="{197CF39C-A7F9-2C4B-9063-A2057D282760}"/>
              </a:ext>
            </a:extLst>
          </p:cNvPr>
          <p:cNvSpPr>
            <a:spLocks noGrp="1" noChangeArrowheads="1"/>
          </p:cNvSpPr>
          <p:nvPr>
            <p:ph type="body" idx="1"/>
          </p:nvPr>
        </p:nvSpPr>
        <p:spPr/>
        <p:txBody>
          <a:bodyPr/>
          <a:lstStyle/>
          <a:p>
            <a:pPr>
              <a:defRPr/>
            </a:pPr>
            <a:r>
              <a:rPr lang="en-US" dirty="0">
                <a:ea typeface="ＭＳ Ｐゴシック" charset="0"/>
              </a:rPr>
              <a:t>E.	Update responding EMS units.</a:t>
            </a:r>
          </a:p>
          <a:p>
            <a:pPr>
              <a:defRPr/>
            </a:pPr>
            <a:r>
              <a:rPr lang="en-US" dirty="0">
                <a:ea typeface="ＭＳ Ｐゴシック" charset="0"/>
              </a:rPr>
              <a:t>	1.	Update responding EMS units about condition of patient.</a:t>
            </a:r>
          </a:p>
          <a:p>
            <a:pPr>
              <a:defRPr/>
            </a:pPr>
            <a:r>
              <a:rPr lang="en-US" dirty="0">
                <a:ea typeface="ＭＳ Ｐゴシック" charset="0"/>
              </a:rPr>
              <a:t>	2.	This report should include at least following items:</a:t>
            </a:r>
          </a:p>
          <a:p>
            <a:pPr>
              <a:defRPr/>
            </a:pPr>
            <a:r>
              <a:rPr lang="en-US" dirty="0">
                <a:ea typeface="ＭＳ Ｐゴシック" charset="0"/>
              </a:rPr>
              <a:t>		a.	Age and sex of patient.</a:t>
            </a:r>
          </a:p>
          <a:p>
            <a:pPr>
              <a:defRPr/>
            </a:pPr>
            <a:r>
              <a:rPr lang="en-US" dirty="0">
                <a:ea typeface="ＭＳ Ｐゴシック" charset="0"/>
              </a:rPr>
              <a:t>		b.	Chief complaint.</a:t>
            </a:r>
          </a:p>
          <a:p>
            <a:pPr>
              <a:defRPr/>
            </a:pPr>
            <a:r>
              <a:rPr lang="en-US" dirty="0">
                <a:ea typeface="ＭＳ Ｐゴシック" charset="0"/>
              </a:rPr>
              <a:t>		c.	Level of responsiveness.</a:t>
            </a:r>
          </a:p>
          <a:p>
            <a:pPr>
              <a:defRPr/>
            </a:pPr>
            <a:r>
              <a:rPr lang="en-US" dirty="0">
                <a:ea typeface="ＭＳ Ｐゴシック" charset="0"/>
              </a:rPr>
              <a:t>		d.	Status of airway, breathing, and circulation.</a:t>
            </a:r>
          </a:p>
          <a:p>
            <a:pPr>
              <a:defRPr/>
            </a:pPr>
            <a:r>
              <a:rPr lang="en-US" dirty="0">
                <a:ea typeface="ＭＳ Ｐゴシック" charset="0"/>
              </a:rPr>
              <a:t>	3.	Try to perform all four steps of primary assessment quickly as you make contact with patient.</a:t>
            </a:r>
          </a:p>
          <a:p>
            <a:pPr eaLnBrk="1" hangingPunct="1">
              <a:defRPr/>
            </a:pPr>
            <a:endParaRPr lang="en-US" dirty="0">
              <a:ea typeface="ＭＳ Ｐゴシック" charset="0"/>
            </a:endParaRPr>
          </a:p>
        </p:txBody>
      </p:sp>
    </p:spTree>
    <p:extLst>
      <p:ext uri="{BB962C8B-B14F-4D97-AF65-F5344CB8AC3E}">
        <p14:creationId xmlns:p14="http://schemas.microsoft.com/office/powerpoint/2010/main" val="23057346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5D96E626-A7B3-3548-9B8A-599A4D78E649}"/>
              </a:ext>
            </a:extLst>
          </p:cNvPr>
          <p:cNvSpPr>
            <a:spLocks noGrp="1" noRot="1" noChangeAspect="1" noChangeArrowheads="1" noTextEdit="1"/>
          </p:cNvSpPr>
          <p:nvPr>
            <p:ph type="sldImg"/>
          </p:nvPr>
        </p:nvSpPr>
        <p:spPr>
          <a:ln/>
        </p:spPr>
      </p:sp>
      <p:sp>
        <p:nvSpPr>
          <p:cNvPr id="91139" name="Rectangle 3">
            <a:extLst>
              <a:ext uri="{FF2B5EF4-FFF2-40B4-BE49-F238E27FC236}">
                <a16:creationId xmlns:a16="http://schemas.microsoft.com/office/drawing/2014/main" id="{21E54749-C1D1-C846-B53A-7A0378EE62AF}"/>
              </a:ext>
            </a:extLst>
          </p:cNvPr>
          <p:cNvSpPr>
            <a:spLocks noGrp="1" noChangeArrowheads="1"/>
          </p:cNvSpPr>
          <p:nvPr>
            <p:ph type="body" idx="1"/>
          </p:nvPr>
        </p:nvSpPr>
        <p:spPr/>
        <p:txBody>
          <a:bodyPr/>
          <a:lstStyle/>
          <a:p>
            <a:pPr>
              <a:defRPr/>
            </a:pPr>
            <a:r>
              <a:rPr lang="en-US" altLang="en-US" dirty="0">
                <a:latin typeface="Calibri" pitchFamily="34" charset="0"/>
              </a:rPr>
              <a:t>V. History Taking</a:t>
            </a:r>
          </a:p>
          <a:p>
            <a:pPr>
              <a:defRPr/>
            </a:pPr>
            <a:r>
              <a:rPr lang="en-US" altLang="en-US" dirty="0">
                <a:latin typeface="Calibri" pitchFamily="34" charset="0"/>
              </a:rPr>
              <a:t>A.	Investigate chief complaint.</a:t>
            </a:r>
          </a:p>
          <a:p>
            <a:pPr>
              <a:defRPr/>
            </a:pPr>
            <a:r>
              <a:rPr lang="en-US" altLang="en-US" dirty="0">
                <a:latin typeface="Calibri" pitchFamily="34" charset="0"/>
              </a:rPr>
              <a:t>	1.	It is important to acknowledge patient’s primary or chief complaint and provide reassurance.</a:t>
            </a:r>
            <a:endParaRPr lang="en-US" altLang="en-US" b="1" dirty="0">
              <a:latin typeface="Calibri" pitchFamily="34" charset="0"/>
            </a:endParaRPr>
          </a:p>
          <a:p>
            <a:pPr>
              <a:defRPr/>
            </a:pPr>
            <a:r>
              <a:rPr lang="en-US" altLang="en-US" dirty="0">
                <a:latin typeface="Calibri" pitchFamily="34" charset="0"/>
              </a:rPr>
              <a:t>	2.	Do not allow a conscious patient’s comments to distract you from completing assessment sequence.</a:t>
            </a:r>
            <a:endParaRPr lang="en-US" altLang="en-US" b="1" dirty="0">
              <a:latin typeface="Calibri" pitchFamily="34" charset="0"/>
            </a:endParaRPr>
          </a:p>
          <a:p>
            <a:pPr>
              <a:defRPr/>
            </a:pPr>
            <a:r>
              <a:rPr lang="en-US" altLang="en-US" dirty="0">
                <a:latin typeface="Calibri" pitchFamily="34" charset="0"/>
              </a:rPr>
              <a:t>	3.	Three purposes of obtaining a medical history are:</a:t>
            </a:r>
          </a:p>
          <a:p>
            <a:pPr>
              <a:defRPr/>
            </a:pPr>
            <a:r>
              <a:rPr lang="en-US" altLang="en-US" dirty="0">
                <a:latin typeface="Calibri" pitchFamily="34" charset="0"/>
              </a:rPr>
              <a:t>		a.	To gather a systematic account of patient’s past medical conditions, illnesses, and injuries.</a:t>
            </a:r>
            <a:endParaRPr lang="en-US" altLang="en-US" b="1" dirty="0">
              <a:latin typeface="Calibri" pitchFamily="34" charset="0"/>
            </a:endParaRPr>
          </a:p>
          <a:p>
            <a:pPr>
              <a:defRPr/>
            </a:pPr>
            <a:r>
              <a:rPr lang="en-US" altLang="en-US" dirty="0">
                <a:latin typeface="Calibri" pitchFamily="34" charset="0"/>
              </a:rPr>
              <a:t>		b.	To determine events leading up to present medical situation.</a:t>
            </a:r>
            <a:endParaRPr lang="en-US" altLang="en-US" b="1" dirty="0">
              <a:latin typeface="Calibri" pitchFamily="34" charset="0"/>
            </a:endParaRPr>
          </a:p>
          <a:p>
            <a:pPr>
              <a:defRPr/>
            </a:pPr>
            <a:r>
              <a:rPr lang="en-US" altLang="en-US" dirty="0">
                <a:latin typeface="Calibri" pitchFamily="34" charset="0"/>
              </a:rPr>
              <a:t>		c.	To determine signs and symptoms of current condition.</a:t>
            </a:r>
            <a:endParaRPr lang="en-US" altLang="en-US" b="1" dirty="0">
              <a:latin typeface="Calibri" pitchFamily="34" charset="0"/>
            </a:endParaRP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40438095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804CA1FD-B9D1-8041-9D42-4D63E100F726}"/>
              </a:ext>
            </a:extLst>
          </p:cNvPr>
          <p:cNvSpPr>
            <a:spLocks noGrp="1" noRot="1" noChangeAspect="1" noChangeArrowheads="1" noTextEdit="1"/>
          </p:cNvSpPr>
          <p:nvPr>
            <p:ph type="sldImg"/>
          </p:nvPr>
        </p:nvSpPr>
        <p:spPr>
          <a:ln/>
        </p:spPr>
      </p:sp>
      <p:sp>
        <p:nvSpPr>
          <p:cNvPr id="92163" name="Rectangle 3">
            <a:extLst>
              <a:ext uri="{FF2B5EF4-FFF2-40B4-BE49-F238E27FC236}">
                <a16:creationId xmlns:a16="http://schemas.microsoft.com/office/drawing/2014/main" id="{EC8904DD-F3DD-9143-8EAB-56ADE4830427}"/>
              </a:ext>
            </a:extLst>
          </p:cNvPr>
          <p:cNvSpPr>
            <a:spLocks noGrp="1" noChangeArrowheads="1"/>
          </p:cNvSpPr>
          <p:nvPr>
            <p:ph type="body" idx="1"/>
          </p:nvPr>
        </p:nvSpPr>
        <p:spPr/>
        <p:txBody>
          <a:bodyPr/>
          <a:lstStyle/>
          <a:p>
            <a:pPr>
              <a:defRPr/>
            </a:pPr>
            <a:r>
              <a:rPr lang="en-US" altLang="en-US" dirty="0">
                <a:latin typeface="Calibri" pitchFamily="34" charset="0"/>
              </a:rPr>
              <a:t>	4.	Question patient in a clear and systematic manner to gain as much information as possible.</a:t>
            </a:r>
            <a:endParaRPr lang="en-US" altLang="en-US" b="1" dirty="0">
              <a:latin typeface="Calibri" pitchFamily="34" charset="0"/>
            </a:endParaRPr>
          </a:p>
          <a:p>
            <a:pPr>
              <a:defRPr/>
            </a:pPr>
            <a:r>
              <a:rPr lang="en-US" altLang="en-US" dirty="0">
                <a:latin typeface="Calibri" pitchFamily="34" charset="0"/>
              </a:rPr>
              <a:t>	5.	Learn relevant facts about the patient’s past medical history:</a:t>
            </a:r>
            <a:endParaRPr lang="en-US" altLang="en-US" b="1" dirty="0">
              <a:latin typeface="Calibri" pitchFamily="34" charset="0"/>
            </a:endParaRPr>
          </a:p>
          <a:p>
            <a:pPr>
              <a:defRPr/>
            </a:pPr>
            <a:r>
              <a:rPr lang="en-US" altLang="en-US" dirty="0">
                <a:latin typeface="Calibri" pitchFamily="34" charset="0"/>
              </a:rPr>
              <a:t>		a.	Serious injuries, illnesses, or surgeries.</a:t>
            </a:r>
            <a:endParaRPr lang="en-US" altLang="en-US" b="1" dirty="0">
              <a:latin typeface="Calibri" pitchFamily="34" charset="0"/>
            </a:endParaRPr>
          </a:p>
          <a:p>
            <a:pPr>
              <a:defRPr/>
            </a:pPr>
            <a:r>
              <a:rPr lang="en-US" altLang="en-US" dirty="0">
                <a:latin typeface="Calibri" pitchFamily="34" charset="0"/>
              </a:rPr>
              <a:t>		b.	Prescription medicines.</a:t>
            </a:r>
            <a:endParaRPr lang="en-US" altLang="en-US" b="1" dirty="0">
              <a:latin typeface="Calibri" pitchFamily="34" charset="0"/>
            </a:endParaRPr>
          </a:p>
          <a:p>
            <a:pPr>
              <a:defRPr/>
            </a:pPr>
            <a:r>
              <a:rPr lang="en-US" altLang="en-US" dirty="0">
                <a:latin typeface="Calibri" pitchFamily="34" charset="0"/>
              </a:rPr>
              <a:t>		c.	Over-the-counter (OTC) medicines and herbal medicines.</a:t>
            </a:r>
            <a:endParaRPr lang="en-US" altLang="en-US" b="1" dirty="0">
              <a:latin typeface="Calibri" pitchFamily="34" charset="0"/>
            </a:endParaRPr>
          </a:p>
          <a:p>
            <a:pPr>
              <a:defRPr/>
            </a:pPr>
            <a:r>
              <a:rPr lang="en-US" altLang="en-US" dirty="0">
                <a:latin typeface="Calibri" pitchFamily="34" charset="0"/>
              </a:rPr>
              <a:t>		d.	Allergies to any medicines, foods, or seasonal allergens.</a:t>
            </a:r>
            <a:endParaRPr lang="en-US" altLang="en-US" b="1" dirty="0">
              <a:latin typeface="Calibri" pitchFamily="34" charset="0"/>
            </a:endParaRP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14906114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39FA63A4-8021-E14D-992A-E2E7C531E360}"/>
              </a:ext>
            </a:extLst>
          </p:cNvPr>
          <p:cNvSpPr>
            <a:spLocks noGrp="1" noRot="1" noChangeAspect="1" noChangeArrowheads="1" noTextEdit="1"/>
          </p:cNvSpPr>
          <p:nvPr>
            <p:ph type="sldImg"/>
          </p:nvPr>
        </p:nvSpPr>
        <p:spPr>
          <a:ln/>
        </p:spPr>
      </p:sp>
      <p:sp>
        <p:nvSpPr>
          <p:cNvPr id="93187" name="Rectangle 3">
            <a:extLst>
              <a:ext uri="{FF2B5EF4-FFF2-40B4-BE49-F238E27FC236}">
                <a16:creationId xmlns:a16="http://schemas.microsoft.com/office/drawing/2014/main" id="{4D8C3F2B-79D2-0B41-A9E2-C1966BE19861}"/>
              </a:ext>
            </a:extLst>
          </p:cNvPr>
          <p:cNvSpPr>
            <a:spLocks noGrp="1" noChangeArrowheads="1"/>
          </p:cNvSpPr>
          <p:nvPr>
            <p:ph type="body" idx="1"/>
          </p:nvPr>
        </p:nvSpPr>
        <p:spPr/>
        <p:txBody>
          <a:bodyPr/>
          <a:lstStyle/>
          <a:p>
            <a:pPr>
              <a:defRPr/>
            </a:pPr>
            <a:r>
              <a:rPr lang="en-US" dirty="0">
                <a:ea typeface="ＭＳ Ｐゴシック" charset="0"/>
              </a:rPr>
              <a:t>B.	Obtain SAMPLE history.</a:t>
            </a:r>
          </a:p>
          <a:p>
            <a:pPr>
              <a:defRPr/>
            </a:pPr>
            <a:r>
              <a:rPr lang="en-US" dirty="0">
                <a:ea typeface="ＭＳ Ｐゴシック" charset="0"/>
              </a:rPr>
              <a:t>	1.	SAMPLE history provides a framework to ask needed questions of patient.</a:t>
            </a:r>
            <a:endParaRPr lang="en-US" b="1" dirty="0">
              <a:ea typeface="ＭＳ Ｐゴシック" charset="0"/>
            </a:endParaRPr>
          </a:p>
          <a:p>
            <a:pPr>
              <a:defRPr/>
            </a:pPr>
            <a:r>
              <a:rPr lang="en-US" dirty="0">
                <a:ea typeface="ＭＳ Ｐゴシック" charset="0"/>
              </a:rPr>
              <a:t>	2.	Remember to ask patient one question at a time.</a:t>
            </a:r>
            <a:endParaRPr lang="en-US" b="1" dirty="0">
              <a:ea typeface="ＭＳ Ｐゴシック" charset="0"/>
            </a:endParaRPr>
          </a:p>
          <a:p>
            <a:pPr>
              <a:defRPr/>
            </a:pPr>
            <a:r>
              <a:rPr lang="en-US" dirty="0">
                <a:ea typeface="ＭＳ Ｐゴシック" charset="0"/>
              </a:rPr>
              <a:t>	3.	Listen carefully and use good eye contact.</a:t>
            </a:r>
            <a:endParaRPr lang="en-US" b="1" dirty="0">
              <a:ea typeface="ＭＳ Ｐゴシック" charset="0"/>
            </a:endParaRPr>
          </a:p>
          <a:p>
            <a:pPr>
              <a:defRPr/>
            </a:pPr>
            <a:r>
              <a:rPr lang="en-US" dirty="0">
                <a:ea typeface="ＭＳ Ｐゴシック" charset="0"/>
              </a:rPr>
              <a:t>		a.	Signs and symptoms</a:t>
            </a:r>
            <a:endParaRPr lang="en-US" b="1" dirty="0">
              <a:ea typeface="ＭＳ Ｐゴシック" charset="0"/>
            </a:endParaRPr>
          </a:p>
          <a:p>
            <a:pPr>
              <a:defRPr/>
            </a:pPr>
            <a:r>
              <a:rPr lang="en-US" dirty="0">
                <a:ea typeface="ＭＳ Ｐゴシック" charset="0"/>
              </a:rPr>
              <a:t>			</a:t>
            </a:r>
            <a:r>
              <a:rPr lang="en-US" dirty="0" err="1">
                <a:ea typeface="ＭＳ Ｐゴシック" charset="0"/>
              </a:rPr>
              <a:t>i</a:t>
            </a:r>
            <a:r>
              <a:rPr lang="en-US" dirty="0">
                <a:ea typeface="ＭＳ Ｐゴシック" charset="0"/>
              </a:rPr>
              <a:t>.	Ask patient which signs and symptoms occurred at beginning of the episode, and which he or she is experiencing now.</a:t>
            </a:r>
            <a:endParaRPr lang="en-US" b="1" dirty="0">
              <a:ea typeface="ＭＳ Ｐゴシック" charset="0"/>
            </a:endParaRPr>
          </a:p>
          <a:p>
            <a:pPr>
              <a:defRPr/>
            </a:pPr>
            <a:r>
              <a:rPr lang="en-US" dirty="0">
                <a:ea typeface="ＭＳ Ｐゴシック" charset="0"/>
              </a:rPr>
              <a:t>			ii.	If patient is experiencing pain, ask him or her to describe pain.</a:t>
            </a:r>
            <a:endParaRPr lang="en-US" b="1" dirty="0">
              <a:ea typeface="ＭＳ Ｐゴシック" charset="0"/>
            </a:endParaRPr>
          </a:p>
          <a:p>
            <a:pPr>
              <a:defRPr/>
            </a:pPr>
            <a:r>
              <a:rPr lang="en-US" dirty="0">
                <a:ea typeface="ＭＳ Ｐゴシック" charset="0"/>
              </a:rPr>
              <a:t>		b.	Allergies</a:t>
            </a:r>
            <a:endParaRPr lang="en-US" b="1" dirty="0">
              <a:ea typeface="ＭＳ Ｐゴシック" charset="0"/>
            </a:endParaRPr>
          </a:p>
          <a:p>
            <a:pPr>
              <a:defRPr/>
            </a:pPr>
            <a:r>
              <a:rPr lang="en-US" dirty="0">
                <a:ea typeface="ＭＳ Ｐゴシック" charset="0"/>
              </a:rPr>
              <a:t>			</a:t>
            </a:r>
            <a:r>
              <a:rPr lang="en-US" dirty="0" err="1">
                <a:ea typeface="ＭＳ Ｐゴシック" charset="0"/>
              </a:rPr>
              <a:t>i</a:t>
            </a:r>
            <a:r>
              <a:rPr lang="en-US" dirty="0">
                <a:ea typeface="ＭＳ Ｐゴシック" charset="0"/>
              </a:rPr>
              <a:t>.	Ask whether patient is allergic to any medications or foods, or has seasonal allergies.</a:t>
            </a:r>
            <a:endParaRPr lang="en-US" b="1" dirty="0">
              <a:ea typeface="ＭＳ Ｐゴシック" charset="0"/>
            </a:endParaRPr>
          </a:p>
          <a:p>
            <a:pPr>
              <a:defRPr/>
            </a:pPr>
            <a:r>
              <a:rPr lang="en-US" dirty="0">
                <a:ea typeface="ＭＳ Ｐゴシック" charset="0"/>
              </a:rPr>
              <a:t>		c.	Medications</a:t>
            </a:r>
            <a:endParaRPr lang="en-US" b="1" dirty="0">
              <a:ea typeface="ＭＳ Ｐゴシック" charset="0"/>
            </a:endParaRPr>
          </a:p>
          <a:p>
            <a:pPr>
              <a:defRPr/>
            </a:pPr>
            <a:r>
              <a:rPr lang="en-US" dirty="0">
                <a:ea typeface="ＭＳ Ｐゴシック" charset="0"/>
              </a:rPr>
              <a:t>			</a:t>
            </a:r>
            <a:r>
              <a:rPr lang="en-US" dirty="0" err="1">
                <a:ea typeface="ＭＳ Ｐゴシック" charset="0"/>
              </a:rPr>
              <a:t>i</a:t>
            </a:r>
            <a:r>
              <a:rPr lang="en-US" dirty="0">
                <a:ea typeface="ＭＳ Ｐゴシック" charset="0"/>
              </a:rPr>
              <a:t>.	If patient is taking prescription medications, ask patient purpose of these medicines.</a:t>
            </a:r>
            <a:endParaRPr lang="en-US" b="1" dirty="0">
              <a:ea typeface="ＭＳ Ｐゴシック" charset="0"/>
            </a:endParaRPr>
          </a:p>
          <a:p>
            <a:pPr>
              <a:defRPr/>
            </a:pPr>
            <a:r>
              <a:rPr lang="en-US" dirty="0">
                <a:ea typeface="ＭＳ Ｐゴシック" charset="0"/>
              </a:rPr>
              <a:t>			ii.	Ask if patient is taking OTC supplements or herbal remedies.</a:t>
            </a:r>
            <a:endParaRPr lang="en-US" b="1" dirty="0">
              <a:ea typeface="ＭＳ Ｐゴシック" charset="0"/>
            </a:endParaRPr>
          </a:p>
          <a:p>
            <a:pPr>
              <a:defRPr/>
            </a:pPr>
            <a:r>
              <a:rPr lang="en-US" dirty="0">
                <a:ea typeface="ＭＳ Ｐゴシック" charset="0"/>
              </a:rPr>
              <a:t>		d.	Pertinent past medical history</a:t>
            </a:r>
            <a:endParaRPr lang="en-US" b="1" dirty="0">
              <a:ea typeface="ＭＳ Ｐゴシック" charset="0"/>
            </a:endParaRPr>
          </a:p>
          <a:p>
            <a:pPr>
              <a:defRPr/>
            </a:pPr>
            <a:r>
              <a:rPr lang="en-US" dirty="0">
                <a:ea typeface="ＭＳ Ｐゴシック" charset="0"/>
              </a:rPr>
              <a:t>			</a:t>
            </a:r>
            <a:r>
              <a:rPr lang="en-US" dirty="0" err="1">
                <a:ea typeface="ＭＳ Ｐゴシック" charset="0"/>
              </a:rPr>
              <a:t>i</a:t>
            </a:r>
            <a:r>
              <a:rPr lang="en-US" dirty="0">
                <a:ea typeface="ＭＳ Ｐゴシック" charset="0"/>
              </a:rPr>
              <a:t>.	Ask patient if he or she has any existing medical conditions, serious illnesses, or serious injuries.</a:t>
            </a:r>
            <a:endParaRPr lang="en-US" b="1" dirty="0">
              <a:ea typeface="ＭＳ Ｐゴシック" charset="0"/>
            </a:endParaRPr>
          </a:p>
          <a:p>
            <a:pPr>
              <a:defRPr/>
            </a:pPr>
            <a:r>
              <a:rPr lang="en-US" dirty="0">
                <a:ea typeface="ＭＳ Ｐゴシック" charset="0"/>
              </a:rPr>
              <a:t>			ii.	Ask patient if he or she has been hospitalized recently.</a:t>
            </a:r>
            <a:endParaRPr lang="en-US" b="1" dirty="0">
              <a:ea typeface="ＭＳ Ｐゴシック" charset="0"/>
            </a:endParaRPr>
          </a:p>
          <a:p>
            <a:pPr>
              <a:defRPr/>
            </a:pPr>
            <a:r>
              <a:rPr lang="en-US" dirty="0">
                <a:ea typeface="ＭＳ Ｐゴシック" charset="0"/>
              </a:rPr>
              <a:t>		e.	Last oral intake</a:t>
            </a:r>
            <a:endParaRPr lang="en-US" b="1" dirty="0">
              <a:ea typeface="ＭＳ Ｐゴシック" charset="0"/>
            </a:endParaRPr>
          </a:p>
          <a:p>
            <a:pPr>
              <a:defRPr/>
            </a:pPr>
            <a:r>
              <a:rPr lang="en-US" dirty="0">
                <a:ea typeface="ＭＳ Ｐゴシック" charset="0"/>
              </a:rPr>
              <a:t>			</a:t>
            </a:r>
            <a:r>
              <a:rPr lang="en-US" dirty="0" err="1">
                <a:ea typeface="ＭＳ Ｐゴシック" charset="0"/>
              </a:rPr>
              <a:t>i</a:t>
            </a:r>
            <a:r>
              <a:rPr lang="en-US" dirty="0">
                <a:ea typeface="ＭＳ Ｐゴシック" charset="0"/>
              </a:rPr>
              <a:t>.	Ask when patient last had something to eat or drink.</a:t>
            </a:r>
            <a:endParaRPr lang="en-US" b="1" dirty="0">
              <a:ea typeface="ＭＳ Ｐゴシック" charset="0"/>
            </a:endParaRPr>
          </a:p>
          <a:p>
            <a:pPr>
              <a:defRPr/>
            </a:pPr>
            <a:r>
              <a:rPr lang="en-US" dirty="0">
                <a:ea typeface="ＭＳ Ｐゴシック" charset="0"/>
              </a:rPr>
              <a:t>		f.	Events leading up to this illness or injury</a:t>
            </a:r>
            <a:endParaRPr lang="en-US" b="1" dirty="0">
              <a:ea typeface="ＭＳ Ｐゴシック" charset="0"/>
            </a:endParaRPr>
          </a:p>
          <a:p>
            <a:pPr>
              <a:defRPr/>
            </a:pPr>
            <a:r>
              <a:rPr lang="en-US" dirty="0">
                <a:ea typeface="ＭＳ Ｐゴシック" charset="0"/>
              </a:rPr>
              <a:t>			</a:t>
            </a:r>
            <a:r>
              <a:rPr lang="en-US" dirty="0" err="1">
                <a:ea typeface="ＭＳ Ｐゴシック" charset="0"/>
              </a:rPr>
              <a:t>i</a:t>
            </a:r>
            <a:r>
              <a:rPr lang="en-US" dirty="0">
                <a:ea typeface="ＭＳ Ｐゴシック" charset="0"/>
              </a:rPr>
              <a:t>.	Ask patient to describe what he or she was doing when symptoms of this event started.</a:t>
            </a:r>
            <a:endParaRPr lang="en-US" b="1" dirty="0">
              <a:ea typeface="ＭＳ Ｐゴシック" charset="0"/>
            </a:endParaRPr>
          </a:p>
          <a:p>
            <a:pPr>
              <a:defRPr/>
            </a:pPr>
            <a:r>
              <a:rPr lang="en-US" dirty="0">
                <a:ea typeface="ＭＳ Ｐゴシック" charset="0"/>
              </a:rPr>
              <a:t>	4.	If patient is unconscious or senile, a family member, friend, or coworker may be able to answer your questions.</a:t>
            </a:r>
            <a:endParaRPr lang="en-US" b="1" dirty="0">
              <a:ea typeface="ＭＳ Ｐゴシック" charset="0"/>
            </a:endParaRPr>
          </a:p>
          <a:p>
            <a:pPr>
              <a:defRPr/>
            </a:pPr>
            <a:r>
              <a:rPr lang="en-US" dirty="0">
                <a:ea typeface="ＭＳ Ｐゴシック" charset="0"/>
              </a:rPr>
              <a:t>	5.	Important information can often be found on a medical identification necklace, bracelet, or card.</a:t>
            </a:r>
            <a:endParaRPr lang="en-US" b="1" dirty="0">
              <a:ea typeface="ＭＳ Ｐゴシック" charset="0"/>
            </a:endParaRPr>
          </a:p>
          <a:p>
            <a:pPr>
              <a:defRPr/>
            </a:pPr>
            <a:r>
              <a:rPr lang="en-US" dirty="0">
                <a:ea typeface="ＭＳ Ｐゴシック" charset="0"/>
              </a:rPr>
              <a:t>	6.	Information you gain needs to be communicated to other EMS personnel to help them in their assessment and treatment of patient.</a:t>
            </a:r>
            <a:endParaRPr lang="en-US" b="1" dirty="0">
              <a:ea typeface="ＭＳ Ｐゴシック" charset="0"/>
            </a:endParaRPr>
          </a:p>
          <a:p>
            <a:pPr eaLnBrk="1" hangingPunct="1">
              <a:defRPr/>
            </a:pPr>
            <a:endParaRPr lang="en-US" dirty="0">
              <a:ea typeface="ＭＳ Ｐゴシック" charset="0"/>
            </a:endParaRPr>
          </a:p>
        </p:txBody>
      </p:sp>
    </p:spTree>
    <p:extLst>
      <p:ext uri="{BB962C8B-B14F-4D97-AF65-F5344CB8AC3E}">
        <p14:creationId xmlns:p14="http://schemas.microsoft.com/office/powerpoint/2010/main" val="11468872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10613270-E49F-054D-9B3B-9613B3A20A08}"/>
              </a:ext>
            </a:extLst>
          </p:cNvPr>
          <p:cNvSpPr>
            <a:spLocks noGrp="1" noRot="1" noChangeAspect="1" noChangeArrowheads="1" noTextEdit="1"/>
          </p:cNvSpPr>
          <p:nvPr>
            <p:ph type="sldImg"/>
          </p:nvPr>
        </p:nvSpPr>
        <p:spPr>
          <a:ln/>
        </p:spPr>
      </p:sp>
      <p:sp>
        <p:nvSpPr>
          <p:cNvPr id="94211" name="Rectangle 3">
            <a:extLst>
              <a:ext uri="{FF2B5EF4-FFF2-40B4-BE49-F238E27FC236}">
                <a16:creationId xmlns:a16="http://schemas.microsoft.com/office/drawing/2014/main" id="{D0267575-D713-BA43-8B17-B7A80CFC7E4F}"/>
              </a:ext>
            </a:extLst>
          </p:cNvPr>
          <p:cNvSpPr>
            <a:spLocks noGrp="1" noChangeArrowheads="1"/>
          </p:cNvSpPr>
          <p:nvPr>
            <p:ph type="body" idx="1"/>
          </p:nvPr>
        </p:nvSpPr>
        <p:spPr/>
        <p:txBody>
          <a:bodyPr/>
          <a:lstStyle/>
          <a:p>
            <a:pPr eaLnBrk="1" hangingPunct="1">
              <a:defRPr/>
            </a:pPr>
            <a:r>
              <a:rPr lang="en-US">
                <a:ea typeface="ＭＳ Ｐゴシック" charset="0"/>
              </a:rPr>
              <a:t>Table: SAMPLE Medical History</a:t>
            </a:r>
          </a:p>
        </p:txBody>
      </p:sp>
    </p:spTree>
    <p:extLst>
      <p:ext uri="{BB962C8B-B14F-4D97-AF65-F5344CB8AC3E}">
        <p14:creationId xmlns:p14="http://schemas.microsoft.com/office/powerpoint/2010/main" val="11918254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8F4ECF38-0172-9340-82DA-BF656450A9D7}"/>
              </a:ext>
            </a:extLst>
          </p:cNvPr>
          <p:cNvSpPr>
            <a:spLocks noGrp="1" noRot="1" noChangeAspect="1" noChangeArrowheads="1" noTextEdit="1"/>
          </p:cNvSpPr>
          <p:nvPr>
            <p:ph type="sldImg"/>
          </p:nvPr>
        </p:nvSpPr>
        <p:spPr>
          <a:ln/>
        </p:spPr>
      </p:sp>
      <p:sp>
        <p:nvSpPr>
          <p:cNvPr id="95235" name="Rectangle 3">
            <a:extLst>
              <a:ext uri="{FF2B5EF4-FFF2-40B4-BE49-F238E27FC236}">
                <a16:creationId xmlns:a16="http://schemas.microsoft.com/office/drawing/2014/main" id="{9828B76F-42D6-B74A-A6D8-FB32F3AE22BC}"/>
              </a:ext>
            </a:extLst>
          </p:cNvPr>
          <p:cNvSpPr>
            <a:spLocks noGrp="1" noChangeArrowheads="1"/>
          </p:cNvSpPr>
          <p:nvPr>
            <p:ph type="body" idx="1"/>
          </p:nvPr>
        </p:nvSpPr>
        <p:spPr/>
        <p:txBody>
          <a:bodyPr/>
          <a:lstStyle/>
          <a:p>
            <a:pPr>
              <a:defRPr/>
            </a:pPr>
            <a:r>
              <a:rPr lang="en-US" altLang="en-US" dirty="0">
                <a:latin typeface="Calibri" pitchFamily="34" charset="0"/>
              </a:rPr>
              <a:t>VI. Secondary Assessment</a:t>
            </a:r>
          </a:p>
          <a:p>
            <a:pPr>
              <a:defRPr/>
            </a:pPr>
            <a:r>
              <a:rPr lang="en-US" altLang="en-US" dirty="0">
                <a:latin typeface="Calibri" pitchFamily="34" charset="0"/>
              </a:rPr>
              <a:t>A.	Secondary assessment is done to assess non–life-threatening conditions after you have completed primary patient assessment and stabilized life-threatening conditions. </a:t>
            </a:r>
          </a:p>
          <a:p>
            <a:pPr>
              <a:defRPr/>
            </a:pPr>
            <a:r>
              <a:rPr lang="en-US" altLang="en-US" dirty="0">
                <a:latin typeface="Calibri" pitchFamily="34" charset="0"/>
              </a:rPr>
              <a:t>B.	Vital signs are taken as part of secondary assessment.</a:t>
            </a:r>
          </a:p>
          <a:p>
            <a:pPr>
              <a:defRPr/>
            </a:pPr>
            <a:r>
              <a:rPr lang="en-US" altLang="en-US" dirty="0">
                <a:latin typeface="Calibri" pitchFamily="34" charset="0"/>
              </a:rPr>
              <a:t>C.	Physical examination helps you locate and begin initial management of signs and symptoms of illness or injury.</a:t>
            </a:r>
          </a:p>
          <a:p>
            <a:pPr>
              <a:defRPr/>
            </a:pPr>
            <a:r>
              <a:rPr lang="en-US" altLang="en-US" dirty="0">
                <a:latin typeface="Calibri" pitchFamily="34" charset="0"/>
              </a:rPr>
              <a:t>	1. 	Signs and symptoms</a:t>
            </a:r>
            <a:endParaRPr lang="en-US" altLang="en-US" b="1" dirty="0">
              <a:latin typeface="Calibri" pitchFamily="34" charset="0"/>
            </a:endParaRPr>
          </a:p>
          <a:p>
            <a:pPr>
              <a:defRPr/>
            </a:pPr>
            <a:r>
              <a:rPr lang="en-US" altLang="en-US" dirty="0">
                <a:latin typeface="Calibri" pitchFamily="34" charset="0"/>
              </a:rPr>
              <a:t>		a.	A sign is something about patient you can see or feel for yourself. </a:t>
            </a:r>
          </a:p>
          <a:p>
            <a:pPr>
              <a:defRPr/>
            </a:pPr>
            <a:r>
              <a:rPr lang="en-US" altLang="en-US" dirty="0">
                <a:latin typeface="Calibri" pitchFamily="34" charset="0"/>
              </a:rPr>
              <a:t>		b.	A symptom is something patient tells you about his or her condition. </a:t>
            </a:r>
          </a:p>
          <a:p>
            <a:pPr>
              <a:defRPr/>
            </a:pPr>
            <a:r>
              <a:rPr lang="en-US" altLang="en-US" dirty="0">
                <a:latin typeface="Calibri" pitchFamily="34" charset="0"/>
              </a:rPr>
              <a:t>		c.	You need to be able to assess selected signs and report them systematically when you transfer patient care.</a:t>
            </a: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164649202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BD06B11B-EB88-A94F-AD90-0FC6B7482F35}"/>
              </a:ext>
            </a:extLst>
          </p:cNvPr>
          <p:cNvSpPr>
            <a:spLocks noGrp="1" noRot="1" noChangeAspect="1" noChangeArrowheads="1" noTextEdit="1"/>
          </p:cNvSpPr>
          <p:nvPr>
            <p:ph type="sldImg"/>
          </p:nvPr>
        </p:nvSpPr>
        <p:spPr>
          <a:ln/>
        </p:spPr>
      </p:sp>
      <p:sp>
        <p:nvSpPr>
          <p:cNvPr id="96259" name="Rectangle 3">
            <a:extLst>
              <a:ext uri="{FF2B5EF4-FFF2-40B4-BE49-F238E27FC236}">
                <a16:creationId xmlns:a16="http://schemas.microsoft.com/office/drawing/2014/main" id="{96B7623A-0BCC-5540-BBB0-A1064E0DDCFA}"/>
              </a:ext>
            </a:extLst>
          </p:cNvPr>
          <p:cNvSpPr>
            <a:spLocks noGrp="1" noChangeArrowheads="1"/>
          </p:cNvSpPr>
          <p:nvPr>
            <p:ph type="body" idx="1"/>
          </p:nvPr>
        </p:nvSpPr>
        <p:spPr/>
        <p:txBody>
          <a:bodyPr/>
          <a:lstStyle/>
          <a:p>
            <a:pPr>
              <a:defRPr/>
            </a:pPr>
            <a:r>
              <a:rPr lang="en-US" b="1" dirty="0">
                <a:ea typeface="ＭＳ Ｐゴシック" charset="0"/>
              </a:rPr>
              <a:t>D.	Systematically assess the patient.</a:t>
            </a:r>
          </a:p>
          <a:p>
            <a:pPr>
              <a:defRPr/>
            </a:pPr>
            <a:r>
              <a:rPr lang="en-US" dirty="0">
                <a:ea typeface="ＭＳ Ｐゴシック" charset="0"/>
              </a:rPr>
              <a:t>1.	Look and feel for the following signs of injury (use the acronym DOTS):</a:t>
            </a:r>
            <a:endParaRPr lang="en-US" b="1" dirty="0">
              <a:ea typeface="ＭＳ Ｐゴシック" charset="0"/>
            </a:endParaRPr>
          </a:p>
          <a:p>
            <a:pPr>
              <a:defRPr/>
            </a:pPr>
            <a:r>
              <a:rPr lang="en-US" dirty="0">
                <a:ea typeface="ＭＳ Ｐゴシック" charset="0"/>
              </a:rPr>
              <a:t>a.	Deformities.</a:t>
            </a:r>
            <a:endParaRPr lang="en-US" b="1" dirty="0">
              <a:ea typeface="ＭＳ Ｐゴシック" charset="0"/>
            </a:endParaRPr>
          </a:p>
          <a:p>
            <a:pPr>
              <a:defRPr/>
            </a:pPr>
            <a:r>
              <a:rPr lang="en-US" dirty="0">
                <a:ea typeface="ＭＳ Ｐゴシック" charset="0"/>
              </a:rPr>
              <a:t>b.	Open injuries.</a:t>
            </a:r>
            <a:endParaRPr lang="en-US" b="1" dirty="0">
              <a:ea typeface="ＭＳ Ｐゴシック" charset="0"/>
            </a:endParaRPr>
          </a:p>
          <a:p>
            <a:pPr>
              <a:defRPr/>
            </a:pPr>
            <a:r>
              <a:rPr lang="en-US" dirty="0">
                <a:ea typeface="ＭＳ Ｐゴシック" charset="0"/>
              </a:rPr>
              <a:t>c.	Tenderness.</a:t>
            </a:r>
            <a:endParaRPr lang="en-US" b="1" dirty="0">
              <a:ea typeface="ＭＳ Ｐゴシック" charset="0"/>
            </a:endParaRPr>
          </a:p>
          <a:p>
            <a:pPr>
              <a:defRPr/>
            </a:pPr>
            <a:r>
              <a:rPr lang="en-US" dirty="0">
                <a:ea typeface="ＭＳ Ｐゴシック" charset="0"/>
              </a:rPr>
              <a:t>d.	Swelling.</a:t>
            </a:r>
            <a:endParaRPr lang="en-US" b="1" dirty="0">
              <a:ea typeface="ＭＳ Ｐゴシック" charset="0"/>
            </a:endParaRPr>
          </a:p>
          <a:p>
            <a:pPr>
              <a:defRPr/>
            </a:pPr>
            <a:r>
              <a:rPr lang="en-US" dirty="0">
                <a:ea typeface="ＭＳ Ｐゴシック" charset="0"/>
              </a:rPr>
              <a:t>	2.	Some EMS providers find it helpful to use mnemonic DCAP-BTLS.</a:t>
            </a:r>
            <a:endParaRPr lang="en-US" b="1" dirty="0">
              <a:ea typeface="ＭＳ Ｐゴシック" charset="0"/>
            </a:endParaRPr>
          </a:p>
          <a:p>
            <a:pPr>
              <a:defRPr/>
            </a:pPr>
            <a:r>
              <a:rPr lang="en-US" dirty="0">
                <a:ea typeface="ＭＳ Ｐゴシック" charset="0"/>
              </a:rPr>
              <a:t>		a.	Deformities.</a:t>
            </a:r>
            <a:endParaRPr lang="en-US" b="1" dirty="0">
              <a:ea typeface="ＭＳ Ｐゴシック" charset="0"/>
            </a:endParaRPr>
          </a:p>
          <a:p>
            <a:pPr>
              <a:defRPr/>
            </a:pPr>
            <a:r>
              <a:rPr lang="en-US" dirty="0">
                <a:ea typeface="ＭＳ Ｐゴシック" charset="0"/>
              </a:rPr>
              <a:t>		b.	Contusions.</a:t>
            </a:r>
            <a:endParaRPr lang="en-US" b="1" dirty="0">
              <a:ea typeface="ＭＳ Ｐゴシック" charset="0"/>
            </a:endParaRPr>
          </a:p>
          <a:p>
            <a:pPr>
              <a:defRPr/>
            </a:pPr>
            <a:r>
              <a:rPr lang="en-US" dirty="0">
                <a:ea typeface="ＭＳ Ｐゴシック" charset="0"/>
              </a:rPr>
              <a:t>		c.	Abrasions.</a:t>
            </a:r>
            <a:endParaRPr lang="en-US" b="1" dirty="0">
              <a:ea typeface="ＭＳ Ｐゴシック" charset="0"/>
            </a:endParaRPr>
          </a:p>
          <a:p>
            <a:pPr>
              <a:defRPr/>
            </a:pPr>
            <a:r>
              <a:rPr lang="en-US" dirty="0">
                <a:ea typeface="ＭＳ Ｐゴシック" charset="0"/>
              </a:rPr>
              <a:t>		d.	Punctures or Penetrations.</a:t>
            </a:r>
            <a:endParaRPr lang="en-US" b="1" dirty="0">
              <a:ea typeface="ＭＳ Ｐゴシック" charset="0"/>
            </a:endParaRPr>
          </a:p>
          <a:p>
            <a:pPr>
              <a:defRPr/>
            </a:pPr>
            <a:r>
              <a:rPr lang="en-US" dirty="0">
                <a:ea typeface="ＭＳ Ｐゴシック" charset="0"/>
              </a:rPr>
              <a:t>		e.	Burns.</a:t>
            </a:r>
            <a:endParaRPr lang="en-US" b="1" dirty="0">
              <a:ea typeface="ＭＳ Ｐゴシック" charset="0"/>
            </a:endParaRPr>
          </a:p>
          <a:p>
            <a:pPr>
              <a:defRPr/>
            </a:pPr>
            <a:r>
              <a:rPr lang="en-US" dirty="0">
                <a:ea typeface="ＭＳ Ｐゴシック" charset="0"/>
              </a:rPr>
              <a:t>		f.	Tenderness.</a:t>
            </a:r>
            <a:endParaRPr lang="en-US" b="1" dirty="0">
              <a:ea typeface="ＭＳ Ｐゴシック" charset="0"/>
            </a:endParaRPr>
          </a:p>
          <a:p>
            <a:pPr>
              <a:defRPr/>
            </a:pPr>
            <a:r>
              <a:rPr lang="en-US" dirty="0">
                <a:ea typeface="ＭＳ Ｐゴシック" charset="0"/>
              </a:rPr>
              <a:t>		g.	Lacerations.</a:t>
            </a:r>
            <a:endParaRPr lang="en-US" b="1" dirty="0">
              <a:ea typeface="ＭＳ Ｐゴシック" charset="0"/>
            </a:endParaRPr>
          </a:p>
          <a:p>
            <a:pPr>
              <a:defRPr/>
            </a:pPr>
            <a:r>
              <a:rPr lang="en-US" dirty="0">
                <a:ea typeface="ＭＳ Ｐゴシック" charset="0"/>
              </a:rPr>
              <a:t>		h.	Swelling.</a:t>
            </a:r>
            <a:endParaRPr lang="en-US" b="1" dirty="0">
              <a:ea typeface="ＭＳ Ｐゴシック" charset="0"/>
            </a:endParaRPr>
          </a:p>
          <a:p>
            <a:pPr eaLnBrk="1" hangingPunct="1">
              <a:defRPr/>
            </a:pPr>
            <a:endParaRPr lang="en-US" dirty="0">
              <a:ea typeface="ＭＳ Ｐゴシック" charset="0"/>
            </a:endParaRPr>
          </a:p>
          <a:p>
            <a:pPr eaLnBrk="1" hangingPunct="1">
              <a:defRPr/>
            </a:pPr>
            <a:r>
              <a:rPr lang="en-US" dirty="0">
                <a:ea typeface="ＭＳ Ｐゴシック" charset="0"/>
              </a:rPr>
              <a:t>Table (left): Signs of Injury</a:t>
            </a:r>
          </a:p>
          <a:p>
            <a:pPr eaLnBrk="1" hangingPunct="1">
              <a:defRPr/>
            </a:pPr>
            <a:r>
              <a:rPr lang="en-US" dirty="0">
                <a:ea typeface="ＭＳ Ｐゴシック" charset="0"/>
              </a:rPr>
              <a:t>Table (right): DCAP-BTLS</a:t>
            </a:r>
          </a:p>
        </p:txBody>
      </p:sp>
    </p:spTree>
    <p:extLst>
      <p:ext uri="{BB962C8B-B14F-4D97-AF65-F5344CB8AC3E}">
        <p14:creationId xmlns:p14="http://schemas.microsoft.com/office/powerpoint/2010/main" val="29459903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C6E42CBB-A78C-8947-8984-72439044D981}"/>
              </a:ext>
            </a:extLst>
          </p:cNvPr>
          <p:cNvSpPr>
            <a:spLocks noGrp="1" noRot="1" noChangeAspect="1" noChangeArrowheads="1" noTextEdit="1"/>
          </p:cNvSpPr>
          <p:nvPr>
            <p:ph type="sldImg"/>
          </p:nvPr>
        </p:nvSpPr>
        <p:spPr>
          <a:ln/>
        </p:spPr>
      </p:sp>
      <p:sp>
        <p:nvSpPr>
          <p:cNvPr id="97283" name="Rectangle 3">
            <a:extLst>
              <a:ext uri="{FF2B5EF4-FFF2-40B4-BE49-F238E27FC236}">
                <a16:creationId xmlns:a16="http://schemas.microsoft.com/office/drawing/2014/main" id="{6CC101F5-1F69-D947-8A0E-A1F7D0FAF163}"/>
              </a:ext>
            </a:extLst>
          </p:cNvPr>
          <p:cNvSpPr>
            <a:spLocks noGrp="1" noChangeArrowheads="1"/>
          </p:cNvSpPr>
          <p:nvPr>
            <p:ph type="body" idx="1"/>
          </p:nvPr>
        </p:nvSpPr>
        <p:spPr/>
        <p:txBody>
          <a:bodyPr/>
          <a:lstStyle/>
          <a:p>
            <a:pPr>
              <a:defRPr/>
            </a:pPr>
            <a:r>
              <a:rPr lang="en-US" dirty="0">
                <a:ea typeface="ＭＳ Ｐゴシック" charset="0"/>
              </a:rPr>
              <a:t>E.	Secondary assessment of entire body:</a:t>
            </a:r>
          </a:p>
          <a:p>
            <a:pPr>
              <a:defRPr/>
            </a:pPr>
            <a:r>
              <a:rPr lang="en-US" dirty="0">
                <a:ea typeface="ＭＳ Ｐゴシック" charset="0"/>
              </a:rPr>
              <a:t>	1.	Conduct a thorough, hands-on, full-body assessment in a logical, head-to-toe, systematic manner.</a:t>
            </a:r>
            <a:endParaRPr lang="en-US" b="1" dirty="0">
              <a:ea typeface="ＭＳ Ｐゴシック" charset="0"/>
            </a:endParaRPr>
          </a:p>
          <a:p>
            <a:pPr>
              <a:defRPr/>
            </a:pPr>
            <a:r>
              <a:rPr lang="en-US" dirty="0">
                <a:ea typeface="ＭＳ Ｐゴシック" charset="0"/>
              </a:rPr>
              <a:t>	2.	Use a clear, concise format to communicate your findings to other medical personnel.</a:t>
            </a:r>
            <a:endParaRPr lang="en-US" b="1" dirty="0">
              <a:ea typeface="ＭＳ Ｐゴシック" charset="0"/>
            </a:endParaRPr>
          </a:p>
          <a:p>
            <a:pPr>
              <a:defRPr/>
            </a:pPr>
            <a:r>
              <a:rPr lang="en-US" dirty="0">
                <a:ea typeface="ＭＳ Ｐゴシック" charset="0"/>
              </a:rPr>
              <a:t>	3.	The full-body assessment can be done whether patient is conscious or unconscious.</a:t>
            </a:r>
            <a:endParaRPr lang="en-US" b="1" dirty="0">
              <a:ea typeface="ＭＳ Ｐゴシック" charset="0"/>
            </a:endParaRPr>
          </a:p>
          <a:p>
            <a:pPr>
              <a:defRPr/>
            </a:pPr>
            <a:r>
              <a:rPr lang="en-US" dirty="0">
                <a:ea typeface="ＭＳ Ｐゴシック" charset="0"/>
              </a:rPr>
              <a:t>	4.	Assume that all unconscious, injured patients have spinal injuries.</a:t>
            </a:r>
            <a:endParaRPr lang="en-US" b="1" dirty="0">
              <a:ea typeface="ＭＳ Ｐゴシック" charset="0"/>
            </a:endParaRPr>
          </a:p>
          <a:p>
            <a:pPr>
              <a:defRPr/>
            </a:pPr>
            <a:r>
              <a:rPr lang="en-US" dirty="0">
                <a:ea typeface="ＭＳ Ｐゴシック" charset="0"/>
              </a:rPr>
              <a:t>		a.	Stabilize head and spine to minimize movement during patient examination.</a:t>
            </a:r>
            <a:endParaRPr lang="en-US" b="1" dirty="0">
              <a:ea typeface="ＭＳ Ｐゴシック" charset="0"/>
            </a:endParaRPr>
          </a:p>
          <a:p>
            <a:pPr>
              <a:defRPr/>
            </a:pPr>
            <a:r>
              <a:rPr lang="en-US" dirty="0">
                <a:ea typeface="ＭＳ Ｐゴシック" charset="0"/>
              </a:rPr>
              <a:t>		b.	Immobilize all injured, unconscious patients on a backboard before transporting them.</a:t>
            </a:r>
            <a:endParaRPr lang="en-US" b="1" dirty="0">
              <a:ea typeface="ＭＳ Ｐゴシック" charset="0"/>
            </a:endParaRPr>
          </a:p>
          <a:p>
            <a:pPr>
              <a:defRPr/>
            </a:pPr>
            <a:r>
              <a:rPr lang="en-US" dirty="0">
                <a:ea typeface="ＭＳ Ｐゴシック" charset="0"/>
              </a:rPr>
              <a:t>	5.	Follow steps in Skill Drill 9-1</a:t>
            </a:r>
            <a:r>
              <a:rPr lang="en-US" i="1" dirty="0">
                <a:ea typeface="ＭＳ Ｐゴシック" charset="0"/>
              </a:rPr>
              <a:t> </a:t>
            </a:r>
            <a:r>
              <a:rPr lang="en-US" dirty="0">
                <a:ea typeface="ＭＳ Ｐゴシック" charset="0"/>
              </a:rPr>
              <a:t>to perform a secondary assessment.</a:t>
            </a:r>
            <a:endParaRPr lang="en-US" b="1" dirty="0">
              <a:ea typeface="ＭＳ Ｐゴシック" charset="0"/>
            </a:endParaRPr>
          </a:p>
          <a:p>
            <a:pPr>
              <a:defRPr/>
            </a:pPr>
            <a:r>
              <a:rPr lang="en-US" dirty="0">
                <a:ea typeface="ＭＳ Ｐゴシック" charset="0"/>
              </a:rPr>
              <a:t>		a.	Assess head.</a:t>
            </a:r>
            <a:endParaRPr lang="en-US" b="1" dirty="0">
              <a:ea typeface="ＭＳ Ｐゴシック" charset="0"/>
            </a:endParaRPr>
          </a:p>
          <a:p>
            <a:pPr>
              <a:defRPr/>
            </a:pPr>
            <a:r>
              <a:rPr lang="en-US" dirty="0">
                <a:ea typeface="ＭＳ Ｐゴシック" charset="0"/>
              </a:rPr>
              <a:t>		b.	Assess eyes.</a:t>
            </a:r>
            <a:endParaRPr lang="en-US" b="1" dirty="0">
              <a:ea typeface="ＭＳ Ｐゴシック" charset="0"/>
            </a:endParaRPr>
          </a:p>
          <a:p>
            <a:pPr>
              <a:defRPr/>
            </a:pPr>
            <a:r>
              <a:rPr lang="en-US" dirty="0">
                <a:ea typeface="ＭＳ Ｐゴシック" charset="0"/>
              </a:rPr>
              <a:t>		c.	Assess nose.</a:t>
            </a:r>
            <a:endParaRPr lang="en-US" b="1" dirty="0">
              <a:ea typeface="ＭＳ Ｐゴシック" charset="0"/>
            </a:endParaRPr>
          </a:p>
          <a:p>
            <a:pPr>
              <a:defRPr/>
            </a:pPr>
            <a:r>
              <a:rPr lang="en-US" dirty="0">
                <a:ea typeface="ＭＳ Ｐゴシック" charset="0"/>
              </a:rPr>
              <a:t>		d.	Assess mouth.</a:t>
            </a:r>
            <a:endParaRPr lang="en-US" b="1" dirty="0">
              <a:ea typeface="ＭＳ Ｐゴシック" charset="0"/>
            </a:endParaRPr>
          </a:p>
          <a:p>
            <a:pPr>
              <a:defRPr/>
            </a:pPr>
            <a:r>
              <a:rPr lang="en-US" dirty="0">
                <a:ea typeface="ＭＳ Ｐゴシック" charset="0"/>
              </a:rPr>
              <a:t>		e.	Check for unusual breath odors.</a:t>
            </a:r>
            <a:endParaRPr lang="en-US" b="1" dirty="0">
              <a:ea typeface="ＭＳ Ｐゴシック" charset="0"/>
            </a:endParaRPr>
          </a:p>
          <a:p>
            <a:pPr>
              <a:defRPr/>
            </a:pPr>
            <a:r>
              <a:rPr lang="en-US" dirty="0">
                <a:ea typeface="ＭＳ Ｐゴシック" charset="0"/>
              </a:rPr>
              <a:t>		f.	Assess neck and face.</a:t>
            </a:r>
            <a:endParaRPr lang="en-US" b="1" dirty="0">
              <a:ea typeface="ＭＳ Ｐゴシック" charset="0"/>
            </a:endParaRPr>
          </a:p>
          <a:p>
            <a:pPr>
              <a:defRPr/>
            </a:pPr>
            <a:r>
              <a:rPr lang="en-US" dirty="0">
                <a:ea typeface="ＭＳ Ｐゴシック" charset="0"/>
              </a:rPr>
              <a:t>		g.	Assess work of breathing.</a:t>
            </a:r>
            <a:endParaRPr lang="en-US" b="1" dirty="0">
              <a:ea typeface="ＭＳ Ｐゴシック" charset="0"/>
            </a:endParaRPr>
          </a:p>
          <a:p>
            <a:pPr>
              <a:defRPr/>
            </a:pPr>
            <a:r>
              <a:rPr lang="en-US" dirty="0">
                <a:ea typeface="ＭＳ Ｐゴシック" charset="0"/>
              </a:rPr>
              <a:t>		h.	Assess chest for injury.</a:t>
            </a:r>
            <a:endParaRPr lang="en-US" b="1" dirty="0">
              <a:ea typeface="ＭＳ Ｐゴシック" charset="0"/>
            </a:endParaRPr>
          </a:p>
          <a:p>
            <a:pPr>
              <a:defRPr/>
            </a:pPr>
            <a:r>
              <a:rPr lang="en-US" dirty="0">
                <a:ea typeface="ＭＳ Ｐゴシック" charset="0"/>
              </a:rPr>
              <a:t>		</a:t>
            </a:r>
            <a:r>
              <a:rPr lang="en-US" dirty="0" err="1">
                <a:ea typeface="ＭＳ Ｐゴシック" charset="0"/>
              </a:rPr>
              <a:t>i</a:t>
            </a:r>
            <a:r>
              <a:rPr lang="en-US" dirty="0">
                <a:ea typeface="ＭＳ Ｐゴシック" charset="0"/>
              </a:rPr>
              <a:t>.	Assess abdomen.</a:t>
            </a:r>
          </a:p>
          <a:p>
            <a:pPr>
              <a:defRPr/>
            </a:pPr>
            <a:r>
              <a:rPr lang="en-US" b="1" dirty="0">
                <a:ea typeface="ＭＳ Ｐゴシック" charset="0"/>
              </a:rPr>
              <a:t>		</a:t>
            </a:r>
            <a:r>
              <a:rPr lang="en-US" b="0" dirty="0">
                <a:ea typeface="ＭＳ Ｐゴシック" charset="0"/>
              </a:rPr>
              <a:t>j.	Assess pelvis.</a:t>
            </a:r>
          </a:p>
          <a:p>
            <a:pPr>
              <a:defRPr/>
            </a:pPr>
            <a:r>
              <a:rPr lang="en-US" dirty="0">
                <a:ea typeface="ＭＳ Ｐゴシック" charset="0"/>
              </a:rPr>
              <a:t>		k.	Assess back.</a:t>
            </a:r>
            <a:endParaRPr lang="en-US" b="1" dirty="0">
              <a:ea typeface="ＭＳ Ｐゴシック" charset="0"/>
            </a:endParaRPr>
          </a:p>
          <a:p>
            <a:pPr>
              <a:defRPr/>
            </a:pPr>
            <a:r>
              <a:rPr lang="en-US" dirty="0">
                <a:ea typeface="ＭＳ Ｐゴシック" charset="0"/>
              </a:rPr>
              <a:t>		l.	Assess extremities.</a:t>
            </a:r>
            <a:endParaRPr lang="en-US" b="1" dirty="0">
              <a:ea typeface="ＭＳ Ｐゴシック" charset="0"/>
            </a:endParaRPr>
          </a:p>
          <a:p>
            <a:pPr eaLnBrk="1" hangingPunct="1">
              <a:defRPr/>
            </a:pPr>
            <a:endParaRPr lang="en-US" dirty="0">
              <a:ea typeface="ＭＳ Ｐゴシック" charset="0"/>
            </a:endParaRPr>
          </a:p>
        </p:txBody>
      </p:sp>
    </p:spTree>
    <p:extLst>
      <p:ext uri="{BB962C8B-B14F-4D97-AF65-F5344CB8AC3E}">
        <p14:creationId xmlns:p14="http://schemas.microsoft.com/office/powerpoint/2010/main" val="322373674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130B6878-7BCB-1C4C-B77E-B6C9067371B4}"/>
              </a:ext>
            </a:extLst>
          </p:cNvPr>
          <p:cNvSpPr>
            <a:spLocks noGrp="1" noRot="1" noChangeAspect="1" noChangeArrowheads="1" noTextEdit="1"/>
          </p:cNvSpPr>
          <p:nvPr>
            <p:ph type="sldImg"/>
          </p:nvPr>
        </p:nvSpPr>
        <p:spPr>
          <a:ln/>
        </p:spPr>
      </p:sp>
      <p:sp>
        <p:nvSpPr>
          <p:cNvPr id="98307" name="Rectangle 3">
            <a:extLst>
              <a:ext uri="{FF2B5EF4-FFF2-40B4-BE49-F238E27FC236}">
                <a16:creationId xmlns:a16="http://schemas.microsoft.com/office/drawing/2014/main" id="{82DE31FC-1E2C-5E47-91DE-3FB8FFCA7B27}"/>
              </a:ext>
            </a:extLst>
          </p:cNvPr>
          <p:cNvSpPr>
            <a:spLocks noGrp="1" noChangeArrowheads="1"/>
          </p:cNvSpPr>
          <p:nvPr>
            <p:ph type="body" idx="1"/>
          </p:nvPr>
        </p:nvSpPr>
        <p:spPr/>
        <p:txBody>
          <a:bodyPr/>
          <a:lstStyle/>
          <a:p>
            <a:pPr>
              <a:defRPr/>
            </a:pPr>
            <a:r>
              <a:rPr lang="en-US" dirty="0">
                <a:ea typeface="ＭＳ Ｐゴシック" charset="0"/>
              </a:rPr>
              <a:t>F.	Exam of a specific area of the body:</a:t>
            </a:r>
          </a:p>
          <a:p>
            <a:pPr>
              <a:defRPr/>
            </a:pPr>
            <a:r>
              <a:rPr lang="en-US" dirty="0">
                <a:ea typeface="ＭＳ Ｐゴシック" charset="0"/>
              </a:rPr>
              <a:t>	1.	An exam of a specific area of body is generally performed on patients who have sustained nonsignificant MOIs and on responsive medical patients.</a:t>
            </a:r>
            <a:endParaRPr lang="en-US" b="1" dirty="0">
              <a:ea typeface="ＭＳ Ｐゴシック" charset="0"/>
            </a:endParaRPr>
          </a:p>
          <a:p>
            <a:pPr>
              <a:defRPr/>
            </a:pPr>
            <a:r>
              <a:rPr lang="en-US" dirty="0">
                <a:ea typeface="ＭＳ Ｐゴシック" charset="0"/>
              </a:rPr>
              <a:t>	2.	This type of examination is based on chief complaint. May focus on body system (cardiovascular, respiratory, GI/GU, reproductive, nervous, etc.)</a:t>
            </a:r>
            <a:endParaRPr lang="en-US" b="1" dirty="0">
              <a:ea typeface="ＭＳ Ｐゴシック" charset="0"/>
            </a:endParaRPr>
          </a:p>
          <a:p>
            <a:pPr>
              <a:defRPr/>
            </a:pPr>
            <a:r>
              <a:rPr lang="en-US" dirty="0">
                <a:ea typeface="ＭＳ Ｐゴシック" charset="0"/>
              </a:rPr>
              <a:t>	3.	The goal of exam of a specific area of the body is to focus your attention on immediate problem.</a:t>
            </a:r>
            <a:endParaRPr lang="en-US" b="1" dirty="0">
              <a:ea typeface="ＭＳ Ｐゴシック" charset="0"/>
            </a:endParaRPr>
          </a:p>
          <a:p>
            <a:pPr eaLnBrk="1" hangingPunct="1">
              <a:defRPr/>
            </a:pPr>
            <a:endParaRPr lang="en-US" dirty="0">
              <a:ea typeface="ＭＳ Ｐゴシック" charset="0"/>
            </a:endParaRPr>
          </a:p>
        </p:txBody>
      </p:sp>
    </p:spTree>
    <p:extLst>
      <p:ext uri="{BB962C8B-B14F-4D97-AF65-F5344CB8AC3E}">
        <p14:creationId xmlns:p14="http://schemas.microsoft.com/office/powerpoint/2010/main" val="159748483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4BD9C77F-7812-CF4A-9206-4372028FD4A0}"/>
              </a:ext>
            </a:extLst>
          </p:cNvPr>
          <p:cNvSpPr>
            <a:spLocks noGrp="1" noRot="1" noChangeAspect="1" noChangeArrowheads="1" noTextEdit="1"/>
          </p:cNvSpPr>
          <p:nvPr>
            <p:ph type="sldImg"/>
          </p:nvPr>
        </p:nvSpPr>
        <p:spPr>
          <a:ln/>
        </p:spPr>
      </p:sp>
      <p:sp>
        <p:nvSpPr>
          <p:cNvPr id="99331" name="Rectangle 3">
            <a:extLst>
              <a:ext uri="{FF2B5EF4-FFF2-40B4-BE49-F238E27FC236}">
                <a16:creationId xmlns:a16="http://schemas.microsoft.com/office/drawing/2014/main" id="{60ACBD0C-02C4-E54E-89D4-836EB2001204}"/>
              </a:ext>
            </a:extLst>
          </p:cNvPr>
          <p:cNvSpPr>
            <a:spLocks noGrp="1" noChangeArrowheads="1"/>
          </p:cNvSpPr>
          <p:nvPr>
            <p:ph type="body" idx="1"/>
          </p:nvPr>
        </p:nvSpPr>
        <p:spPr/>
        <p:txBody>
          <a:bodyPr/>
          <a:lstStyle/>
          <a:p>
            <a:pPr>
              <a:defRPr/>
            </a:pPr>
            <a:r>
              <a:rPr lang="en-US" altLang="en-US" dirty="0">
                <a:latin typeface="Calibri" pitchFamily="34" charset="0"/>
              </a:rPr>
              <a:t>G.	Assess vital signs.</a:t>
            </a:r>
          </a:p>
          <a:p>
            <a:pPr>
              <a:defRPr/>
            </a:pPr>
            <a:r>
              <a:rPr lang="en-US" altLang="en-US" dirty="0">
                <a:latin typeface="Calibri" pitchFamily="34" charset="0"/>
              </a:rPr>
              <a:t>	1.	Respiration</a:t>
            </a:r>
            <a:endParaRPr lang="en-US" altLang="en-US" b="1" dirty="0">
              <a:latin typeface="Calibri" pitchFamily="34" charset="0"/>
            </a:endParaRPr>
          </a:p>
          <a:p>
            <a:pPr>
              <a:defRPr/>
            </a:pPr>
            <a:r>
              <a:rPr lang="en-US" altLang="en-US" dirty="0">
                <a:latin typeface="Calibri" pitchFamily="34" charset="0"/>
              </a:rPr>
              <a:t>		a.	Respiratory rate indicates how fast patient is breathing. </a:t>
            </a:r>
          </a:p>
          <a:p>
            <a:pPr>
              <a:defRPr/>
            </a:pPr>
            <a:r>
              <a:rPr lang="en-US" altLang="en-US" dirty="0">
                <a:latin typeface="Calibri" pitchFamily="34" charset="0"/>
              </a:rPr>
              <a:t>		b.	Normal adult resting respiratory rate is 12 to 20 breaths per minute.</a:t>
            </a:r>
          </a:p>
          <a:p>
            <a:pPr>
              <a:defRPr/>
            </a:pPr>
            <a:r>
              <a:rPr lang="en-US" altLang="en-US" dirty="0">
                <a:latin typeface="Calibri" pitchFamily="34" charset="0"/>
              </a:rPr>
              <a:t>		c.	One cycle of inhaling (breathing in) and exhaling (breathing out) is counted as one breath (respiration).</a:t>
            </a:r>
          </a:p>
          <a:p>
            <a:pPr>
              <a:defRPr/>
            </a:pPr>
            <a:r>
              <a:rPr lang="en-US" altLang="en-US" dirty="0">
                <a:latin typeface="Calibri" pitchFamily="34" charset="0"/>
              </a:rPr>
              <a:t>		d.	Count patient’s breaths for 1 minute to determine respiratory rate.</a:t>
            </a:r>
          </a:p>
          <a:p>
            <a:pPr>
              <a:defRPr/>
            </a:pPr>
            <a:r>
              <a:rPr lang="en-US" altLang="en-US" dirty="0">
                <a:latin typeface="Calibri" pitchFamily="34" charset="0"/>
              </a:rPr>
              <a:t>		e.	Check breathing rate and quality.</a:t>
            </a:r>
          </a:p>
          <a:p>
            <a:pPr>
              <a:defRPr/>
            </a:pPr>
            <a:r>
              <a:rPr lang="en-US" altLang="en-US" dirty="0">
                <a:latin typeface="Calibri" pitchFamily="34" charset="0"/>
              </a:rPr>
              <a:t>			</a:t>
            </a:r>
            <a:r>
              <a:rPr lang="en-US" altLang="en-US" dirty="0" err="1">
                <a:latin typeface="Calibri" pitchFamily="34" charset="0"/>
              </a:rPr>
              <a:t>i</a:t>
            </a:r>
            <a:r>
              <a:rPr lang="en-US" altLang="en-US" dirty="0">
                <a:latin typeface="Calibri" pitchFamily="34" charset="0"/>
              </a:rPr>
              <a:t>.	Is it rapid and shallow or slow?</a:t>
            </a:r>
          </a:p>
          <a:p>
            <a:pPr>
              <a:defRPr/>
            </a:pPr>
            <a:r>
              <a:rPr lang="en-US" altLang="en-US" dirty="0">
                <a:latin typeface="Calibri" pitchFamily="34" charset="0"/>
              </a:rPr>
              <a:t>			ii.	Is it deep, wheezing, gasping, panting, snoring, noisy, or labored?</a:t>
            </a:r>
          </a:p>
          <a:p>
            <a:pPr>
              <a:defRPr/>
            </a:pPr>
            <a:r>
              <a:rPr lang="en-US" altLang="en-US" dirty="0">
                <a:latin typeface="Calibri" pitchFamily="34" charset="0"/>
              </a:rPr>
              <a:t>			iii.	If the patient is not breathing, respiration is described as “absent.”</a:t>
            </a:r>
          </a:p>
          <a:p>
            <a:pPr>
              <a:defRPr/>
            </a:pPr>
            <a:r>
              <a:rPr lang="en-US" altLang="en-US" dirty="0">
                <a:latin typeface="Calibri" pitchFamily="34" charset="0"/>
              </a:rPr>
              <a:t>	2.	Pulse</a:t>
            </a:r>
            <a:endParaRPr lang="en-US" altLang="en-US" b="1" dirty="0">
              <a:latin typeface="Calibri" pitchFamily="34" charset="0"/>
            </a:endParaRPr>
          </a:p>
          <a:p>
            <a:pPr>
              <a:defRPr/>
            </a:pPr>
            <a:r>
              <a:rPr lang="en-US" altLang="en-US" dirty="0">
                <a:latin typeface="Calibri" pitchFamily="34" charset="0"/>
              </a:rPr>
              <a:t>		a.	Pulse indicates speed and force of heartbeat.</a:t>
            </a:r>
          </a:p>
          <a:p>
            <a:pPr>
              <a:defRPr/>
            </a:pPr>
            <a:r>
              <a:rPr lang="en-US" altLang="en-US" dirty="0">
                <a:latin typeface="Calibri" pitchFamily="34" charset="0"/>
              </a:rPr>
              <a:t>		b.	A pulse can be felt anywhere on the body where an artery passes over a hard structure such as a bone.</a:t>
            </a:r>
          </a:p>
          <a:p>
            <a:pPr>
              <a:defRPr/>
            </a:pPr>
            <a:r>
              <a:rPr lang="en-US" altLang="en-US" dirty="0">
                <a:latin typeface="Calibri" pitchFamily="34" charset="0"/>
              </a:rPr>
              <a:t>		c.	Four most common pulse points:</a:t>
            </a:r>
          </a:p>
          <a:p>
            <a:pPr>
              <a:defRPr/>
            </a:pPr>
            <a:r>
              <a:rPr lang="en-US" altLang="en-US" dirty="0">
                <a:latin typeface="Calibri" pitchFamily="34" charset="0"/>
              </a:rPr>
              <a:t>			</a:t>
            </a:r>
            <a:r>
              <a:rPr lang="en-US" altLang="en-US" dirty="0" err="1">
                <a:latin typeface="Calibri" pitchFamily="34" charset="0"/>
              </a:rPr>
              <a:t>i</a:t>
            </a:r>
            <a:r>
              <a:rPr lang="en-US" altLang="en-US" dirty="0">
                <a:latin typeface="Calibri" pitchFamily="34" charset="0"/>
              </a:rPr>
              <a:t>.	Radial (wrist)</a:t>
            </a:r>
          </a:p>
          <a:p>
            <a:pPr>
              <a:defRPr/>
            </a:pPr>
            <a:r>
              <a:rPr lang="en-US" altLang="en-US" dirty="0">
                <a:latin typeface="Calibri" pitchFamily="34" charset="0"/>
              </a:rPr>
              <a:t>			ii.	Carotid (neck)</a:t>
            </a:r>
          </a:p>
          <a:p>
            <a:pPr>
              <a:defRPr/>
            </a:pPr>
            <a:r>
              <a:rPr lang="en-US" altLang="en-US" dirty="0">
                <a:latin typeface="Calibri" pitchFamily="34" charset="0"/>
              </a:rPr>
              <a:t>			iii.	Brachial (arm)</a:t>
            </a:r>
          </a:p>
          <a:p>
            <a:pPr>
              <a:defRPr/>
            </a:pPr>
            <a:r>
              <a:rPr lang="en-US" altLang="en-US" dirty="0">
                <a:latin typeface="Calibri" pitchFamily="34" charset="0"/>
              </a:rPr>
              <a:t>			iv.	Posterior </a:t>
            </a:r>
            <a:r>
              <a:rPr lang="en-US" altLang="en-US" dirty="0" err="1">
                <a:latin typeface="Calibri" pitchFamily="34" charset="0"/>
              </a:rPr>
              <a:t>tibial</a:t>
            </a:r>
            <a:r>
              <a:rPr lang="en-US" altLang="en-US" dirty="0">
                <a:latin typeface="Calibri" pitchFamily="34" charset="0"/>
              </a:rPr>
              <a:t> (ankle)</a:t>
            </a:r>
          </a:p>
          <a:p>
            <a:pPr>
              <a:defRPr/>
            </a:pPr>
            <a:r>
              <a:rPr lang="en-US" altLang="en-US" dirty="0">
                <a:latin typeface="Calibri" pitchFamily="34" charset="0"/>
              </a:rPr>
              <a:t>		d.	Take radial pulse of a conscious patient.</a:t>
            </a: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420392915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5E6F7DC3-CDB9-6C48-AE79-C6A014065D7A}"/>
              </a:ext>
            </a:extLst>
          </p:cNvPr>
          <p:cNvSpPr>
            <a:spLocks noGrp="1" noRot="1" noChangeAspect="1" noChangeArrowheads="1" noTextEdit="1"/>
          </p:cNvSpPr>
          <p:nvPr>
            <p:ph type="sldImg"/>
          </p:nvPr>
        </p:nvSpPr>
        <p:spPr>
          <a:ln/>
        </p:spPr>
      </p:sp>
      <p:sp>
        <p:nvSpPr>
          <p:cNvPr id="100355" name="Rectangle 3">
            <a:extLst>
              <a:ext uri="{FF2B5EF4-FFF2-40B4-BE49-F238E27FC236}">
                <a16:creationId xmlns:a16="http://schemas.microsoft.com/office/drawing/2014/main" id="{AA3A75EF-7C2B-4846-A0E0-66A9C6357895}"/>
              </a:ext>
            </a:extLst>
          </p:cNvPr>
          <p:cNvSpPr>
            <a:spLocks noGrp="1" noChangeArrowheads="1"/>
          </p:cNvSpPr>
          <p:nvPr>
            <p:ph type="body" idx="1"/>
          </p:nvPr>
        </p:nvSpPr>
        <p:spPr/>
        <p:txBody>
          <a:bodyPr/>
          <a:lstStyle/>
          <a:p>
            <a:pPr>
              <a:defRPr/>
            </a:pPr>
            <a:r>
              <a:rPr lang="en-US" altLang="en-US" dirty="0">
                <a:latin typeface="Calibri" pitchFamily="34" charset="0"/>
              </a:rPr>
              <a:t>		e.	Take carotid pulse of an unconscious patient.</a:t>
            </a:r>
          </a:p>
          <a:p>
            <a:pPr>
              <a:defRPr/>
            </a:pPr>
            <a:r>
              <a:rPr lang="en-US" altLang="en-US" dirty="0">
                <a:latin typeface="Calibri" pitchFamily="34" charset="0"/>
              </a:rPr>
              <a:t>		f.	When examining an infant, use brachial pulse. </a:t>
            </a:r>
          </a:p>
          <a:p>
            <a:pPr>
              <a:defRPr/>
            </a:pPr>
            <a:r>
              <a:rPr lang="en-US" altLang="en-US" dirty="0">
                <a:latin typeface="Calibri" pitchFamily="34" charset="0"/>
              </a:rPr>
              <a:t>		g.	To determine pulse rate (heartbeats per minute), find patient’s pulse with your fingers, count beats for 30 seconds, and multiply by 2.</a:t>
            </a:r>
          </a:p>
          <a:p>
            <a:pPr>
              <a:defRPr/>
            </a:pPr>
            <a:r>
              <a:rPr lang="en-US" altLang="en-US" dirty="0">
                <a:latin typeface="Calibri" pitchFamily="34" charset="0"/>
              </a:rPr>
              <a:t>			</a:t>
            </a:r>
            <a:r>
              <a:rPr lang="en-US" altLang="en-US" dirty="0" err="1">
                <a:latin typeface="Calibri" pitchFamily="34" charset="0"/>
              </a:rPr>
              <a:t>i</a:t>
            </a:r>
            <a:r>
              <a:rPr lang="en-US" altLang="en-US" dirty="0">
                <a:latin typeface="Calibri" pitchFamily="34" charset="0"/>
              </a:rPr>
              <a:t>.	In a normal adult, resting pulse rate is 60 to 100 beats per minute.</a:t>
            </a:r>
          </a:p>
          <a:p>
            <a:pPr>
              <a:defRPr/>
            </a:pPr>
            <a:r>
              <a:rPr lang="en-US" altLang="en-US" dirty="0">
                <a:latin typeface="Calibri" pitchFamily="34" charset="0"/>
              </a:rPr>
              <a:t>			ii.	In children, pulse rate is normally faster (70 to 150 beats per minute).</a:t>
            </a:r>
          </a:p>
          <a:p>
            <a:pPr>
              <a:defRPr/>
            </a:pPr>
            <a:r>
              <a:rPr lang="en-US" altLang="en-US" dirty="0">
                <a:latin typeface="Calibri" pitchFamily="34" charset="0"/>
              </a:rPr>
              <a:t>			iii.	Athletic adults could have a resting heartbeat of 40 to 60 beats per minute.</a:t>
            </a:r>
          </a:p>
          <a:p>
            <a:pPr>
              <a:defRPr/>
            </a:pPr>
            <a:r>
              <a:rPr lang="en-US" altLang="en-US" dirty="0">
                <a:latin typeface="Calibri" pitchFamily="34" charset="0"/>
              </a:rPr>
              <a:t>		h.	You should be able to determine rhythm and describe the quality of pulse. </a:t>
            </a:r>
          </a:p>
          <a:p>
            <a:pPr>
              <a:defRPr/>
            </a:pPr>
            <a:r>
              <a:rPr lang="en-US" altLang="en-US" dirty="0">
                <a:latin typeface="Calibri" pitchFamily="34" charset="0"/>
              </a:rPr>
              <a:t>			</a:t>
            </a:r>
            <a:r>
              <a:rPr lang="en-US" altLang="en-US" dirty="0" err="1">
                <a:latin typeface="Calibri" pitchFamily="34" charset="0"/>
              </a:rPr>
              <a:t>i</a:t>
            </a:r>
            <a:r>
              <a:rPr lang="en-US" altLang="en-US" dirty="0">
                <a:latin typeface="Calibri" pitchFamily="34" charset="0"/>
              </a:rPr>
              <a:t>.	Note whether the pulse is regular or irregular. </a:t>
            </a:r>
          </a:p>
          <a:p>
            <a:pPr>
              <a:defRPr/>
            </a:pPr>
            <a:r>
              <a:rPr lang="en-US" altLang="en-US" dirty="0">
                <a:latin typeface="Calibri" pitchFamily="34" charset="0"/>
              </a:rPr>
              <a:t>			ii.	A strong pulse is referred to as a bounding pulse. </a:t>
            </a:r>
          </a:p>
          <a:p>
            <a:pPr>
              <a:defRPr/>
            </a:pPr>
            <a:r>
              <a:rPr lang="en-US" altLang="en-US" dirty="0">
                <a:latin typeface="Calibri" pitchFamily="34" charset="0"/>
              </a:rPr>
              <a:t>			iii.	A weak pulse is called a </a:t>
            </a:r>
            <a:r>
              <a:rPr lang="en-US" altLang="en-US" dirty="0" err="1">
                <a:latin typeface="Calibri" pitchFamily="34" charset="0"/>
              </a:rPr>
              <a:t>thready</a:t>
            </a:r>
            <a:r>
              <a:rPr lang="en-US" altLang="en-US" dirty="0">
                <a:latin typeface="Calibri" pitchFamily="34" charset="0"/>
              </a:rPr>
              <a:t> pulse. </a:t>
            </a:r>
          </a:p>
          <a:p>
            <a:pPr>
              <a:defRPr/>
            </a:pPr>
            <a:r>
              <a:rPr lang="en-US" altLang="en-US" dirty="0">
                <a:latin typeface="Calibri" pitchFamily="34" charset="0"/>
              </a:rPr>
              <a:t>	3.	Capillary refill</a:t>
            </a:r>
            <a:endParaRPr lang="en-US" altLang="en-US" b="1" dirty="0">
              <a:latin typeface="Calibri" pitchFamily="34" charset="0"/>
            </a:endParaRPr>
          </a:p>
          <a:p>
            <a:pPr>
              <a:defRPr/>
            </a:pPr>
            <a:r>
              <a:rPr lang="en-US" altLang="en-US" dirty="0">
                <a:latin typeface="Calibri" pitchFamily="34" charset="0"/>
              </a:rPr>
              <a:t>		a.	Capillary refill is ability of the circulatory system to return blood to capillary vessels after blood has been squeezed out.</a:t>
            </a:r>
          </a:p>
          <a:p>
            <a:pPr>
              <a:defRPr/>
            </a:pPr>
            <a:r>
              <a:rPr lang="en-US" altLang="en-US" dirty="0">
                <a:latin typeface="Calibri" pitchFamily="34" charset="0"/>
              </a:rPr>
              <a:t>		b.	It is checked on patient’s fingernails or toenails. </a:t>
            </a: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61400580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8C13CCFC-098F-0A4B-ACCC-97B0D2883823}"/>
              </a:ext>
            </a:extLst>
          </p:cNvPr>
          <p:cNvSpPr>
            <a:spLocks noGrp="1" noRot="1" noChangeAspect="1" noChangeArrowheads="1" noTextEdit="1"/>
          </p:cNvSpPr>
          <p:nvPr>
            <p:ph type="sldImg"/>
          </p:nvPr>
        </p:nvSpPr>
        <p:spPr>
          <a:ln/>
        </p:spPr>
      </p:sp>
      <p:sp>
        <p:nvSpPr>
          <p:cNvPr id="101379" name="Rectangle 3">
            <a:extLst>
              <a:ext uri="{FF2B5EF4-FFF2-40B4-BE49-F238E27FC236}">
                <a16:creationId xmlns:a16="http://schemas.microsoft.com/office/drawing/2014/main" id="{6322F77A-E3A0-C140-81C4-126FB6B4C9B5}"/>
              </a:ext>
            </a:extLst>
          </p:cNvPr>
          <p:cNvSpPr>
            <a:spLocks noGrp="1" noChangeArrowheads="1"/>
          </p:cNvSpPr>
          <p:nvPr>
            <p:ph type="body" idx="1"/>
          </p:nvPr>
        </p:nvSpPr>
        <p:spPr/>
        <p:txBody>
          <a:bodyPr/>
          <a:lstStyle/>
          <a:p>
            <a:pPr>
              <a:defRPr/>
            </a:pPr>
            <a:r>
              <a:rPr lang="en-US" altLang="en-US" dirty="0">
                <a:latin typeface="Calibri" pitchFamily="34" charset="0"/>
              </a:rPr>
              <a:t>		c.	To perform this test</a:t>
            </a:r>
          </a:p>
          <a:p>
            <a:pPr>
              <a:defRPr/>
            </a:pPr>
            <a:r>
              <a:rPr lang="en-US" altLang="en-US" dirty="0">
                <a:latin typeface="Calibri" pitchFamily="34" charset="0"/>
              </a:rPr>
              <a:t>			</a:t>
            </a:r>
            <a:r>
              <a:rPr lang="en-US" altLang="en-US" dirty="0" err="1">
                <a:latin typeface="Calibri" pitchFamily="34" charset="0"/>
              </a:rPr>
              <a:t>i</a:t>
            </a:r>
            <a:r>
              <a:rPr lang="en-US" altLang="en-US" dirty="0">
                <a:latin typeface="Calibri" pitchFamily="34" charset="0"/>
              </a:rPr>
              <a:t>.	Squeeze patient’s nail bed firmly between your thumb and forefinger until nail bed looks pale. </a:t>
            </a:r>
          </a:p>
          <a:p>
            <a:pPr>
              <a:defRPr/>
            </a:pPr>
            <a:r>
              <a:rPr lang="en-US" altLang="en-US" dirty="0">
                <a:latin typeface="Calibri" pitchFamily="34" charset="0"/>
              </a:rPr>
              <a:t>			ii.	Release pressure and count 2 seconds. </a:t>
            </a:r>
          </a:p>
          <a:p>
            <a:pPr>
              <a:defRPr/>
            </a:pPr>
            <a:r>
              <a:rPr lang="en-US" altLang="en-US" dirty="0">
                <a:latin typeface="Calibri" pitchFamily="34" charset="0"/>
              </a:rPr>
              <a:t>			iii.	Patient’s nail bed should return to pink in this time, indicating a normal capillary refill.</a:t>
            </a:r>
          </a:p>
          <a:p>
            <a:pPr>
              <a:defRPr/>
            </a:pPr>
            <a:r>
              <a:rPr lang="en-US" altLang="en-US" dirty="0">
                <a:latin typeface="Calibri" pitchFamily="34" charset="0"/>
              </a:rPr>
              <a:t>		d.	Capillary refill will be delayed or entirely absent if:</a:t>
            </a:r>
          </a:p>
          <a:p>
            <a:pPr>
              <a:defRPr/>
            </a:pPr>
            <a:r>
              <a:rPr lang="en-US" altLang="en-US" dirty="0">
                <a:latin typeface="Calibri" pitchFamily="34" charset="0"/>
              </a:rPr>
              <a:t>			</a:t>
            </a:r>
            <a:r>
              <a:rPr lang="en-US" altLang="en-US" dirty="0" err="1">
                <a:latin typeface="Calibri" pitchFamily="34" charset="0"/>
              </a:rPr>
              <a:t>i</a:t>
            </a:r>
            <a:r>
              <a:rPr lang="en-US" altLang="en-US" dirty="0">
                <a:latin typeface="Calibri" pitchFamily="34" charset="0"/>
              </a:rPr>
              <a:t>.	Patient has lost a lot of blood and is in shock.</a:t>
            </a:r>
          </a:p>
          <a:p>
            <a:pPr>
              <a:defRPr/>
            </a:pPr>
            <a:r>
              <a:rPr lang="en-US" altLang="en-US" dirty="0">
                <a:latin typeface="Calibri" pitchFamily="34" charset="0"/>
              </a:rPr>
              <a:t>			ii.	Blood vessels supplying that limb have been damaged.</a:t>
            </a:r>
          </a:p>
          <a:p>
            <a:pPr>
              <a:defRPr/>
            </a:pPr>
            <a:r>
              <a:rPr lang="en-US" altLang="en-US" dirty="0">
                <a:latin typeface="Calibri" pitchFamily="34" charset="0"/>
              </a:rPr>
              <a:t>			iii.	You are in a cold environment.</a:t>
            </a: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215630241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8E4294F3-9E40-154F-99E1-227783707951}"/>
              </a:ext>
            </a:extLst>
          </p:cNvPr>
          <p:cNvSpPr>
            <a:spLocks noGrp="1" noRot="1" noChangeAspect="1" noChangeArrowheads="1" noTextEdit="1"/>
          </p:cNvSpPr>
          <p:nvPr>
            <p:ph type="sldImg"/>
          </p:nvPr>
        </p:nvSpPr>
        <p:spPr>
          <a:ln/>
        </p:spPr>
      </p:sp>
      <p:sp>
        <p:nvSpPr>
          <p:cNvPr id="102403" name="Rectangle 3">
            <a:extLst>
              <a:ext uri="{FF2B5EF4-FFF2-40B4-BE49-F238E27FC236}">
                <a16:creationId xmlns:a16="http://schemas.microsoft.com/office/drawing/2014/main" id="{53AABCEC-BFF9-FF44-BDB1-8E9FACDC67B9}"/>
              </a:ext>
            </a:extLst>
          </p:cNvPr>
          <p:cNvSpPr>
            <a:spLocks noGrp="1" noChangeArrowheads="1"/>
          </p:cNvSpPr>
          <p:nvPr>
            <p:ph type="body" idx="1"/>
          </p:nvPr>
        </p:nvSpPr>
        <p:spPr/>
        <p:txBody>
          <a:bodyPr/>
          <a:lstStyle/>
          <a:p>
            <a:pPr>
              <a:defRPr/>
            </a:pPr>
            <a:r>
              <a:rPr lang="en-US" altLang="en-US" dirty="0">
                <a:latin typeface="Calibri" pitchFamily="34" charset="0"/>
              </a:rPr>
              <a:t>	4.	Blood pressure (BP)</a:t>
            </a:r>
            <a:endParaRPr lang="en-US" altLang="en-US" b="1" dirty="0">
              <a:latin typeface="Calibri" pitchFamily="34" charset="0"/>
            </a:endParaRPr>
          </a:p>
          <a:p>
            <a:pPr>
              <a:defRPr/>
            </a:pPr>
            <a:r>
              <a:rPr lang="en-US" altLang="en-US" dirty="0">
                <a:latin typeface="Calibri" pitchFamily="34" charset="0"/>
              </a:rPr>
              <a:t>		a.	High blood pressure (hypertension) may indicate that patient is susceptible to a stroke.</a:t>
            </a:r>
            <a:endParaRPr lang="en-US" altLang="en-US" b="1" dirty="0">
              <a:latin typeface="Calibri" pitchFamily="34" charset="0"/>
            </a:endParaRPr>
          </a:p>
          <a:p>
            <a:pPr>
              <a:defRPr/>
            </a:pPr>
            <a:r>
              <a:rPr lang="en-US" altLang="en-US" dirty="0">
                <a:latin typeface="Calibri" pitchFamily="34" charset="0"/>
              </a:rPr>
              <a:t>		b.	Low blood pressure (hypotension) generally indicates presence of shock.</a:t>
            </a:r>
            <a:endParaRPr lang="en-US" altLang="en-US" b="1" dirty="0">
              <a:latin typeface="Calibri" pitchFamily="34" charset="0"/>
            </a:endParaRPr>
          </a:p>
          <a:p>
            <a:pPr>
              <a:defRPr/>
            </a:pPr>
            <a:r>
              <a:rPr lang="en-US" altLang="en-US" dirty="0">
                <a:latin typeface="Calibri" pitchFamily="34" charset="0"/>
              </a:rPr>
              <a:t>		c.	BP measurement consists of a reading of two numbers, which represent pressures found in arteries as heart contracts and relaxes.</a:t>
            </a:r>
            <a:endParaRPr lang="en-US" altLang="en-US" b="1" dirty="0">
              <a:latin typeface="Calibri" pitchFamily="34" charset="0"/>
            </a:endParaRPr>
          </a:p>
          <a:p>
            <a:pPr>
              <a:defRPr/>
            </a:pPr>
            <a:r>
              <a:rPr lang="en-US" altLang="en-US" dirty="0">
                <a:latin typeface="Calibri" pitchFamily="34" charset="0"/>
              </a:rPr>
              <a:t>			</a:t>
            </a:r>
            <a:r>
              <a:rPr lang="en-US" altLang="en-US" dirty="0" err="1">
                <a:latin typeface="Calibri" pitchFamily="34" charset="0"/>
              </a:rPr>
              <a:t>i</a:t>
            </a:r>
            <a:r>
              <a:rPr lang="en-US" altLang="en-US" dirty="0">
                <a:latin typeface="Calibri" pitchFamily="34" charset="0"/>
              </a:rPr>
              <a:t>.	High number (systolic pressure) is the force exerted on walls of the arteries as heart contracts.</a:t>
            </a:r>
            <a:endParaRPr lang="en-US" altLang="en-US" b="1" dirty="0">
              <a:latin typeface="Calibri" pitchFamily="34" charset="0"/>
            </a:endParaRPr>
          </a:p>
          <a:p>
            <a:pPr>
              <a:defRPr/>
            </a:pPr>
            <a:r>
              <a:rPr lang="en-US" altLang="en-US" dirty="0">
                <a:latin typeface="Calibri" pitchFamily="34" charset="0"/>
              </a:rPr>
              <a:t>			ii.	Lower number (diastolic pressure) is arterial pressure during the relaxation phase of heart.</a:t>
            </a:r>
            <a:endParaRPr lang="en-US" altLang="en-US" b="1" dirty="0">
              <a:latin typeface="Calibri" pitchFamily="34" charset="0"/>
            </a:endParaRPr>
          </a:p>
          <a:p>
            <a:pPr>
              <a:defRPr/>
            </a:pPr>
            <a:r>
              <a:rPr lang="en-US" altLang="en-US" dirty="0">
                <a:latin typeface="Calibri" pitchFamily="34" charset="0"/>
              </a:rPr>
              <a:t>		d.	Normal blood pressure</a:t>
            </a:r>
            <a:endParaRPr lang="en-US" altLang="en-US" b="1" dirty="0">
              <a:latin typeface="Calibri" pitchFamily="34" charset="0"/>
            </a:endParaRPr>
          </a:p>
          <a:p>
            <a:pPr>
              <a:defRPr/>
            </a:pPr>
            <a:r>
              <a:rPr lang="en-US" altLang="en-US" dirty="0">
                <a:latin typeface="Calibri" pitchFamily="34" charset="0"/>
              </a:rPr>
              <a:t>			</a:t>
            </a:r>
            <a:r>
              <a:rPr lang="en-US" altLang="en-US" dirty="0" err="1">
                <a:latin typeface="Calibri" pitchFamily="34" charset="0"/>
              </a:rPr>
              <a:t>i</a:t>
            </a:r>
            <a:r>
              <a:rPr lang="en-US" altLang="en-US" dirty="0">
                <a:latin typeface="Calibri" pitchFamily="34" charset="0"/>
              </a:rPr>
              <a:t>.	Hypertension exists when BP remains greater than 130/90 mm Hg after repeated examinations over several weeks.</a:t>
            </a:r>
            <a:endParaRPr lang="en-US" altLang="en-US" b="1" dirty="0">
              <a:latin typeface="Calibri" pitchFamily="34" charset="0"/>
            </a:endParaRPr>
          </a:p>
          <a:p>
            <a:pPr>
              <a:defRPr/>
            </a:pPr>
            <a:r>
              <a:rPr lang="en-US" altLang="en-US" dirty="0">
                <a:latin typeface="Calibri" pitchFamily="34" charset="0"/>
              </a:rPr>
              <a:t>			ii.	Hypotension exists when systolic pressure falls to 90 mm Hg or less.</a:t>
            </a:r>
            <a:endParaRPr lang="en-US" altLang="en-US" b="1" dirty="0">
              <a:latin typeface="Calibri" pitchFamily="34" charset="0"/>
            </a:endParaRPr>
          </a:p>
          <a:p>
            <a:pPr>
              <a:defRPr/>
            </a:pPr>
            <a:r>
              <a:rPr lang="en-US" altLang="en-US" dirty="0">
                <a:latin typeface="Calibri" pitchFamily="34" charset="0"/>
              </a:rPr>
              <a:t>		e.	Checking BP by palpation.</a:t>
            </a:r>
            <a:endParaRPr lang="en-US" altLang="en-US" b="1" dirty="0">
              <a:latin typeface="Calibri" pitchFamily="34" charset="0"/>
            </a:endParaRPr>
          </a:p>
          <a:p>
            <a:pPr>
              <a:defRPr/>
            </a:pPr>
            <a:r>
              <a:rPr lang="en-US" altLang="en-US" dirty="0">
                <a:latin typeface="Calibri" pitchFamily="34" charset="0"/>
              </a:rPr>
              <a:t>			</a:t>
            </a:r>
            <a:r>
              <a:rPr lang="en-US" altLang="en-US" dirty="0" err="1">
                <a:latin typeface="Calibri" pitchFamily="34" charset="0"/>
              </a:rPr>
              <a:t>i</a:t>
            </a:r>
            <a:r>
              <a:rPr lang="en-US" altLang="en-US" dirty="0">
                <a:latin typeface="Calibri" pitchFamily="34" charset="0"/>
              </a:rPr>
              <a:t>.	Apply BP cuff to uninjured arm.</a:t>
            </a:r>
            <a:endParaRPr lang="en-US" altLang="en-US" b="1" dirty="0">
              <a:latin typeface="Calibri" pitchFamily="34" charset="0"/>
            </a:endParaRPr>
          </a:p>
          <a:p>
            <a:pPr>
              <a:defRPr/>
            </a:pPr>
            <a:r>
              <a:rPr lang="en-US" altLang="en-US" dirty="0">
                <a:latin typeface="Calibri" pitchFamily="34" charset="0"/>
              </a:rPr>
              <a:t>			ii.	Wrap cuff around upper arm.</a:t>
            </a:r>
            <a:endParaRPr lang="en-US" altLang="en-US" b="1" dirty="0">
              <a:latin typeface="Calibri" pitchFamily="34" charset="0"/>
            </a:endParaRPr>
          </a:p>
          <a:p>
            <a:pPr>
              <a:defRPr/>
            </a:pPr>
            <a:r>
              <a:rPr lang="en-US" altLang="en-US" dirty="0">
                <a:latin typeface="Calibri" pitchFamily="34" charset="0"/>
              </a:rPr>
              <a:t>			iii.	Bottom of cuff should be 1" to 2" above crease of elbow.</a:t>
            </a:r>
            <a:endParaRPr lang="en-US" altLang="en-US" b="1" dirty="0">
              <a:latin typeface="Calibri" pitchFamily="34" charset="0"/>
            </a:endParaRPr>
          </a:p>
          <a:p>
            <a:pPr>
              <a:defRPr/>
            </a:pPr>
            <a:r>
              <a:rPr lang="en-US" altLang="en-US" dirty="0">
                <a:latin typeface="Calibri" pitchFamily="34" charset="0"/>
              </a:rPr>
              <a:t>			iv.	Be sure to use appropriate size cuff for patient, such as a narrow cuff for a child and an extra-large cuff for an obese adult.</a:t>
            </a:r>
            <a:endParaRPr lang="en-US" altLang="en-US" b="1" dirty="0">
              <a:latin typeface="Calibri" pitchFamily="34" charset="0"/>
            </a:endParaRPr>
          </a:p>
          <a:p>
            <a:pPr>
              <a:defRPr/>
            </a:pPr>
            <a:r>
              <a:rPr lang="en-US" altLang="en-US" dirty="0">
                <a:latin typeface="Calibri" pitchFamily="34" charset="0"/>
              </a:rPr>
              <a:t>			v.	Turn control knob on BP inflator bulb clockwise to close valve.</a:t>
            </a:r>
            <a:endParaRPr lang="en-US" altLang="en-US" b="1" dirty="0">
              <a:latin typeface="Calibri" pitchFamily="34" charset="0"/>
            </a:endParaRPr>
          </a:p>
          <a:p>
            <a:pPr>
              <a:defRPr/>
            </a:pPr>
            <a:r>
              <a:rPr lang="en-US" altLang="en-US" dirty="0">
                <a:latin typeface="Calibri" pitchFamily="34" charset="0"/>
              </a:rPr>
              <a:t>			vi.	With fingers of your other hand, locate radial pulse at patient’s wrist.</a:t>
            </a:r>
            <a:endParaRPr lang="en-US" altLang="en-US" b="1" dirty="0">
              <a:latin typeface="Calibri" pitchFamily="34" charset="0"/>
            </a:endParaRPr>
          </a:p>
          <a:p>
            <a:pPr>
              <a:defRPr/>
            </a:pPr>
            <a:r>
              <a:rPr lang="en-US" altLang="en-US" dirty="0">
                <a:latin typeface="Calibri" pitchFamily="34" charset="0"/>
              </a:rPr>
              <a:t>			vii.	Slowly pump up BP cuff until you can no longer feel radial pulse.</a:t>
            </a:r>
            <a:endParaRPr lang="en-US" altLang="en-US" b="1" dirty="0">
              <a:latin typeface="Calibri" pitchFamily="34" charset="0"/>
            </a:endParaRPr>
          </a:p>
          <a:p>
            <a:pPr>
              <a:defRPr/>
            </a:pPr>
            <a:r>
              <a:rPr lang="en-US" altLang="en-US" dirty="0">
                <a:latin typeface="Calibri" pitchFamily="34" charset="0"/>
              </a:rPr>
              <a:t>			viii.	Continue to pump up cuff for another 30 mm and then slowly release pressure in the cuff.</a:t>
            </a:r>
            <a:endParaRPr lang="en-US" altLang="en-US" b="1" dirty="0">
              <a:latin typeface="Calibri" pitchFamily="34" charset="0"/>
            </a:endParaRPr>
          </a:p>
          <a:p>
            <a:pPr>
              <a:defRPr/>
            </a:pPr>
            <a:r>
              <a:rPr lang="en-US" altLang="en-US" dirty="0">
                <a:latin typeface="Calibri" pitchFamily="34" charset="0"/>
              </a:rPr>
              <a:t>			ix.	When you first feel pulse return, note needle on dial—this is systolic pressure.</a:t>
            </a:r>
            <a:endParaRPr lang="en-US" altLang="en-US" b="1" dirty="0">
              <a:latin typeface="Calibri" pitchFamily="34" charset="0"/>
            </a:endParaRPr>
          </a:p>
          <a:p>
            <a:pPr>
              <a:defRPr/>
            </a:pPr>
            <a:r>
              <a:rPr lang="en-US" altLang="en-US" dirty="0">
                <a:latin typeface="Calibri" pitchFamily="34" charset="0"/>
              </a:rPr>
              <a:t>			x.	Palpation method does not give you a diastolic pressure.</a:t>
            </a:r>
            <a:endParaRPr lang="en-US" altLang="en-US" b="1" dirty="0">
              <a:latin typeface="Calibri" pitchFamily="34" charset="0"/>
            </a:endParaRPr>
          </a:p>
          <a:p>
            <a:pPr>
              <a:defRPr/>
            </a:pPr>
            <a:r>
              <a:rPr lang="en-US" altLang="en-US" dirty="0">
                <a:latin typeface="Calibri" pitchFamily="34" charset="0"/>
              </a:rPr>
              <a:t>		f.	Checking BP by auscultation</a:t>
            </a:r>
            <a:endParaRPr lang="en-US" altLang="en-US" b="1" dirty="0">
              <a:latin typeface="Calibri" pitchFamily="34" charset="0"/>
            </a:endParaRPr>
          </a:p>
          <a:p>
            <a:pPr>
              <a:defRPr/>
            </a:pPr>
            <a:r>
              <a:rPr lang="en-US" altLang="en-US" dirty="0">
                <a:latin typeface="Calibri" pitchFamily="34" charset="0"/>
              </a:rPr>
              <a:t>			</a:t>
            </a:r>
            <a:r>
              <a:rPr lang="en-US" altLang="en-US" dirty="0" err="1">
                <a:latin typeface="Calibri" pitchFamily="34" charset="0"/>
              </a:rPr>
              <a:t>i</a:t>
            </a:r>
            <a:r>
              <a:rPr lang="en-US" altLang="en-US" dirty="0">
                <a:latin typeface="Calibri" pitchFamily="34" charset="0"/>
              </a:rPr>
              <a:t>.	Apply BP cuff in same manner and position as in palpation method.</a:t>
            </a:r>
            <a:endParaRPr lang="en-US" altLang="en-US" b="1" dirty="0">
              <a:latin typeface="Calibri" pitchFamily="34" charset="0"/>
            </a:endParaRPr>
          </a:p>
          <a:p>
            <a:pPr>
              <a:defRPr/>
            </a:pPr>
            <a:r>
              <a:rPr lang="en-US" altLang="en-US" dirty="0">
                <a:latin typeface="Calibri" pitchFamily="34" charset="0"/>
              </a:rPr>
              <a:t>			ii.	After you apply cuff, locate brachial artery pulse on medial side of arm at the crease of elbow.</a:t>
            </a:r>
            <a:endParaRPr lang="en-US" altLang="en-US" b="1" dirty="0">
              <a:latin typeface="Calibri" pitchFamily="34" charset="0"/>
            </a:endParaRPr>
          </a:p>
          <a:p>
            <a:pPr>
              <a:defRPr/>
            </a:pPr>
            <a:r>
              <a:rPr lang="en-US" altLang="en-US" dirty="0">
                <a:latin typeface="Calibri" pitchFamily="34" charset="0"/>
              </a:rPr>
              <a:t>			iii.	Put earpieces of stethoscope in your ears and place diaphragm of stethoscope over the site of brachial pulse.</a:t>
            </a:r>
            <a:endParaRPr lang="en-US" altLang="en-US" b="1" dirty="0">
              <a:latin typeface="Calibri" pitchFamily="34" charset="0"/>
            </a:endParaRPr>
          </a:p>
          <a:p>
            <a:pPr>
              <a:defRPr/>
            </a:pPr>
            <a:r>
              <a:rPr lang="en-US" altLang="en-US" dirty="0">
                <a:latin typeface="Calibri" pitchFamily="34" charset="0"/>
              </a:rPr>
              <a:t>			iv.	When you can no longer hear sound of brachial pulse, note pressure on dial.</a:t>
            </a:r>
            <a:endParaRPr lang="en-US" altLang="en-US" b="1" dirty="0">
              <a:latin typeface="Calibri" pitchFamily="34" charset="0"/>
            </a:endParaRPr>
          </a:p>
          <a:p>
            <a:pPr>
              <a:defRPr/>
            </a:pPr>
            <a:r>
              <a:rPr lang="en-US" altLang="en-US" dirty="0">
                <a:latin typeface="Calibri" pitchFamily="34" charset="0"/>
              </a:rPr>
              <a:t>			v.	Continue to inflate cuff for another 30 mm, and then slowly and smoothly release air from cuff.</a:t>
            </a:r>
            <a:endParaRPr lang="en-US" altLang="en-US" b="1" dirty="0">
              <a:latin typeface="Calibri" pitchFamily="34" charset="0"/>
            </a:endParaRPr>
          </a:p>
          <a:p>
            <a:pPr>
              <a:defRPr/>
            </a:pPr>
            <a:r>
              <a:rPr lang="en-US" altLang="en-US" dirty="0">
                <a:latin typeface="Calibri" pitchFamily="34" charset="0"/>
              </a:rPr>
              <a:t>			vi.	Carefully watch the indicator needle and listen for the pulse to return—this is the systolic pressure.</a:t>
            </a:r>
            <a:endParaRPr lang="en-US" altLang="en-US" b="1" dirty="0">
              <a:latin typeface="Calibri" pitchFamily="34" charset="0"/>
            </a:endParaRPr>
          </a:p>
          <a:p>
            <a:pPr>
              <a:defRPr/>
            </a:pPr>
            <a:r>
              <a:rPr lang="en-US" altLang="en-US" dirty="0">
                <a:latin typeface="Calibri" pitchFamily="34" charset="0"/>
              </a:rPr>
              <a:t>			vii.	As cuff pressure continues to fall, listen for moment when pulse disappears—this is diastolic pressure.</a:t>
            </a:r>
            <a:endParaRPr lang="en-US" altLang="en-US" b="1" dirty="0">
              <a:latin typeface="Calibri" pitchFamily="34" charset="0"/>
            </a:endParaRPr>
          </a:p>
          <a:p>
            <a:pPr>
              <a:defRPr/>
            </a:pPr>
            <a:r>
              <a:rPr lang="en-US" altLang="en-US" dirty="0">
                <a:latin typeface="Calibri" pitchFamily="34" charset="0"/>
              </a:rPr>
              <a:t>			viii.	BP taken by auscultation is reported as systolic pressure over diastolic pressure and is always given in even numbers.</a:t>
            </a:r>
            <a:endParaRPr lang="en-US" altLang="en-US" b="1" dirty="0">
              <a:latin typeface="Calibri" pitchFamily="34" charset="0"/>
            </a:endParaRP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194629959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71DED291-C784-034E-A1F8-C774350642D2}"/>
              </a:ext>
            </a:extLst>
          </p:cNvPr>
          <p:cNvSpPr>
            <a:spLocks noGrp="1" noRot="1" noChangeAspect="1" noChangeArrowheads="1" noTextEdit="1"/>
          </p:cNvSpPr>
          <p:nvPr>
            <p:ph type="sldImg"/>
          </p:nvPr>
        </p:nvSpPr>
        <p:spPr>
          <a:ln/>
        </p:spPr>
      </p:sp>
      <p:sp>
        <p:nvSpPr>
          <p:cNvPr id="103427" name="Rectangle 3">
            <a:extLst>
              <a:ext uri="{FF2B5EF4-FFF2-40B4-BE49-F238E27FC236}">
                <a16:creationId xmlns:a16="http://schemas.microsoft.com/office/drawing/2014/main" id="{F28E69E6-EBB1-5E43-A87E-5BE5251E41D5}"/>
              </a:ext>
            </a:extLst>
          </p:cNvPr>
          <p:cNvSpPr>
            <a:spLocks noGrp="1" noChangeArrowheads="1"/>
          </p:cNvSpPr>
          <p:nvPr>
            <p:ph type="body" idx="1"/>
          </p:nvPr>
        </p:nvSpPr>
        <p:spPr/>
        <p:txBody>
          <a:bodyPr/>
          <a:lstStyle/>
          <a:p>
            <a:pPr>
              <a:defRPr/>
            </a:pPr>
            <a:r>
              <a:rPr lang="en-US" altLang="en-US" dirty="0">
                <a:latin typeface="Calibri" pitchFamily="34" charset="0"/>
              </a:rPr>
              <a:t>	5.	Skin condition</a:t>
            </a:r>
            <a:endParaRPr lang="en-US" altLang="en-US" b="1" dirty="0">
              <a:latin typeface="Calibri" pitchFamily="34" charset="0"/>
            </a:endParaRPr>
          </a:p>
          <a:p>
            <a:pPr>
              <a:defRPr/>
            </a:pPr>
            <a:r>
              <a:rPr lang="en-US" altLang="en-US" dirty="0">
                <a:latin typeface="Calibri" pitchFamily="34" charset="0"/>
              </a:rPr>
              <a:t>		a.	Check for color, temperature, and moisture.</a:t>
            </a:r>
          </a:p>
          <a:p>
            <a:pPr>
              <a:defRPr/>
            </a:pPr>
            <a:r>
              <a:rPr lang="en-US" altLang="en-US" dirty="0">
                <a:latin typeface="Calibri" pitchFamily="34" charset="0"/>
              </a:rPr>
              <a:t>		b.	Normal body temperature is about 98.6</a:t>
            </a:r>
            <a:r>
              <a:rPr lang="en-US" altLang="en-US" b="1" dirty="0">
                <a:solidFill>
                  <a:srgbClr val="FF0000"/>
                </a:solidFill>
                <a:latin typeface="Calibri" pitchFamily="34" charset="0"/>
                <a:cs typeface="Arial" pitchFamily="34" charset="0"/>
                <a:sym typeface="Symbol" pitchFamily="18" charset="2"/>
              </a:rPr>
              <a:t></a:t>
            </a:r>
            <a:r>
              <a:rPr lang="en-US" altLang="en-US" dirty="0">
                <a:latin typeface="Calibri" pitchFamily="34" charset="0"/>
              </a:rPr>
              <a:t>F (37</a:t>
            </a:r>
            <a:r>
              <a:rPr lang="en-US" altLang="en-US" b="1" dirty="0">
                <a:solidFill>
                  <a:srgbClr val="FF0000"/>
                </a:solidFill>
                <a:latin typeface="Calibri" pitchFamily="34" charset="0"/>
                <a:cs typeface="Arial" pitchFamily="34" charset="0"/>
                <a:sym typeface="Symbol" pitchFamily="18" charset="2"/>
              </a:rPr>
              <a:t></a:t>
            </a:r>
            <a:r>
              <a:rPr lang="en-US" altLang="en-US" dirty="0">
                <a:latin typeface="Calibri" pitchFamily="34" charset="0"/>
              </a:rPr>
              <a:t>C).</a:t>
            </a:r>
          </a:p>
          <a:p>
            <a:pPr>
              <a:defRPr/>
            </a:pPr>
            <a:r>
              <a:rPr lang="en-US" altLang="en-US" dirty="0">
                <a:latin typeface="Calibri" pitchFamily="34" charset="0"/>
              </a:rPr>
              <a:t>			</a:t>
            </a:r>
            <a:r>
              <a:rPr lang="en-US" altLang="en-US" dirty="0" err="1">
                <a:latin typeface="Calibri" pitchFamily="34" charset="0"/>
              </a:rPr>
              <a:t>i</a:t>
            </a:r>
            <a:r>
              <a:rPr lang="en-US" altLang="en-US" dirty="0">
                <a:latin typeface="Calibri" pitchFamily="34" charset="0"/>
              </a:rPr>
              <a:t>.	You can estimate a patient’s body temperature by placing back of your hand on patient’s forehead.</a:t>
            </a:r>
          </a:p>
          <a:p>
            <a:pPr>
              <a:defRPr/>
            </a:pPr>
            <a:r>
              <a:rPr lang="en-US" altLang="en-US" dirty="0">
                <a:latin typeface="Calibri" pitchFamily="34" charset="0"/>
              </a:rPr>
              <a:t>		c.	Some illnesses can cause the skin to become excessively moist or excessively dry.</a:t>
            </a:r>
          </a:p>
          <a:p>
            <a:pPr>
              <a:defRPr/>
            </a:pPr>
            <a:r>
              <a:rPr lang="en-US" altLang="en-US" dirty="0">
                <a:latin typeface="Calibri" pitchFamily="34" charset="0"/>
              </a:rPr>
              <a:t>		d.	Possible descriptions of patient’s skin:</a:t>
            </a:r>
          </a:p>
          <a:p>
            <a:pPr>
              <a:defRPr/>
            </a:pPr>
            <a:r>
              <a:rPr lang="en-US" altLang="en-US" dirty="0">
                <a:latin typeface="Calibri" pitchFamily="34" charset="0"/>
              </a:rPr>
              <a:t>			</a:t>
            </a:r>
            <a:r>
              <a:rPr lang="en-US" altLang="en-US" dirty="0" err="1">
                <a:latin typeface="Calibri" pitchFamily="34" charset="0"/>
              </a:rPr>
              <a:t>i</a:t>
            </a:r>
            <a:r>
              <a:rPr lang="en-US" altLang="en-US" dirty="0">
                <a:latin typeface="Calibri" pitchFamily="34" charset="0"/>
              </a:rPr>
              <a:t>.	Hot and dry</a:t>
            </a:r>
          </a:p>
          <a:p>
            <a:pPr>
              <a:defRPr/>
            </a:pPr>
            <a:r>
              <a:rPr lang="en-US" altLang="en-US" dirty="0">
                <a:latin typeface="Calibri" pitchFamily="34" charset="0"/>
              </a:rPr>
              <a:t>			ii.	Hot and moist</a:t>
            </a:r>
          </a:p>
          <a:p>
            <a:pPr>
              <a:defRPr/>
            </a:pPr>
            <a:r>
              <a:rPr lang="en-US" altLang="en-US" dirty="0">
                <a:latin typeface="Calibri" pitchFamily="34" charset="0"/>
              </a:rPr>
              <a:t>			iii.	Cold and dry</a:t>
            </a:r>
          </a:p>
          <a:p>
            <a:pPr>
              <a:defRPr/>
            </a:pPr>
            <a:r>
              <a:rPr lang="en-US" altLang="en-US" dirty="0">
                <a:latin typeface="Calibri" pitchFamily="34" charset="0"/>
              </a:rPr>
              <a:t>			iv.	Cold and moist </a:t>
            </a:r>
          </a:p>
          <a:p>
            <a:pPr>
              <a:defRPr/>
            </a:pPr>
            <a:r>
              <a:rPr lang="en-US" altLang="en-US" dirty="0">
                <a:latin typeface="Calibri" pitchFamily="34" charset="0"/>
              </a:rPr>
              <a:t>		e.	Normal skin conditions are described as warm, pink, and dry.</a:t>
            </a:r>
          </a:p>
          <a:p>
            <a:pPr>
              <a:defRPr/>
            </a:pPr>
            <a:r>
              <a:rPr lang="en-US" altLang="en-US" dirty="0">
                <a:latin typeface="Calibri" pitchFamily="34" charset="0"/>
              </a:rPr>
              <a:t>	6.	Pupil size and reactivity</a:t>
            </a:r>
            <a:endParaRPr lang="en-US" altLang="en-US" b="1" dirty="0">
              <a:latin typeface="Calibri" pitchFamily="34" charset="0"/>
            </a:endParaRPr>
          </a:p>
          <a:p>
            <a:pPr>
              <a:defRPr/>
            </a:pPr>
            <a:r>
              <a:rPr lang="en-US" altLang="en-US" dirty="0">
                <a:latin typeface="Calibri" pitchFamily="34" charset="0"/>
              </a:rPr>
              <a:t>		a.	It is important to examine each eye to detect signs of head injury, stroke, or drug overdose.</a:t>
            </a:r>
          </a:p>
        </p:txBody>
      </p:sp>
    </p:spTree>
    <p:extLst>
      <p:ext uri="{BB962C8B-B14F-4D97-AF65-F5344CB8AC3E}">
        <p14:creationId xmlns:p14="http://schemas.microsoft.com/office/powerpoint/2010/main" val="170655496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65D396F6-D2B6-6243-B65E-1ACFCA37EB14}"/>
              </a:ext>
            </a:extLst>
          </p:cNvPr>
          <p:cNvSpPr>
            <a:spLocks noGrp="1" noRot="1" noChangeAspect="1" noChangeArrowheads="1" noTextEdit="1"/>
          </p:cNvSpPr>
          <p:nvPr>
            <p:ph type="sldImg"/>
          </p:nvPr>
        </p:nvSpPr>
        <p:spPr>
          <a:ln/>
        </p:spPr>
      </p:sp>
      <p:sp>
        <p:nvSpPr>
          <p:cNvPr id="104451" name="Rectangle 3">
            <a:extLst>
              <a:ext uri="{FF2B5EF4-FFF2-40B4-BE49-F238E27FC236}">
                <a16:creationId xmlns:a16="http://schemas.microsoft.com/office/drawing/2014/main" id="{7E7381DC-F3A2-0148-B189-7F36F3418AB8}"/>
              </a:ext>
            </a:extLst>
          </p:cNvPr>
          <p:cNvSpPr>
            <a:spLocks noGrp="1" noChangeArrowheads="1"/>
          </p:cNvSpPr>
          <p:nvPr>
            <p:ph type="body" idx="1"/>
          </p:nvPr>
        </p:nvSpPr>
        <p:spPr/>
        <p:txBody>
          <a:bodyPr/>
          <a:lstStyle/>
          <a:p>
            <a:pPr eaLnBrk="1" hangingPunct="1">
              <a:defRPr/>
            </a:pPr>
            <a:r>
              <a:rPr lang="en-US" dirty="0">
                <a:ea typeface="ＭＳ Ｐゴシック" charset="0"/>
              </a:rPr>
              <a:t>		b.	Determine whether the pupils are of equal size and whether both react (contract) when light is shone into them.</a:t>
            </a:r>
          </a:p>
          <a:p>
            <a:pPr eaLnBrk="1" hangingPunct="1">
              <a:defRPr/>
            </a:pPr>
            <a:endParaRPr lang="en-US" dirty="0">
              <a:ea typeface="ＭＳ Ｐゴシック" charset="0"/>
            </a:endParaRPr>
          </a:p>
          <a:p>
            <a:pPr>
              <a:defRPr/>
            </a:pPr>
            <a:r>
              <a:rPr lang="en-US" dirty="0">
                <a:ea typeface="ＭＳ Ｐゴシック" charset="0"/>
              </a:rPr>
              <a:t>Figure: Normal pupils </a:t>
            </a:r>
            <a:r>
              <a:rPr lang="en-US" b="1" dirty="0">
                <a:ea typeface="ＭＳ Ｐゴシック" charset="0"/>
              </a:rPr>
              <a:t>(Left)</a:t>
            </a:r>
            <a:r>
              <a:rPr lang="en-US" dirty="0">
                <a:ea typeface="ＭＳ Ｐゴシック" charset="0"/>
              </a:rPr>
              <a:t>, dilated pupils </a:t>
            </a:r>
            <a:r>
              <a:rPr lang="en-US" b="1" dirty="0">
                <a:ea typeface="ＭＳ Ｐゴシック" charset="0"/>
              </a:rPr>
              <a:t>(Center)</a:t>
            </a:r>
            <a:r>
              <a:rPr lang="en-US" dirty="0">
                <a:ea typeface="ＭＳ Ｐゴシック" charset="0"/>
              </a:rPr>
              <a:t>, and constricted pupils </a:t>
            </a:r>
            <a:r>
              <a:rPr lang="en-US" b="1" dirty="0">
                <a:ea typeface="ＭＳ Ｐゴシック" charset="0"/>
              </a:rPr>
              <a:t>(Right)</a:t>
            </a:r>
          </a:p>
          <a:p>
            <a:pPr>
              <a:defRPr/>
            </a:pPr>
            <a:r>
              <a:rPr lang="en-US" dirty="0">
                <a:ea typeface="ＭＳ Ｐゴシック" charset="0"/>
              </a:rPr>
              <a:t>.</a:t>
            </a:r>
          </a:p>
        </p:txBody>
      </p:sp>
    </p:spTree>
    <p:extLst>
      <p:ext uri="{BB962C8B-B14F-4D97-AF65-F5344CB8AC3E}">
        <p14:creationId xmlns:p14="http://schemas.microsoft.com/office/powerpoint/2010/main" val="207710156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8B211971-08D7-3942-9F90-7E7DD108B447}"/>
              </a:ext>
            </a:extLst>
          </p:cNvPr>
          <p:cNvSpPr>
            <a:spLocks noGrp="1" noRot="1" noChangeAspect="1" noChangeArrowheads="1" noTextEdit="1"/>
          </p:cNvSpPr>
          <p:nvPr>
            <p:ph type="sldImg"/>
          </p:nvPr>
        </p:nvSpPr>
        <p:spPr>
          <a:ln/>
        </p:spPr>
      </p:sp>
      <p:sp>
        <p:nvSpPr>
          <p:cNvPr id="105475" name="Rectangle 3">
            <a:extLst>
              <a:ext uri="{FF2B5EF4-FFF2-40B4-BE49-F238E27FC236}">
                <a16:creationId xmlns:a16="http://schemas.microsoft.com/office/drawing/2014/main" id="{66FA22C8-676B-0043-BAFA-3FAC05EE8A5B}"/>
              </a:ext>
            </a:extLst>
          </p:cNvPr>
          <p:cNvSpPr>
            <a:spLocks noGrp="1" noChangeArrowheads="1"/>
          </p:cNvSpPr>
          <p:nvPr>
            <p:ph type="body" idx="1"/>
          </p:nvPr>
        </p:nvSpPr>
        <p:spPr/>
        <p:txBody>
          <a:bodyPr/>
          <a:lstStyle/>
          <a:p>
            <a:pPr>
              <a:defRPr/>
            </a:pPr>
            <a:r>
              <a:rPr lang="en-US" dirty="0">
                <a:ea typeface="ＭＳ Ｐゴシック" charset="0"/>
              </a:rPr>
              <a:t>		c.	Abnormal findings:</a:t>
            </a:r>
          </a:p>
          <a:p>
            <a:pPr>
              <a:defRPr/>
            </a:pPr>
            <a:r>
              <a:rPr lang="en-US" dirty="0">
                <a:ea typeface="ＭＳ Ｐゴシック" charset="0"/>
              </a:rPr>
              <a:t>			</a:t>
            </a:r>
            <a:r>
              <a:rPr lang="en-US" dirty="0" err="1">
                <a:ea typeface="ＭＳ Ｐゴシック" charset="0"/>
              </a:rPr>
              <a:t>i</a:t>
            </a:r>
            <a:r>
              <a:rPr lang="en-US" dirty="0">
                <a:ea typeface="ＭＳ Ｐゴシック" charset="0"/>
              </a:rPr>
              <a:t>.	Pupils of unequal size can indicate a stroke or injury to brain.</a:t>
            </a:r>
          </a:p>
          <a:p>
            <a:pPr>
              <a:defRPr/>
            </a:pPr>
            <a:r>
              <a:rPr lang="en-US" dirty="0">
                <a:ea typeface="ＭＳ Ｐゴシック" charset="0"/>
              </a:rPr>
              <a:t>			ii.	Pupils that remain constricted are often present in a person who is taking narcotics.</a:t>
            </a:r>
          </a:p>
          <a:p>
            <a:pPr>
              <a:defRPr/>
            </a:pPr>
            <a:r>
              <a:rPr lang="en-US" dirty="0">
                <a:ea typeface="ＭＳ Ｐゴシック" charset="0"/>
              </a:rPr>
              <a:t>			iii.	Pupils that remain dilated (enlarged) indicate a relaxed or unconscious state.</a:t>
            </a:r>
          </a:p>
          <a:p>
            <a:pPr>
              <a:defRPr/>
            </a:pPr>
            <a:endParaRPr lang="en-US" dirty="0">
              <a:ea typeface="ＭＳ Ｐゴシック" charset="0"/>
            </a:endParaRPr>
          </a:p>
          <a:p>
            <a:pPr eaLnBrk="1" hangingPunct="1">
              <a:defRPr/>
            </a:pPr>
            <a:endParaRPr lang="en-US" dirty="0">
              <a:ea typeface="ＭＳ Ｐゴシック" charset="0"/>
            </a:endParaRPr>
          </a:p>
        </p:txBody>
      </p:sp>
    </p:spTree>
    <p:extLst>
      <p:ext uri="{BB962C8B-B14F-4D97-AF65-F5344CB8AC3E}">
        <p14:creationId xmlns:p14="http://schemas.microsoft.com/office/powerpoint/2010/main" val="104198733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99607950-6BAD-AD43-8EB3-8A542D21B656}"/>
              </a:ext>
            </a:extLst>
          </p:cNvPr>
          <p:cNvSpPr>
            <a:spLocks noGrp="1" noRot="1" noChangeAspect="1" noChangeArrowheads="1" noTextEdit="1"/>
          </p:cNvSpPr>
          <p:nvPr>
            <p:ph type="sldImg"/>
          </p:nvPr>
        </p:nvSpPr>
        <p:spPr>
          <a:ln/>
        </p:spPr>
      </p:sp>
      <p:sp>
        <p:nvSpPr>
          <p:cNvPr id="106499" name="Rectangle 3">
            <a:extLst>
              <a:ext uri="{FF2B5EF4-FFF2-40B4-BE49-F238E27FC236}">
                <a16:creationId xmlns:a16="http://schemas.microsoft.com/office/drawing/2014/main" id="{7EBB26E0-7021-7743-B95E-0857D6B7E017}"/>
              </a:ext>
            </a:extLst>
          </p:cNvPr>
          <p:cNvSpPr>
            <a:spLocks noGrp="1" noChangeArrowheads="1"/>
          </p:cNvSpPr>
          <p:nvPr>
            <p:ph type="body" idx="1"/>
          </p:nvPr>
        </p:nvSpPr>
        <p:spPr/>
        <p:txBody>
          <a:bodyPr/>
          <a:lstStyle/>
          <a:p>
            <a:pPr>
              <a:defRPr/>
            </a:pPr>
            <a:r>
              <a:rPr lang="en-US" altLang="en-US" dirty="0">
                <a:latin typeface="Calibri" pitchFamily="34" charset="0"/>
              </a:rPr>
              <a:t>	7.	Level of responsiveness</a:t>
            </a:r>
            <a:endParaRPr lang="en-US" altLang="en-US" b="1" dirty="0">
              <a:latin typeface="Calibri" pitchFamily="34" charset="0"/>
            </a:endParaRPr>
          </a:p>
          <a:p>
            <a:pPr>
              <a:defRPr/>
            </a:pPr>
            <a:r>
              <a:rPr lang="en-US" altLang="en-US" dirty="0">
                <a:latin typeface="Calibri" pitchFamily="34" charset="0"/>
              </a:rPr>
              <a:t>		a.	Observe and note any changes that occur between time of your arrival and time you turn over patient’s care to higher-level personnel. </a:t>
            </a:r>
          </a:p>
          <a:p>
            <a:pPr>
              <a:defRPr/>
            </a:pPr>
            <a:r>
              <a:rPr lang="en-US" altLang="en-US" dirty="0">
                <a:latin typeface="Calibri" pitchFamily="34" charset="0"/>
              </a:rPr>
              <a:t>		b.	Use AVPU scale to determine level of responsiveness.</a:t>
            </a:r>
          </a:p>
          <a:p>
            <a:pPr>
              <a:defRPr/>
            </a:pPr>
            <a:r>
              <a:rPr lang="en-US" altLang="en-US" dirty="0">
                <a:latin typeface="Calibri" pitchFamily="34" charset="0"/>
              </a:rPr>
              <a:t>H.	Signs review</a:t>
            </a:r>
          </a:p>
          <a:p>
            <a:pPr>
              <a:defRPr/>
            </a:pPr>
            <a:r>
              <a:rPr lang="en-US" altLang="en-US" dirty="0">
                <a:latin typeface="Calibri" pitchFamily="34" charset="0"/>
              </a:rPr>
              <a:t>	1.	Signs are indicators of illness or injury that you can observe in a patient.</a:t>
            </a:r>
          </a:p>
          <a:p>
            <a:pPr>
              <a:defRPr/>
            </a:pPr>
            <a:r>
              <a:rPr lang="en-US" altLang="en-US" dirty="0">
                <a:latin typeface="Calibri" pitchFamily="34" charset="0"/>
              </a:rPr>
              <a:t>	2.	Vital signs include patient’s:</a:t>
            </a:r>
          </a:p>
          <a:p>
            <a:pPr>
              <a:defRPr/>
            </a:pPr>
            <a:r>
              <a:rPr lang="en-US" altLang="en-US" dirty="0">
                <a:latin typeface="Calibri" pitchFamily="34" charset="0"/>
              </a:rPr>
              <a:t>		a.	Respirations.</a:t>
            </a:r>
          </a:p>
          <a:p>
            <a:pPr>
              <a:defRPr/>
            </a:pPr>
            <a:r>
              <a:rPr lang="en-US" altLang="en-US" dirty="0">
                <a:latin typeface="Calibri" pitchFamily="34" charset="0"/>
              </a:rPr>
              <a:t>		b.	Pulse.</a:t>
            </a:r>
          </a:p>
          <a:p>
            <a:pPr>
              <a:defRPr/>
            </a:pPr>
            <a:r>
              <a:rPr lang="en-US" altLang="en-US" dirty="0">
                <a:latin typeface="Calibri" pitchFamily="34" charset="0"/>
              </a:rPr>
              <a:t>		c.	Capillary refill.</a:t>
            </a:r>
          </a:p>
          <a:p>
            <a:pPr>
              <a:defRPr/>
            </a:pPr>
            <a:r>
              <a:rPr lang="en-US" altLang="en-US" dirty="0">
                <a:latin typeface="Calibri" pitchFamily="34" charset="0"/>
              </a:rPr>
              <a:t>		d.	Blood pressure.</a:t>
            </a:r>
          </a:p>
          <a:p>
            <a:pPr>
              <a:defRPr/>
            </a:pPr>
            <a:r>
              <a:rPr lang="en-US" altLang="en-US" dirty="0">
                <a:latin typeface="Calibri" pitchFamily="34" charset="0"/>
              </a:rPr>
              <a:t>		e.	Skin condition.</a:t>
            </a:r>
          </a:p>
          <a:p>
            <a:pPr>
              <a:defRPr/>
            </a:pPr>
            <a:r>
              <a:rPr lang="en-US" altLang="en-US" dirty="0">
                <a:latin typeface="Calibri" pitchFamily="34" charset="0"/>
              </a:rPr>
              <a:t>		f.	Temperature.</a:t>
            </a:r>
          </a:p>
          <a:p>
            <a:pPr>
              <a:defRPr/>
            </a:pPr>
            <a:r>
              <a:rPr lang="en-US" altLang="en-US" dirty="0">
                <a:latin typeface="Calibri" pitchFamily="34" charset="0"/>
              </a:rPr>
              <a:t>		g.	Pupil size and reaction.</a:t>
            </a:r>
          </a:p>
          <a:p>
            <a:pPr>
              <a:defRPr/>
            </a:pPr>
            <a:r>
              <a:rPr lang="en-US" altLang="en-US" dirty="0">
                <a:latin typeface="Calibri" pitchFamily="34" charset="0"/>
              </a:rPr>
              <a:t>		h.	Level of consciousness.</a:t>
            </a: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276195788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0DA03E4E-C69D-624A-8B3F-A3538C022B4F}"/>
              </a:ext>
            </a:extLst>
          </p:cNvPr>
          <p:cNvSpPr>
            <a:spLocks noGrp="1" noRot="1" noChangeAspect="1" noChangeArrowheads="1" noTextEdit="1"/>
          </p:cNvSpPr>
          <p:nvPr>
            <p:ph type="sldImg"/>
          </p:nvPr>
        </p:nvSpPr>
        <p:spPr>
          <a:ln/>
        </p:spPr>
      </p:sp>
      <p:sp>
        <p:nvSpPr>
          <p:cNvPr id="107523" name="Rectangle 3">
            <a:extLst>
              <a:ext uri="{FF2B5EF4-FFF2-40B4-BE49-F238E27FC236}">
                <a16:creationId xmlns:a16="http://schemas.microsoft.com/office/drawing/2014/main" id="{B20A1C4B-EEB5-D547-95CB-ABC097DC5EEF}"/>
              </a:ext>
            </a:extLst>
          </p:cNvPr>
          <p:cNvSpPr>
            <a:spLocks noGrp="1" noChangeArrowheads="1"/>
          </p:cNvSpPr>
          <p:nvPr>
            <p:ph type="body" idx="1"/>
          </p:nvPr>
        </p:nvSpPr>
        <p:spPr/>
        <p:txBody>
          <a:bodyPr/>
          <a:lstStyle/>
          <a:p>
            <a:pPr>
              <a:defRPr/>
            </a:pPr>
            <a:r>
              <a:rPr lang="en-US" altLang="en-US" dirty="0">
                <a:latin typeface="Calibri" pitchFamily="34" charset="0"/>
              </a:rPr>
              <a:t>VII. Reassessment</a:t>
            </a:r>
          </a:p>
          <a:p>
            <a:pPr>
              <a:defRPr/>
            </a:pPr>
            <a:r>
              <a:rPr lang="en-US" altLang="en-US" dirty="0">
                <a:latin typeface="Calibri" pitchFamily="34" charset="0"/>
              </a:rPr>
              <a:t>A.	If you need to continue to care for patient, it is necessary to regularly repeat some parts of patient assessment—this is process of reassessment.</a:t>
            </a:r>
          </a:p>
          <a:p>
            <a:pPr>
              <a:defRPr/>
            </a:pPr>
            <a:r>
              <a:rPr lang="en-US" altLang="en-US" dirty="0">
                <a:latin typeface="Calibri" pitchFamily="34" charset="0"/>
              </a:rPr>
              <a:t>B.	Repeat primary assessment.</a:t>
            </a:r>
          </a:p>
          <a:p>
            <a:pPr>
              <a:defRPr/>
            </a:pPr>
            <a:r>
              <a:rPr lang="en-US" altLang="en-US" dirty="0">
                <a:latin typeface="Calibri" pitchFamily="34" charset="0"/>
              </a:rPr>
              <a:t>	1.	Recheck patient’s level of responsiveness, and recheck patient’s airway, breathing, and circulation.</a:t>
            </a:r>
            <a:endParaRPr lang="en-US" altLang="en-US" b="1" dirty="0">
              <a:latin typeface="Calibri" pitchFamily="34" charset="0"/>
            </a:endParaRPr>
          </a:p>
          <a:p>
            <a:pPr>
              <a:defRPr/>
            </a:pPr>
            <a:r>
              <a:rPr lang="en-US" altLang="en-US" dirty="0">
                <a:latin typeface="Calibri" pitchFamily="34" charset="0"/>
              </a:rPr>
              <a:t>	2.	Continue to maintain an open airway and to monitor breathing and pulse for rate and quality.</a:t>
            </a:r>
            <a:endParaRPr lang="en-US" altLang="en-US" b="1" dirty="0">
              <a:latin typeface="Calibri" pitchFamily="34" charset="0"/>
            </a:endParaRP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130334123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984940AF-F68F-1D4B-87ED-C42A6F350E82}"/>
              </a:ext>
            </a:extLst>
          </p:cNvPr>
          <p:cNvSpPr>
            <a:spLocks noGrp="1" noRot="1" noChangeAspect="1" noChangeArrowheads="1" noTextEdit="1"/>
          </p:cNvSpPr>
          <p:nvPr>
            <p:ph type="sldImg"/>
          </p:nvPr>
        </p:nvSpPr>
        <p:spPr>
          <a:ln/>
        </p:spPr>
      </p:sp>
      <p:sp>
        <p:nvSpPr>
          <p:cNvPr id="108547" name="Rectangle 3">
            <a:extLst>
              <a:ext uri="{FF2B5EF4-FFF2-40B4-BE49-F238E27FC236}">
                <a16:creationId xmlns:a16="http://schemas.microsoft.com/office/drawing/2014/main" id="{70E42C40-19B0-3647-8920-BF2928270BD4}"/>
              </a:ext>
            </a:extLst>
          </p:cNvPr>
          <p:cNvSpPr>
            <a:spLocks noGrp="1" noChangeArrowheads="1"/>
          </p:cNvSpPr>
          <p:nvPr>
            <p:ph type="body" idx="1"/>
          </p:nvPr>
        </p:nvSpPr>
        <p:spPr/>
        <p:txBody>
          <a:bodyPr/>
          <a:lstStyle/>
          <a:p>
            <a:pPr>
              <a:defRPr/>
            </a:pPr>
            <a:r>
              <a:rPr lang="en-US" altLang="en-US" dirty="0">
                <a:latin typeface="Calibri" pitchFamily="34" charset="0"/>
              </a:rPr>
              <a:t>C.	Reassess vital signs.</a:t>
            </a:r>
          </a:p>
          <a:p>
            <a:pPr>
              <a:defRPr/>
            </a:pPr>
            <a:r>
              <a:rPr lang="en-US" altLang="en-US" dirty="0">
                <a:latin typeface="Calibri" pitchFamily="34" charset="0"/>
              </a:rPr>
              <a:t>	1.	Observe the patient’s skin color and temperature.</a:t>
            </a:r>
          </a:p>
          <a:p>
            <a:pPr>
              <a:defRPr/>
            </a:pPr>
            <a:r>
              <a:rPr lang="en-US" altLang="en-US" dirty="0">
                <a:latin typeface="Calibri" pitchFamily="34" charset="0"/>
              </a:rPr>
              <a:t>	2.	Reassess patient’s BP.</a:t>
            </a:r>
          </a:p>
          <a:p>
            <a:pPr>
              <a:defRPr/>
            </a:pPr>
            <a:r>
              <a:rPr lang="en-US" altLang="en-US" dirty="0">
                <a:latin typeface="Calibri" pitchFamily="34" charset="0"/>
              </a:rPr>
              <a:t>D.	Reassess chief complaint.</a:t>
            </a:r>
          </a:p>
          <a:p>
            <a:pPr>
              <a:defRPr/>
            </a:pPr>
            <a:r>
              <a:rPr lang="en-US" altLang="en-US" dirty="0">
                <a:latin typeface="Calibri" pitchFamily="34" charset="0"/>
              </a:rPr>
              <a:t>	1.	Reassess chief complaint to see if there has been any change.</a:t>
            </a:r>
          </a:p>
          <a:p>
            <a:pPr>
              <a:defRPr/>
            </a:pPr>
            <a:r>
              <a:rPr lang="en-US" altLang="en-US" dirty="0">
                <a:latin typeface="Calibri" pitchFamily="34" charset="0"/>
              </a:rPr>
              <a:t>E.	Recheck effectiveness of treatment.</a:t>
            </a:r>
          </a:p>
          <a:p>
            <a:pPr>
              <a:defRPr/>
            </a:pPr>
            <a:r>
              <a:rPr lang="en-US" altLang="en-US" dirty="0">
                <a:latin typeface="Calibri" pitchFamily="34" charset="0"/>
              </a:rPr>
              <a:t>	1.	Check whether interventions you took were effective.</a:t>
            </a:r>
            <a:endParaRPr lang="en-US" altLang="en-US" b="1" dirty="0">
              <a:latin typeface="Calibri" pitchFamily="34" charset="0"/>
            </a:endParaRPr>
          </a:p>
          <a:p>
            <a:pPr>
              <a:defRPr/>
            </a:pPr>
            <a:r>
              <a:rPr lang="en-US" altLang="en-US" dirty="0">
                <a:latin typeface="Calibri" pitchFamily="34" charset="0"/>
              </a:rPr>
              <a:t>	2.	If there is a change, determine whether you need to alter your care of patient.</a:t>
            </a:r>
            <a:endParaRPr lang="en-US" altLang="en-US" b="1" dirty="0">
              <a:latin typeface="Calibri" pitchFamily="34" charset="0"/>
            </a:endParaRP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137162051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AFBC3CF5-1C52-1949-8B9B-D0687683EB6B}"/>
              </a:ext>
            </a:extLst>
          </p:cNvPr>
          <p:cNvSpPr>
            <a:spLocks noGrp="1" noRot="1" noChangeAspect="1" noChangeArrowheads="1" noTextEdit="1"/>
          </p:cNvSpPr>
          <p:nvPr>
            <p:ph type="sldImg"/>
          </p:nvPr>
        </p:nvSpPr>
        <p:spPr>
          <a:ln/>
        </p:spPr>
      </p:sp>
      <p:sp>
        <p:nvSpPr>
          <p:cNvPr id="109571" name="Rectangle 3">
            <a:extLst>
              <a:ext uri="{FF2B5EF4-FFF2-40B4-BE49-F238E27FC236}">
                <a16:creationId xmlns:a16="http://schemas.microsoft.com/office/drawing/2014/main" id="{65437D7B-FD98-1A4E-9DC2-BAFE76313059}"/>
              </a:ext>
            </a:extLst>
          </p:cNvPr>
          <p:cNvSpPr>
            <a:spLocks noGrp="1" noChangeArrowheads="1"/>
          </p:cNvSpPr>
          <p:nvPr>
            <p:ph type="body" idx="1"/>
          </p:nvPr>
        </p:nvSpPr>
        <p:spPr/>
        <p:txBody>
          <a:bodyPr/>
          <a:lstStyle/>
          <a:p>
            <a:pPr>
              <a:defRPr/>
            </a:pPr>
            <a:r>
              <a:rPr lang="en-US" altLang="en-US" dirty="0">
                <a:latin typeface="Calibri" pitchFamily="34" charset="0"/>
              </a:rPr>
              <a:t>F.	Identify and treat changes in patient’s condition.</a:t>
            </a:r>
          </a:p>
          <a:p>
            <a:pPr>
              <a:defRPr/>
            </a:pPr>
            <a:r>
              <a:rPr lang="en-US" altLang="en-US" dirty="0">
                <a:latin typeface="Calibri" pitchFamily="34" charset="0"/>
              </a:rPr>
              <a:t>	1.	Identify and treat changes you have noticed in patient’s condition.</a:t>
            </a:r>
          </a:p>
          <a:p>
            <a:pPr>
              <a:defRPr/>
            </a:pPr>
            <a:r>
              <a:rPr lang="en-US" altLang="en-US" dirty="0">
                <a:latin typeface="Calibri" pitchFamily="34" charset="0"/>
              </a:rPr>
              <a:t>G.	Reassess patient.</a:t>
            </a:r>
          </a:p>
          <a:p>
            <a:pPr>
              <a:defRPr/>
            </a:pPr>
            <a:r>
              <a:rPr lang="en-US" altLang="en-US" dirty="0">
                <a:latin typeface="Calibri" pitchFamily="34" charset="0"/>
              </a:rPr>
              <a:t>	1.	Reassess a stable patient every 15 minutes.</a:t>
            </a:r>
            <a:endParaRPr lang="en-US" altLang="en-US" b="1" dirty="0">
              <a:latin typeface="Calibri" pitchFamily="34" charset="0"/>
            </a:endParaRPr>
          </a:p>
          <a:p>
            <a:pPr>
              <a:defRPr/>
            </a:pPr>
            <a:r>
              <a:rPr lang="en-US" altLang="en-US" dirty="0">
                <a:latin typeface="Calibri" pitchFamily="34" charset="0"/>
              </a:rPr>
              <a:t>	2.	If patient is unstable, repeat the reassessment every 5 minutes.</a:t>
            </a:r>
            <a:endParaRPr lang="en-US" altLang="en-US" b="1" dirty="0">
              <a:latin typeface="Calibri" pitchFamily="34" charset="0"/>
            </a:endParaRP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98951724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D50DFDA0-68F2-7241-B3AD-1D5EF662FE51}"/>
              </a:ext>
            </a:extLst>
          </p:cNvPr>
          <p:cNvSpPr>
            <a:spLocks noGrp="1" noRot="1" noChangeAspect="1" noChangeArrowheads="1" noTextEdit="1"/>
          </p:cNvSpPr>
          <p:nvPr>
            <p:ph type="sldImg"/>
          </p:nvPr>
        </p:nvSpPr>
        <p:spPr>
          <a:ln/>
        </p:spPr>
      </p:sp>
      <p:sp>
        <p:nvSpPr>
          <p:cNvPr id="110595" name="Rectangle 3">
            <a:extLst>
              <a:ext uri="{FF2B5EF4-FFF2-40B4-BE49-F238E27FC236}">
                <a16:creationId xmlns:a16="http://schemas.microsoft.com/office/drawing/2014/main" id="{91B7D1BF-B15E-4C49-829A-CB88227EC91A}"/>
              </a:ext>
            </a:extLst>
          </p:cNvPr>
          <p:cNvSpPr>
            <a:spLocks noGrp="1" noChangeArrowheads="1"/>
          </p:cNvSpPr>
          <p:nvPr>
            <p:ph type="body" idx="1"/>
          </p:nvPr>
        </p:nvSpPr>
        <p:spPr/>
        <p:txBody>
          <a:bodyPr/>
          <a:lstStyle/>
          <a:p>
            <a:pPr>
              <a:defRPr/>
            </a:pPr>
            <a:r>
              <a:rPr lang="en-US" altLang="en-US" dirty="0">
                <a:latin typeface="Calibri" pitchFamily="34" charset="0"/>
              </a:rPr>
              <a:t>H.	Provide a hand-off report.</a:t>
            </a:r>
          </a:p>
          <a:p>
            <a:pPr>
              <a:defRPr/>
            </a:pPr>
            <a:r>
              <a:rPr lang="en-US" altLang="en-US" dirty="0">
                <a:latin typeface="Calibri" pitchFamily="34" charset="0"/>
              </a:rPr>
              <a:t>	1.	Describe your findings concisely and accurately to EMS personnel who take over care of your patients in a hand-off report.</a:t>
            </a:r>
          </a:p>
          <a:p>
            <a:pPr>
              <a:defRPr/>
            </a:pPr>
            <a:r>
              <a:rPr lang="en-US" altLang="en-US" dirty="0">
                <a:latin typeface="Calibri" pitchFamily="34" charset="0"/>
              </a:rPr>
              <a:t>		a.	Provide age and sex of patient.</a:t>
            </a:r>
          </a:p>
          <a:p>
            <a:pPr>
              <a:defRPr/>
            </a:pPr>
            <a:r>
              <a:rPr lang="en-US" altLang="en-US" dirty="0">
                <a:latin typeface="Calibri" pitchFamily="34" charset="0"/>
              </a:rPr>
              <a:t>		b.	Describe history of incident.</a:t>
            </a:r>
          </a:p>
          <a:p>
            <a:pPr>
              <a:defRPr/>
            </a:pPr>
            <a:r>
              <a:rPr lang="en-US" altLang="en-US" dirty="0">
                <a:latin typeface="Calibri" pitchFamily="34" charset="0"/>
              </a:rPr>
              <a:t>		c.	Describe patient’s primary or chief complaint.</a:t>
            </a:r>
          </a:p>
          <a:p>
            <a:pPr>
              <a:defRPr/>
            </a:pPr>
            <a:r>
              <a:rPr lang="en-US" altLang="en-US" dirty="0">
                <a:latin typeface="Calibri" pitchFamily="34" charset="0"/>
              </a:rPr>
              <a:t>		d.	Describe patient’s level of responsiveness.</a:t>
            </a:r>
          </a:p>
          <a:p>
            <a:pPr>
              <a:defRPr/>
            </a:pPr>
            <a:r>
              <a:rPr lang="en-US" altLang="en-US" dirty="0">
                <a:latin typeface="Calibri" pitchFamily="34" charset="0"/>
              </a:rPr>
              <a:t>		e.	Describe how you found patient. </a:t>
            </a:r>
          </a:p>
          <a:p>
            <a:pPr>
              <a:defRPr/>
            </a:pPr>
            <a:r>
              <a:rPr lang="en-US" altLang="en-US" dirty="0">
                <a:latin typeface="Calibri" pitchFamily="34" charset="0"/>
              </a:rPr>
              <a:t>		f.	Report on status of vital signs: airway, breathing, and circulation (including severe bleeding).</a:t>
            </a:r>
          </a:p>
          <a:p>
            <a:pPr>
              <a:defRPr/>
            </a:pPr>
            <a:r>
              <a:rPr lang="en-US" altLang="en-US" dirty="0">
                <a:latin typeface="Calibri" pitchFamily="34" charset="0"/>
              </a:rPr>
              <a:t>		g.	Describe results of secondary patient assessment.</a:t>
            </a:r>
          </a:p>
          <a:p>
            <a:pPr>
              <a:defRPr/>
            </a:pPr>
            <a:r>
              <a:rPr lang="en-US" dirty="0">
                <a:ea typeface="ＭＳ Ｐゴシック" charset="0"/>
              </a:rPr>
              <a:t>		h.	Report any pertinent medical conditions using SAMPLE format.</a:t>
            </a:r>
          </a:p>
          <a:p>
            <a:pPr>
              <a:defRPr/>
            </a:pPr>
            <a:r>
              <a:rPr lang="en-US" dirty="0">
                <a:ea typeface="ＭＳ Ｐゴシック" charset="0"/>
              </a:rPr>
              <a:t>		</a:t>
            </a:r>
            <a:r>
              <a:rPr lang="en-US" dirty="0" err="1">
                <a:ea typeface="ＭＳ Ｐゴシック" charset="0"/>
              </a:rPr>
              <a:t>i</a:t>
            </a:r>
            <a:r>
              <a:rPr lang="en-US" dirty="0">
                <a:ea typeface="ＭＳ Ｐゴシック" charset="0"/>
              </a:rPr>
              <a:t>.	Report interventions provided and how patient responded.</a:t>
            </a:r>
          </a:p>
          <a:p>
            <a:pPr>
              <a:defRPr/>
            </a:pPr>
            <a:r>
              <a:rPr lang="en-US" dirty="0">
                <a:ea typeface="ＭＳ Ｐゴシック" charset="0"/>
              </a:rPr>
              <a:t>	2.	Examine every patient involved in an incident before you begin major treatment of any single patient.</a:t>
            </a:r>
          </a:p>
          <a:p>
            <a:pPr>
              <a:defRPr/>
            </a:pPr>
            <a:r>
              <a:rPr lang="en-US" dirty="0">
                <a:ea typeface="ＭＳ Ｐゴシック" charset="0"/>
              </a:rPr>
              <a:t>		a.	Exceptions to this rule are patients with airway, breathing, and circulatory problems (severe bleeding or shock).</a:t>
            </a:r>
          </a:p>
          <a:p>
            <a:pPr>
              <a:defRPr/>
            </a:pPr>
            <a:r>
              <a:rPr lang="en-US" dirty="0">
                <a:ea typeface="ＭＳ Ｐゴシック" charset="0"/>
              </a:rPr>
              <a:t>		b.	These problems must be treated as you encounter them during patient assessment.</a:t>
            </a:r>
          </a:p>
          <a:p>
            <a:pPr>
              <a:defRPr/>
            </a:pPr>
            <a:endParaRPr lang="en-US" altLang="en-US" dirty="0">
              <a:latin typeface="Calibri" pitchFamily="34" charset="0"/>
            </a:endParaRP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365286067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F93AB79B-D55D-C24D-BE18-271C357EF932}"/>
              </a:ext>
            </a:extLst>
          </p:cNvPr>
          <p:cNvSpPr>
            <a:spLocks noGrp="1" noRot="1" noChangeAspect="1" noChangeArrowheads="1" noTextEdit="1"/>
          </p:cNvSpPr>
          <p:nvPr>
            <p:ph type="sldImg"/>
          </p:nvPr>
        </p:nvSpPr>
        <p:spPr>
          <a:ln/>
        </p:spPr>
      </p:sp>
      <p:sp>
        <p:nvSpPr>
          <p:cNvPr id="112643" name="Rectangle 3">
            <a:extLst>
              <a:ext uri="{FF2B5EF4-FFF2-40B4-BE49-F238E27FC236}">
                <a16:creationId xmlns:a16="http://schemas.microsoft.com/office/drawing/2014/main" id="{EE16F1BE-349A-B64F-9119-15B3B8DD4DF1}"/>
              </a:ext>
            </a:extLst>
          </p:cNvPr>
          <p:cNvSpPr>
            <a:spLocks noGrp="1" noChangeArrowheads="1"/>
          </p:cNvSpPr>
          <p:nvPr>
            <p:ph type="body" idx="1"/>
          </p:nvPr>
        </p:nvSpPr>
        <p:spPr/>
        <p:txBody>
          <a:bodyPr/>
          <a:lstStyle/>
          <a:p>
            <a:pPr>
              <a:defRPr/>
            </a:pPr>
            <a:r>
              <a:rPr lang="en-US" dirty="0">
                <a:ea typeface="ＭＳ Ｐゴシック" charset="0"/>
              </a:rPr>
              <a:t>VIII. A Word About Medical and Trauma Patients</a:t>
            </a:r>
          </a:p>
          <a:p>
            <a:pPr>
              <a:defRPr/>
            </a:pPr>
            <a:r>
              <a:rPr lang="en-US" dirty="0">
                <a:ea typeface="ＭＳ Ｐゴシック" charset="0"/>
              </a:rPr>
              <a:t>A.	Patients can generally be classified into two main categories:</a:t>
            </a:r>
          </a:p>
          <a:p>
            <a:pPr>
              <a:defRPr/>
            </a:pPr>
            <a:r>
              <a:rPr lang="en-US" dirty="0">
                <a:ea typeface="ＭＳ Ｐゴシック" charset="0"/>
              </a:rPr>
              <a:t>	1.	Those who have a sudden illness:</a:t>
            </a:r>
          </a:p>
          <a:p>
            <a:pPr>
              <a:defRPr/>
            </a:pPr>
            <a:r>
              <a:rPr lang="en-US" dirty="0">
                <a:ea typeface="ＭＳ Ｐゴシック" charset="0"/>
              </a:rPr>
              <a:t>		a.	Heart attacks.</a:t>
            </a:r>
          </a:p>
          <a:p>
            <a:pPr>
              <a:defRPr/>
            </a:pPr>
            <a:r>
              <a:rPr lang="en-US" dirty="0">
                <a:ea typeface="ＭＳ Ｐゴシック" charset="0"/>
              </a:rPr>
              <a:t>		b.	Strokes.</a:t>
            </a:r>
          </a:p>
          <a:p>
            <a:pPr>
              <a:defRPr/>
            </a:pPr>
            <a:r>
              <a:rPr lang="en-US" dirty="0">
                <a:ea typeface="ＭＳ Ｐゴシック" charset="0"/>
              </a:rPr>
              <a:t>		c.	Asthma.</a:t>
            </a:r>
          </a:p>
          <a:p>
            <a:pPr>
              <a:defRPr/>
            </a:pPr>
            <a:r>
              <a:rPr lang="en-US" dirty="0">
                <a:ea typeface="ＭＳ Ｐゴシック" charset="0"/>
              </a:rPr>
              <a:t>		d.	Gallbladder problems.</a:t>
            </a:r>
          </a:p>
          <a:p>
            <a:pPr>
              <a:defRPr/>
            </a:pPr>
            <a:r>
              <a:rPr lang="en-US" dirty="0">
                <a:ea typeface="ＭＳ Ｐゴシック" charset="0"/>
              </a:rPr>
              <a:t>	2.	Those who sustain trauma:</a:t>
            </a:r>
          </a:p>
          <a:p>
            <a:pPr>
              <a:defRPr/>
            </a:pPr>
            <a:r>
              <a:rPr lang="en-US" dirty="0">
                <a:ea typeface="ＭＳ Ｐゴシック" charset="0"/>
              </a:rPr>
              <a:t>		a.	Falls.</a:t>
            </a:r>
          </a:p>
          <a:p>
            <a:pPr>
              <a:defRPr/>
            </a:pPr>
            <a:r>
              <a:rPr lang="en-US" dirty="0">
                <a:ea typeface="ＭＳ Ｐゴシック" charset="0"/>
              </a:rPr>
              <a:t>		b.	Motor vehicle crashes.</a:t>
            </a:r>
          </a:p>
          <a:p>
            <a:pPr>
              <a:defRPr/>
            </a:pPr>
            <a:r>
              <a:rPr lang="en-US" dirty="0">
                <a:ea typeface="ＭＳ Ｐゴシック" charset="0"/>
              </a:rPr>
              <a:t>		c.	Sports-related injuries.</a:t>
            </a:r>
          </a:p>
          <a:p>
            <a:pPr>
              <a:defRPr/>
            </a:pPr>
            <a:r>
              <a:rPr lang="en-US" dirty="0">
                <a:ea typeface="ＭＳ Ｐゴシック" charset="0"/>
              </a:rPr>
              <a:t>B.	Patient assessment sequence can be used to examine patients who have experienced illnesses, trauma, or both.</a:t>
            </a:r>
          </a:p>
          <a:p>
            <a:pPr eaLnBrk="1" hangingPunct="1">
              <a:defRPr/>
            </a:pPr>
            <a:endParaRPr lang="en-US" dirty="0">
              <a:ea typeface="ＭＳ Ｐゴシック" charset="0"/>
            </a:endParaRPr>
          </a:p>
        </p:txBody>
      </p:sp>
    </p:spTree>
    <p:extLst>
      <p:ext uri="{BB962C8B-B14F-4D97-AF65-F5344CB8AC3E}">
        <p14:creationId xmlns:p14="http://schemas.microsoft.com/office/powerpoint/2010/main" val="253205852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18A6B5A7-234D-7A44-9D8E-5E782439B83A}"/>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B4CDD18C-96AF-254E-A1FC-74816001829E}"/>
              </a:ext>
            </a:extLst>
          </p:cNvPr>
          <p:cNvSpPr>
            <a:spLocks noGrp="1" noChangeArrowheads="1"/>
          </p:cNvSpPr>
          <p:nvPr>
            <p:ph type="body" idx="1"/>
          </p:nvPr>
        </p:nvSpPr>
        <p:spPr/>
        <p:txBody>
          <a:bodyPr/>
          <a:lstStyle/>
          <a:p>
            <a:pPr>
              <a:defRPr/>
            </a:pPr>
            <a:r>
              <a:rPr lang="en-US" altLang="en-US" dirty="0">
                <a:latin typeface="Calibri" pitchFamily="34" charset="0"/>
              </a:rPr>
              <a:t>	1.	When examining medical patients, follow the basic sequence:</a:t>
            </a:r>
            <a:endParaRPr lang="en-US" altLang="en-US" b="1" dirty="0">
              <a:latin typeface="Calibri" pitchFamily="34" charset="0"/>
            </a:endParaRPr>
          </a:p>
          <a:p>
            <a:pPr>
              <a:defRPr/>
            </a:pPr>
            <a:r>
              <a:rPr lang="en-US" altLang="en-US" dirty="0">
                <a:latin typeface="Calibri" pitchFamily="34" charset="0"/>
              </a:rPr>
              <a:t>		a.	Complete a scene size-up.</a:t>
            </a:r>
            <a:endParaRPr lang="en-US" altLang="en-US" b="1" dirty="0">
              <a:latin typeface="Calibri" pitchFamily="34" charset="0"/>
            </a:endParaRPr>
          </a:p>
          <a:p>
            <a:pPr>
              <a:defRPr/>
            </a:pPr>
            <a:r>
              <a:rPr lang="en-US" altLang="en-US" dirty="0">
                <a:latin typeface="Calibri" pitchFamily="34" charset="0"/>
              </a:rPr>
              <a:t>		b.	Perform a primary assessment.</a:t>
            </a:r>
            <a:endParaRPr lang="en-US" altLang="en-US" b="1" dirty="0">
              <a:latin typeface="Calibri" pitchFamily="34" charset="0"/>
            </a:endParaRPr>
          </a:p>
          <a:p>
            <a:pPr>
              <a:defRPr/>
            </a:pPr>
            <a:r>
              <a:rPr lang="en-US" altLang="en-US" dirty="0">
                <a:latin typeface="Calibri" pitchFamily="34" charset="0"/>
              </a:rPr>
              <a:t>		c.	Obtain the patient’s medical history (SAMPLE).</a:t>
            </a:r>
            <a:endParaRPr lang="en-US" altLang="en-US" b="1" dirty="0">
              <a:latin typeface="Calibri" pitchFamily="34" charset="0"/>
            </a:endParaRPr>
          </a:p>
          <a:p>
            <a:pPr>
              <a:defRPr/>
            </a:pPr>
            <a:r>
              <a:rPr lang="en-US" altLang="en-US" dirty="0">
                <a:latin typeface="Calibri" pitchFamily="34" charset="0"/>
              </a:rPr>
              <a:t>		d.	Perform a secondary assessment.</a:t>
            </a:r>
            <a:endParaRPr lang="en-US" altLang="en-US" b="1" dirty="0">
              <a:latin typeface="Calibri" pitchFamily="34" charset="0"/>
            </a:endParaRPr>
          </a:p>
          <a:p>
            <a:pPr>
              <a:defRPr/>
            </a:pPr>
            <a:r>
              <a:rPr lang="en-US" altLang="en-US" dirty="0">
                <a:latin typeface="Calibri" pitchFamily="34" charset="0"/>
              </a:rPr>
              <a:t>		e.	Perform reassessment.</a:t>
            </a:r>
            <a:endParaRPr lang="en-US" altLang="en-US" b="1" dirty="0">
              <a:latin typeface="Calibri" pitchFamily="34" charset="0"/>
            </a:endParaRPr>
          </a:p>
          <a:p>
            <a:pPr>
              <a:defRPr/>
            </a:pPr>
            <a:r>
              <a:rPr lang="en-US" altLang="en-US" dirty="0">
                <a:latin typeface="Calibri" pitchFamily="34" charset="0"/>
              </a:rPr>
              <a:t>	2.	When caring for a trauma patient, modify preceding sequence slightly.</a:t>
            </a:r>
            <a:endParaRPr lang="en-US" altLang="en-US" b="1" dirty="0">
              <a:latin typeface="Calibri" pitchFamily="34" charset="0"/>
            </a:endParaRPr>
          </a:p>
          <a:p>
            <a:pPr>
              <a:defRPr/>
            </a:pPr>
            <a:r>
              <a:rPr lang="en-US" altLang="en-US" dirty="0">
                <a:latin typeface="Calibri" pitchFamily="34" charset="0"/>
              </a:rPr>
              <a:t>		a.	Perform the secondary assessment before taking patient’s medical history.</a:t>
            </a:r>
            <a:endParaRPr lang="en-US" altLang="en-US" b="1" dirty="0">
              <a:latin typeface="Calibri" pitchFamily="34" charset="0"/>
            </a:endParaRPr>
          </a:p>
          <a:p>
            <a:pPr>
              <a:defRPr/>
            </a:pPr>
            <a:r>
              <a:rPr lang="en-US" altLang="en-US" dirty="0">
                <a:latin typeface="Calibri" pitchFamily="34" charset="0"/>
              </a:rPr>
              <a:t>C.	Although it is often helpful to consider whether patient’s problem is caused by trauma or sudden illness, avoid jumping to conclusions.</a:t>
            </a:r>
          </a:p>
          <a:p>
            <a:pPr>
              <a:defRPr/>
            </a:pPr>
            <a:r>
              <a:rPr lang="en-US" altLang="en-US" dirty="0">
                <a:latin typeface="Calibri" pitchFamily="34" charset="0"/>
              </a:rPr>
              <a:t>	1.	Most important factor to remember is to follow a system of patient assessment that will gather all information needed.</a:t>
            </a:r>
            <a:endParaRPr lang="en-US" altLang="en-US" b="1" dirty="0">
              <a:latin typeface="Calibri" pitchFamily="34" charset="0"/>
            </a:endParaRP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342725796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518AD1D3-D2A8-B346-AE5A-EE4CE91DD974}"/>
              </a:ext>
            </a:extLst>
          </p:cNvPr>
          <p:cNvSpPr>
            <a:spLocks noGrp="1" noRot="1" noChangeAspect="1" noChangeArrowheads="1" noTextEdit="1"/>
          </p:cNvSpPr>
          <p:nvPr>
            <p:ph type="sldImg"/>
          </p:nvPr>
        </p:nvSpPr>
        <p:spPr>
          <a:ln/>
        </p:spPr>
      </p:sp>
      <p:sp>
        <p:nvSpPr>
          <p:cNvPr id="114691" name="Rectangle 3">
            <a:extLst>
              <a:ext uri="{FF2B5EF4-FFF2-40B4-BE49-F238E27FC236}">
                <a16:creationId xmlns:a16="http://schemas.microsoft.com/office/drawing/2014/main" id="{EBACBCE7-1259-FB4B-952B-D97637839D68}"/>
              </a:ext>
            </a:extLst>
          </p:cNvPr>
          <p:cNvSpPr>
            <a:spLocks noGrp="1" noChangeArrowheads="1"/>
          </p:cNvSpPr>
          <p:nvPr>
            <p:ph type="body" idx="1"/>
          </p:nvPr>
        </p:nvSpPr>
        <p:spPr/>
        <p:txBody>
          <a:bodyPr/>
          <a:lstStyle/>
          <a:p>
            <a:pPr>
              <a:defRPr/>
            </a:pPr>
            <a:r>
              <a:rPr lang="en-US" altLang="en-US" dirty="0">
                <a:latin typeface="Calibri" pitchFamily="34" charset="0"/>
              </a:rPr>
              <a:t>IX. Summary</a:t>
            </a:r>
          </a:p>
          <a:p>
            <a:pPr>
              <a:defRPr/>
            </a:pPr>
            <a:r>
              <a:rPr lang="en-US" altLang="en-US" dirty="0">
                <a:latin typeface="Calibri" pitchFamily="34" charset="0"/>
              </a:rPr>
              <a:t>A.	A complete patient assessment consists of five steps: perform a scene size-up, perform a primary assessment, obtain a patient’s medical history, perform a secondary assessment, and provide reassessment.</a:t>
            </a:r>
          </a:p>
          <a:p>
            <a:pPr>
              <a:defRPr/>
            </a:pPr>
            <a:r>
              <a:rPr lang="en-US" altLang="en-US" dirty="0">
                <a:latin typeface="Calibri" pitchFamily="34" charset="0"/>
              </a:rPr>
              <a:t>B.	Scene size-up is a general overview of incident and its surroundings. On basis of this information, you can make decisions about safety of scene, type of incident, mechanism of injury or illness, number of patients, and need for additional resources.</a:t>
            </a: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16070232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16338DE4-F277-F04E-B306-B004D015672D}"/>
              </a:ext>
            </a:extLst>
          </p:cNvPr>
          <p:cNvSpPr>
            <a:spLocks noGrp="1" noRot="1" noChangeAspect="1" noChangeArrowheads="1" noTextEdit="1"/>
          </p:cNvSpPr>
          <p:nvPr>
            <p:ph type="sldImg"/>
          </p:nvPr>
        </p:nvSpPr>
        <p:spPr>
          <a:ln/>
        </p:spPr>
      </p:sp>
      <p:sp>
        <p:nvSpPr>
          <p:cNvPr id="115715" name="Rectangle 3">
            <a:extLst>
              <a:ext uri="{FF2B5EF4-FFF2-40B4-BE49-F238E27FC236}">
                <a16:creationId xmlns:a16="http://schemas.microsoft.com/office/drawing/2014/main" id="{00DBFB0A-E770-A743-B982-E096873C7A77}"/>
              </a:ext>
            </a:extLst>
          </p:cNvPr>
          <p:cNvSpPr>
            <a:spLocks noGrp="1" noChangeArrowheads="1"/>
          </p:cNvSpPr>
          <p:nvPr>
            <p:ph type="body" idx="1"/>
          </p:nvPr>
        </p:nvSpPr>
        <p:spPr/>
        <p:txBody>
          <a:bodyPr/>
          <a:lstStyle/>
          <a:p>
            <a:pPr eaLnBrk="1" hangingPunct="1">
              <a:defRPr/>
            </a:pPr>
            <a:r>
              <a:rPr lang="en-US" altLang="en-US" dirty="0">
                <a:latin typeface="Calibri" pitchFamily="34" charset="0"/>
              </a:rPr>
              <a:t>C.	During primary assessment, determine and correct any life-threatening conditions. Steps of primary assessment are to form a general impression of patient, assess responsiveness, and perform a rapid scan that consists of checking and correcting problems with patient’s airway, breathing, and circulation. Finally, update responding EMS units.</a:t>
            </a: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335271972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0DD2F611-43ED-D04C-A3F9-282ACA760278}"/>
              </a:ext>
            </a:extLst>
          </p:cNvPr>
          <p:cNvSpPr>
            <a:spLocks noGrp="1" noRot="1" noChangeAspect="1" noChangeArrowheads="1" noTextEdit="1"/>
          </p:cNvSpPr>
          <p:nvPr>
            <p:ph type="sldImg"/>
          </p:nvPr>
        </p:nvSpPr>
        <p:spPr>
          <a:ln/>
        </p:spPr>
      </p:sp>
      <p:sp>
        <p:nvSpPr>
          <p:cNvPr id="116739" name="Rectangle 3">
            <a:extLst>
              <a:ext uri="{FF2B5EF4-FFF2-40B4-BE49-F238E27FC236}">
                <a16:creationId xmlns:a16="http://schemas.microsoft.com/office/drawing/2014/main" id="{B5D1CBB2-6AA1-8D4F-80E2-F5C15584B774}"/>
              </a:ext>
            </a:extLst>
          </p:cNvPr>
          <p:cNvSpPr>
            <a:spLocks noGrp="1" noChangeArrowheads="1"/>
          </p:cNvSpPr>
          <p:nvPr>
            <p:ph type="body" idx="1"/>
          </p:nvPr>
        </p:nvSpPr>
        <p:spPr/>
        <p:txBody>
          <a:bodyPr/>
          <a:lstStyle/>
          <a:p>
            <a:pPr>
              <a:defRPr/>
            </a:pPr>
            <a:r>
              <a:rPr lang="en-US" altLang="en-US" dirty="0">
                <a:latin typeface="Calibri" pitchFamily="34" charset="0"/>
              </a:rPr>
              <a:t>D.	Purpose of obtaining a medical history is to gather a systematic account of patient’s past medical conditions, illnesses, and injuries to determine signs and symptoms attributable to current condition. SAMPLE history provides a framework to ask further questions of patient.</a:t>
            </a:r>
          </a:p>
          <a:p>
            <a:pPr>
              <a:defRPr/>
            </a:pPr>
            <a:r>
              <a:rPr lang="en-US" altLang="en-US" dirty="0">
                <a:latin typeface="Calibri" pitchFamily="34" charset="0"/>
              </a:rPr>
              <a:t>E.	Secondary assessment of patient consists of a secondary assessment of entire body used to assess non–life-threatening conditions. It is done only after completing primary assessment and stabilizing any life-threatening conditions. This assessment helps you locate and begin management of signs and symptoms of illness or injury. After completing secondary assessment of entire body, assess patient’s vital signs.</a:t>
            </a: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407764486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7B41356E-EA12-8D43-AE3C-6BFE733ED229}"/>
              </a:ext>
            </a:extLst>
          </p:cNvPr>
          <p:cNvSpPr>
            <a:spLocks noGrp="1" noRot="1" noChangeAspect="1" noChangeArrowheads="1" noTextEdit="1"/>
          </p:cNvSpPr>
          <p:nvPr>
            <p:ph type="sldImg"/>
          </p:nvPr>
        </p:nvSpPr>
        <p:spPr>
          <a:ln/>
        </p:spPr>
      </p:sp>
      <p:sp>
        <p:nvSpPr>
          <p:cNvPr id="117763" name="Rectangle 3">
            <a:extLst>
              <a:ext uri="{FF2B5EF4-FFF2-40B4-BE49-F238E27FC236}">
                <a16:creationId xmlns:a16="http://schemas.microsoft.com/office/drawing/2014/main" id="{6F9AA995-658F-1546-A1FC-960ED76CEE31}"/>
              </a:ext>
            </a:extLst>
          </p:cNvPr>
          <p:cNvSpPr>
            <a:spLocks noGrp="1" noChangeArrowheads="1"/>
          </p:cNvSpPr>
          <p:nvPr>
            <p:ph type="body" idx="1"/>
          </p:nvPr>
        </p:nvSpPr>
        <p:spPr/>
        <p:txBody>
          <a:bodyPr/>
          <a:lstStyle/>
          <a:p>
            <a:pPr>
              <a:defRPr/>
            </a:pPr>
            <a:r>
              <a:rPr lang="en-US" altLang="en-US" dirty="0">
                <a:latin typeface="Calibri" pitchFamily="34" charset="0"/>
              </a:rPr>
              <a:t>F.	Watch all patients carefully for changes in their status. If patient is stable, repeat the vital signs every 15 minutes. If patient is unstable, repeat vital signs every 5 minutes. If patient’s condition changes, repeat primary assessment and identify any changes in patient’s condition.</a:t>
            </a:r>
          </a:p>
          <a:p>
            <a:pPr>
              <a:defRPr/>
            </a:pPr>
            <a:r>
              <a:rPr lang="en-US" altLang="en-US" dirty="0">
                <a:latin typeface="Calibri" pitchFamily="34" charset="0"/>
              </a:rPr>
              <a:t>G.	Provide a concise and accurate hand-off report to EMS personnel.</a:t>
            </a:r>
          </a:p>
          <a:p>
            <a:pPr>
              <a:defRPr/>
            </a:pPr>
            <a:r>
              <a:rPr lang="en-US" altLang="en-US" dirty="0">
                <a:latin typeface="Calibri" pitchFamily="34" charset="0"/>
              </a:rPr>
              <a:t>H.	Patients can generally be classified into two main categories: medical and trauma. When examining medical patients, follow patient assessment sequence:</a:t>
            </a:r>
          </a:p>
          <a:p>
            <a:pPr>
              <a:defRPr/>
            </a:pPr>
            <a:r>
              <a:rPr lang="en-US" altLang="en-US" dirty="0">
                <a:latin typeface="Calibri" pitchFamily="34" charset="0"/>
              </a:rPr>
              <a:t>	1. 	Size-up the scene.</a:t>
            </a:r>
          </a:p>
          <a:p>
            <a:pPr>
              <a:defRPr/>
            </a:pPr>
            <a:r>
              <a:rPr lang="en-US" altLang="en-US" dirty="0">
                <a:latin typeface="Calibri" pitchFamily="34" charset="0"/>
              </a:rPr>
              <a:t>	2. 	Perform a primary assessment.</a:t>
            </a:r>
          </a:p>
          <a:p>
            <a:pPr>
              <a:defRPr/>
            </a:pPr>
            <a:r>
              <a:rPr lang="en-US" altLang="en-US" dirty="0">
                <a:latin typeface="Calibri" pitchFamily="34" charset="0"/>
              </a:rPr>
              <a:t>	3. 	Obtain the patient’s medical history using SAMPLE format.</a:t>
            </a:r>
          </a:p>
          <a:p>
            <a:pPr>
              <a:defRPr/>
            </a:pPr>
            <a:r>
              <a:rPr lang="en-US" altLang="en-US" dirty="0">
                <a:latin typeface="Calibri" pitchFamily="34" charset="0"/>
              </a:rPr>
              <a:t>	4. 	Perform a secondary assessment. Examine patient from head to toe and assess vital signs. </a:t>
            </a:r>
          </a:p>
          <a:p>
            <a:pPr>
              <a:defRPr/>
            </a:pPr>
            <a:r>
              <a:rPr lang="en-US" altLang="en-US" dirty="0">
                <a:latin typeface="Calibri" pitchFamily="34" charset="0"/>
              </a:rPr>
              <a:t>	5. 	Provide ongoing reassessment.</a:t>
            </a:r>
          </a:p>
          <a:p>
            <a:pPr>
              <a:defRPr/>
            </a:pPr>
            <a:r>
              <a:rPr lang="en-US" altLang="en-US" dirty="0">
                <a:latin typeface="Calibri" pitchFamily="34" charset="0"/>
              </a:rPr>
              <a:t>I.	When examining trauma patients, perform secondary assessment before obtaining patient’s medical history.</a:t>
            </a: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350479760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id="{0DAD2FBF-7D76-384F-A3BC-ADE326FBBBB5}"/>
              </a:ext>
            </a:extLst>
          </p:cNvPr>
          <p:cNvSpPr>
            <a:spLocks noGrp="1" noRot="1" noChangeAspect="1" noChangeArrowheads="1" noTextEdit="1"/>
          </p:cNvSpPr>
          <p:nvPr>
            <p:ph type="sldImg"/>
          </p:nvPr>
        </p:nvSpPr>
        <p:spPr>
          <a:ln/>
        </p:spPr>
      </p:sp>
      <p:sp>
        <p:nvSpPr>
          <p:cNvPr id="118787" name="Rectangle 3">
            <a:extLst>
              <a:ext uri="{FF2B5EF4-FFF2-40B4-BE49-F238E27FC236}">
                <a16:creationId xmlns:a16="http://schemas.microsoft.com/office/drawing/2014/main" id="{3DED3182-B5EC-934F-8005-84D0227AA1AA}"/>
              </a:ext>
            </a:extLst>
          </p:cNvPr>
          <p:cNvSpPr>
            <a:spLocks noGrp="1" noChangeArrowheads="1"/>
          </p:cNvSpPr>
          <p:nvPr>
            <p:ph type="body" idx="1"/>
          </p:nvPr>
        </p:nvSpPr>
        <p:spPr/>
        <p:txBody>
          <a:bodyPr/>
          <a:lstStyle/>
          <a:p>
            <a:pPr eaLnBrk="1" hangingPunct="1">
              <a:defRPr/>
            </a:pPr>
            <a:endParaRPr lang="en-US">
              <a:ea typeface="ＭＳ Ｐゴシック" charset="0"/>
            </a:endParaRPr>
          </a:p>
        </p:txBody>
      </p:sp>
    </p:spTree>
    <p:extLst>
      <p:ext uri="{BB962C8B-B14F-4D97-AF65-F5344CB8AC3E}">
        <p14:creationId xmlns:p14="http://schemas.microsoft.com/office/powerpoint/2010/main" val="393225510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a:extLst>
              <a:ext uri="{FF2B5EF4-FFF2-40B4-BE49-F238E27FC236}">
                <a16:creationId xmlns:a16="http://schemas.microsoft.com/office/drawing/2014/main" id="{8EED141C-6ED4-6943-AD18-D1BAF8696522}"/>
              </a:ext>
            </a:extLst>
          </p:cNvPr>
          <p:cNvSpPr>
            <a:spLocks noGrp="1" noRot="1" noChangeAspect="1" noChangeArrowheads="1" noTextEdit="1"/>
          </p:cNvSpPr>
          <p:nvPr>
            <p:ph type="sldImg"/>
          </p:nvPr>
        </p:nvSpPr>
        <p:spPr>
          <a:ln/>
        </p:spPr>
      </p:sp>
      <p:sp>
        <p:nvSpPr>
          <p:cNvPr id="119811" name="Rectangle 3">
            <a:extLst>
              <a:ext uri="{FF2B5EF4-FFF2-40B4-BE49-F238E27FC236}">
                <a16:creationId xmlns:a16="http://schemas.microsoft.com/office/drawing/2014/main" id="{6D030E81-9159-4047-87FB-563DA00C269F}"/>
              </a:ext>
            </a:extLst>
          </p:cNvPr>
          <p:cNvSpPr>
            <a:spLocks noGrp="1" noChangeArrowheads="1"/>
          </p:cNvSpPr>
          <p:nvPr>
            <p:ph type="body" idx="1"/>
          </p:nvPr>
        </p:nvSpPr>
        <p:spPr/>
        <p:txBody>
          <a:bodyPr/>
          <a:lstStyle/>
          <a:p>
            <a:pPr eaLnBrk="1" hangingPunct="1">
              <a:defRPr/>
            </a:pPr>
            <a:endParaRPr lang="en-US">
              <a:ea typeface="ＭＳ Ｐゴシック" charset="0"/>
            </a:endParaRPr>
          </a:p>
        </p:txBody>
      </p:sp>
    </p:spTree>
    <p:extLst>
      <p:ext uri="{BB962C8B-B14F-4D97-AF65-F5344CB8AC3E}">
        <p14:creationId xmlns:p14="http://schemas.microsoft.com/office/powerpoint/2010/main" val="268542378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4AF82FD4-30AC-0A41-BC43-8411EB6B2D5F}"/>
              </a:ext>
            </a:extLst>
          </p:cNvPr>
          <p:cNvSpPr>
            <a:spLocks noGrp="1" noRot="1" noChangeAspect="1" noChangeArrowheads="1" noTextEdit="1"/>
          </p:cNvSpPr>
          <p:nvPr>
            <p:ph type="sldImg"/>
          </p:nvPr>
        </p:nvSpPr>
        <p:spPr>
          <a:ln/>
        </p:spPr>
      </p:sp>
      <p:sp>
        <p:nvSpPr>
          <p:cNvPr id="120835" name="Rectangle 3">
            <a:extLst>
              <a:ext uri="{FF2B5EF4-FFF2-40B4-BE49-F238E27FC236}">
                <a16:creationId xmlns:a16="http://schemas.microsoft.com/office/drawing/2014/main" id="{AF3881D6-4CAF-5449-9ADC-9448949A0902}"/>
              </a:ext>
            </a:extLst>
          </p:cNvPr>
          <p:cNvSpPr>
            <a:spLocks noGrp="1" noChangeArrowheads="1"/>
          </p:cNvSpPr>
          <p:nvPr>
            <p:ph type="body" idx="1"/>
          </p:nvPr>
        </p:nvSpPr>
        <p:spPr/>
        <p:txBody>
          <a:bodyPr/>
          <a:lstStyle/>
          <a:p>
            <a:pPr eaLnBrk="1" hangingPunct="1">
              <a:defRPr/>
            </a:pPr>
            <a:endParaRPr lang="en-US">
              <a:ea typeface="ＭＳ Ｐゴシック" charset="0"/>
            </a:endParaRPr>
          </a:p>
        </p:txBody>
      </p:sp>
    </p:spTree>
    <p:extLst>
      <p:ext uri="{BB962C8B-B14F-4D97-AF65-F5344CB8AC3E}">
        <p14:creationId xmlns:p14="http://schemas.microsoft.com/office/powerpoint/2010/main" val="382786403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a:extLst>
              <a:ext uri="{FF2B5EF4-FFF2-40B4-BE49-F238E27FC236}">
                <a16:creationId xmlns:a16="http://schemas.microsoft.com/office/drawing/2014/main" id="{DE4C69CD-D9A9-454D-8A6F-4681F935E730}"/>
              </a:ext>
            </a:extLst>
          </p:cNvPr>
          <p:cNvSpPr>
            <a:spLocks noGrp="1" noRot="1" noChangeAspect="1" noChangeArrowheads="1" noTextEdit="1"/>
          </p:cNvSpPr>
          <p:nvPr>
            <p:ph type="sldImg"/>
          </p:nvPr>
        </p:nvSpPr>
        <p:spPr>
          <a:ln/>
        </p:spPr>
      </p:sp>
      <p:sp>
        <p:nvSpPr>
          <p:cNvPr id="121859" name="Rectangle 3">
            <a:extLst>
              <a:ext uri="{FF2B5EF4-FFF2-40B4-BE49-F238E27FC236}">
                <a16:creationId xmlns:a16="http://schemas.microsoft.com/office/drawing/2014/main" id="{CC779BA2-6F91-9E49-8543-A7F35E8D9F2B}"/>
              </a:ext>
            </a:extLst>
          </p:cNvPr>
          <p:cNvSpPr>
            <a:spLocks noGrp="1" noChangeArrowheads="1"/>
          </p:cNvSpPr>
          <p:nvPr>
            <p:ph type="body" idx="1"/>
          </p:nvPr>
        </p:nvSpPr>
        <p:spPr/>
        <p:txBody>
          <a:bodyPr/>
          <a:lstStyle/>
          <a:p>
            <a:pPr eaLnBrk="1" hangingPunct="1">
              <a:defRPr/>
            </a:pPr>
            <a:endParaRPr lang="en-US">
              <a:ea typeface="ＭＳ Ｐゴシック" charset="0"/>
            </a:endParaRPr>
          </a:p>
        </p:txBody>
      </p:sp>
    </p:spTree>
    <p:extLst>
      <p:ext uri="{BB962C8B-B14F-4D97-AF65-F5344CB8AC3E}">
        <p14:creationId xmlns:p14="http://schemas.microsoft.com/office/powerpoint/2010/main" val="330156839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a:extLst>
              <a:ext uri="{FF2B5EF4-FFF2-40B4-BE49-F238E27FC236}">
                <a16:creationId xmlns:a16="http://schemas.microsoft.com/office/drawing/2014/main" id="{38AB9A82-B53E-2349-AA85-70D347DF5B0E}"/>
              </a:ext>
            </a:extLst>
          </p:cNvPr>
          <p:cNvSpPr>
            <a:spLocks noGrp="1" noRot="1" noChangeAspect="1" noChangeArrowheads="1" noTextEdit="1"/>
          </p:cNvSpPr>
          <p:nvPr>
            <p:ph type="sldImg"/>
          </p:nvPr>
        </p:nvSpPr>
        <p:spPr>
          <a:ln/>
        </p:spPr>
      </p:sp>
      <p:sp>
        <p:nvSpPr>
          <p:cNvPr id="122883" name="Rectangle 3">
            <a:extLst>
              <a:ext uri="{FF2B5EF4-FFF2-40B4-BE49-F238E27FC236}">
                <a16:creationId xmlns:a16="http://schemas.microsoft.com/office/drawing/2014/main" id="{87EFB4B3-C138-A44E-B2E3-C86E87D503E7}"/>
              </a:ext>
            </a:extLst>
          </p:cNvPr>
          <p:cNvSpPr>
            <a:spLocks noGrp="1" noChangeArrowheads="1"/>
          </p:cNvSpPr>
          <p:nvPr>
            <p:ph type="body" idx="1"/>
          </p:nvPr>
        </p:nvSpPr>
        <p:spPr/>
        <p:txBody>
          <a:bodyPr/>
          <a:lstStyle/>
          <a:p>
            <a:pPr eaLnBrk="1" hangingPunct="1">
              <a:defRPr/>
            </a:pPr>
            <a:endParaRPr lang="en-US">
              <a:ea typeface="ＭＳ Ｐゴシック" charset="0"/>
            </a:endParaRPr>
          </a:p>
        </p:txBody>
      </p:sp>
    </p:spTree>
    <p:extLst>
      <p:ext uri="{BB962C8B-B14F-4D97-AF65-F5344CB8AC3E}">
        <p14:creationId xmlns:p14="http://schemas.microsoft.com/office/powerpoint/2010/main" val="291899127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a:extLst>
              <a:ext uri="{FF2B5EF4-FFF2-40B4-BE49-F238E27FC236}">
                <a16:creationId xmlns:a16="http://schemas.microsoft.com/office/drawing/2014/main" id="{8A490DAE-57F5-5A46-A7EB-F75E7FA31542}"/>
              </a:ext>
            </a:extLst>
          </p:cNvPr>
          <p:cNvSpPr>
            <a:spLocks noGrp="1" noRot="1" noChangeAspect="1" noChangeArrowheads="1" noTextEdit="1"/>
          </p:cNvSpPr>
          <p:nvPr>
            <p:ph type="sldImg"/>
          </p:nvPr>
        </p:nvSpPr>
        <p:spPr>
          <a:ln/>
        </p:spPr>
      </p:sp>
      <p:sp>
        <p:nvSpPr>
          <p:cNvPr id="123907" name="Rectangle 3">
            <a:extLst>
              <a:ext uri="{FF2B5EF4-FFF2-40B4-BE49-F238E27FC236}">
                <a16:creationId xmlns:a16="http://schemas.microsoft.com/office/drawing/2014/main" id="{B9446972-EE91-5D41-84A9-352573085528}"/>
              </a:ext>
            </a:extLst>
          </p:cNvPr>
          <p:cNvSpPr>
            <a:spLocks noGrp="1" noChangeArrowheads="1"/>
          </p:cNvSpPr>
          <p:nvPr>
            <p:ph type="body" idx="1"/>
          </p:nvPr>
        </p:nvSpPr>
        <p:spPr/>
        <p:txBody>
          <a:bodyPr/>
          <a:lstStyle/>
          <a:p>
            <a:pPr eaLnBrk="1" hangingPunct="1">
              <a:defRPr/>
            </a:pPr>
            <a:endParaRPr lang="en-US">
              <a:ea typeface="ＭＳ Ｐゴシック" charset="0"/>
            </a:endParaRPr>
          </a:p>
        </p:txBody>
      </p:sp>
    </p:spTree>
    <p:extLst>
      <p:ext uri="{BB962C8B-B14F-4D97-AF65-F5344CB8AC3E}">
        <p14:creationId xmlns:p14="http://schemas.microsoft.com/office/powerpoint/2010/main" val="40741356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bwMode="invGray">
      <p:bgPr>
        <a:solidFill>
          <a:srgbClr val="003B74"/>
        </a:solidFill>
        <a:effectLst/>
      </p:bgPr>
    </p:bg>
    <p:spTree>
      <p:nvGrpSpPr>
        <p:cNvPr id="1" name=""/>
        <p:cNvGrpSpPr/>
        <p:nvPr/>
      </p:nvGrpSpPr>
      <p:grpSpPr>
        <a:xfrm>
          <a:off x="0" y="0"/>
          <a:ext cx="0" cy="0"/>
          <a:chOff x="0" y="0"/>
          <a:chExt cx="0" cy="0"/>
        </a:xfrm>
      </p:grpSpPr>
      <p:sp>
        <p:nvSpPr>
          <p:cNvPr id="9" name="Rectangle 8"/>
          <p:cNvSpPr/>
          <p:nvPr/>
        </p:nvSpPr>
        <p:spPr>
          <a:xfrm>
            <a:off x="0" y="1851660"/>
            <a:ext cx="12192000" cy="3771900"/>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10" name="Rectangle 9"/>
          <p:cNvSpPr/>
          <p:nvPr/>
        </p:nvSpPr>
        <p:spPr>
          <a:xfrm>
            <a:off x="-1" y="701802"/>
            <a:ext cx="12192001" cy="1033272"/>
          </a:xfrm>
          <a:prstGeom prst="rect">
            <a:avLst/>
          </a:prstGeom>
          <a:solidFill>
            <a:srgbClr val="FFC4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2" name="Title 1"/>
          <p:cNvSpPr>
            <a:spLocks noGrp="1"/>
          </p:cNvSpPr>
          <p:nvPr>
            <p:ph type="ctrTitle" hasCustomPrompt="1"/>
          </p:nvPr>
        </p:nvSpPr>
        <p:spPr bwMode="black">
          <a:xfrm>
            <a:off x="882217" y="2200275"/>
            <a:ext cx="6421553" cy="3074670"/>
          </a:xfrm>
          <a:noFill/>
        </p:spPr>
        <p:txBody>
          <a:bodyPr lIns="0" tIns="0" rIns="0" bIns="0" anchor="ctr" anchorCtr="0">
            <a:normAutofit/>
          </a:bodyPr>
          <a:lstStyle>
            <a:lvl1pPr algn="l">
              <a:lnSpc>
                <a:spcPct val="90000"/>
              </a:lnSpc>
              <a:defRPr sz="6000" b="1">
                <a:solidFill>
                  <a:schemeClr val="tx1"/>
                </a:solidFill>
              </a:defRPr>
            </a:lvl1pPr>
          </a:lstStyle>
          <a:p>
            <a:r>
              <a:rPr lang="en-US" dirty="0"/>
              <a:t>Chapter Title</a:t>
            </a:r>
            <a:endParaRPr dirty="0"/>
          </a:p>
        </p:txBody>
      </p:sp>
      <p:sp>
        <p:nvSpPr>
          <p:cNvPr id="3" name="Subtitle 2"/>
          <p:cNvSpPr>
            <a:spLocks noGrp="1"/>
          </p:cNvSpPr>
          <p:nvPr>
            <p:ph type="subTitle" idx="1" hasCustomPrompt="1"/>
          </p:nvPr>
        </p:nvSpPr>
        <p:spPr>
          <a:xfrm>
            <a:off x="882217" y="845820"/>
            <a:ext cx="6524423" cy="777639"/>
          </a:xfrm>
        </p:spPr>
        <p:txBody>
          <a:bodyPr lIns="0" tIns="0" rIns="0" bIns="0" anchor="ctr" anchorCtr="0">
            <a:normAutofit/>
          </a:bodyPr>
          <a:lstStyle>
            <a:lvl1pPr marL="0" indent="0" algn="l">
              <a:spcBef>
                <a:spcPts val="0"/>
              </a:spcBef>
              <a:buNone/>
              <a:defRPr sz="3200" b="1">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1</a:t>
            </a:r>
            <a:endParaRPr dirty="0"/>
          </a:p>
        </p:txBody>
      </p:sp>
      <p:sp>
        <p:nvSpPr>
          <p:cNvPr id="7" name="Picture Placeholder 6">
            <a:extLst>
              <a:ext uri="{FF2B5EF4-FFF2-40B4-BE49-F238E27FC236}">
                <a16:creationId xmlns:a16="http://schemas.microsoft.com/office/drawing/2014/main" id="{EC9CFE91-0E8B-934B-8D25-5CBB7FD65D50}"/>
              </a:ext>
            </a:extLst>
          </p:cNvPr>
          <p:cNvSpPr>
            <a:spLocks noGrp="1"/>
          </p:cNvSpPr>
          <p:nvPr>
            <p:ph type="pic" sz="quarter" idx="10"/>
          </p:nvPr>
        </p:nvSpPr>
        <p:spPr>
          <a:xfrm>
            <a:off x="8100060" y="388500"/>
            <a:ext cx="3604981" cy="6081000"/>
          </a:xfrm>
        </p:spPr>
        <p:txBody>
          <a:bodyPr/>
          <a:lstStyle/>
          <a:p>
            <a:endParaRPr lang="en-US"/>
          </a:p>
        </p:txBody>
      </p:sp>
      <p:sp>
        <p:nvSpPr>
          <p:cNvPr id="17" name="Rectangle 16">
            <a:extLst>
              <a:ext uri="{FF2B5EF4-FFF2-40B4-BE49-F238E27FC236}">
                <a16:creationId xmlns:a16="http://schemas.microsoft.com/office/drawing/2014/main" id="{BEEECFBC-FB4D-9945-A4FF-28E342055AC3}"/>
              </a:ext>
            </a:extLst>
          </p:cNvPr>
          <p:cNvSpPr/>
          <p:nvPr userDrawn="1"/>
        </p:nvSpPr>
        <p:spPr>
          <a:xfrm>
            <a:off x="0" y="6503670"/>
            <a:ext cx="12192000" cy="215444"/>
          </a:xfrm>
          <a:prstGeom prst="rect">
            <a:avLst/>
          </a:prstGeom>
        </p:spPr>
        <p:txBody>
          <a:bodyPr wrap="square">
            <a:spAutoFit/>
          </a:bodyPr>
          <a:lstStyle/>
          <a:p>
            <a:pPr algn="ctr"/>
            <a:r>
              <a:rPr lang="en-US" sz="800" dirty="0">
                <a:solidFill>
                  <a:schemeClr val="bg2"/>
                </a:solidFill>
                <a:latin typeface="Arial" panose="020B0604020202020204" pitchFamily="34" charset="0"/>
                <a:cs typeface="Arial" panose="020B0604020202020204" pitchFamily="34" charset="0"/>
              </a:rPr>
              <a:t>Copyright © 2022 by Jones &amp; Bartlett Learning, LLC an Ascend Learning Company. </a:t>
            </a:r>
            <a:r>
              <a:rPr lang="en-US" sz="800" dirty="0" err="1">
                <a:solidFill>
                  <a:schemeClr val="bg2"/>
                </a:solidFill>
                <a:latin typeface="Arial" panose="020B0604020202020204" pitchFamily="34" charset="0"/>
                <a:cs typeface="Arial" panose="020B0604020202020204" pitchFamily="34" charset="0"/>
              </a:rPr>
              <a:t>www.jblearning.com</a:t>
            </a:r>
            <a:r>
              <a:rPr lang="en-US" sz="800" dirty="0">
                <a:solidFill>
                  <a:schemeClr val="bg2"/>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047549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1E3BDFD-7FA5-2143-88E5-0CEE0A6011AD}"/>
              </a:ext>
            </a:extLst>
          </p:cNvPr>
          <p:cNvSpPr/>
          <p:nvPr userDrawn="1"/>
        </p:nvSpPr>
        <p:spPr>
          <a:xfrm>
            <a:off x="0" y="6503670"/>
            <a:ext cx="12192000" cy="215444"/>
          </a:xfrm>
          <a:prstGeom prst="rect">
            <a:avLst/>
          </a:prstGeom>
        </p:spPr>
        <p:txBody>
          <a:bodyPr wrap="square">
            <a:spAutoFit/>
          </a:bodyPr>
          <a:lstStyle/>
          <a:p>
            <a:pPr algn="ctr"/>
            <a:r>
              <a:rPr lang="en-US" sz="800" dirty="0">
                <a:latin typeface="Arial" panose="020B0604020202020204" pitchFamily="34" charset="0"/>
                <a:cs typeface="Arial" panose="020B0604020202020204" pitchFamily="34" charset="0"/>
              </a:rPr>
              <a:t>Copyright © 2020 by Jones &amp; Bartlett Learning, LLC an Ascend Learning Company. www.jblearning.com. Background texture © </a:t>
            </a:r>
            <a:r>
              <a:rPr lang="en-US" sz="800" dirty="0" err="1">
                <a:latin typeface="Arial" panose="020B0604020202020204" pitchFamily="34" charset="0"/>
                <a:cs typeface="Arial" panose="020B0604020202020204" pitchFamily="34" charset="0"/>
              </a:rPr>
              <a:t>Bunphot</a:t>
            </a:r>
            <a:r>
              <a:rPr lang="en-US" sz="800" dirty="0">
                <a:latin typeface="Arial" panose="020B0604020202020204" pitchFamily="34" charset="0"/>
                <a:cs typeface="Arial" panose="020B0604020202020204" pitchFamily="34" charset="0"/>
              </a:rPr>
              <a:t>/Getty Images.</a:t>
            </a:r>
          </a:p>
        </p:txBody>
      </p:sp>
      <p:sp>
        <p:nvSpPr>
          <p:cNvPr id="6" name="Rectangle 5">
            <a:extLst>
              <a:ext uri="{FF2B5EF4-FFF2-40B4-BE49-F238E27FC236}">
                <a16:creationId xmlns:a16="http://schemas.microsoft.com/office/drawing/2014/main" id="{A4FD052D-18CE-1249-A891-AB3E165F4441}"/>
              </a:ext>
            </a:extLst>
          </p:cNvPr>
          <p:cNvSpPr/>
          <p:nvPr userDrawn="1"/>
        </p:nvSpPr>
        <p:spPr>
          <a:xfrm>
            <a:off x="0" y="2274570"/>
            <a:ext cx="12192000" cy="1760220"/>
          </a:xfrm>
          <a:prstGeom prst="rect">
            <a:avLst/>
          </a:prstGeom>
          <a:solidFill>
            <a:srgbClr val="003B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8C0E0F34-F7A9-8D4B-9F49-A76F8B00661D}"/>
              </a:ext>
            </a:extLst>
          </p:cNvPr>
          <p:cNvSpPr>
            <a:spLocks noGrp="1"/>
          </p:cNvSpPr>
          <p:nvPr>
            <p:ph type="body" sz="quarter" idx="10" hasCustomPrompt="1"/>
          </p:nvPr>
        </p:nvSpPr>
        <p:spPr>
          <a:xfrm>
            <a:off x="935038" y="2571750"/>
            <a:ext cx="10321925" cy="1165225"/>
          </a:xfrm>
        </p:spPr>
        <p:txBody>
          <a:bodyPr anchor="ctr" anchorCtr="0"/>
          <a:lstStyle>
            <a:lvl1pPr marL="0" indent="0" algn="ctr">
              <a:buNone/>
              <a:defRPr sz="4800" b="1">
                <a:solidFill>
                  <a:srgbClr val="FFFFFF"/>
                </a:solidFill>
              </a:defRPr>
            </a:lvl1pPr>
          </a:lstStyle>
          <a:p>
            <a:pPr lvl="0"/>
            <a:r>
              <a:rPr lang="en-US" dirty="0"/>
              <a:t>Divider</a:t>
            </a:r>
          </a:p>
        </p:txBody>
      </p:sp>
    </p:spTree>
    <p:extLst>
      <p:ext uri="{BB962C8B-B14F-4D97-AF65-F5344CB8AC3E}">
        <p14:creationId xmlns:p14="http://schemas.microsoft.com/office/powerpoint/2010/main" val="1830296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Click to edit Master title style</a:t>
            </a:r>
            <a:endParaRPr dirty="0"/>
          </a:p>
        </p:txBody>
      </p:sp>
      <p:sp>
        <p:nvSpPr>
          <p:cNvPr id="3" name="Content Placeholder 2"/>
          <p:cNvSpPr>
            <a:spLocks noGrp="1"/>
          </p:cNvSpPr>
          <p:nvPr>
            <p:ph idx="1"/>
          </p:nvPr>
        </p:nvSpPr>
        <p:spPr>
          <a:xfrm>
            <a:off x="925830" y="1490870"/>
            <a:ext cx="10287000" cy="4699047"/>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541333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Click to edit Master title style</a:t>
            </a:r>
            <a:endParaRPr dirty="0"/>
          </a:p>
        </p:txBody>
      </p:sp>
      <p:sp>
        <p:nvSpPr>
          <p:cNvPr id="3" name="Content Placeholder 2"/>
          <p:cNvSpPr>
            <a:spLocks noGrp="1"/>
          </p:cNvSpPr>
          <p:nvPr>
            <p:ph sz="half" idx="1"/>
          </p:nvPr>
        </p:nvSpPr>
        <p:spPr>
          <a:xfrm>
            <a:off x="914400" y="1461052"/>
            <a:ext cx="4855464" cy="472943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Content Placeholder 3"/>
          <p:cNvSpPr>
            <a:spLocks noGrp="1"/>
          </p:cNvSpPr>
          <p:nvPr>
            <p:ph sz="half" idx="2"/>
          </p:nvPr>
        </p:nvSpPr>
        <p:spPr>
          <a:xfrm>
            <a:off x="6415368" y="1461052"/>
            <a:ext cx="4862232" cy="472943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3201040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dirty="0"/>
          </a:p>
        </p:txBody>
      </p:sp>
      <p:sp>
        <p:nvSpPr>
          <p:cNvPr id="3" name="Text Placeholder 2"/>
          <p:cNvSpPr>
            <a:spLocks noGrp="1"/>
          </p:cNvSpPr>
          <p:nvPr>
            <p:ph type="body" idx="1"/>
          </p:nvPr>
        </p:nvSpPr>
        <p:spPr>
          <a:xfrm>
            <a:off x="777240" y="1496187"/>
            <a:ext cx="4992624" cy="470916"/>
          </a:xfrm>
        </p:spPr>
        <p:txBody>
          <a:bodyPr anchor="t" anchorCtr="0"/>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777240" y="2077278"/>
            <a:ext cx="4992624" cy="439083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11" name="Picture Placeholder 10">
            <a:extLst>
              <a:ext uri="{FF2B5EF4-FFF2-40B4-BE49-F238E27FC236}">
                <a16:creationId xmlns:a16="http://schemas.microsoft.com/office/drawing/2014/main" id="{A3169499-437D-8F4D-94AA-E2299357328F}"/>
              </a:ext>
            </a:extLst>
          </p:cNvPr>
          <p:cNvSpPr>
            <a:spLocks noGrp="1"/>
          </p:cNvSpPr>
          <p:nvPr>
            <p:ph type="pic" sz="quarter" idx="10"/>
          </p:nvPr>
        </p:nvSpPr>
        <p:spPr>
          <a:xfrm>
            <a:off x="6096000" y="1496186"/>
            <a:ext cx="5208588" cy="4556743"/>
          </a:xfrm>
        </p:spPr>
        <p:txBody>
          <a:bodyPr/>
          <a:lstStyle/>
          <a:p>
            <a:endParaRPr lang="en-US"/>
          </a:p>
        </p:txBody>
      </p:sp>
      <p:sp>
        <p:nvSpPr>
          <p:cNvPr id="12" name="Text Placeholder 8">
            <a:extLst>
              <a:ext uri="{FF2B5EF4-FFF2-40B4-BE49-F238E27FC236}">
                <a16:creationId xmlns:a16="http://schemas.microsoft.com/office/drawing/2014/main" id="{B116746D-2971-C346-AB96-03BED323E049}"/>
              </a:ext>
            </a:extLst>
          </p:cNvPr>
          <p:cNvSpPr>
            <a:spLocks noGrp="1"/>
          </p:cNvSpPr>
          <p:nvPr>
            <p:ph type="body" sz="quarter" idx="11" hasCustomPrompt="1"/>
          </p:nvPr>
        </p:nvSpPr>
        <p:spPr>
          <a:xfrm>
            <a:off x="6096000" y="6142515"/>
            <a:ext cx="5208588" cy="651192"/>
          </a:xfrm>
        </p:spPr>
        <p:txBody>
          <a:bodyPr/>
          <a:lstStyle>
            <a:lvl1pPr marL="0" indent="0">
              <a:buNone/>
              <a:defRPr sz="1000"/>
            </a:lvl1pPr>
          </a:lstStyle>
          <a:p>
            <a:pPr lvl="0"/>
            <a:r>
              <a:rPr lang="en-US" dirty="0"/>
              <a:t>Credit line FPO</a:t>
            </a:r>
          </a:p>
        </p:txBody>
      </p:sp>
    </p:spTree>
    <p:extLst>
      <p:ext uri="{BB962C8B-B14F-4D97-AF65-F5344CB8AC3E}">
        <p14:creationId xmlns:p14="http://schemas.microsoft.com/office/powerpoint/2010/main" val="4261286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Click to edit Master title style</a:t>
            </a:r>
            <a:endParaRPr dirty="0"/>
          </a:p>
        </p:txBody>
      </p:sp>
    </p:spTree>
    <p:extLst>
      <p:ext uri="{BB962C8B-B14F-4D97-AF65-F5344CB8AC3E}">
        <p14:creationId xmlns:p14="http://schemas.microsoft.com/office/powerpoint/2010/main" val="2641611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rPr lang="en-US"/>
              <a:t>Click to edit Master title style</a:t>
            </a:r>
            <a:endParaRPr/>
          </a:p>
        </p:txBody>
      </p:sp>
      <p:sp>
        <p:nvSpPr>
          <p:cNvPr id="4" name="Text Placeholder 2"/>
          <p:cNvSpPr>
            <a:spLocks noGrp="1"/>
          </p:cNvSpPr>
          <p:nvPr>
            <p:ph type="body" sz="half" idx="2"/>
          </p:nvPr>
        </p:nvSpPr>
        <p:spPr>
          <a:xfrm>
            <a:off x="880110" y="1510748"/>
            <a:ext cx="4246582" cy="4404625"/>
          </a:xfrm>
        </p:spPr>
        <p:txBody>
          <a:bodyPr>
            <a:normAutofit/>
          </a:bodyPr>
          <a:lstStyle>
            <a:lvl1pPr marL="0" indent="0">
              <a:spcBef>
                <a:spcPts val="1500"/>
              </a:spcBef>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Text Placeholder 8">
            <a:extLst>
              <a:ext uri="{FF2B5EF4-FFF2-40B4-BE49-F238E27FC236}">
                <a16:creationId xmlns:a16="http://schemas.microsoft.com/office/drawing/2014/main" id="{752B3F09-47B3-324C-BCD8-DE2A52443CC0}"/>
              </a:ext>
            </a:extLst>
          </p:cNvPr>
          <p:cNvSpPr>
            <a:spLocks noGrp="1"/>
          </p:cNvSpPr>
          <p:nvPr>
            <p:ph type="body" sz="quarter" idx="10" hasCustomPrompt="1"/>
          </p:nvPr>
        </p:nvSpPr>
        <p:spPr>
          <a:xfrm>
            <a:off x="5518150" y="6046788"/>
            <a:ext cx="5792992" cy="651192"/>
          </a:xfrm>
        </p:spPr>
        <p:txBody>
          <a:bodyPr/>
          <a:lstStyle>
            <a:lvl1pPr marL="0" indent="0">
              <a:buNone/>
              <a:defRPr sz="1000"/>
            </a:lvl1pPr>
          </a:lstStyle>
          <a:p>
            <a:pPr lvl="0"/>
            <a:r>
              <a:rPr lang="en-US" dirty="0"/>
              <a:t>Credit line FPO</a:t>
            </a:r>
          </a:p>
        </p:txBody>
      </p:sp>
      <p:sp>
        <p:nvSpPr>
          <p:cNvPr id="11" name="Picture Placeholder 10">
            <a:extLst>
              <a:ext uri="{FF2B5EF4-FFF2-40B4-BE49-F238E27FC236}">
                <a16:creationId xmlns:a16="http://schemas.microsoft.com/office/drawing/2014/main" id="{8A3226D5-00A8-E049-8469-4BFBE39DD467}"/>
              </a:ext>
            </a:extLst>
          </p:cNvPr>
          <p:cNvSpPr>
            <a:spLocks noGrp="1"/>
          </p:cNvSpPr>
          <p:nvPr>
            <p:ph type="pic" sz="quarter" idx="11"/>
          </p:nvPr>
        </p:nvSpPr>
        <p:spPr>
          <a:xfrm>
            <a:off x="5518150" y="1508815"/>
            <a:ext cx="5792788" cy="4404624"/>
          </a:xfrm>
        </p:spPr>
        <p:txBody>
          <a:bodyPr/>
          <a:lstStyle/>
          <a:p>
            <a:endParaRPr lang="en-US"/>
          </a:p>
        </p:txBody>
      </p:sp>
    </p:spTree>
    <p:extLst>
      <p:ext uri="{BB962C8B-B14F-4D97-AF65-F5344CB8AC3E}">
        <p14:creationId xmlns:p14="http://schemas.microsoft.com/office/powerpoint/2010/main" val="3114742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rPr lang="en-US"/>
              <a:t>Click to edit Master title style</a:t>
            </a:r>
            <a:endParaRPr/>
          </a:p>
        </p:txBody>
      </p:sp>
      <p:sp>
        <p:nvSpPr>
          <p:cNvPr id="3" name="Content Placeholder 3"/>
          <p:cNvSpPr>
            <a:spLocks noGrp="1"/>
          </p:cNvSpPr>
          <p:nvPr>
            <p:ph idx="1" hasCustomPrompt="1"/>
          </p:nvPr>
        </p:nvSpPr>
        <p:spPr>
          <a:xfrm>
            <a:off x="921496" y="1461052"/>
            <a:ext cx="3181874" cy="4895328"/>
          </a:xfrm>
        </p:spPr>
        <p:txBody>
          <a:bodyPr>
            <a:normAutofit/>
          </a:bodyPr>
          <a:lstStyle>
            <a:lvl1pPr marL="0" indent="0">
              <a:buNone/>
              <a:defRPr sz="2200"/>
            </a:lvl1pPr>
            <a:lvl2pPr marL="457200" indent="0">
              <a:buNone/>
              <a:defRPr sz="2000"/>
            </a:lvl2pPr>
            <a:lvl3pPr marL="914400" indent="0">
              <a:buNone/>
              <a:defRPr sz="1800"/>
            </a:lvl3pPr>
            <a:lvl4pPr marL="1371600" indent="0">
              <a:buNone/>
              <a:defRPr sz="1600"/>
            </a:lvl4pPr>
            <a:lvl5pPr marL="1828800" indent="0">
              <a:buNone/>
              <a:defRPr sz="1600"/>
            </a:lvl5pPr>
            <a:lvl6pPr>
              <a:defRPr sz="1600"/>
            </a:lvl6pPr>
            <a:lvl7pPr>
              <a:defRPr sz="1600"/>
            </a:lvl7pPr>
            <a:lvl8pPr>
              <a:defRPr sz="1600"/>
            </a:lvl8pPr>
            <a:lvl9pPr>
              <a:defRPr sz="1600"/>
            </a:lvl9pPr>
          </a:lstStyle>
          <a:p>
            <a:pPr lvl="0"/>
            <a:r>
              <a:rPr lang="en-US" dirty="0"/>
              <a:t>Sample text</a:t>
            </a:r>
            <a:endParaRPr dirty="0"/>
          </a:p>
        </p:txBody>
      </p:sp>
      <p:sp>
        <p:nvSpPr>
          <p:cNvPr id="7" name="Content Placeholder 3">
            <a:extLst>
              <a:ext uri="{FF2B5EF4-FFF2-40B4-BE49-F238E27FC236}">
                <a16:creationId xmlns:a16="http://schemas.microsoft.com/office/drawing/2014/main" id="{40A1ED7B-82D7-5A47-A193-C7C24693D3C4}"/>
              </a:ext>
            </a:extLst>
          </p:cNvPr>
          <p:cNvSpPr>
            <a:spLocks noGrp="1"/>
          </p:cNvSpPr>
          <p:nvPr>
            <p:ph idx="10" hasCustomPrompt="1"/>
          </p:nvPr>
        </p:nvSpPr>
        <p:spPr>
          <a:xfrm>
            <a:off x="4487656" y="1461052"/>
            <a:ext cx="3181874" cy="4895328"/>
          </a:xfrm>
        </p:spPr>
        <p:txBody>
          <a:bodyPr>
            <a:normAutofit/>
          </a:bodyPr>
          <a:lstStyle>
            <a:lvl1pPr marL="0" indent="0">
              <a:buNone/>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Sample text</a:t>
            </a:r>
          </a:p>
        </p:txBody>
      </p:sp>
      <p:sp>
        <p:nvSpPr>
          <p:cNvPr id="8" name="Content Placeholder 3">
            <a:extLst>
              <a:ext uri="{FF2B5EF4-FFF2-40B4-BE49-F238E27FC236}">
                <a16:creationId xmlns:a16="http://schemas.microsoft.com/office/drawing/2014/main" id="{43872FE9-5E92-4F44-8A71-024A081C439C}"/>
              </a:ext>
            </a:extLst>
          </p:cNvPr>
          <p:cNvSpPr>
            <a:spLocks noGrp="1"/>
          </p:cNvSpPr>
          <p:nvPr>
            <p:ph idx="11" hasCustomPrompt="1"/>
          </p:nvPr>
        </p:nvSpPr>
        <p:spPr>
          <a:xfrm>
            <a:off x="8053816" y="1461052"/>
            <a:ext cx="3181874" cy="4895328"/>
          </a:xfrm>
        </p:spPr>
        <p:txBody>
          <a:bodyPr>
            <a:normAutofit/>
          </a:bodyPr>
          <a:lstStyle>
            <a:lvl1pPr marL="0" indent="0">
              <a:buNone/>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Sample text</a:t>
            </a:r>
          </a:p>
        </p:txBody>
      </p:sp>
    </p:spTree>
    <p:extLst>
      <p:ext uri="{BB962C8B-B14F-4D97-AF65-F5344CB8AC3E}">
        <p14:creationId xmlns:p14="http://schemas.microsoft.com/office/powerpoint/2010/main" val="3111696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p:cNvSpPr/>
          <p:nvPr/>
        </p:nvSpPr>
        <p:spPr>
          <a:xfrm>
            <a:off x="0" y="0"/>
            <a:ext cx="12188952" cy="118872"/>
          </a:xfrm>
          <a:prstGeom prst="rect">
            <a:avLst/>
          </a:prstGeom>
          <a:solidFill>
            <a:srgbClr val="FFC4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2" name="Title Placeholder 1"/>
          <p:cNvSpPr>
            <a:spLocks noGrp="1"/>
          </p:cNvSpPr>
          <p:nvPr>
            <p:ph type="title"/>
          </p:nvPr>
        </p:nvSpPr>
        <p:spPr bwMode="black">
          <a:xfrm>
            <a:off x="0" y="121033"/>
            <a:ext cx="12192000" cy="1002089"/>
          </a:xfrm>
          <a:prstGeom prst="rect">
            <a:avLst/>
          </a:prstGeom>
          <a:solidFill>
            <a:srgbClr val="003B74"/>
          </a:solidFill>
        </p:spPr>
        <p:txBody>
          <a:bodyPr vert="horz" lIns="914400" tIns="45720" rIns="914400" bIns="45720" rtlCol="0" anchor="ctr">
            <a:normAutofit/>
          </a:bodyPr>
          <a:lstStyle/>
          <a:p>
            <a:r>
              <a:rPr lang="en-US" dirty="0"/>
              <a:t>Click to edit Master title style</a:t>
            </a:r>
            <a:endParaRPr dirty="0"/>
          </a:p>
        </p:txBody>
      </p:sp>
      <p:sp>
        <p:nvSpPr>
          <p:cNvPr id="3" name="Text Placeholder 2"/>
          <p:cNvSpPr>
            <a:spLocks noGrp="1"/>
          </p:cNvSpPr>
          <p:nvPr>
            <p:ph type="body" idx="1"/>
          </p:nvPr>
        </p:nvSpPr>
        <p:spPr>
          <a:xfrm>
            <a:off x="891540" y="2203704"/>
            <a:ext cx="10435590" cy="3986213"/>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7" name="Rectangle 6">
            <a:extLst>
              <a:ext uri="{FF2B5EF4-FFF2-40B4-BE49-F238E27FC236}">
                <a16:creationId xmlns:a16="http://schemas.microsoft.com/office/drawing/2014/main" id="{21F38BD8-3F75-CE4C-AFEF-0C6B45F77F8C}"/>
              </a:ext>
            </a:extLst>
          </p:cNvPr>
          <p:cNvSpPr/>
          <p:nvPr userDrawn="1"/>
        </p:nvSpPr>
        <p:spPr>
          <a:xfrm rot="5400000">
            <a:off x="9544258" y="4245031"/>
            <a:ext cx="5010495" cy="215444"/>
          </a:xfrm>
          <a:prstGeom prst="rect">
            <a:avLst/>
          </a:prstGeom>
        </p:spPr>
        <p:txBody>
          <a:bodyPr wrap="square">
            <a:spAutoFit/>
          </a:bodyPr>
          <a:lstStyle/>
          <a:p>
            <a:r>
              <a:rPr lang="en-US" sz="800" dirty="0">
                <a:latin typeface="Arial" panose="020B0604020202020204" pitchFamily="34" charset="0"/>
                <a:cs typeface="Arial" panose="020B0604020202020204" pitchFamily="34" charset="0"/>
              </a:rPr>
              <a:t>Copyright © 2022 by Jones &amp; Bartlett Learning, LLC an Ascend Learning Company. </a:t>
            </a:r>
            <a:r>
              <a:rPr lang="en-US" sz="800" dirty="0" err="1">
                <a:latin typeface="Arial" panose="020B0604020202020204" pitchFamily="34" charset="0"/>
                <a:cs typeface="Arial" panose="020B0604020202020204" pitchFamily="34" charset="0"/>
              </a:rPr>
              <a:t>www.jblearning.com</a:t>
            </a:r>
            <a:endParaRPr lang="en-US" sz="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71921020"/>
      </p:ext>
    </p:extLst>
  </p:cSld>
  <p:clrMap bg1="lt1" tx1="dk1" bg2="lt2" tx2="dk2" accent1="accent1" accent2="accent2" accent3="accent3" accent4="accent4" accent5="accent5" accent6="accent6" hlink="hlink" folHlink="folHlink"/>
  <p:sldLayoutIdLst>
    <p:sldLayoutId id="2147483649" r:id="rId1"/>
    <p:sldLayoutId id="2147483655" r:id="rId2"/>
    <p:sldLayoutId id="2147483650" r:id="rId3"/>
    <p:sldLayoutId id="2147483652" r:id="rId4"/>
    <p:sldLayoutId id="2147483653" r:id="rId5"/>
    <p:sldLayoutId id="2147483654" r:id="rId6"/>
    <p:sldLayoutId id="2147483656" r:id="rId7"/>
    <p:sldLayoutId id="2147483657" r:id="rId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5000"/>
        </a:lnSpc>
        <a:spcBef>
          <a:spcPct val="0"/>
        </a:spcBef>
        <a:buNone/>
        <a:defRPr sz="3000" b="1" kern="1200">
          <a:solidFill>
            <a:schemeClr val="bg2"/>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100000"/>
        </a:lnSpc>
        <a:spcBef>
          <a:spcPts val="1500"/>
        </a:spcBef>
        <a:buFont typeface="Wingdings" panose="05000000000000000000" pitchFamily="2" charset="2"/>
        <a:buChar char="§"/>
        <a:defRPr sz="22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3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300"/>
        </a:spcBef>
        <a:buFont typeface="Wingdings" panose="05000000000000000000" pitchFamily="2" charset="2"/>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6pPr>
      <a:lvl7pPr marL="29718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7pPr>
      <a:lvl8pPr marL="34290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8pPr>
      <a:lvl9pPr marL="3886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7.jpe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10.jpe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ubtitle 14">
            <a:extLst>
              <a:ext uri="{FF2B5EF4-FFF2-40B4-BE49-F238E27FC236}">
                <a16:creationId xmlns:a16="http://schemas.microsoft.com/office/drawing/2014/main" id="{CF4F1586-DE6A-1A40-AEF4-23ADA41937E4}"/>
              </a:ext>
            </a:extLst>
          </p:cNvPr>
          <p:cNvSpPr>
            <a:spLocks noGrp="1"/>
          </p:cNvSpPr>
          <p:nvPr>
            <p:ph type="subTitle" idx="1"/>
          </p:nvPr>
        </p:nvSpPr>
        <p:spPr/>
        <p:txBody>
          <a:bodyPr/>
          <a:lstStyle/>
          <a:p>
            <a:r>
              <a:rPr lang="en-US" dirty="0"/>
              <a:t>CHAPTER 9</a:t>
            </a:r>
          </a:p>
        </p:txBody>
      </p:sp>
      <p:sp>
        <p:nvSpPr>
          <p:cNvPr id="19" name="Title 18">
            <a:extLst>
              <a:ext uri="{FF2B5EF4-FFF2-40B4-BE49-F238E27FC236}">
                <a16:creationId xmlns:a16="http://schemas.microsoft.com/office/drawing/2014/main" id="{A58A35F8-EA88-094E-8EAD-88FE6A07C447}"/>
              </a:ext>
            </a:extLst>
          </p:cNvPr>
          <p:cNvSpPr>
            <a:spLocks noGrp="1"/>
          </p:cNvSpPr>
          <p:nvPr>
            <p:ph type="ctrTitle"/>
          </p:nvPr>
        </p:nvSpPr>
        <p:spPr/>
        <p:txBody>
          <a:bodyPr/>
          <a:lstStyle/>
          <a:p>
            <a:r>
              <a:rPr lang="en-US" dirty="0"/>
              <a:t>Patient Assessment</a:t>
            </a:r>
          </a:p>
        </p:txBody>
      </p:sp>
      <p:pic>
        <p:nvPicPr>
          <p:cNvPr id="6" name="Picture 5" descr="A cover page shows the logo of A A O S on the left end with the text American Academy of Orthopaedic Surgeons below it. The book title reads, Seventh Edition, Emergency Medical Responder, Your First Response in Emergency Care, authored by David Schottke; Series Editor: Andrew N. Pollak, MD, FAAOS . At the bottom is the logo of Navigate eBook.">
            <a:extLst>
              <a:ext uri="{FF2B5EF4-FFF2-40B4-BE49-F238E27FC236}">
                <a16:creationId xmlns:a16="http://schemas.microsoft.com/office/drawing/2014/main" id="{A8280651-A45A-1342-9DDA-D8CFB0746F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73715" y="0"/>
            <a:ext cx="5618285" cy="6858000"/>
          </a:xfrm>
          <a:prstGeom prst="rect">
            <a:avLst/>
          </a:prstGeom>
        </p:spPr>
      </p:pic>
    </p:spTree>
    <p:extLst>
      <p:ext uri="{BB962C8B-B14F-4D97-AF65-F5344CB8AC3E}">
        <p14:creationId xmlns:p14="http://schemas.microsoft.com/office/powerpoint/2010/main" val="1732698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a:extLst>
              <a:ext uri="{FF2B5EF4-FFF2-40B4-BE49-F238E27FC236}">
                <a16:creationId xmlns:a16="http://schemas.microsoft.com/office/drawing/2014/main" id="{AE08048F-FDAD-0240-BCAB-9A60E0232230}"/>
              </a:ext>
            </a:extLst>
          </p:cNvPr>
          <p:cNvSpPr>
            <a:spLocks noGrp="1" noChangeArrowheads="1"/>
          </p:cNvSpPr>
          <p:nvPr>
            <p:ph type="title"/>
          </p:nvPr>
        </p:nvSpPr>
        <p:spPr/>
        <p:txBody>
          <a:bodyPr/>
          <a:lstStyle/>
          <a:p>
            <a:pPr eaLnBrk="1" hangingPunct="1">
              <a:lnSpc>
                <a:spcPct val="85000"/>
              </a:lnSpc>
              <a:defRPr/>
            </a:pPr>
            <a:r>
              <a:rPr lang="en-US" dirty="0"/>
              <a:t>National EMS Education Standard Competencies </a:t>
            </a:r>
            <a:r>
              <a:rPr lang="en-US" sz="2800" b="0" dirty="0"/>
              <a:t>(1 of 5)</a:t>
            </a:r>
          </a:p>
        </p:txBody>
      </p:sp>
      <p:sp>
        <p:nvSpPr>
          <p:cNvPr id="5122" name="Rectangle 3">
            <a:extLst>
              <a:ext uri="{FF2B5EF4-FFF2-40B4-BE49-F238E27FC236}">
                <a16:creationId xmlns:a16="http://schemas.microsoft.com/office/drawing/2014/main" id="{7B4C4111-DD7F-0F4F-A3E7-76B7A81A3F02}"/>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marL="0" indent="0">
              <a:buNone/>
            </a:pPr>
            <a:r>
              <a:rPr lang="en-US" altLang="en-US" dirty="0">
                <a:latin typeface="Arial Black" panose="020B0604020202020204" pitchFamily="34" charset="0"/>
              </a:rPr>
              <a:t>Assessment</a:t>
            </a:r>
          </a:p>
          <a:p>
            <a:pPr marL="0" indent="0">
              <a:spcBef>
                <a:spcPct val="35000"/>
              </a:spcBef>
              <a:buNone/>
            </a:pPr>
            <a:r>
              <a:rPr lang="en-US" altLang="en-US" dirty="0"/>
              <a:t>Use scene information and simple patient assessment findings to identify and manage immediate life threats and injuries within scope and practice of the EMR.</a:t>
            </a:r>
          </a:p>
        </p:txBody>
      </p:sp>
    </p:spTree>
    <p:extLst>
      <p:ext uri="{BB962C8B-B14F-4D97-AF65-F5344CB8AC3E}">
        <p14:creationId xmlns:p14="http://schemas.microsoft.com/office/powerpoint/2010/main" val="511735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a:extLst>
              <a:ext uri="{FF2B5EF4-FFF2-40B4-BE49-F238E27FC236}">
                <a16:creationId xmlns:a16="http://schemas.microsoft.com/office/drawing/2014/main" id="{DB832DD4-337C-4A4B-B86D-5F4D1756B127}"/>
              </a:ext>
            </a:extLst>
          </p:cNvPr>
          <p:cNvSpPr>
            <a:spLocks noGrp="1" noChangeArrowheads="1"/>
          </p:cNvSpPr>
          <p:nvPr>
            <p:ph type="title"/>
          </p:nvPr>
        </p:nvSpPr>
        <p:spPr/>
        <p:txBody>
          <a:bodyPr/>
          <a:lstStyle/>
          <a:p>
            <a:pPr eaLnBrk="1" hangingPunct="1">
              <a:lnSpc>
                <a:spcPct val="85000"/>
              </a:lnSpc>
              <a:defRPr/>
            </a:pPr>
            <a:r>
              <a:rPr lang="en-US" dirty="0"/>
              <a:t>National EMS Education Standard Competencies </a:t>
            </a:r>
            <a:r>
              <a:rPr lang="en-US" sz="2800" b="0" dirty="0"/>
              <a:t>(2 of 5)</a:t>
            </a:r>
          </a:p>
        </p:txBody>
      </p:sp>
      <p:sp>
        <p:nvSpPr>
          <p:cNvPr id="7170" name="Rectangle 3">
            <a:extLst>
              <a:ext uri="{FF2B5EF4-FFF2-40B4-BE49-F238E27FC236}">
                <a16:creationId xmlns:a16="http://schemas.microsoft.com/office/drawing/2014/main" id="{4DDC7E07-0FFF-2B41-A398-90819247C27A}"/>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buFontTx/>
              <a:buNone/>
            </a:pPr>
            <a:r>
              <a:rPr lang="en-US" altLang="en-US" b="1" dirty="0"/>
              <a:t>Scene Size-Up</a:t>
            </a:r>
          </a:p>
          <a:p>
            <a:pPr eaLnBrk="1" hangingPunct="1">
              <a:spcBef>
                <a:spcPct val="35000"/>
              </a:spcBef>
            </a:pPr>
            <a:r>
              <a:rPr lang="en-US" altLang="en-US" dirty="0"/>
              <a:t>Ensure scene safety.</a:t>
            </a:r>
          </a:p>
          <a:p>
            <a:pPr eaLnBrk="1" hangingPunct="1">
              <a:spcBef>
                <a:spcPct val="35000"/>
              </a:spcBef>
            </a:pPr>
            <a:r>
              <a:rPr lang="en-US" altLang="en-US" dirty="0"/>
              <a:t>Determine MOI/NOI.</a:t>
            </a:r>
          </a:p>
          <a:p>
            <a:pPr eaLnBrk="1" hangingPunct="1">
              <a:spcBef>
                <a:spcPct val="35000"/>
              </a:spcBef>
            </a:pPr>
            <a:r>
              <a:rPr lang="en-US" altLang="en-US" dirty="0"/>
              <a:t>Take standard precautions.</a:t>
            </a:r>
          </a:p>
          <a:p>
            <a:pPr eaLnBrk="1" hangingPunct="1">
              <a:spcBef>
                <a:spcPct val="35000"/>
              </a:spcBef>
            </a:pPr>
            <a:r>
              <a:rPr lang="en-US" altLang="en-US" dirty="0"/>
              <a:t>Determine number of patients.</a:t>
            </a:r>
          </a:p>
          <a:p>
            <a:pPr eaLnBrk="1" hangingPunct="1">
              <a:spcBef>
                <a:spcPct val="35000"/>
              </a:spcBef>
            </a:pPr>
            <a:r>
              <a:rPr lang="en-US" altLang="en-US" dirty="0"/>
              <a:t>Consider additional resources.</a:t>
            </a:r>
          </a:p>
        </p:txBody>
      </p:sp>
    </p:spTree>
    <p:extLst>
      <p:ext uri="{BB962C8B-B14F-4D97-AF65-F5344CB8AC3E}">
        <p14:creationId xmlns:p14="http://schemas.microsoft.com/office/powerpoint/2010/main" val="3061043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a:extLst>
              <a:ext uri="{FF2B5EF4-FFF2-40B4-BE49-F238E27FC236}">
                <a16:creationId xmlns:a16="http://schemas.microsoft.com/office/drawing/2014/main" id="{E4405812-EAF5-4544-9D12-32DE7FAEEB61}"/>
              </a:ext>
            </a:extLst>
          </p:cNvPr>
          <p:cNvSpPr>
            <a:spLocks noGrp="1" noChangeArrowheads="1"/>
          </p:cNvSpPr>
          <p:nvPr>
            <p:ph type="title"/>
          </p:nvPr>
        </p:nvSpPr>
        <p:spPr/>
        <p:txBody>
          <a:bodyPr/>
          <a:lstStyle/>
          <a:p>
            <a:pPr eaLnBrk="1" hangingPunct="1">
              <a:lnSpc>
                <a:spcPct val="85000"/>
              </a:lnSpc>
              <a:defRPr/>
            </a:pPr>
            <a:r>
              <a:rPr lang="en-US" dirty="0"/>
              <a:t>National EMS Education Standard Competencies </a:t>
            </a:r>
            <a:r>
              <a:rPr lang="en-US" sz="2800" b="0" dirty="0"/>
              <a:t>(3 of 5)</a:t>
            </a:r>
          </a:p>
        </p:txBody>
      </p:sp>
      <p:sp>
        <p:nvSpPr>
          <p:cNvPr id="9218" name="Rectangle 3">
            <a:extLst>
              <a:ext uri="{FF2B5EF4-FFF2-40B4-BE49-F238E27FC236}">
                <a16:creationId xmlns:a16="http://schemas.microsoft.com/office/drawing/2014/main" id="{5D6990DE-3238-9347-8461-FFFF4843BA3E}"/>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buFontTx/>
              <a:buNone/>
            </a:pPr>
            <a:r>
              <a:rPr lang="en-US" altLang="en-US" b="1" dirty="0"/>
              <a:t>Primary Assessment</a:t>
            </a:r>
          </a:p>
          <a:p>
            <a:pPr eaLnBrk="1" hangingPunct="1">
              <a:spcBef>
                <a:spcPct val="35000"/>
              </a:spcBef>
            </a:pPr>
            <a:r>
              <a:rPr lang="en-US" altLang="en-US" dirty="0"/>
              <a:t>Form a general impression.</a:t>
            </a:r>
          </a:p>
          <a:p>
            <a:pPr eaLnBrk="1" hangingPunct="1">
              <a:spcBef>
                <a:spcPct val="35000"/>
              </a:spcBef>
            </a:pPr>
            <a:r>
              <a:rPr lang="en-US" altLang="en-US" dirty="0"/>
              <a:t>Assess level of responsiveness.</a:t>
            </a:r>
          </a:p>
          <a:p>
            <a:pPr eaLnBrk="1" hangingPunct="1">
              <a:spcBef>
                <a:spcPct val="35000"/>
              </a:spcBef>
            </a:pPr>
            <a:r>
              <a:rPr lang="en-US" altLang="en-US" dirty="0"/>
              <a:t>Perform rapid exam to identify life threats.</a:t>
            </a:r>
          </a:p>
          <a:p>
            <a:pPr lvl="1" eaLnBrk="1" hangingPunct="1">
              <a:spcBef>
                <a:spcPct val="35000"/>
              </a:spcBef>
            </a:pPr>
            <a:r>
              <a:rPr lang="en-US" altLang="en-US" dirty="0"/>
              <a:t>Assess airway.</a:t>
            </a:r>
          </a:p>
          <a:p>
            <a:pPr lvl="1" eaLnBrk="1" hangingPunct="1">
              <a:spcBef>
                <a:spcPct val="35000"/>
              </a:spcBef>
            </a:pPr>
            <a:r>
              <a:rPr lang="en-US" altLang="en-US" dirty="0"/>
              <a:t>Assess breathing.</a:t>
            </a:r>
          </a:p>
          <a:p>
            <a:pPr lvl="1" eaLnBrk="1" hangingPunct="1">
              <a:spcBef>
                <a:spcPct val="35000"/>
              </a:spcBef>
            </a:pPr>
            <a:r>
              <a:rPr lang="en-US" altLang="en-US" dirty="0"/>
              <a:t>Assess circulation.</a:t>
            </a:r>
          </a:p>
          <a:p>
            <a:pPr eaLnBrk="1" hangingPunct="1">
              <a:spcBef>
                <a:spcPct val="35000"/>
              </a:spcBef>
            </a:pPr>
            <a:r>
              <a:rPr lang="en-US" altLang="en-US" dirty="0"/>
              <a:t>Update responding EMS units.</a:t>
            </a:r>
          </a:p>
        </p:txBody>
      </p:sp>
    </p:spTree>
    <p:extLst>
      <p:ext uri="{BB962C8B-B14F-4D97-AF65-F5344CB8AC3E}">
        <p14:creationId xmlns:p14="http://schemas.microsoft.com/office/powerpoint/2010/main" val="756313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a:extLst>
              <a:ext uri="{FF2B5EF4-FFF2-40B4-BE49-F238E27FC236}">
                <a16:creationId xmlns:a16="http://schemas.microsoft.com/office/drawing/2014/main" id="{79F8A071-A2B2-DF4D-A775-BAC4FB739A6B}"/>
              </a:ext>
            </a:extLst>
          </p:cNvPr>
          <p:cNvSpPr>
            <a:spLocks noGrp="1" noChangeArrowheads="1"/>
          </p:cNvSpPr>
          <p:nvPr>
            <p:ph type="title"/>
          </p:nvPr>
        </p:nvSpPr>
        <p:spPr/>
        <p:txBody>
          <a:bodyPr/>
          <a:lstStyle/>
          <a:p>
            <a:pPr eaLnBrk="1" hangingPunct="1">
              <a:lnSpc>
                <a:spcPct val="85000"/>
              </a:lnSpc>
              <a:defRPr/>
            </a:pPr>
            <a:r>
              <a:rPr lang="en-US" dirty="0"/>
              <a:t>National EMS Education Standard Competencies </a:t>
            </a:r>
            <a:r>
              <a:rPr lang="en-US" sz="2800" b="0" dirty="0"/>
              <a:t>(4 of 5)</a:t>
            </a:r>
          </a:p>
        </p:txBody>
      </p:sp>
      <p:sp>
        <p:nvSpPr>
          <p:cNvPr id="11266" name="Rectangle 3">
            <a:extLst>
              <a:ext uri="{FF2B5EF4-FFF2-40B4-BE49-F238E27FC236}">
                <a16:creationId xmlns:a16="http://schemas.microsoft.com/office/drawing/2014/main" id="{88DAE8A8-10FF-AC4B-ABB3-378E5A5F9DE2}"/>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buFontTx/>
              <a:buNone/>
            </a:pPr>
            <a:r>
              <a:rPr lang="en-US" altLang="en-US" b="1" dirty="0"/>
              <a:t>History Taking</a:t>
            </a:r>
          </a:p>
          <a:p>
            <a:pPr eaLnBrk="1" hangingPunct="1">
              <a:spcBef>
                <a:spcPct val="35000"/>
              </a:spcBef>
            </a:pPr>
            <a:r>
              <a:rPr lang="en-US" altLang="en-US" dirty="0"/>
              <a:t>Investigate chief complaint (SAMPLE history).</a:t>
            </a:r>
          </a:p>
          <a:p>
            <a:pPr eaLnBrk="1" hangingPunct="1">
              <a:spcBef>
                <a:spcPct val="35000"/>
              </a:spcBef>
            </a:pPr>
            <a:endParaRPr lang="en-US" altLang="en-US" dirty="0"/>
          </a:p>
        </p:txBody>
      </p:sp>
    </p:spTree>
    <p:extLst>
      <p:ext uri="{BB962C8B-B14F-4D97-AF65-F5344CB8AC3E}">
        <p14:creationId xmlns:p14="http://schemas.microsoft.com/office/powerpoint/2010/main" val="102858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a:extLst>
              <a:ext uri="{FF2B5EF4-FFF2-40B4-BE49-F238E27FC236}">
                <a16:creationId xmlns:a16="http://schemas.microsoft.com/office/drawing/2014/main" id="{B0AFE19C-AEDC-DF47-8BA0-8908E2F776D6}"/>
              </a:ext>
            </a:extLst>
          </p:cNvPr>
          <p:cNvSpPr>
            <a:spLocks noGrp="1" noChangeArrowheads="1"/>
          </p:cNvSpPr>
          <p:nvPr>
            <p:ph type="title"/>
          </p:nvPr>
        </p:nvSpPr>
        <p:spPr/>
        <p:txBody>
          <a:bodyPr/>
          <a:lstStyle/>
          <a:p>
            <a:pPr eaLnBrk="1" hangingPunct="1">
              <a:lnSpc>
                <a:spcPct val="85000"/>
              </a:lnSpc>
              <a:defRPr/>
            </a:pPr>
            <a:r>
              <a:rPr lang="en-US" dirty="0"/>
              <a:t>National EMS Education Standard Competencies </a:t>
            </a:r>
            <a:r>
              <a:rPr lang="en-US" sz="2800" b="0" dirty="0"/>
              <a:t>(5 of 5)</a:t>
            </a:r>
          </a:p>
        </p:txBody>
      </p:sp>
      <p:sp>
        <p:nvSpPr>
          <p:cNvPr id="13314" name="Rectangle 3">
            <a:extLst>
              <a:ext uri="{FF2B5EF4-FFF2-40B4-BE49-F238E27FC236}">
                <a16:creationId xmlns:a16="http://schemas.microsoft.com/office/drawing/2014/main" id="{FE604149-2D84-CD40-8852-905A80F1F14E}"/>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buFontTx/>
              <a:buNone/>
            </a:pPr>
            <a:r>
              <a:rPr lang="en-US" altLang="en-US" b="1" dirty="0"/>
              <a:t>Secondary Assessment</a:t>
            </a:r>
          </a:p>
          <a:p>
            <a:pPr eaLnBrk="1" hangingPunct="1">
              <a:spcBef>
                <a:spcPct val="35000"/>
              </a:spcBef>
            </a:pPr>
            <a:r>
              <a:rPr lang="en-US" altLang="en-US" dirty="0"/>
              <a:t>Systematically assess patient.</a:t>
            </a:r>
          </a:p>
          <a:p>
            <a:pPr eaLnBrk="1" hangingPunct="1">
              <a:spcBef>
                <a:spcPct val="35000"/>
              </a:spcBef>
            </a:pPr>
            <a:r>
              <a:rPr lang="en-US" altLang="en-US" dirty="0"/>
              <a:t>Assess vital signs.</a:t>
            </a:r>
            <a:endParaRPr lang="en-US" altLang="en-US" b="1" i="1" dirty="0">
              <a:solidFill>
                <a:srgbClr val="FFFFFF"/>
              </a:solidFill>
            </a:endParaRPr>
          </a:p>
          <a:p>
            <a:pPr eaLnBrk="1" hangingPunct="1">
              <a:spcBef>
                <a:spcPct val="100000"/>
              </a:spcBef>
              <a:buFontTx/>
              <a:buNone/>
            </a:pPr>
            <a:r>
              <a:rPr lang="en-US" altLang="en-US" b="1" dirty="0"/>
              <a:t>Reassessment</a:t>
            </a:r>
          </a:p>
          <a:p>
            <a:pPr eaLnBrk="1" hangingPunct="1">
              <a:spcBef>
                <a:spcPct val="35000"/>
              </a:spcBef>
            </a:pPr>
            <a:r>
              <a:rPr lang="en-US" altLang="en-US" dirty="0"/>
              <a:t>Repeat primary assessment.</a:t>
            </a:r>
          </a:p>
          <a:p>
            <a:pPr eaLnBrk="1" hangingPunct="1">
              <a:spcBef>
                <a:spcPct val="35000"/>
              </a:spcBef>
            </a:pPr>
            <a:r>
              <a:rPr lang="en-US" altLang="en-US" dirty="0"/>
              <a:t>Reassess vital signs.</a:t>
            </a:r>
          </a:p>
          <a:p>
            <a:pPr eaLnBrk="1" hangingPunct="1">
              <a:spcBef>
                <a:spcPct val="35000"/>
              </a:spcBef>
            </a:pPr>
            <a:r>
              <a:rPr lang="en-US" altLang="en-US" dirty="0"/>
              <a:t>Reassess chief complaint.</a:t>
            </a:r>
          </a:p>
          <a:p>
            <a:pPr eaLnBrk="1" hangingPunct="1">
              <a:spcBef>
                <a:spcPct val="35000"/>
              </a:spcBef>
            </a:pPr>
            <a:r>
              <a:rPr lang="en-US" altLang="en-US" dirty="0"/>
              <a:t>Recheck effectiveness of treatment.</a:t>
            </a:r>
          </a:p>
          <a:p>
            <a:pPr eaLnBrk="1" hangingPunct="1">
              <a:spcBef>
                <a:spcPct val="35000"/>
              </a:spcBef>
            </a:pPr>
            <a:r>
              <a:rPr lang="en-US" altLang="en-US" dirty="0"/>
              <a:t>Identify and treat changes in patient’s condition.</a:t>
            </a:r>
          </a:p>
        </p:txBody>
      </p:sp>
    </p:spTree>
    <p:extLst>
      <p:ext uri="{BB962C8B-B14F-4D97-AF65-F5344CB8AC3E}">
        <p14:creationId xmlns:p14="http://schemas.microsoft.com/office/powerpoint/2010/main" val="2563144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a:extLst>
              <a:ext uri="{FF2B5EF4-FFF2-40B4-BE49-F238E27FC236}">
                <a16:creationId xmlns:a16="http://schemas.microsoft.com/office/drawing/2014/main" id="{7BA28D8F-C2EB-D040-9DF6-5E9EA3AD2F0D}"/>
              </a:ext>
            </a:extLst>
          </p:cNvPr>
          <p:cNvSpPr>
            <a:spLocks noGrp="1" noChangeArrowheads="1"/>
          </p:cNvSpPr>
          <p:nvPr>
            <p:ph type="title"/>
          </p:nvPr>
        </p:nvSpPr>
        <p:spPr/>
        <p:txBody>
          <a:bodyPr/>
          <a:lstStyle/>
          <a:p>
            <a:pPr eaLnBrk="1" hangingPunct="1">
              <a:lnSpc>
                <a:spcPct val="85000"/>
              </a:lnSpc>
              <a:defRPr/>
            </a:pPr>
            <a:r>
              <a:rPr lang="en-US" dirty="0"/>
              <a:t>Introduction </a:t>
            </a:r>
            <a:r>
              <a:rPr lang="en-US" sz="2800" b="0" dirty="0"/>
              <a:t>(1 of 2)</a:t>
            </a:r>
          </a:p>
        </p:txBody>
      </p:sp>
      <p:sp>
        <p:nvSpPr>
          <p:cNvPr id="15362" name="Rectangle 3">
            <a:extLst>
              <a:ext uri="{FF2B5EF4-FFF2-40B4-BE49-F238E27FC236}">
                <a16:creationId xmlns:a16="http://schemas.microsoft.com/office/drawing/2014/main" id="{1657F155-62B5-2742-B4C1-509142C3252E}"/>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EMRs are first trained EMS providers at many emergency scenes.</a:t>
            </a:r>
          </a:p>
          <a:p>
            <a:pPr eaLnBrk="1" hangingPunct="1">
              <a:spcBef>
                <a:spcPct val="35000"/>
              </a:spcBef>
            </a:pPr>
            <a:r>
              <a:rPr lang="en-US" altLang="en-US" dirty="0"/>
              <a:t>Patient assessment sequence:</a:t>
            </a:r>
          </a:p>
          <a:p>
            <a:pPr lvl="1" eaLnBrk="1" hangingPunct="1">
              <a:spcBef>
                <a:spcPct val="35000"/>
              </a:spcBef>
            </a:pPr>
            <a:r>
              <a:rPr lang="en-US" altLang="en-US" dirty="0"/>
              <a:t>Perform a scene size-up.</a:t>
            </a:r>
          </a:p>
          <a:p>
            <a:pPr lvl="1" eaLnBrk="1" hangingPunct="1">
              <a:spcBef>
                <a:spcPct val="35000"/>
              </a:spcBef>
            </a:pPr>
            <a:r>
              <a:rPr lang="en-US" altLang="en-US" dirty="0"/>
              <a:t>Perform a primary assessment.</a:t>
            </a:r>
          </a:p>
          <a:p>
            <a:pPr lvl="1" eaLnBrk="1" hangingPunct="1">
              <a:spcBef>
                <a:spcPct val="35000"/>
              </a:spcBef>
            </a:pPr>
            <a:r>
              <a:rPr lang="en-US" altLang="en-US" dirty="0"/>
              <a:t>Obtain patient’s medical history.</a:t>
            </a:r>
          </a:p>
          <a:p>
            <a:pPr lvl="1" eaLnBrk="1" hangingPunct="1">
              <a:spcBef>
                <a:spcPct val="35000"/>
              </a:spcBef>
            </a:pPr>
            <a:r>
              <a:rPr lang="en-US" altLang="en-US" dirty="0"/>
              <a:t>Perform a secondary assessment.</a:t>
            </a:r>
          </a:p>
          <a:p>
            <a:pPr lvl="1" eaLnBrk="1" hangingPunct="1">
              <a:spcBef>
                <a:spcPct val="35000"/>
              </a:spcBef>
            </a:pPr>
            <a:r>
              <a:rPr lang="en-US" altLang="en-US" dirty="0"/>
              <a:t>Perform a reassessment.</a:t>
            </a:r>
          </a:p>
        </p:txBody>
      </p:sp>
    </p:spTree>
    <p:extLst>
      <p:ext uri="{BB962C8B-B14F-4D97-AF65-F5344CB8AC3E}">
        <p14:creationId xmlns:p14="http://schemas.microsoft.com/office/powerpoint/2010/main" val="1047398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a:extLst>
              <a:ext uri="{FF2B5EF4-FFF2-40B4-BE49-F238E27FC236}">
                <a16:creationId xmlns:a16="http://schemas.microsoft.com/office/drawing/2014/main" id="{983B6427-2D93-224A-9B7C-98E9AC8C91D0}"/>
              </a:ext>
            </a:extLst>
          </p:cNvPr>
          <p:cNvSpPr>
            <a:spLocks noGrp="1" noChangeArrowheads="1"/>
          </p:cNvSpPr>
          <p:nvPr>
            <p:ph type="title"/>
          </p:nvPr>
        </p:nvSpPr>
        <p:spPr/>
        <p:txBody>
          <a:bodyPr/>
          <a:lstStyle/>
          <a:p>
            <a:pPr eaLnBrk="1" hangingPunct="1">
              <a:lnSpc>
                <a:spcPct val="85000"/>
              </a:lnSpc>
              <a:defRPr/>
            </a:pPr>
            <a:r>
              <a:rPr lang="en-US" dirty="0"/>
              <a:t>Introduction </a:t>
            </a:r>
            <a:r>
              <a:rPr lang="en-US" sz="2800" b="0" dirty="0"/>
              <a:t>(2 of 2)</a:t>
            </a:r>
          </a:p>
        </p:txBody>
      </p:sp>
      <p:sp>
        <p:nvSpPr>
          <p:cNvPr id="17410" name="Rectangle 3">
            <a:extLst>
              <a:ext uri="{FF2B5EF4-FFF2-40B4-BE49-F238E27FC236}">
                <a16:creationId xmlns:a16="http://schemas.microsoft.com/office/drawing/2014/main" id="{E19F3607-B976-DD47-BCEE-37CD5F569B98}"/>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Skills and knowledge presented in this chapter follow an assessment-based care model.</a:t>
            </a:r>
          </a:p>
          <a:p>
            <a:pPr lvl="1" eaLnBrk="1" hangingPunct="1">
              <a:spcBef>
                <a:spcPct val="35000"/>
              </a:spcBef>
            </a:pPr>
            <a:r>
              <a:rPr lang="en-US" altLang="en-US" dirty="0"/>
              <a:t>Treatment rendered is based on patient’s symptoms.</a:t>
            </a:r>
          </a:p>
          <a:p>
            <a:pPr lvl="1" eaLnBrk="1" hangingPunct="1">
              <a:spcBef>
                <a:spcPct val="35000"/>
              </a:spcBef>
            </a:pPr>
            <a:r>
              <a:rPr lang="en-US" altLang="en-US" dirty="0"/>
              <a:t>Assessment-based care requires you to conduct a careful and thorough evaluation.</a:t>
            </a:r>
          </a:p>
        </p:txBody>
      </p:sp>
    </p:spTree>
    <p:extLst>
      <p:ext uri="{BB962C8B-B14F-4D97-AF65-F5344CB8AC3E}">
        <p14:creationId xmlns:p14="http://schemas.microsoft.com/office/powerpoint/2010/main" val="3021250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a:extLst>
              <a:ext uri="{FF2B5EF4-FFF2-40B4-BE49-F238E27FC236}">
                <a16:creationId xmlns:a16="http://schemas.microsoft.com/office/drawing/2014/main" id="{38D7795D-946A-7749-8385-D667954E48E3}"/>
              </a:ext>
            </a:extLst>
          </p:cNvPr>
          <p:cNvSpPr>
            <a:spLocks noGrp="1" noChangeArrowheads="1"/>
          </p:cNvSpPr>
          <p:nvPr>
            <p:ph type="title"/>
          </p:nvPr>
        </p:nvSpPr>
        <p:spPr/>
        <p:txBody>
          <a:bodyPr/>
          <a:lstStyle/>
          <a:p>
            <a:pPr eaLnBrk="1" hangingPunct="1">
              <a:lnSpc>
                <a:spcPct val="85000"/>
              </a:lnSpc>
              <a:defRPr/>
            </a:pPr>
            <a:r>
              <a:rPr lang="en-US" dirty="0"/>
              <a:t>Patient Assessment Sequence</a:t>
            </a:r>
          </a:p>
        </p:txBody>
      </p:sp>
      <p:sp>
        <p:nvSpPr>
          <p:cNvPr id="19458" name="Rectangle 3">
            <a:extLst>
              <a:ext uri="{FF2B5EF4-FFF2-40B4-BE49-F238E27FC236}">
                <a16:creationId xmlns:a16="http://schemas.microsoft.com/office/drawing/2014/main" id="{2948FCFB-A8C2-994D-B06D-ED3259C72A3D}"/>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Patient assessment sequence provides a framework so that</a:t>
            </a:r>
            <a:r>
              <a:rPr lang="en-US" altLang="en-US" dirty="0">
                <a:solidFill>
                  <a:srgbClr val="FF0000"/>
                </a:solidFill>
              </a:rPr>
              <a:t> </a:t>
            </a:r>
            <a:r>
              <a:rPr lang="en-US" altLang="en-US" dirty="0"/>
              <a:t>you can:</a:t>
            </a:r>
          </a:p>
          <a:p>
            <a:pPr lvl="1" eaLnBrk="1" hangingPunct="1">
              <a:spcBef>
                <a:spcPct val="35000"/>
              </a:spcBef>
            </a:pPr>
            <a:r>
              <a:rPr lang="en-US" altLang="en-US" dirty="0"/>
              <a:t>Safely size-up an emergency scene.</a:t>
            </a:r>
          </a:p>
          <a:p>
            <a:pPr lvl="1" eaLnBrk="1" hangingPunct="1">
              <a:spcBef>
                <a:spcPct val="35000"/>
              </a:spcBef>
            </a:pPr>
            <a:r>
              <a:rPr lang="en-US" altLang="en-US" dirty="0"/>
              <a:t>Conduct a primary assessment.</a:t>
            </a:r>
          </a:p>
          <a:p>
            <a:pPr lvl="1" eaLnBrk="1" hangingPunct="1">
              <a:spcBef>
                <a:spcPct val="35000"/>
              </a:spcBef>
            </a:pPr>
            <a:r>
              <a:rPr lang="en-US" altLang="en-US" dirty="0"/>
              <a:t>Obtain patient’s history.</a:t>
            </a:r>
          </a:p>
          <a:p>
            <a:pPr lvl="1" eaLnBrk="1" hangingPunct="1">
              <a:spcBef>
                <a:spcPct val="35000"/>
              </a:spcBef>
            </a:pPr>
            <a:r>
              <a:rPr lang="en-US" altLang="en-US" dirty="0"/>
              <a:t>Conduct a secondary assessment.</a:t>
            </a:r>
          </a:p>
          <a:p>
            <a:pPr lvl="1" eaLnBrk="1" hangingPunct="1">
              <a:spcBef>
                <a:spcPct val="35000"/>
              </a:spcBef>
            </a:pPr>
            <a:r>
              <a:rPr lang="en-US" altLang="en-US" dirty="0"/>
              <a:t>Conduct reassessment of patient.</a:t>
            </a:r>
          </a:p>
        </p:txBody>
      </p:sp>
    </p:spTree>
    <p:extLst>
      <p:ext uri="{BB962C8B-B14F-4D97-AF65-F5344CB8AC3E}">
        <p14:creationId xmlns:p14="http://schemas.microsoft.com/office/powerpoint/2010/main" val="1078915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a:extLst>
              <a:ext uri="{FF2B5EF4-FFF2-40B4-BE49-F238E27FC236}">
                <a16:creationId xmlns:a16="http://schemas.microsoft.com/office/drawing/2014/main" id="{5C718B86-790B-E543-A154-8D3BA7BB1976}"/>
              </a:ext>
            </a:extLst>
          </p:cNvPr>
          <p:cNvSpPr>
            <a:spLocks noGrp="1" noChangeArrowheads="1"/>
          </p:cNvSpPr>
          <p:nvPr>
            <p:ph type="title"/>
          </p:nvPr>
        </p:nvSpPr>
        <p:spPr/>
        <p:txBody>
          <a:bodyPr/>
          <a:lstStyle/>
          <a:p>
            <a:pPr eaLnBrk="1" hangingPunct="1">
              <a:lnSpc>
                <a:spcPct val="85000"/>
              </a:lnSpc>
              <a:defRPr/>
            </a:pPr>
            <a:r>
              <a:rPr lang="en-US" dirty="0"/>
              <a:t>Scene Size-Up </a:t>
            </a:r>
            <a:r>
              <a:rPr lang="en-US" sz="2800" b="0" dirty="0"/>
              <a:t>(1 of 8)</a:t>
            </a:r>
          </a:p>
        </p:txBody>
      </p:sp>
      <p:sp>
        <p:nvSpPr>
          <p:cNvPr id="21506" name="Rectangle 3">
            <a:extLst>
              <a:ext uri="{FF2B5EF4-FFF2-40B4-BE49-F238E27FC236}">
                <a16:creationId xmlns:a16="http://schemas.microsoft.com/office/drawing/2014/main" id="{98482A59-D9E8-9643-A34B-DAB59EB4D951}"/>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General overview of incident and its surroundings.</a:t>
            </a:r>
          </a:p>
          <a:p>
            <a:pPr eaLnBrk="1" hangingPunct="1">
              <a:spcBef>
                <a:spcPct val="35000"/>
              </a:spcBef>
            </a:pPr>
            <a:r>
              <a:rPr lang="en-US" altLang="en-US" dirty="0"/>
              <a:t>Review dispatch information:</a:t>
            </a:r>
          </a:p>
          <a:p>
            <a:pPr lvl="1" eaLnBrk="1" hangingPunct="1">
              <a:spcBef>
                <a:spcPct val="35000"/>
              </a:spcBef>
            </a:pPr>
            <a:r>
              <a:rPr lang="en-US" altLang="en-US" dirty="0"/>
              <a:t>Location of incident.</a:t>
            </a:r>
          </a:p>
          <a:p>
            <a:pPr lvl="1" eaLnBrk="1" hangingPunct="1">
              <a:spcBef>
                <a:spcPct val="35000"/>
              </a:spcBef>
            </a:pPr>
            <a:r>
              <a:rPr lang="en-US" altLang="en-US" dirty="0"/>
              <a:t>Main problem or type of incident.</a:t>
            </a:r>
          </a:p>
          <a:p>
            <a:pPr lvl="1" eaLnBrk="1" hangingPunct="1">
              <a:spcBef>
                <a:spcPct val="35000"/>
              </a:spcBef>
            </a:pPr>
            <a:r>
              <a:rPr lang="en-US" altLang="en-US" dirty="0"/>
              <a:t>Number of people involved.</a:t>
            </a:r>
          </a:p>
          <a:p>
            <a:pPr lvl="1" eaLnBrk="1" hangingPunct="1">
              <a:spcBef>
                <a:spcPct val="35000"/>
              </a:spcBef>
            </a:pPr>
            <a:r>
              <a:rPr lang="en-US" altLang="en-US" dirty="0"/>
              <a:t>Safety issues at scene.</a:t>
            </a:r>
          </a:p>
        </p:txBody>
      </p:sp>
    </p:spTree>
    <p:extLst>
      <p:ext uri="{BB962C8B-B14F-4D97-AF65-F5344CB8AC3E}">
        <p14:creationId xmlns:p14="http://schemas.microsoft.com/office/powerpoint/2010/main" val="84237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a:extLst>
              <a:ext uri="{FF2B5EF4-FFF2-40B4-BE49-F238E27FC236}">
                <a16:creationId xmlns:a16="http://schemas.microsoft.com/office/drawing/2014/main" id="{FFF649E8-9705-8B49-8E23-6C8C7731025E}"/>
              </a:ext>
            </a:extLst>
          </p:cNvPr>
          <p:cNvSpPr>
            <a:spLocks noGrp="1" noChangeArrowheads="1"/>
          </p:cNvSpPr>
          <p:nvPr>
            <p:ph type="title"/>
          </p:nvPr>
        </p:nvSpPr>
        <p:spPr/>
        <p:txBody>
          <a:bodyPr/>
          <a:lstStyle/>
          <a:p>
            <a:pPr eaLnBrk="1" hangingPunct="1">
              <a:lnSpc>
                <a:spcPct val="85000"/>
              </a:lnSpc>
              <a:defRPr/>
            </a:pPr>
            <a:r>
              <a:rPr lang="en-US" dirty="0"/>
              <a:t>Scene Size-Up </a:t>
            </a:r>
            <a:r>
              <a:rPr lang="en-US" sz="2800" b="0" dirty="0"/>
              <a:t>(2 of 8)</a:t>
            </a:r>
          </a:p>
        </p:txBody>
      </p:sp>
      <p:sp>
        <p:nvSpPr>
          <p:cNvPr id="23554" name="Rectangle 3">
            <a:extLst>
              <a:ext uri="{FF2B5EF4-FFF2-40B4-BE49-F238E27FC236}">
                <a16:creationId xmlns:a16="http://schemas.microsoft.com/office/drawing/2014/main" id="{EEB9999C-2993-7548-AF3E-A254B21A4D0A}"/>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Review dispatch information (cont'd):</a:t>
            </a:r>
          </a:p>
          <a:p>
            <a:pPr lvl="1" eaLnBrk="1" hangingPunct="1">
              <a:spcBef>
                <a:spcPct val="35000"/>
              </a:spcBef>
            </a:pPr>
            <a:r>
              <a:rPr lang="en-US" altLang="en-US" dirty="0"/>
              <a:t>Other factors can affect your actions:</a:t>
            </a:r>
          </a:p>
          <a:p>
            <a:pPr lvl="2" eaLnBrk="1" hangingPunct="1"/>
            <a:r>
              <a:rPr lang="en-US" altLang="en-US" sz="2000" dirty="0"/>
              <a:t>Time of day</a:t>
            </a:r>
          </a:p>
          <a:p>
            <a:pPr lvl="2" eaLnBrk="1" hangingPunct="1"/>
            <a:r>
              <a:rPr lang="en-US" altLang="en-US" sz="2000" dirty="0"/>
              <a:t>Day of the week</a:t>
            </a:r>
          </a:p>
          <a:p>
            <a:pPr lvl="2" eaLnBrk="1" hangingPunct="1"/>
            <a:r>
              <a:rPr lang="en-US" altLang="en-US" sz="2000" dirty="0"/>
              <a:t>Weather conditions</a:t>
            </a:r>
          </a:p>
          <a:p>
            <a:pPr lvl="1" eaLnBrk="1" hangingPunct="1">
              <a:spcBef>
                <a:spcPct val="35000"/>
              </a:spcBef>
            </a:pPr>
            <a:r>
              <a:rPr lang="en-US" altLang="en-US" dirty="0"/>
              <a:t>Mentally prepare for other situations you may find when you arrive on scene.</a:t>
            </a:r>
          </a:p>
          <a:p>
            <a:pPr lvl="1" eaLnBrk="1" hangingPunct="1">
              <a:spcBef>
                <a:spcPct val="35000"/>
              </a:spcBef>
            </a:pPr>
            <a:r>
              <a:rPr lang="en-US" altLang="en-US" dirty="0"/>
              <a:t>If you come across a medical emergency, contact dispatch using your two-way radio.</a:t>
            </a:r>
          </a:p>
        </p:txBody>
      </p:sp>
    </p:spTree>
    <p:extLst>
      <p:ext uri="{BB962C8B-B14F-4D97-AF65-F5344CB8AC3E}">
        <p14:creationId xmlns:p14="http://schemas.microsoft.com/office/powerpoint/2010/main" val="1210653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a:extLst>
              <a:ext uri="{FF2B5EF4-FFF2-40B4-BE49-F238E27FC236}">
                <a16:creationId xmlns:a16="http://schemas.microsoft.com/office/drawing/2014/main" id="{0AA4D68C-E8C3-494F-A7C1-E1DEAC5EBCE3}"/>
              </a:ext>
            </a:extLst>
          </p:cNvPr>
          <p:cNvSpPr>
            <a:spLocks noGrp="1" noChangeArrowheads="1"/>
          </p:cNvSpPr>
          <p:nvPr>
            <p:ph type="title"/>
          </p:nvPr>
        </p:nvSpPr>
        <p:spPr/>
        <p:txBody>
          <a:bodyPr/>
          <a:lstStyle/>
          <a:p>
            <a:pPr eaLnBrk="1" hangingPunct="1">
              <a:lnSpc>
                <a:spcPct val="85000"/>
              </a:lnSpc>
              <a:defRPr/>
            </a:pPr>
            <a:r>
              <a:rPr lang="en-US" dirty="0"/>
              <a:t>Scene Size-Up </a:t>
            </a:r>
            <a:r>
              <a:rPr lang="en-US" sz="2800" b="0" dirty="0"/>
              <a:t>(3 of 8)</a:t>
            </a:r>
          </a:p>
        </p:txBody>
      </p:sp>
      <p:sp>
        <p:nvSpPr>
          <p:cNvPr id="25602" name="Rectangle 3">
            <a:extLst>
              <a:ext uri="{FF2B5EF4-FFF2-40B4-BE49-F238E27FC236}">
                <a16:creationId xmlns:a16="http://schemas.microsoft.com/office/drawing/2014/main" id="{19F1BA6C-913E-954F-949E-2AE75700F41F}"/>
              </a:ext>
            </a:extLst>
          </p:cNvPr>
          <p:cNvSpPr>
            <a:spLocks noGrp="1" noChangeArrowheads="1"/>
          </p:cNvSpPr>
          <p:nvPr>
            <p:ph type="body" idx="1"/>
          </p:nvPr>
        </p:nvSpPr>
        <p:spPr>
          <a:xfrm>
            <a:off x="5029200" y="1447800"/>
            <a:ext cx="5671406" cy="4800600"/>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Ensure scene safety</a:t>
            </a:r>
          </a:p>
          <a:p>
            <a:pPr lvl="1" eaLnBrk="1" hangingPunct="1">
              <a:spcBef>
                <a:spcPct val="35000"/>
              </a:spcBef>
            </a:pPr>
            <a:r>
              <a:rPr lang="en-US" altLang="en-US" dirty="0"/>
              <a:t>Park your vehicle so that it helps secure scene and minimizes traffic blockage.</a:t>
            </a:r>
          </a:p>
          <a:p>
            <a:pPr lvl="1" eaLnBrk="1" hangingPunct="1">
              <a:spcBef>
                <a:spcPct val="35000"/>
              </a:spcBef>
            </a:pPr>
            <a:r>
              <a:rPr lang="en-US" altLang="en-US" dirty="0"/>
              <a:t>Scan scene and determine:</a:t>
            </a:r>
          </a:p>
          <a:p>
            <a:pPr lvl="2" eaLnBrk="1" hangingPunct="1"/>
            <a:r>
              <a:rPr lang="en-US" altLang="en-US" sz="2000" dirty="0"/>
              <a:t>Extent of incident.</a:t>
            </a:r>
          </a:p>
          <a:p>
            <a:pPr lvl="2" eaLnBrk="1" hangingPunct="1"/>
            <a:r>
              <a:rPr lang="en-US" altLang="en-US" sz="2000" dirty="0"/>
              <a:t>Possible number of people injured.</a:t>
            </a:r>
          </a:p>
          <a:p>
            <a:pPr lvl="2" eaLnBrk="1" hangingPunct="1"/>
            <a:r>
              <a:rPr lang="en-US" altLang="en-US" sz="2000" dirty="0"/>
              <a:t>Presence of possible hazards</a:t>
            </a:r>
            <a:r>
              <a:rPr lang="en-US" altLang="en-US" sz="2100" dirty="0"/>
              <a:t>.</a:t>
            </a:r>
          </a:p>
        </p:txBody>
      </p:sp>
      <p:sp>
        <p:nvSpPr>
          <p:cNvPr id="6" name="Rectangle 5"/>
          <p:cNvSpPr/>
          <p:nvPr/>
        </p:nvSpPr>
        <p:spPr>
          <a:xfrm>
            <a:off x="1059933" y="5568556"/>
            <a:ext cx="10072846" cy="369332"/>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cap="all" dirty="0"/>
              <a:t>Figure</a:t>
            </a:r>
            <a:r>
              <a:rPr lang="en-US" b="1" dirty="0"/>
              <a:t> 9-2 </a:t>
            </a:r>
            <a:r>
              <a:rPr lang="en-US" dirty="0"/>
              <a:t>Perform a scene size-up. </a:t>
            </a:r>
          </a:p>
        </p:txBody>
      </p:sp>
      <p:sp>
        <p:nvSpPr>
          <p:cNvPr id="7" name="Rectangle 6"/>
          <p:cNvSpPr/>
          <p:nvPr/>
        </p:nvSpPr>
        <p:spPr>
          <a:xfrm>
            <a:off x="1047859" y="5909997"/>
            <a:ext cx="4456008" cy="24622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t>© Nancy G Fire </a:t>
            </a:r>
            <a:r>
              <a:rPr lang="en-US" sz="1000" dirty="0" err="1"/>
              <a:t>Photography,Nancy</a:t>
            </a:r>
            <a:r>
              <a:rPr lang="en-US" sz="1000" dirty="0"/>
              <a:t> </a:t>
            </a:r>
            <a:r>
              <a:rPr lang="en-US" sz="1000" dirty="0" err="1"/>
              <a:t>Greifenhagen</a:t>
            </a:r>
            <a:r>
              <a:rPr lang="en-US" sz="1000" dirty="0"/>
              <a:t>/</a:t>
            </a:r>
            <a:r>
              <a:rPr lang="en-US" sz="1000" dirty="0" err="1"/>
              <a:t>Alamy</a:t>
            </a:r>
            <a:r>
              <a:rPr lang="en-US" sz="1000" dirty="0"/>
              <a:t> Stock Photo </a:t>
            </a:r>
          </a:p>
        </p:txBody>
      </p:sp>
      <p:pic>
        <p:nvPicPr>
          <p:cNvPr id="1026" name="Picture 2" descr="A photo shows two officers standing near some vehicles, both with protective masks covering the nose and mouth, and one of them with gloves and a bag on his shoulder.&#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6133" y="1619250"/>
            <a:ext cx="2535238"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9394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a:extLst>
              <a:ext uri="{FF2B5EF4-FFF2-40B4-BE49-F238E27FC236}">
                <a16:creationId xmlns:a16="http://schemas.microsoft.com/office/drawing/2014/main" id="{3DDDD62A-7373-A549-AFFB-C0FE6D30541E}"/>
              </a:ext>
            </a:extLst>
          </p:cNvPr>
          <p:cNvSpPr>
            <a:spLocks noGrp="1" noChangeArrowheads="1"/>
          </p:cNvSpPr>
          <p:nvPr>
            <p:ph type="title"/>
          </p:nvPr>
        </p:nvSpPr>
        <p:spPr/>
        <p:txBody>
          <a:bodyPr/>
          <a:lstStyle/>
          <a:p>
            <a:pPr eaLnBrk="1" hangingPunct="1">
              <a:lnSpc>
                <a:spcPct val="85000"/>
              </a:lnSpc>
              <a:defRPr/>
            </a:pPr>
            <a:r>
              <a:rPr lang="en-US" dirty="0"/>
              <a:t>Scene Size-Up </a:t>
            </a:r>
            <a:r>
              <a:rPr lang="en-US" sz="2800" b="0" dirty="0"/>
              <a:t>(4 of 8)</a:t>
            </a:r>
          </a:p>
        </p:txBody>
      </p:sp>
      <p:sp>
        <p:nvSpPr>
          <p:cNvPr id="27650" name="Rectangle 3">
            <a:extLst>
              <a:ext uri="{FF2B5EF4-FFF2-40B4-BE49-F238E27FC236}">
                <a16:creationId xmlns:a16="http://schemas.microsoft.com/office/drawing/2014/main" id="{B1B013E4-F657-CD44-B33A-5FB86FAB65C6}"/>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Ensure scene safety (cont'd).</a:t>
            </a:r>
          </a:p>
          <a:p>
            <a:pPr lvl="1" eaLnBrk="1" hangingPunct="1">
              <a:spcBef>
                <a:spcPct val="35000"/>
              </a:spcBef>
            </a:pPr>
            <a:r>
              <a:rPr lang="en-US" altLang="en-US" dirty="0"/>
              <a:t>Visible hazards include:</a:t>
            </a:r>
          </a:p>
          <a:p>
            <a:pPr lvl="2" eaLnBrk="1" hangingPunct="1"/>
            <a:r>
              <a:rPr lang="en-US" altLang="en-US" sz="2000" dirty="0"/>
              <a:t>Crash or crime scene.</a:t>
            </a:r>
          </a:p>
          <a:p>
            <a:pPr lvl="2" eaLnBrk="1" hangingPunct="1"/>
            <a:r>
              <a:rPr lang="en-US" altLang="en-US" sz="2000" dirty="0"/>
              <a:t>Fallen electrical wires.</a:t>
            </a:r>
          </a:p>
          <a:p>
            <a:pPr lvl="2" eaLnBrk="1" hangingPunct="1"/>
            <a:r>
              <a:rPr lang="en-US" altLang="en-US" sz="2000" dirty="0"/>
              <a:t>Traffic.</a:t>
            </a:r>
          </a:p>
          <a:p>
            <a:pPr lvl="2" eaLnBrk="1" hangingPunct="1"/>
            <a:r>
              <a:rPr lang="en-US" altLang="en-US" sz="2000" dirty="0"/>
              <a:t>Spilled gasoline.</a:t>
            </a:r>
          </a:p>
          <a:p>
            <a:pPr lvl="2" eaLnBrk="1" hangingPunct="1"/>
            <a:r>
              <a:rPr lang="en-US" altLang="en-US" sz="2000" dirty="0"/>
              <a:t>Unstable buildings or surfaces.</a:t>
            </a:r>
          </a:p>
          <a:p>
            <a:pPr lvl="2" eaLnBrk="1" hangingPunct="1"/>
            <a:r>
              <a:rPr lang="en-US" altLang="en-US" sz="2000" dirty="0"/>
              <a:t>Weather.</a:t>
            </a:r>
          </a:p>
          <a:p>
            <a:pPr lvl="2" eaLnBrk="1" hangingPunct="1"/>
            <a:r>
              <a:rPr lang="en-US" altLang="en-US" sz="2000" dirty="0"/>
              <a:t>Crowds.</a:t>
            </a:r>
            <a:endParaRPr lang="en-US" altLang="en-US" sz="2400" dirty="0"/>
          </a:p>
        </p:txBody>
      </p:sp>
    </p:spTree>
    <p:extLst>
      <p:ext uri="{BB962C8B-B14F-4D97-AF65-F5344CB8AC3E}">
        <p14:creationId xmlns:p14="http://schemas.microsoft.com/office/powerpoint/2010/main" val="867652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a:extLst>
              <a:ext uri="{FF2B5EF4-FFF2-40B4-BE49-F238E27FC236}">
                <a16:creationId xmlns:a16="http://schemas.microsoft.com/office/drawing/2014/main" id="{C9DAF09A-C194-E644-A6C9-946947D37E26}"/>
              </a:ext>
            </a:extLst>
          </p:cNvPr>
          <p:cNvSpPr>
            <a:spLocks noGrp="1" noChangeArrowheads="1"/>
          </p:cNvSpPr>
          <p:nvPr>
            <p:ph type="title"/>
          </p:nvPr>
        </p:nvSpPr>
        <p:spPr/>
        <p:txBody>
          <a:bodyPr/>
          <a:lstStyle/>
          <a:p>
            <a:pPr eaLnBrk="1" hangingPunct="1">
              <a:lnSpc>
                <a:spcPct val="85000"/>
              </a:lnSpc>
              <a:defRPr/>
            </a:pPr>
            <a:r>
              <a:rPr lang="en-US" dirty="0"/>
              <a:t>Scene Size-Up </a:t>
            </a:r>
            <a:r>
              <a:rPr lang="en-US" sz="2800" b="0" dirty="0"/>
              <a:t>(5 of 8)</a:t>
            </a:r>
          </a:p>
        </p:txBody>
      </p:sp>
      <p:sp>
        <p:nvSpPr>
          <p:cNvPr id="29698" name="Rectangle 3">
            <a:extLst>
              <a:ext uri="{FF2B5EF4-FFF2-40B4-BE49-F238E27FC236}">
                <a16:creationId xmlns:a16="http://schemas.microsoft.com/office/drawing/2014/main" id="{85459DD3-DFFA-974A-8994-D9C55F49AD59}"/>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Ensure scene safety (cont'd).</a:t>
            </a:r>
          </a:p>
          <a:p>
            <a:pPr lvl="1" eaLnBrk="1" hangingPunct="1">
              <a:spcBef>
                <a:spcPct val="35000"/>
              </a:spcBef>
            </a:pPr>
            <a:r>
              <a:rPr lang="en-US" altLang="en-US" dirty="0"/>
              <a:t>Invisible hazards include:</a:t>
            </a:r>
          </a:p>
          <a:p>
            <a:pPr lvl="2" eaLnBrk="1" hangingPunct="1"/>
            <a:r>
              <a:rPr lang="en-US" altLang="en-US" sz="2000" dirty="0"/>
              <a:t>Electricity.</a:t>
            </a:r>
          </a:p>
          <a:p>
            <a:pPr lvl="2" eaLnBrk="1" hangingPunct="1"/>
            <a:r>
              <a:rPr lang="en-US" altLang="en-US" sz="2000" dirty="0"/>
              <a:t>Biologic hazards.</a:t>
            </a:r>
          </a:p>
          <a:p>
            <a:pPr lvl="2" eaLnBrk="1" hangingPunct="1"/>
            <a:r>
              <a:rPr lang="en-US" altLang="en-US" sz="2000" dirty="0"/>
              <a:t>Hazardous materials.</a:t>
            </a:r>
          </a:p>
          <a:p>
            <a:pPr lvl="2" eaLnBrk="1" hangingPunct="1"/>
            <a:r>
              <a:rPr lang="en-US" altLang="en-US" sz="2000" dirty="0"/>
              <a:t>Poisonous fumes.</a:t>
            </a:r>
          </a:p>
          <a:p>
            <a:pPr lvl="1" eaLnBrk="1" hangingPunct="1">
              <a:spcBef>
                <a:spcPct val="35000"/>
              </a:spcBef>
            </a:pPr>
            <a:r>
              <a:rPr lang="en-US" altLang="en-US" dirty="0"/>
              <a:t>If a scene is unsafe, keep people away until specially trained teams arrive.</a:t>
            </a:r>
          </a:p>
        </p:txBody>
      </p:sp>
    </p:spTree>
    <p:extLst>
      <p:ext uri="{BB962C8B-B14F-4D97-AF65-F5344CB8AC3E}">
        <p14:creationId xmlns:p14="http://schemas.microsoft.com/office/powerpoint/2010/main" val="2597178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a:extLst>
              <a:ext uri="{FF2B5EF4-FFF2-40B4-BE49-F238E27FC236}">
                <a16:creationId xmlns:a16="http://schemas.microsoft.com/office/drawing/2014/main" id="{35A05DCC-707B-B54D-BB32-8ECB81F11B3C}"/>
              </a:ext>
            </a:extLst>
          </p:cNvPr>
          <p:cNvSpPr>
            <a:spLocks noGrp="1" noChangeArrowheads="1"/>
          </p:cNvSpPr>
          <p:nvPr>
            <p:ph type="title"/>
          </p:nvPr>
        </p:nvSpPr>
        <p:spPr/>
        <p:txBody>
          <a:bodyPr/>
          <a:lstStyle/>
          <a:p>
            <a:pPr eaLnBrk="1" hangingPunct="1">
              <a:lnSpc>
                <a:spcPct val="85000"/>
              </a:lnSpc>
              <a:defRPr/>
            </a:pPr>
            <a:r>
              <a:rPr lang="en-US" dirty="0"/>
              <a:t>Scene Size-Up </a:t>
            </a:r>
            <a:r>
              <a:rPr lang="en-US" sz="2800" b="0" dirty="0"/>
              <a:t>(6 of 8)</a:t>
            </a:r>
          </a:p>
        </p:txBody>
      </p:sp>
      <p:sp>
        <p:nvSpPr>
          <p:cNvPr id="31746" name="Rectangle 3">
            <a:extLst>
              <a:ext uri="{FF2B5EF4-FFF2-40B4-BE49-F238E27FC236}">
                <a16:creationId xmlns:a16="http://schemas.microsoft.com/office/drawing/2014/main" id="{55E24882-0F5A-8B49-86B4-420E5875E83B}"/>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Determine MOI or NOI.</a:t>
            </a:r>
          </a:p>
          <a:p>
            <a:pPr lvl="1" eaLnBrk="1" hangingPunct="1">
              <a:spcBef>
                <a:spcPct val="35000"/>
              </a:spcBef>
            </a:pPr>
            <a:r>
              <a:rPr lang="en-US" altLang="en-US" dirty="0"/>
              <a:t>Look for clues that may indicate how accident happened.</a:t>
            </a:r>
          </a:p>
          <a:p>
            <a:pPr lvl="1" eaLnBrk="1" hangingPunct="1">
              <a:spcBef>
                <a:spcPct val="35000"/>
              </a:spcBef>
            </a:pPr>
            <a:r>
              <a:rPr lang="en-US" altLang="en-US" dirty="0"/>
              <a:t>Ask patient, family members, or bystanders for additional information.</a:t>
            </a:r>
          </a:p>
          <a:p>
            <a:pPr lvl="1" eaLnBrk="1" hangingPunct="1">
              <a:spcBef>
                <a:spcPct val="35000"/>
              </a:spcBef>
            </a:pPr>
            <a:r>
              <a:rPr lang="en-US" altLang="en-US" dirty="0"/>
              <a:t>Do not rule out any injury without conducting a secondary assessment.</a:t>
            </a:r>
          </a:p>
        </p:txBody>
      </p:sp>
    </p:spTree>
    <p:extLst>
      <p:ext uri="{BB962C8B-B14F-4D97-AF65-F5344CB8AC3E}">
        <p14:creationId xmlns:p14="http://schemas.microsoft.com/office/powerpoint/2010/main" val="152070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a:extLst>
              <a:ext uri="{FF2B5EF4-FFF2-40B4-BE49-F238E27FC236}">
                <a16:creationId xmlns:a16="http://schemas.microsoft.com/office/drawing/2014/main" id="{C1C7F842-755D-2B45-BAEE-2910A6A08BAF}"/>
              </a:ext>
            </a:extLst>
          </p:cNvPr>
          <p:cNvSpPr>
            <a:spLocks noGrp="1" noChangeArrowheads="1"/>
          </p:cNvSpPr>
          <p:nvPr>
            <p:ph type="title"/>
          </p:nvPr>
        </p:nvSpPr>
        <p:spPr/>
        <p:txBody>
          <a:bodyPr/>
          <a:lstStyle/>
          <a:p>
            <a:pPr eaLnBrk="1" hangingPunct="1">
              <a:lnSpc>
                <a:spcPct val="85000"/>
              </a:lnSpc>
              <a:defRPr/>
            </a:pPr>
            <a:r>
              <a:rPr lang="en-US" dirty="0"/>
              <a:t>Scene Size-Up </a:t>
            </a:r>
            <a:r>
              <a:rPr lang="en-US" sz="2800" b="0" dirty="0"/>
              <a:t>(7 of 8)</a:t>
            </a:r>
          </a:p>
        </p:txBody>
      </p:sp>
      <p:sp>
        <p:nvSpPr>
          <p:cNvPr id="33794" name="Rectangle 3">
            <a:extLst>
              <a:ext uri="{FF2B5EF4-FFF2-40B4-BE49-F238E27FC236}">
                <a16:creationId xmlns:a16="http://schemas.microsoft.com/office/drawing/2014/main" id="{75990AD5-44EC-A743-BA5A-C1EE17F04B7F}"/>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Take standard precautions.</a:t>
            </a:r>
          </a:p>
          <a:p>
            <a:pPr lvl="1" eaLnBrk="1" hangingPunct="1">
              <a:spcBef>
                <a:spcPct val="35000"/>
              </a:spcBef>
            </a:pPr>
            <a:r>
              <a:rPr lang="en-US" altLang="en-US" dirty="0"/>
              <a:t>Always have gloves and a mask readily available.</a:t>
            </a:r>
          </a:p>
          <a:p>
            <a:pPr lvl="1" eaLnBrk="1" hangingPunct="1">
              <a:spcBef>
                <a:spcPct val="35000"/>
              </a:spcBef>
            </a:pPr>
            <a:r>
              <a:rPr lang="en-US" altLang="en-US" dirty="0"/>
              <a:t>Consider whether use of additional protection may be necessary.</a:t>
            </a:r>
          </a:p>
          <a:p>
            <a:pPr lvl="1" eaLnBrk="1" hangingPunct="1">
              <a:spcBef>
                <a:spcPct val="35000"/>
              </a:spcBef>
            </a:pPr>
            <a:r>
              <a:rPr lang="en-US" altLang="en-US" dirty="0"/>
              <a:t>Wash your hands thoroughly after contact with a patient or contaminated materials.</a:t>
            </a:r>
          </a:p>
        </p:txBody>
      </p:sp>
    </p:spTree>
    <p:extLst>
      <p:ext uri="{BB962C8B-B14F-4D97-AF65-F5344CB8AC3E}">
        <p14:creationId xmlns:p14="http://schemas.microsoft.com/office/powerpoint/2010/main" val="34782088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a:extLst>
              <a:ext uri="{FF2B5EF4-FFF2-40B4-BE49-F238E27FC236}">
                <a16:creationId xmlns:a16="http://schemas.microsoft.com/office/drawing/2014/main" id="{580D7D79-9C90-144F-903B-25EEBC606EF6}"/>
              </a:ext>
            </a:extLst>
          </p:cNvPr>
          <p:cNvSpPr>
            <a:spLocks noGrp="1" noChangeArrowheads="1"/>
          </p:cNvSpPr>
          <p:nvPr>
            <p:ph type="title"/>
          </p:nvPr>
        </p:nvSpPr>
        <p:spPr/>
        <p:txBody>
          <a:bodyPr/>
          <a:lstStyle/>
          <a:p>
            <a:pPr eaLnBrk="1" hangingPunct="1">
              <a:lnSpc>
                <a:spcPct val="85000"/>
              </a:lnSpc>
              <a:defRPr/>
            </a:pPr>
            <a:r>
              <a:rPr lang="en-US" dirty="0"/>
              <a:t>Scene Size-Up </a:t>
            </a:r>
            <a:r>
              <a:rPr lang="en-US" sz="2800" b="0" dirty="0"/>
              <a:t>(8 of 8)</a:t>
            </a:r>
          </a:p>
        </p:txBody>
      </p:sp>
      <p:sp>
        <p:nvSpPr>
          <p:cNvPr id="35842" name="Rectangle 3">
            <a:extLst>
              <a:ext uri="{FF2B5EF4-FFF2-40B4-BE49-F238E27FC236}">
                <a16:creationId xmlns:a16="http://schemas.microsoft.com/office/drawing/2014/main" id="{566A3D09-F926-5B41-BA9C-EB103CFB4987}"/>
              </a:ext>
            </a:extLst>
          </p:cNvPr>
          <p:cNvSpPr>
            <a:spLocks noGrp="1" noChangeArrowheads="1"/>
          </p:cNvSpPr>
          <p:nvPr>
            <p:ph type="body" idx="1"/>
          </p:nvPr>
        </p:nvSpPr>
        <p:spPr>
          <a:xfrm>
            <a:off x="929640" y="1541417"/>
            <a:ext cx="7772400" cy="5029200"/>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Determine number of patients.</a:t>
            </a:r>
          </a:p>
          <a:p>
            <a:pPr lvl="1" eaLnBrk="1" hangingPunct="1">
              <a:spcBef>
                <a:spcPct val="35000"/>
              </a:spcBef>
            </a:pPr>
            <a:r>
              <a:rPr lang="en-US" altLang="en-US" dirty="0"/>
              <a:t>Call for additional assistance if you think you will need help.</a:t>
            </a:r>
          </a:p>
          <a:p>
            <a:pPr lvl="1" eaLnBrk="1" hangingPunct="1">
              <a:spcBef>
                <a:spcPct val="35000"/>
              </a:spcBef>
            </a:pPr>
            <a:r>
              <a:rPr lang="en-US" altLang="en-US" dirty="0"/>
              <a:t>It may be necessary to perform triage.</a:t>
            </a:r>
          </a:p>
          <a:p>
            <a:pPr eaLnBrk="1" hangingPunct="1">
              <a:spcBef>
                <a:spcPct val="35000"/>
              </a:spcBef>
            </a:pPr>
            <a:r>
              <a:rPr lang="en-US" altLang="en-US" dirty="0"/>
              <a:t>Consider additional resources, including:</a:t>
            </a:r>
          </a:p>
          <a:p>
            <a:pPr lvl="1">
              <a:spcBef>
                <a:spcPct val="35000"/>
              </a:spcBef>
            </a:pPr>
            <a:r>
              <a:rPr lang="en-US" altLang="en-US" dirty="0"/>
              <a:t>Law enforcement.</a:t>
            </a:r>
          </a:p>
          <a:p>
            <a:pPr lvl="1" eaLnBrk="1" hangingPunct="1">
              <a:spcBef>
                <a:spcPct val="35000"/>
              </a:spcBef>
            </a:pPr>
            <a:r>
              <a:rPr lang="en-US" altLang="en-US" dirty="0"/>
              <a:t>Fire department units.</a:t>
            </a:r>
          </a:p>
          <a:p>
            <a:pPr lvl="1" eaLnBrk="1" hangingPunct="1">
              <a:spcBef>
                <a:spcPct val="35000"/>
              </a:spcBef>
            </a:pPr>
            <a:r>
              <a:rPr lang="en-US" altLang="en-US" dirty="0"/>
              <a:t>Utility company personnel.</a:t>
            </a:r>
          </a:p>
          <a:p>
            <a:pPr lvl="1" eaLnBrk="1" hangingPunct="1">
              <a:spcBef>
                <a:spcPct val="35000"/>
              </a:spcBef>
            </a:pPr>
            <a:r>
              <a:rPr lang="en-US" altLang="en-US" dirty="0"/>
              <a:t>Wrecker operators.</a:t>
            </a:r>
          </a:p>
        </p:txBody>
      </p:sp>
    </p:spTree>
    <p:extLst>
      <p:ext uri="{BB962C8B-B14F-4D97-AF65-F5344CB8AC3E}">
        <p14:creationId xmlns:p14="http://schemas.microsoft.com/office/powerpoint/2010/main" val="1224419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a:extLst>
              <a:ext uri="{FF2B5EF4-FFF2-40B4-BE49-F238E27FC236}">
                <a16:creationId xmlns:a16="http://schemas.microsoft.com/office/drawing/2014/main" id="{5032FA14-503B-BE48-BE9E-87F4EF869CFD}"/>
              </a:ext>
            </a:extLst>
          </p:cNvPr>
          <p:cNvSpPr>
            <a:spLocks noGrp="1" noChangeArrowheads="1"/>
          </p:cNvSpPr>
          <p:nvPr>
            <p:ph type="title"/>
          </p:nvPr>
        </p:nvSpPr>
        <p:spPr/>
        <p:txBody>
          <a:bodyPr/>
          <a:lstStyle/>
          <a:p>
            <a:pPr eaLnBrk="1" hangingPunct="1">
              <a:lnSpc>
                <a:spcPct val="85000"/>
              </a:lnSpc>
              <a:defRPr/>
            </a:pPr>
            <a:r>
              <a:rPr lang="en-US" dirty="0"/>
              <a:t>Primary Assessment </a:t>
            </a:r>
            <a:r>
              <a:rPr lang="en-US" sz="2800" b="0" dirty="0"/>
              <a:t>(1 of 9)</a:t>
            </a:r>
          </a:p>
        </p:txBody>
      </p:sp>
      <p:sp>
        <p:nvSpPr>
          <p:cNvPr id="37890" name="Rectangle 3">
            <a:extLst>
              <a:ext uri="{FF2B5EF4-FFF2-40B4-BE49-F238E27FC236}">
                <a16:creationId xmlns:a16="http://schemas.microsoft.com/office/drawing/2014/main" id="{7E41ABEB-AD14-9149-806A-9D86F72B6F5F}"/>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Purpose of primary assessment is to identify life threats to patient.</a:t>
            </a:r>
          </a:p>
          <a:p>
            <a:pPr eaLnBrk="1" hangingPunct="1">
              <a:spcBef>
                <a:spcPct val="35000"/>
              </a:spcBef>
            </a:pPr>
            <a:r>
              <a:rPr lang="en-US" altLang="en-US" dirty="0"/>
              <a:t>Form a general impression:</a:t>
            </a:r>
          </a:p>
          <a:p>
            <a:pPr lvl="1" eaLnBrk="1" hangingPunct="1">
              <a:spcBef>
                <a:spcPct val="35000"/>
              </a:spcBef>
            </a:pPr>
            <a:r>
              <a:rPr lang="en-US" altLang="en-US" dirty="0"/>
              <a:t>Note patient’s sex and approximate age.</a:t>
            </a:r>
          </a:p>
          <a:p>
            <a:pPr lvl="1" eaLnBrk="1" hangingPunct="1">
              <a:spcBef>
                <a:spcPct val="35000"/>
              </a:spcBef>
            </a:pPr>
            <a:r>
              <a:rPr lang="en-US" altLang="en-US" dirty="0"/>
              <a:t>Determine whether patient has experienced trauma or illness.</a:t>
            </a:r>
          </a:p>
          <a:p>
            <a:pPr lvl="1" eaLnBrk="1" hangingPunct="1">
              <a:spcBef>
                <a:spcPct val="35000"/>
              </a:spcBef>
            </a:pPr>
            <a:r>
              <a:rPr lang="en-US" altLang="en-US" dirty="0"/>
              <a:t>Determine patient’s level of consciousness.</a:t>
            </a:r>
          </a:p>
        </p:txBody>
      </p:sp>
    </p:spTree>
    <p:extLst>
      <p:ext uri="{BB962C8B-B14F-4D97-AF65-F5344CB8AC3E}">
        <p14:creationId xmlns:p14="http://schemas.microsoft.com/office/powerpoint/2010/main" val="3621863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a:extLst>
              <a:ext uri="{FF2B5EF4-FFF2-40B4-BE49-F238E27FC236}">
                <a16:creationId xmlns:a16="http://schemas.microsoft.com/office/drawing/2014/main" id="{7A6FA2B1-1FBD-384F-84CB-55DBC6ED54A5}"/>
              </a:ext>
            </a:extLst>
          </p:cNvPr>
          <p:cNvSpPr>
            <a:spLocks noGrp="1" noChangeArrowheads="1"/>
          </p:cNvSpPr>
          <p:nvPr>
            <p:ph type="title"/>
          </p:nvPr>
        </p:nvSpPr>
        <p:spPr/>
        <p:txBody>
          <a:bodyPr/>
          <a:lstStyle/>
          <a:p>
            <a:pPr eaLnBrk="1" hangingPunct="1">
              <a:lnSpc>
                <a:spcPct val="85000"/>
              </a:lnSpc>
              <a:defRPr/>
            </a:pPr>
            <a:r>
              <a:rPr lang="en-US" dirty="0"/>
              <a:t>Primary Assessment </a:t>
            </a:r>
            <a:r>
              <a:rPr lang="en-US" sz="2800" b="0" dirty="0"/>
              <a:t>(2 of 9)</a:t>
            </a:r>
          </a:p>
        </p:txBody>
      </p:sp>
      <p:sp>
        <p:nvSpPr>
          <p:cNvPr id="39938" name="Rectangle 3">
            <a:extLst>
              <a:ext uri="{FF2B5EF4-FFF2-40B4-BE49-F238E27FC236}">
                <a16:creationId xmlns:a16="http://schemas.microsoft.com/office/drawing/2014/main" id="{9E322BB7-DFE0-BB4D-AC93-3A70D24E412F}"/>
              </a:ext>
            </a:extLst>
          </p:cNvPr>
          <p:cNvSpPr>
            <a:spLocks noGrp="1" noChangeArrowheads="1"/>
          </p:cNvSpPr>
          <p:nvPr>
            <p:ph type="body" idx="1"/>
          </p:nvPr>
        </p:nvSpPr>
        <p:spPr>
          <a:xfrm>
            <a:off x="4953000" y="1447800"/>
            <a:ext cx="6172200" cy="4800600"/>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Assess level of responsiveness.</a:t>
            </a:r>
          </a:p>
          <a:p>
            <a:pPr lvl="1" eaLnBrk="1" hangingPunct="1">
              <a:spcBef>
                <a:spcPct val="35000"/>
              </a:spcBef>
            </a:pPr>
            <a:r>
              <a:rPr lang="en-US" altLang="en-US" dirty="0"/>
              <a:t>Introduce yourself to establish:</a:t>
            </a:r>
          </a:p>
          <a:p>
            <a:pPr lvl="2" eaLnBrk="1" hangingPunct="1"/>
            <a:r>
              <a:rPr lang="en-US" altLang="en-US" sz="2000" dirty="0"/>
              <a:t>Your reason for being at scene.</a:t>
            </a:r>
          </a:p>
          <a:p>
            <a:pPr lvl="2" eaLnBrk="1" hangingPunct="1"/>
            <a:r>
              <a:rPr lang="en-US" altLang="en-US" sz="2000" dirty="0"/>
              <a:t>Fact that you will be helping patient</a:t>
            </a:r>
          </a:p>
          <a:p>
            <a:pPr lvl="2" eaLnBrk="1" hangingPunct="1"/>
            <a:r>
              <a:rPr lang="en-US" altLang="en-US" sz="2000" dirty="0"/>
              <a:t>Patient’s level of consciousness</a:t>
            </a:r>
          </a:p>
          <a:p>
            <a:pPr lvl="1" eaLnBrk="1" hangingPunct="1">
              <a:spcBef>
                <a:spcPct val="35000"/>
              </a:spcBef>
            </a:pPr>
            <a:r>
              <a:rPr lang="en-US" altLang="en-US" dirty="0"/>
              <a:t>Introduce yourself even if patient appears to be unconscious.</a:t>
            </a:r>
          </a:p>
        </p:txBody>
      </p:sp>
      <p:sp>
        <p:nvSpPr>
          <p:cNvPr id="7" name="Rectangle 6"/>
          <p:cNvSpPr/>
          <p:nvPr/>
        </p:nvSpPr>
        <p:spPr>
          <a:xfrm>
            <a:off x="952500" y="4236425"/>
            <a:ext cx="4436958" cy="1200329"/>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cap="all" dirty="0"/>
              <a:t>Figure</a:t>
            </a:r>
            <a:r>
              <a:rPr lang="en-US" b="1" dirty="0"/>
              <a:t> 9-4 </a:t>
            </a:r>
            <a:r>
              <a:rPr lang="en-US" dirty="0"/>
              <a:t>As you approach the patient, introduce yourself. If a patient appears unconscious, gently touch or shake the patient’s shoulder to get a response </a:t>
            </a:r>
          </a:p>
        </p:txBody>
      </p:sp>
      <p:sp>
        <p:nvSpPr>
          <p:cNvPr id="8" name="Rectangle 7"/>
          <p:cNvSpPr/>
          <p:nvPr/>
        </p:nvSpPr>
        <p:spPr>
          <a:xfrm>
            <a:off x="952500" y="5403181"/>
            <a:ext cx="4456008" cy="24622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t>© Jones &amp; Bartlett Learning. </a:t>
            </a:r>
          </a:p>
        </p:txBody>
      </p:sp>
      <p:pic>
        <p:nvPicPr>
          <p:cNvPr id="2050" name="Picture 2" descr="A photo shows an officer wearing gloves and a mask placing his hand on the shoulder of a lady seated on the ground in front of him.&#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2500" y="1713497"/>
            <a:ext cx="3924300" cy="24785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1656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a:extLst>
              <a:ext uri="{FF2B5EF4-FFF2-40B4-BE49-F238E27FC236}">
                <a16:creationId xmlns:a16="http://schemas.microsoft.com/office/drawing/2014/main" id="{C2EA25A2-ABD3-AA48-A666-625308426532}"/>
              </a:ext>
            </a:extLst>
          </p:cNvPr>
          <p:cNvSpPr>
            <a:spLocks noGrp="1" noChangeArrowheads="1"/>
          </p:cNvSpPr>
          <p:nvPr>
            <p:ph type="title"/>
          </p:nvPr>
        </p:nvSpPr>
        <p:spPr/>
        <p:txBody>
          <a:bodyPr/>
          <a:lstStyle/>
          <a:p>
            <a:pPr eaLnBrk="1" hangingPunct="1">
              <a:lnSpc>
                <a:spcPct val="85000"/>
              </a:lnSpc>
              <a:defRPr/>
            </a:pPr>
            <a:r>
              <a:rPr lang="en-US" dirty="0"/>
              <a:t>Primary Assessment </a:t>
            </a:r>
            <a:r>
              <a:rPr lang="en-US" sz="2800" b="0" dirty="0"/>
              <a:t>(3 of 9)</a:t>
            </a:r>
          </a:p>
        </p:txBody>
      </p:sp>
      <p:sp>
        <p:nvSpPr>
          <p:cNvPr id="41986" name="Rectangle 3">
            <a:extLst>
              <a:ext uri="{FF2B5EF4-FFF2-40B4-BE49-F238E27FC236}">
                <a16:creationId xmlns:a16="http://schemas.microsoft.com/office/drawing/2014/main" id="{6238B5D8-0D68-F74D-A54A-EF9AF8B04EDD}"/>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Assess level of responsiveness (cont'd).</a:t>
            </a:r>
          </a:p>
          <a:p>
            <a:pPr lvl="1" eaLnBrk="1" hangingPunct="1">
              <a:spcBef>
                <a:spcPct val="35000"/>
              </a:spcBef>
            </a:pPr>
            <a:r>
              <a:rPr lang="en-US" altLang="en-US" dirty="0"/>
              <a:t>Use AVPU scale.</a:t>
            </a:r>
          </a:p>
          <a:p>
            <a:pPr lvl="2" eaLnBrk="1" hangingPunct="1"/>
            <a:r>
              <a:rPr lang="en-US" altLang="en-US" sz="2000" dirty="0"/>
              <a:t>Alert</a:t>
            </a:r>
          </a:p>
          <a:p>
            <a:pPr lvl="2" eaLnBrk="1" hangingPunct="1"/>
            <a:r>
              <a:rPr lang="en-US" altLang="en-US" sz="2000" dirty="0"/>
              <a:t>Verbal</a:t>
            </a:r>
          </a:p>
          <a:p>
            <a:pPr lvl="2" eaLnBrk="1" hangingPunct="1"/>
            <a:r>
              <a:rPr lang="en-US" altLang="en-US" sz="2000" dirty="0"/>
              <a:t>Pain</a:t>
            </a:r>
          </a:p>
          <a:p>
            <a:pPr lvl="2" eaLnBrk="1" hangingPunct="1"/>
            <a:r>
              <a:rPr lang="en-US" altLang="en-US" sz="2000" dirty="0"/>
              <a:t>Unresponsive</a:t>
            </a:r>
          </a:p>
        </p:txBody>
      </p:sp>
    </p:spTree>
    <p:extLst>
      <p:ext uri="{BB962C8B-B14F-4D97-AF65-F5344CB8AC3E}">
        <p14:creationId xmlns:p14="http://schemas.microsoft.com/office/powerpoint/2010/main" val="3145788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a:extLst>
              <a:ext uri="{FF2B5EF4-FFF2-40B4-BE49-F238E27FC236}">
                <a16:creationId xmlns:a16="http://schemas.microsoft.com/office/drawing/2014/main" id="{38995D51-F7DA-B849-8A96-AB7E3A9DBF0D}"/>
              </a:ext>
            </a:extLst>
          </p:cNvPr>
          <p:cNvSpPr>
            <a:spLocks noGrp="1" noChangeArrowheads="1"/>
          </p:cNvSpPr>
          <p:nvPr>
            <p:ph type="title"/>
          </p:nvPr>
        </p:nvSpPr>
        <p:spPr/>
        <p:txBody>
          <a:bodyPr/>
          <a:lstStyle/>
          <a:p>
            <a:pPr eaLnBrk="1" hangingPunct="1">
              <a:lnSpc>
                <a:spcPct val="85000"/>
              </a:lnSpc>
              <a:defRPr/>
            </a:pPr>
            <a:r>
              <a:rPr lang="en-US" dirty="0"/>
              <a:t>Primary Assessment </a:t>
            </a:r>
            <a:r>
              <a:rPr lang="en-US" sz="2800" b="0" dirty="0"/>
              <a:t>(4 of 9)</a:t>
            </a:r>
          </a:p>
        </p:txBody>
      </p:sp>
      <p:sp>
        <p:nvSpPr>
          <p:cNvPr id="44034" name="Rectangle 3">
            <a:extLst>
              <a:ext uri="{FF2B5EF4-FFF2-40B4-BE49-F238E27FC236}">
                <a16:creationId xmlns:a16="http://schemas.microsoft.com/office/drawing/2014/main" id="{CB811541-9AE5-4845-8333-9D2449F7FF07}"/>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Perform a rapid exam.</a:t>
            </a:r>
          </a:p>
          <a:p>
            <a:pPr lvl="1">
              <a:spcBef>
                <a:spcPct val="35000"/>
              </a:spcBef>
            </a:pPr>
            <a:r>
              <a:rPr lang="en-US" altLang="en-US" dirty="0"/>
              <a:t>Identify life threats.</a:t>
            </a:r>
          </a:p>
          <a:p>
            <a:pPr lvl="1">
              <a:spcBef>
                <a:spcPct val="35000"/>
              </a:spcBef>
            </a:pPr>
            <a:r>
              <a:rPr lang="en-US" altLang="en-US" dirty="0"/>
              <a:t>Sequence is “ABC” unless suspected cardiac arrest then “CAB.”</a:t>
            </a:r>
          </a:p>
          <a:p>
            <a:pPr lvl="1" eaLnBrk="1" hangingPunct="1">
              <a:spcBef>
                <a:spcPct val="35000"/>
              </a:spcBef>
            </a:pPr>
            <a:r>
              <a:rPr lang="en-US" altLang="en-US" dirty="0"/>
              <a:t>Assess airway.</a:t>
            </a:r>
          </a:p>
          <a:p>
            <a:pPr lvl="2" eaLnBrk="1" hangingPunct="1"/>
            <a:r>
              <a:rPr lang="en-US" altLang="en-US" sz="2000" dirty="0"/>
              <a:t>If patient is alert and able to answer questions, airway is open.</a:t>
            </a:r>
          </a:p>
          <a:p>
            <a:pPr lvl="2" eaLnBrk="1" hangingPunct="1"/>
            <a:r>
              <a:rPr lang="en-US" altLang="en-US" sz="2000" dirty="0"/>
              <a:t>In an unconscious patient, you must open airway.</a:t>
            </a:r>
          </a:p>
          <a:p>
            <a:pPr lvl="2" eaLnBrk="1" hangingPunct="1"/>
            <a:r>
              <a:rPr lang="en-US" altLang="en-US" sz="2000" dirty="0"/>
              <a:t>Inspect airway for foreign bodies or secretions.</a:t>
            </a:r>
          </a:p>
          <a:p>
            <a:pPr lvl="2" eaLnBrk="1" hangingPunct="1"/>
            <a:r>
              <a:rPr lang="en-US" altLang="en-US" sz="2000" dirty="0"/>
              <a:t>Clear airway as needed.</a:t>
            </a:r>
          </a:p>
          <a:p>
            <a:pPr lvl="2" eaLnBrk="1" hangingPunct="1"/>
            <a:r>
              <a:rPr lang="en-US" altLang="en-US" sz="2000" dirty="0"/>
              <a:t>You may need to insert an airway adjunct.</a:t>
            </a:r>
          </a:p>
        </p:txBody>
      </p:sp>
    </p:spTree>
    <p:extLst>
      <p:ext uri="{BB962C8B-B14F-4D97-AF65-F5344CB8AC3E}">
        <p14:creationId xmlns:p14="http://schemas.microsoft.com/office/powerpoint/2010/main" val="2265152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a:extLst>
              <a:ext uri="{FF2B5EF4-FFF2-40B4-BE49-F238E27FC236}">
                <a16:creationId xmlns:a16="http://schemas.microsoft.com/office/drawing/2014/main" id="{957CF705-9C0A-1B48-95F1-403462983237}"/>
              </a:ext>
            </a:extLst>
          </p:cNvPr>
          <p:cNvSpPr>
            <a:spLocks noGrp="1" noChangeArrowheads="1"/>
          </p:cNvSpPr>
          <p:nvPr>
            <p:ph type="title"/>
          </p:nvPr>
        </p:nvSpPr>
        <p:spPr/>
        <p:txBody>
          <a:bodyPr/>
          <a:lstStyle/>
          <a:p>
            <a:pPr eaLnBrk="1" hangingPunct="1">
              <a:lnSpc>
                <a:spcPct val="85000"/>
              </a:lnSpc>
              <a:defRPr/>
            </a:pPr>
            <a:r>
              <a:rPr lang="en-US" dirty="0"/>
              <a:t>Primary Assessment </a:t>
            </a:r>
            <a:r>
              <a:rPr lang="en-US" sz="2800" b="0" dirty="0"/>
              <a:t>(5 of 9)</a:t>
            </a:r>
          </a:p>
        </p:txBody>
      </p:sp>
      <p:sp>
        <p:nvSpPr>
          <p:cNvPr id="46082" name="Rectangle 3">
            <a:extLst>
              <a:ext uri="{FF2B5EF4-FFF2-40B4-BE49-F238E27FC236}">
                <a16:creationId xmlns:a16="http://schemas.microsoft.com/office/drawing/2014/main" id="{C9FED24C-461D-A44E-9C07-CEE28251F0BB}"/>
              </a:ext>
            </a:extLst>
          </p:cNvPr>
          <p:cNvSpPr>
            <a:spLocks noGrp="1" noChangeArrowheads="1"/>
          </p:cNvSpPr>
          <p:nvPr>
            <p:ph type="body" idx="1"/>
          </p:nvPr>
        </p:nvSpPr>
        <p:spPr>
          <a:xfrm>
            <a:off x="5334000" y="1447800"/>
            <a:ext cx="5638800" cy="4800600"/>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sz="2400" dirty="0"/>
              <a:t>Perform a rapid exam (cont'd):</a:t>
            </a:r>
          </a:p>
          <a:p>
            <a:pPr lvl="1" eaLnBrk="1" hangingPunct="1">
              <a:spcBef>
                <a:spcPct val="35000"/>
              </a:spcBef>
            </a:pPr>
            <a:r>
              <a:rPr lang="en-US" altLang="en-US" sz="2100" dirty="0"/>
              <a:t>Assess breathing.</a:t>
            </a:r>
          </a:p>
          <a:p>
            <a:pPr lvl="2" eaLnBrk="1" hangingPunct="1">
              <a:spcBef>
                <a:spcPct val="10000"/>
              </a:spcBef>
            </a:pPr>
            <a:r>
              <a:rPr lang="en-US" altLang="en-US" sz="1900" dirty="0"/>
              <a:t>Assess rate and quality of breathing.</a:t>
            </a:r>
          </a:p>
          <a:p>
            <a:pPr lvl="2" eaLnBrk="1" hangingPunct="1">
              <a:spcBef>
                <a:spcPct val="10000"/>
              </a:spcBef>
            </a:pPr>
            <a:r>
              <a:rPr lang="en-US" altLang="en-US" sz="1900" dirty="0"/>
              <a:t>If patient is unconscious, use look, listen, and feel approach.</a:t>
            </a:r>
          </a:p>
          <a:p>
            <a:pPr lvl="2" eaLnBrk="1" hangingPunct="1">
              <a:spcBef>
                <a:spcPct val="10000"/>
              </a:spcBef>
            </a:pPr>
            <a:r>
              <a:rPr lang="en-US" altLang="en-US" sz="1900" dirty="0"/>
              <a:t>Check for foreign objects and remove them.</a:t>
            </a:r>
          </a:p>
          <a:p>
            <a:pPr lvl="2" eaLnBrk="1" hangingPunct="1">
              <a:spcBef>
                <a:spcPct val="10000"/>
              </a:spcBef>
            </a:pPr>
            <a:r>
              <a:rPr lang="en-US" altLang="en-US" sz="1900" dirty="0"/>
              <a:t>If patient is not breathing, open airway and perform rescue breathing.</a:t>
            </a:r>
          </a:p>
        </p:txBody>
      </p:sp>
      <p:sp>
        <p:nvSpPr>
          <p:cNvPr id="7" name="Rectangle 6"/>
          <p:cNvSpPr/>
          <p:nvPr/>
        </p:nvSpPr>
        <p:spPr>
          <a:xfrm>
            <a:off x="1059933" y="4863706"/>
            <a:ext cx="10072846" cy="369332"/>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cap="all" dirty="0"/>
              <a:t>Figure</a:t>
            </a:r>
            <a:r>
              <a:rPr lang="en-US" b="1" dirty="0"/>
              <a:t> 9-5 </a:t>
            </a:r>
            <a:r>
              <a:rPr lang="en-US" dirty="0"/>
              <a:t>Check the patient’s breathing. </a:t>
            </a:r>
          </a:p>
        </p:txBody>
      </p:sp>
      <p:sp>
        <p:nvSpPr>
          <p:cNvPr id="8" name="Rectangle 7"/>
          <p:cNvSpPr/>
          <p:nvPr/>
        </p:nvSpPr>
        <p:spPr>
          <a:xfrm>
            <a:off x="1059891" y="5219184"/>
            <a:ext cx="4456008" cy="24622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t>© Jones &amp; Bartlett Learning. Courtesy of MIEMSS. </a:t>
            </a:r>
          </a:p>
        </p:txBody>
      </p:sp>
      <p:pic>
        <p:nvPicPr>
          <p:cNvPr id="3074" name="Picture 2" descr="A photo shows an officer wearing gloves bending over the face of an elderly male patient to check for breathing.&#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9891" y="2267565"/>
            <a:ext cx="4038600" cy="25514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7298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a:extLst>
              <a:ext uri="{FF2B5EF4-FFF2-40B4-BE49-F238E27FC236}">
                <a16:creationId xmlns:a16="http://schemas.microsoft.com/office/drawing/2014/main" id="{0350BE7B-2BB5-A74A-916C-0EF21608FC77}"/>
              </a:ext>
            </a:extLst>
          </p:cNvPr>
          <p:cNvSpPr>
            <a:spLocks noGrp="1" noChangeArrowheads="1"/>
          </p:cNvSpPr>
          <p:nvPr>
            <p:ph type="title"/>
          </p:nvPr>
        </p:nvSpPr>
        <p:spPr/>
        <p:txBody>
          <a:bodyPr/>
          <a:lstStyle/>
          <a:p>
            <a:pPr eaLnBrk="1" hangingPunct="1">
              <a:lnSpc>
                <a:spcPct val="85000"/>
              </a:lnSpc>
              <a:defRPr/>
            </a:pPr>
            <a:r>
              <a:rPr lang="en-US" dirty="0"/>
              <a:t>Primary Assessment </a:t>
            </a:r>
            <a:r>
              <a:rPr lang="en-US" sz="2800" b="0" dirty="0"/>
              <a:t>(6 of 9)</a:t>
            </a:r>
          </a:p>
        </p:txBody>
      </p:sp>
      <p:sp>
        <p:nvSpPr>
          <p:cNvPr id="48130" name="Rectangle 3">
            <a:extLst>
              <a:ext uri="{FF2B5EF4-FFF2-40B4-BE49-F238E27FC236}">
                <a16:creationId xmlns:a16="http://schemas.microsoft.com/office/drawing/2014/main" id="{9EDDCE0A-4F8E-4E45-987C-ED4556F4366D}"/>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Perform a rapid exam (cont'd):</a:t>
            </a:r>
          </a:p>
          <a:p>
            <a:pPr lvl="1" eaLnBrk="1" hangingPunct="1">
              <a:spcBef>
                <a:spcPct val="35000"/>
              </a:spcBef>
            </a:pPr>
            <a:r>
              <a:rPr lang="en-US" altLang="en-US" dirty="0"/>
              <a:t>Assess circulation.</a:t>
            </a:r>
          </a:p>
          <a:p>
            <a:pPr lvl="2" eaLnBrk="1" hangingPunct="1"/>
            <a:r>
              <a:rPr lang="en-US" altLang="en-US" sz="2000" dirty="0"/>
              <a:t>If patient is unconscious, check a carotid pulse.</a:t>
            </a:r>
          </a:p>
          <a:p>
            <a:pPr lvl="2" eaLnBrk="1" hangingPunct="1"/>
            <a:r>
              <a:rPr lang="en-US" altLang="en-US" sz="2000" dirty="0"/>
              <a:t>If patient is conscious, assess radial pulse.</a:t>
            </a:r>
          </a:p>
          <a:p>
            <a:pPr lvl="2" eaLnBrk="1" hangingPunct="1"/>
            <a:r>
              <a:rPr lang="en-US" altLang="en-US" sz="2000" dirty="0"/>
              <a:t>Check patient for severe external bleeding.</a:t>
            </a:r>
          </a:p>
          <a:p>
            <a:pPr lvl="2" eaLnBrk="1" hangingPunct="1"/>
            <a:r>
              <a:rPr lang="en-US" altLang="en-US" sz="2000" dirty="0"/>
              <a:t>Assess patient’s skin color and temperature.</a:t>
            </a:r>
          </a:p>
        </p:txBody>
      </p:sp>
    </p:spTree>
    <p:extLst>
      <p:ext uri="{BB962C8B-B14F-4D97-AF65-F5344CB8AC3E}">
        <p14:creationId xmlns:p14="http://schemas.microsoft.com/office/powerpoint/2010/main" val="2527324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1570" name="Rectangle 2">
            <a:extLst>
              <a:ext uri="{FF2B5EF4-FFF2-40B4-BE49-F238E27FC236}">
                <a16:creationId xmlns:a16="http://schemas.microsoft.com/office/drawing/2014/main" id="{9A06B6FF-23F4-F947-B7B2-513ADE9CA933}"/>
              </a:ext>
            </a:extLst>
          </p:cNvPr>
          <p:cNvSpPr>
            <a:spLocks noGrp="1" noChangeArrowheads="1"/>
          </p:cNvSpPr>
          <p:nvPr>
            <p:ph type="title"/>
          </p:nvPr>
        </p:nvSpPr>
        <p:spPr/>
        <p:txBody>
          <a:bodyPr/>
          <a:lstStyle/>
          <a:p>
            <a:pPr eaLnBrk="1" hangingPunct="1">
              <a:lnSpc>
                <a:spcPct val="85000"/>
              </a:lnSpc>
              <a:defRPr/>
            </a:pPr>
            <a:r>
              <a:rPr lang="en-US" dirty="0"/>
              <a:t>Primary Assessment </a:t>
            </a:r>
            <a:r>
              <a:rPr lang="en-US" sz="2800" b="0" dirty="0"/>
              <a:t>(7 of 9)</a:t>
            </a:r>
          </a:p>
        </p:txBody>
      </p:sp>
      <p:sp>
        <p:nvSpPr>
          <p:cNvPr id="7" name="Rectangle 6"/>
          <p:cNvSpPr/>
          <p:nvPr/>
        </p:nvSpPr>
        <p:spPr>
          <a:xfrm>
            <a:off x="1059934" y="4863706"/>
            <a:ext cx="5292740" cy="64633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cap="all" dirty="0"/>
              <a:t>Figure</a:t>
            </a:r>
            <a:r>
              <a:rPr lang="en-US" b="1" dirty="0"/>
              <a:t> 9-6 </a:t>
            </a:r>
            <a:r>
              <a:rPr lang="en-US" dirty="0"/>
              <a:t>Check an unconscious patient’s circulation by checking the carotid pulse. </a:t>
            </a:r>
          </a:p>
        </p:txBody>
      </p:sp>
      <p:sp>
        <p:nvSpPr>
          <p:cNvPr id="10" name="Rectangle 9"/>
          <p:cNvSpPr/>
          <p:nvPr/>
        </p:nvSpPr>
        <p:spPr>
          <a:xfrm>
            <a:off x="1071923" y="5507942"/>
            <a:ext cx="3078972" cy="24622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t>© Jones &amp; Bartlett Learning. </a:t>
            </a:r>
          </a:p>
        </p:txBody>
      </p:sp>
      <p:sp>
        <p:nvSpPr>
          <p:cNvPr id="11" name="Rectangle 10"/>
          <p:cNvSpPr/>
          <p:nvPr/>
        </p:nvSpPr>
        <p:spPr>
          <a:xfrm>
            <a:off x="6578425" y="4883758"/>
            <a:ext cx="5292740" cy="64633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cap="all" dirty="0"/>
              <a:t>Figure</a:t>
            </a:r>
            <a:r>
              <a:rPr lang="en-US" b="1" dirty="0"/>
              <a:t> 9-7 </a:t>
            </a:r>
            <a:r>
              <a:rPr lang="en-US" dirty="0"/>
              <a:t>Take the radial pulse if the patient is conscious. </a:t>
            </a:r>
          </a:p>
        </p:txBody>
      </p:sp>
      <p:sp>
        <p:nvSpPr>
          <p:cNvPr id="12" name="Rectangle 11"/>
          <p:cNvSpPr/>
          <p:nvPr/>
        </p:nvSpPr>
        <p:spPr>
          <a:xfrm>
            <a:off x="6590414" y="5527994"/>
            <a:ext cx="3078972" cy="24622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t>© Jones &amp; Bartlett Learning. </a:t>
            </a:r>
          </a:p>
        </p:txBody>
      </p:sp>
      <p:pic>
        <p:nvPicPr>
          <p:cNvPr id="4098" name="Picture 2" descr="A photo shows an officer's gloved hand touching the neck of a male patient lying on the ground facing upward to check for the carotid pulse.&#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9934" y="1971695"/>
            <a:ext cx="4967038" cy="2840522"/>
          </a:xfrm>
          <a:prstGeom prst="rect">
            <a:avLst/>
          </a:prstGeom>
          <a:noFill/>
          <a:extLst>
            <a:ext uri="{909E8E84-426E-40DD-AFC4-6F175D3DCCD1}">
              <a14:hiddenFill xmlns:a14="http://schemas.microsoft.com/office/drawing/2010/main">
                <a:solidFill>
                  <a:srgbClr val="FFFFFF"/>
                </a:solidFill>
              </a14:hiddenFill>
            </a:ext>
          </a:extLst>
        </p:spPr>
      </p:pic>
      <p:pic>
        <p:nvPicPr>
          <p:cNvPr id="4099" name="Picture 3" descr="A photo shows the gloved hand of an officer touching a patient's hand just below the wrist to check for the radial pulse.&#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39550" y="2005056"/>
            <a:ext cx="4276100" cy="28574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4485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a:extLst>
              <a:ext uri="{FF2B5EF4-FFF2-40B4-BE49-F238E27FC236}">
                <a16:creationId xmlns:a16="http://schemas.microsoft.com/office/drawing/2014/main" id="{244A15C6-E79A-D649-9037-395E082C6F72}"/>
              </a:ext>
            </a:extLst>
          </p:cNvPr>
          <p:cNvSpPr>
            <a:spLocks noGrp="1" noChangeArrowheads="1"/>
          </p:cNvSpPr>
          <p:nvPr>
            <p:ph type="title"/>
          </p:nvPr>
        </p:nvSpPr>
        <p:spPr/>
        <p:txBody>
          <a:bodyPr/>
          <a:lstStyle/>
          <a:p>
            <a:pPr eaLnBrk="1" hangingPunct="1">
              <a:lnSpc>
                <a:spcPct val="85000"/>
              </a:lnSpc>
              <a:defRPr/>
            </a:pPr>
            <a:r>
              <a:rPr lang="en-US" dirty="0"/>
              <a:t>Primary Assessment </a:t>
            </a:r>
            <a:r>
              <a:rPr lang="en-US" sz="2800" b="0" dirty="0"/>
              <a:t>(8 of 9)</a:t>
            </a:r>
          </a:p>
        </p:txBody>
      </p:sp>
      <p:sp>
        <p:nvSpPr>
          <p:cNvPr id="52226" name="Rectangle 3">
            <a:extLst>
              <a:ext uri="{FF2B5EF4-FFF2-40B4-BE49-F238E27FC236}">
                <a16:creationId xmlns:a16="http://schemas.microsoft.com/office/drawing/2014/main" id="{C7B66E7F-1984-DE4B-B342-2E4E09C2C4F9}"/>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Perform a rapid exam (cont'd):</a:t>
            </a:r>
          </a:p>
          <a:p>
            <a:pPr lvl="1" eaLnBrk="1" hangingPunct="1">
              <a:spcBef>
                <a:spcPct val="35000"/>
              </a:spcBef>
            </a:pPr>
            <a:r>
              <a:rPr lang="en-US" altLang="en-US" dirty="0"/>
              <a:t>Descriptions of skin color:</a:t>
            </a:r>
          </a:p>
          <a:p>
            <a:pPr lvl="2" eaLnBrk="1" hangingPunct="1">
              <a:spcBef>
                <a:spcPct val="15000"/>
              </a:spcBef>
            </a:pPr>
            <a:r>
              <a:rPr lang="en-US" altLang="en-US" sz="2000" dirty="0"/>
              <a:t>Pale—white or light in color, indicating decreased circulation to that part of body or to all of body.</a:t>
            </a:r>
          </a:p>
          <a:p>
            <a:pPr lvl="2" eaLnBrk="1" hangingPunct="1">
              <a:spcBef>
                <a:spcPct val="15000"/>
              </a:spcBef>
            </a:pPr>
            <a:r>
              <a:rPr lang="en-US" altLang="en-US" sz="2000" dirty="0"/>
              <a:t>Flushed—red in color, indicating excess circulation to that part of body.</a:t>
            </a:r>
          </a:p>
          <a:p>
            <a:pPr lvl="2" eaLnBrk="1" hangingPunct="1">
              <a:spcBef>
                <a:spcPct val="15000"/>
              </a:spcBef>
            </a:pPr>
            <a:r>
              <a:rPr lang="en-US" altLang="en-US" sz="2000" dirty="0"/>
              <a:t>Blue—cyanotic, indicating lack of oxygen and possible airway problems.</a:t>
            </a:r>
          </a:p>
          <a:p>
            <a:pPr lvl="2" eaLnBrk="1" hangingPunct="1">
              <a:spcBef>
                <a:spcPct val="15000"/>
              </a:spcBef>
            </a:pPr>
            <a:r>
              <a:rPr lang="en-US" altLang="en-US" sz="2000" dirty="0"/>
              <a:t>Yellow—also called jaundice, indicating liver problems.</a:t>
            </a:r>
          </a:p>
          <a:p>
            <a:pPr lvl="2" eaLnBrk="1" hangingPunct="1">
              <a:spcBef>
                <a:spcPct val="15000"/>
              </a:spcBef>
            </a:pPr>
            <a:r>
              <a:rPr lang="en-US" altLang="en-US" sz="2000" dirty="0"/>
              <a:t>Normal.</a:t>
            </a:r>
          </a:p>
        </p:txBody>
      </p:sp>
    </p:spTree>
    <p:extLst>
      <p:ext uri="{BB962C8B-B14F-4D97-AF65-F5344CB8AC3E}">
        <p14:creationId xmlns:p14="http://schemas.microsoft.com/office/powerpoint/2010/main" val="1033388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a:extLst>
              <a:ext uri="{FF2B5EF4-FFF2-40B4-BE49-F238E27FC236}">
                <a16:creationId xmlns:a16="http://schemas.microsoft.com/office/drawing/2014/main" id="{E55BCA0F-ACF9-3240-83DB-8409C6F591B6}"/>
              </a:ext>
            </a:extLst>
          </p:cNvPr>
          <p:cNvSpPr>
            <a:spLocks noGrp="1" noChangeArrowheads="1"/>
          </p:cNvSpPr>
          <p:nvPr>
            <p:ph type="title"/>
          </p:nvPr>
        </p:nvSpPr>
        <p:spPr/>
        <p:txBody>
          <a:bodyPr/>
          <a:lstStyle/>
          <a:p>
            <a:pPr eaLnBrk="1" hangingPunct="1">
              <a:lnSpc>
                <a:spcPct val="85000"/>
              </a:lnSpc>
              <a:defRPr/>
            </a:pPr>
            <a:r>
              <a:rPr lang="en-US" dirty="0"/>
              <a:t>Primary Assessment </a:t>
            </a:r>
            <a:r>
              <a:rPr lang="en-US" sz="2800" b="0" dirty="0"/>
              <a:t>(9 of 9)</a:t>
            </a:r>
          </a:p>
        </p:txBody>
      </p:sp>
      <p:sp>
        <p:nvSpPr>
          <p:cNvPr id="54274" name="Rectangle 3">
            <a:extLst>
              <a:ext uri="{FF2B5EF4-FFF2-40B4-BE49-F238E27FC236}">
                <a16:creationId xmlns:a16="http://schemas.microsoft.com/office/drawing/2014/main" id="{C27961F6-0F22-8648-9F86-224A2920C779}"/>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Update responding EMS units.</a:t>
            </a:r>
          </a:p>
          <a:p>
            <a:pPr lvl="1" eaLnBrk="1" hangingPunct="1">
              <a:spcBef>
                <a:spcPct val="35000"/>
              </a:spcBef>
            </a:pPr>
            <a:r>
              <a:rPr lang="en-US" altLang="en-US" dirty="0"/>
              <a:t>Elements of report:</a:t>
            </a:r>
            <a:endParaRPr lang="en-US" altLang="en-US" dirty="0">
              <a:solidFill>
                <a:srgbClr val="FF0000"/>
              </a:solidFill>
            </a:endParaRPr>
          </a:p>
          <a:p>
            <a:pPr lvl="2" eaLnBrk="1" hangingPunct="1"/>
            <a:r>
              <a:rPr lang="en-US" altLang="en-US" sz="2000" dirty="0"/>
              <a:t>Age and sex of patient.</a:t>
            </a:r>
          </a:p>
          <a:p>
            <a:pPr lvl="2" eaLnBrk="1" hangingPunct="1"/>
            <a:r>
              <a:rPr lang="en-US" altLang="en-US" sz="2000" dirty="0"/>
              <a:t>Chief complaint.</a:t>
            </a:r>
          </a:p>
          <a:p>
            <a:pPr lvl="2" eaLnBrk="1" hangingPunct="1"/>
            <a:r>
              <a:rPr lang="en-US" altLang="en-US" sz="2000" dirty="0"/>
              <a:t>Level of responsiveness.</a:t>
            </a:r>
          </a:p>
          <a:p>
            <a:pPr lvl="2" eaLnBrk="1" hangingPunct="1"/>
            <a:r>
              <a:rPr lang="en-US" altLang="en-US" sz="2000" dirty="0"/>
              <a:t>Status of airway, breathing, and circulation.</a:t>
            </a:r>
          </a:p>
          <a:p>
            <a:pPr lvl="1" eaLnBrk="1" hangingPunct="1">
              <a:spcBef>
                <a:spcPct val="35000"/>
              </a:spcBef>
            </a:pPr>
            <a:r>
              <a:rPr lang="en-US" altLang="en-US" dirty="0"/>
              <a:t>Try to perform all four steps of primary assessment quickly as you make contact with patient.</a:t>
            </a:r>
          </a:p>
        </p:txBody>
      </p:sp>
    </p:spTree>
    <p:extLst>
      <p:ext uri="{BB962C8B-B14F-4D97-AF65-F5344CB8AC3E}">
        <p14:creationId xmlns:p14="http://schemas.microsoft.com/office/powerpoint/2010/main" val="2493904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a:extLst>
              <a:ext uri="{FF2B5EF4-FFF2-40B4-BE49-F238E27FC236}">
                <a16:creationId xmlns:a16="http://schemas.microsoft.com/office/drawing/2014/main" id="{C7D5477F-0637-654D-9D6E-E5F4FB6CE482}"/>
              </a:ext>
            </a:extLst>
          </p:cNvPr>
          <p:cNvSpPr>
            <a:spLocks noGrp="1" noChangeArrowheads="1"/>
          </p:cNvSpPr>
          <p:nvPr>
            <p:ph type="title"/>
          </p:nvPr>
        </p:nvSpPr>
        <p:spPr/>
        <p:txBody>
          <a:bodyPr/>
          <a:lstStyle/>
          <a:p>
            <a:pPr eaLnBrk="1" hangingPunct="1">
              <a:lnSpc>
                <a:spcPct val="85000"/>
              </a:lnSpc>
              <a:defRPr/>
            </a:pPr>
            <a:r>
              <a:rPr lang="en-US" dirty="0"/>
              <a:t>History Taking </a:t>
            </a:r>
            <a:r>
              <a:rPr lang="en-US" sz="2800" b="0" dirty="0"/>
              <a:t>(1 of 4)</a:t>
            </a:r>
          </a:p>
        </p:txBody>
      </p:sp>
      <p:sp>
        <p:nvSpPr>
          <p:cNvPr id="56322" name="Rectangle 3">
            <a:extLst>
              <a:ext uri="{FF2B5EF4-FFF2-40B4-BE49-F238E27FC236}">
                <a16:creationId xmlns:a16="http://schemas.microsoft.com/office/drawing/2014/main" id="{1942EF16-1F33-444D-AC88-24D2ADB2618C}"/>
              </a:ext>
            </a:extLst>
          </p:cNvPr>
          <p:cNvSpPr>
            <a:spLocks noGrp="1" noChangeArrowheads="1"/>
          </p:cNvSpPr>
          <p:nvPr>
            <p:ph type="body" idx="1"/>
          </p:nvPr>
        </p:nvSpPr>
        <p:spPr>
          <a:xfrm>
            <a:off x="925830" y="1490870"/>
            <a:ext cx="8988191" cy="4699047"/>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Investigate chief complaint.</a:t>
            </a:r>
          </a:p>
          <a:p>
            <a:pPr lvl="1" eaLnBrk="1" hangingPunct="1">
              <a:spcBef>
                <a:spcPct val="35000"/>
              </a:spcBef>
            </a:pPr>
            <a:r>
              <a:rPr lang="en-US" altLang="en-US" dirty="0"/>
              <a:t>Do not allow a conscious patient’s comments to distract you.</a:t>
            </a:r>
          </a:p>
          <a:p>
            <a:pPr lvl="1" eaLnBrk="1" hangingPunct="1">
              <a:spcBef>
                <a:spcPct val="35000"/>
              </a:spcBef>
            </a:pPr>
            <a:r>
              <a:rPr lang="en-US" altLang="en-US" dirty="0"/>
              <a:t>Purposes of obtaining a history is to:</a:t>
            </a:r>
          </a:p>
          <a:p>
            <a:pPr lvl="2" eaLnBrk="1" hangingPunct="1"/>
            <a:r>
              <a:rPr lang="en-US" altLang="en-US" sz="2000" dirty="0"/>
              <a:t>Gather a systematic account of past medical conditions, illnesses, and injuries.</a:t>
            </a:r>
          </a:p>
          <a:p>
            <a:pPr lvl="2" eaLnBrk="1" hangingPunct="1"/>
            <a:r>
              <a:rPr lang="en-US" altLang="en-US" sz="2000" dirty="0"/>
              <a:t>Determine events leading up to present medical situation.</a:t>
            </a:r>
          </a:p>
          <a:p>
            <a:pPr lvl="2" eaLnBrk="1" hangingPunct="1"/>
            <a:r>
              <a:rPr lang="en-US" altLang="en-US" sz="2000" dirty="0"/>
              <a:t>Determine signs and symptoms of current condition.</a:t>
            </a:r>
          </a:p>
        </p:txBody>
      </p:sp>
    </p:spTree>
    <p:extLst>
      <p:ext uri="{BB962C8B-B14F-4D97-AF65-F5344CB8AC3E}">
        <p14:creationId xmlns:p14="http://schemas.microsoft.com/office/powerpoint/2010/main" val="2916272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a:extLst>
              <a:ext uri="{FF2B5EF4-FFF2-40B4-BE49-F238E27FC236}">
                <a16:creationId xmlns:a16="http://schemas.microsoft.com/office/drawing/2014/main" id="{CC2A23B1-D0DC-3347-97CD-811D68090D15}"/>
              </a:ext>
            </a:extLst>
          </p:cNvPr>
          <p:cNvSpPr>
            <a:spLocks noGrp="1" noChangeArrowheads="1"/>
          </p:cNvSpPr>
          <p:nvPr>
            <p:ph type="title"/>
          </p:nvPr>
        </p:nvSpPr>
        <p:spPr/>
        <p:txBody>
          <a:bodyPr/>
          <a:lstStyle/>
          <a:p>
            <a:pPr eaLnBrk="1" hangingPunct="1">
              <a:lnSpc>
                <a:spcPct val="85000"/>
              </a:lnSpc>
              <a:defRPr/>
            </a:pPr>
            <a:r>
              <a:rPr lang="en-US" dirty="0"/>
              <a:t>History Taking </a:t>
            </a:r>
            <a:r>
              <a:rPr lang="en-US" sz="2800" b="0" dirty="0"/>
              <a:t>(2 of 4)</a:t>
            </a:r>
          </a:p>
        </p:txBody>
      </p:sp>
      <p:sp>
        <p:nvSpPr>
          <p:cNvPr id="58370" name="Rectangle 3">
            <a:extLst>
              <a:ext uri="{FF2B5EF4-FFF2-40B4-BE49-F238E27FC236}">
                <a16:creationId xmlns:a16="http://schemas.microsoft.com/office/drawing/2014/main" id="{D70A56B7-ECE2-7946-9EFA-D48579C4F7B7}"/>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Investigate chief complaint (cont'd):</a:t>
            </a:r>
          </a:p>
          <a:p>
            <a:pPr lvl="1" eaLnBrk="1" hangingPunct="1">
              <a:spcBef>
                <a:spcPct val="35000"/>
              </a:spcBef>
            </a:pPr>
            <a:r>
              <a:rPr lang="en-US" altLang="en-US" dirty="0"/>
              <a:t>Question patient in a clear and systematic manner.</a:t>
            </a:r>
          </a:p>
          <a:p>
            <a:pPr lvl="1" eaLnBrk="1" hangingPunct="1">
              <a:spcBef>
                <a:spcPct val="35000"/>
              </a:spcBef>
            </a:pPr>
            <a:r>
              <a:rPr lang="en-US" altLang="en-US" dirty="0"/>
              <a:t>Learn relevant facts, including:</a:t>
            </a:r>
          </a:p>
          <a:p>
            <a:pPr lvl="2" eaLnBrk="1" hangingPunct="1"/>
            <a:r>
              <a:rPr lang="en-US" altLang="en-US" sz="2000" dirty="0"/>
              <a:t>Serious injuries, illnesses, or surgeries.</a:t>
            </a:r>
          </a:p>
          <a:p>
            <a:pPr lvl="2" eaLnBrk="1" hangingPunct="1"/>
            <a:r>
              <a:rPr lang="en-US" altLang="en-US" sz="2000" dirty="0"/>
              <a:t>Prescription medicines.</a:t>
            </a:r>
          </a:p>
          <a:p>
            <a:pPr lvl="2" eaLnBrk="1" hangingPunct="1"/>
            <a:r>
              <a:rPr lang="en-US" altLang="en-US" sz="2000" dirty="0"/>
              <a:t>Over-the-counter (OTC) medicines and herbal medicines.</a:t>
            </a:r>
          </a:p>
          <a:p>
            <a:pPr lvl="2" eaLnBrk="1" hangingPunct="1"/>
            <a:r>
              <a:rPr lang="en-US" altLang="en-US" sz="2000" dirty="0"/>
              <a:t>Allergies to any medicines, foods, or seasonal allergens.</a:t>
            </a:r>
          </a:p>
        </p:txBody>
      </p:sp>
    </p:spTree>
    <p:extLst>
      <p:ext uri="{BB962C8B-B14F-4D97-AF65-F5344CB8AC3E}">
        <p14:creationId xmlns:p14="http://schemas.microsoft.com/office/powerpoint/2010/main" val="4155179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a:extLst>
              <a:ext uri="{FF2B5EF4-FFF2-40B4-BE49-F238E27FC236}">
                <a16:creationId xmlns:a16="http://schemas.microsoft.com/office/drawing/2014/main" id="{9ED36553-C3F7-B842-A18C-29BD0F2EAC12}"/>
              </a:ext>
            </a:extLst>
          </p:cNvPr>
          <p:cNvSpPr>
            <a:spLocks noGrp="1" noChangeArrowheads="1"/>
          </p:cNvSpPr>
          <p:nvPr>
            <p:ph type="title"/>
          </p:nvPr>
        </p:nvSpPr>
        <p:spPr/>
        <p:txBody>
          <a:bodyPr/>
          <a:lstStyle/>
          <a:p>
            <a:pPr eaLnBrk="1" hangingPunct="1">
              <a:lnSpc>
                <a:spcPct val="85000"/>
              </a:lnSpc>
              <a:defRPr/>
            </a:pPr>
            <a:r>
              <a:rPr lang="en-US" dirty="0"/>
              <a:t>History Taking </a:t>
            </a:r>
            <a:r>
              <a:rPr lang="en-US" sz="2800" b="0" dirty="0"/>
              <a:t>(3 of 4)</a:t>
            </a:r>
          </a:p>
        </p:txBody>
      </p:sp>
      <p:sp>
        <p:nvSpPr>
          <p:cNvPr id="60418" name="Rectangle 3">
            <a:extLst>
              <a:ext uri="{FF2B5EF4-FFF2-40B4-BE49-F238E27FC236}">
                <a16:creationId xmlns:a16="http://schemas.microsoft.com/office/drawing/2014/main" id="{39C73FE8-109F-1346-A90A-ADB605E7785C}"/>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Obtain a SAMPLE history.</a:t>
            </a:r>
          </a:p>
          <a:p>
            <a:pPr lvl="1" eaLnBrk="1" hangingPunct="1">
              <a:spcBef>
                <a:spcPct val="35000"/>
              </a:spcBef>
            </a:pPr>
            <a:r>
              <a:rPr lang="en-US" altLang="en-US" dirty="0"/>
              <a:t>Provides a framework to ask further questions of patient.</a:t>
            </a:r>
          </a:p>
          <a:p>
            <a:pPr lvl="1" eaLnBrk="1" hangingPunct="1">
              <a:spcBef>
                <a:spcPct val="35000"/>
              </a:spcBef>
            </a:pPr>
            <a:r>
              <a:rPr lang="en-US" altLang="en-US" dirty="0"/>
              <a:t>Ask the patient one question at a time.</a:t>
            </a:r>
          </a:p>
          <a:p>
            <a:pPr lvl="1" eaLnBrk="1" hangingPunct="1">
              <a:spcBef>
                <a:spcPct val="35000"/>
              </a:spcBef>
            </a:pPr>
            <a:r>
              <a:rPr lang="en-US" altLang="en-US" dirty="0"/>
              <a:t>Listen carefully and use good eye contact.</a:t>
            </a:r>
          </a:p>
          <a:p>
            <a:pPr lvl="1" eaLnBrk="1" hangingPunct="1">
              <a:spcBef>
                <a:spcPct val="35000"/>
              </a:spcBef>
            </a:pPr>
            <a:r>
              <a:rPr lang="en-US" altLang="en-US" dirty="0"/>
              <a:t>If patient is unconscious or senile, a family member or friend may be able to help.</a:t>
            </a:r>
          </a:p>
          <a:p>
            <a:pPr lvl="1" eaLnBrk="1" hangingPunct="1">
              <a:spcBef>
                <a:spcPct val="35000"/>
              </a:spcBef>
            </a:pPr>
            <a:r>
              <a:rPr lang="en-US" altLang="en-US" dirty="0"/>
              <a:t>Communicate this information to other EMS personnel.</a:t>
            </a:r>
          </a:p>
        </p:txBody>
      </p:sp>
    </p:spTree>
    <p:extLst>
      <p:ext uri="{BB962C8B-B14F-4D97-AF65-F5344CB8AC3E}">
        <p14:creationId xmlns:p14="http://schemas.microsoft.com/office/powerpoint/2010/main" val="340362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a:extLst>
              <a:ext uri="{FF2B5EF4-FFF2-40B4-BE49-F238E27FC236}">
                <a16:creationId xmlns:a16="http://schemas.microsoft.com/office/drawing/2014/main" id="{041F0AFA-9126-BD42-A582-43372CE2589B}"/>
              </a:ext>
            </a:extLst>
          </p:cNvPr>
          <p:cNvSpPr>
            <a:spLocks noGrp="1" noChangeArrowheads="1"/>
          </p:cNvSpPr>
          <p:nvPr>
            <p:ph type="title"/>
          </p:nvPr>
        </p:nvSpPr>
        <p:spPr/>
        <p:txBody>
          <a:bodyPr/>
          <a:lstStyle/>
          <a:p>
            <a:pPr eaLnBrk="1" hangingPunct="1">
              <a:lnSpc>
                <a:spcPct val="85000"/>
              </a:lnSpc>
              <a:defRPr/>
            </a:pPr>
            <a:r>
              <a:rPr lang="en-US" dirty="0">
                <a:solidFill>
                  <a:srgbClr val="F79646"/>
                </a:solidFill>
              </a:rPr>
              <a:t>History Taking </a:t>
            </a:r>
            <a:r>
              <a:rPr lang="en-US" sz="2800" b="0" dirty="0">
                <a:solidFill>
                  <a:srgbClr val="F79646"/>
                </a:solidFill>
              </a:rPr>
              <a:t>(4 of 4)</a:t>
            </a:r>
          </a:p>
        </p:txBody>
      </p:sp>
      <p:pic>
        <p:nvPicPr>
          <p:cNvPr id="5122" name="Picture 2" descr="A table describes the acronym SAMPLE as follows. S: Signs and symptoms of the injury or illness. These should be the reasons that caused the patient to call for emergency medical services. Patients should describe signs and symptoms in their own words. A: Allergies. Patients may be allergic to medications, food, or airborne particles. M: Medications. What medications is the patient taking? Ask about medications prescribed by the patient’s physician, over-the-counter (nonprescription) medications, and herbal supplements. P: Pertinent past medical history. What events or symptoms might be related to the patient’s current illness? For example, it would be important to know whether a patient experiencing severe chest pain had a previous heart attack. L: Last oral intake. When was the last time the patient had anything to eat or drink? Find out what the patient last ate or drank and how much he or she consumed. E: Events associated with or leading up to this illness or injury. Knowing these events will help you put together the pieces of the medical history puzzle. Let patients describe these events in their own words.&#10;" title="A table describes what the acronym 'SAMPLE' stands for in SAMPLE medical history.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43632" y="1295400"/>
            <a:ext cx="3904736" cy="541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9378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a:extLst>
              <a:ext uri="{FF2B5EF4-FFF2-40B4-BE49-F238E27FC236}">
                <a16:creationId xmlns:a16="http://schemas.microsoft.com/office/drawing/2014/main" id="{A0F3995C-00D3-7B47-806F-C0D3FA517FAA}"/>
              </a:ext>
            </a:extLst>
          </p:cNvPr>
          <p:cNvSpPr>
            <a:spLocks noGrp="1" noChangeArrowheads="1"/>
          </p:cNvSpPr>
          <p:nvPr>
            <p:ph type="title"/>
          </p:nvPr>
        </p:nvSpPr>
        <p:spPr/>
        <p:txBody>
          <a:bodyPr/>
          <a:lstStyle/>
          <a:p>
            <a:pPr eaLnBrk="1" hangingPunct="1">
              <a:lnSpc>
                <a:spcPct val="85000"/>
              </a:lnSpc>
              <a:defRPr/>
            </a:pPr>
            <a:r>
              <a:rPr lang="en-US" dirty="0"/>
              <a:t>Secondary Assessment </a:t>
            </a:r>
            <a:r>
              <a:rPr lang="en-US" sz="2800" b="0" dirty="0"/>
              <a:t>(1 of 12)</a:t>
            </a:r>
          </a:p>
        </p:txBody>
      </p:sp>
      <p:sp>
        <p:nvSpPr>
          <p:cNvPr id="64514" name="Rectangle 3">
            <a:extLst>
              <a:ext uri="{FF2B5EF4-FFF2-40B4-BE49-F238E27FC236}">
                <a16:creationId xmlns:a16="http://schemas.microsoft.com/office/drawing/2014/main" id="{D22814C4-3D5F-2442-BDE6-3A1E91C49375}"/>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Secondary assessment is done to assess non–life-threatening conditions.</a:t>
            </a:r>
          </a:p>
          <a:p>
            <a:pPr eaLnBrk="1" hangingPunct="1">
              <a:spcBef>
                <a:spcPct val="35000"/>
              </a:spcBef>
            </a:pPr>
            <a:r>
              <a:rPr lang="en-US" altLang="en-US" dirty="0"/>
              <a:t>Physical examination helps you locate and begin initial management of signs and symptoms of illness or injury.</a:t>
            </a:r>
          </a:p>
          <a:p>
            <a:pPr lvl="1" eaLnBrk="1" hangingPunct="1">
              <a:spcBef>
                <a:spcPct val="35000"/>
              </a:spcBef>
            </a:pPr>
            <a:r>
              <a:rPr lang="en-US" altLang="en-US" dirty="0"/>
              <a:t>A sign is something about patient you can see or feel for yourself.</a:t>
            </a:r>
          </a:p>
          <a:p>
            <a:pPr lvl="1" eaLnBrk="1" hangingPunct="1">
              <a:spcBef>
                <a:spcPct val="35000"/>
              </a:spcBef>
            </a:pPr>
            <a:r>
              <a:rPr lang="en-US" altLang="en-US" dirty="0"/>
              <a:t>A symptom is something patient tells you about his or her condition.</a:t>
            </a:r>
          </a:p>
        </p:txBody>
      </p:sp>
    </p:spTree>
    <p:extLst>
      <p:ext uri="{BB962C8B-B14F-4D97-AF65-F5344CB8AC3E}">
        <p14:creationId xmlns:p14="http://schemas.microsoft.com/office/powerpoint/2010/main" val="3827631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a:extLst>
              <a:ext uri="{FF2B5EF4-FFF2-40B4-BE49-F238E27FC236}">
                <a16:creationId xmlns:a16="http://schemas.microsoft.com/office/drawing/2014/main" id="{1AA2CF2F-AC6E-FA4F-8855-00BFDD8725D0}"/>
              </a:ext>
            </a:extLst>
          </p:cNvPr>
          <p:cNvSpPr>
            <a:spLocks noGrp="1" noChangeArrowheads="1"/>
          </p:cNvSpPr>
          <p:nvPr>
            <p:ph type="title"/>
          </p:nvPr>
        </p:nvSpPr>
        <p:spPr/>
        <p:txBody>
          <a:bodyPr/>
          <a:lstStyle/>
          <a:p>
            <a:pPr eaLnBrk="1" hangingPunct="1">
              <a:lnSpc>
                <a:spcPct val="85000"/>
              </a:lnSpc>
              <a:defRPr/>
            </a:pPr>
            <a:r>
              <a:rPr lang="en-US" dirty="0">
                <a:solidFill>
                  <a:srgbClr val="F79646"/>
                </a:solidFill>
              </a:rPr>
              <a:t>Secondary Assessment </a:t>
            </a:r>
            <a:r>
              <a:rPr lang="en-US" sz="2800" b="0" dirty="0">
                <a:solidFill>
                  <a:srgbClr val="F79646"/>
                </a:solidFill>
              </a:rPr>
              <a:t>(2 of 12)</a:t>
            </a:r>
          </a:p>
        </p:txBody>
      </p:sp>
      <p:pic>
        <p:nvPicPr>
          <p:cNvPr id="6146" name="Picture 2" descr="&quot;The signs of injury with the acronym DOTS is as follows. D: Deformities; &#10;O: Open injuries; T: Tenderness; S: Swelling.&quot;&#10;" title="A table lists signs of injury with the acronym DOT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0100" y="1434189"/>
            <a:ext cx="4648200" cy="2246786"/>
          </a:xfrm>
          <a:prstGeom prst="rect">
            <a:avLst/>
          </a:prstGeom>
          <a:noFill/>
          <a:extLst>
            <a:ext uri="{909E8E84-426E-40DD-AFC4-6F175D3DCCD1}">
              <a14:hiddenFill xmlns:a14="http://schemas.microsoft.com/office/drawing/2010/main">
                <a:solidFill>
                  <a:srgbClr val="FFFFFF"/>
                </a:solidFill>
              </a14:hiddenFill>
            </a:ext>
          </a:extLst>
        </p:spPr>
      </p:pic>
      <p:pic>
        <p:nvPicPr>
          <p:cNvPr id="6147" name="Picture 3" descr="A table explains the acronym DCAP-BTLS as follows. D: Deformities; C: Contusions (bruises); A: Abrasions; P: Punctures or Penetrations; B: Burns; T: Tenderness; L: Lacerations; S: Swelling.&#10;" title="A table explains the acronym DCAP-BTL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69038" y="1434189"/>
            <a:ext cx="5180012" cy="39896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7011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a:extLst>
              <a:ext uri="{FF2B5EF4-FFF2-40B4-BE49-F238E27FC236}">
                <a16:creationId xmlns:a16="http://schemas.microsoft.com/office/drawing/2014/main" id="{DDE97346-B885-E642-BC7C-4B01EF691CD5}"/>
              </a:ext>
            </a:extLst>
          </p:cNvPr>
          <p:cNvSpPr>
            <a:spLocks noGrp="1" noChangeArrowheads="1"/>
          </p:cNvSpPr>
          <p:nvPr>
            <p:ph type="title"/>
          </p:nvPr>
        </p:nvSpPr>
        <p:spPr/>
        <p:txBody>
          <a:bodyPr/>
          <a:lstStyle/>
          <a:p>
            <a:pPr eaLnBrk="1" hangingPunct="1">
              <a:lnSpc>
                <a:spcPct val="85000"/>
              </a:lnSpc>
              <a:defRPr/>
            </a:pPr>
            <a:r>
              <a:rPr lang="en-US" dirty="0"/>
              <a:t>Secondary Assessment </a:t>
            </a:r>
            <a:r>
              <a:rPr lang="en-US" sz="2800" b="0" dirty="0"/>
              <a:t>(3 of 12)</a:t>
            </a:r>
          </a:p>
        </p:txBody>
      </p:sp>
      <p:sp>
        <p:nvSpPr>
          <p:cNvPr id="68610" name="Rectangle 3">
            <a:extLst>
              <a:ext uri="{FF2B5EF4-FFF2-40B4-BE49-F238E27FC236}">
                <a16:creationId xmlns:a16="http://schemas.microsoft.com/office/drawing/2014/main" id="{49489C4F-FDA7-4545-8206-BA0F8E6BC9D7}"/>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Secondary assessment of entire body</a:t>
            </a:r>
          </a:p>
          <a:p>
            <a:pPr lvl="1" eaLnBrk="1" hangingPunct="1">
              <a:spcBef>
                <a:spcPct val="35000"/>
              </a:spcBef>
            </a:pPr>
            <a:r>
              <a:rPr lang="en-US" altLang="en-US" dirty="0"/>
              <a:t>Can be done whether patient is conscious or unconscious</a:t>
            </a:r>
            <a:r>
              <a:rPr lang="en-US" altLang="en-US" dirty="0">
                <a:solidFill>
                  <a:srgbClr val="FF0000"/>
                </a:solidFill>
              </a:rPr>
              <a:t>.</a:t>
            </a:r>
          </a:p>
          <a:p>
            <a:pPr lvl="1" eaLnBrk="1" hangingPunct="1">
              <a:spcBef>
                <a:spcPct val="35000"/>
              </a:spcBef>
            </a:pPr>
            <a:r>
              <a:rPr lang="en-US" altLang="en-US" dirty="0"/>
              <a:t>Assume that all unconscious, injured patients have spinal injuries.</a:t>
            </a:r>
          </a:p>
          <a:p>
            <a:pPr lvl="1" eaLnBrk="1" hangingPunct="1">
              <a:spcBef>
                <a:spcPct val="35000"/>
              </a:spcBef>
            </a:pPr>
            <a:r>
              <a:rPr lang="en-US" altLang="en-US" dirty="0"/>
              <a:t>Stabilize head and spine to minimize movement during patient examination.</a:t>
            </a:r>
          </a:p>
          <a:p>
            <a:pPr lvl="1" eaLnBrk="1" hangingPunct="1">
              <a:spcBef>
                <a:spcPct val="35000"/>
              </a:spcBef>
            </a:pPr>
            <a:r>
              <a:rPr lang="en-US" altLang="en-US" dirty="0"/>
              <a:t>Follow steps in </a:t>
            </a:r>
            <a:r>
              <a:rPr lang="en-US" altLang="en-US" b="1" dirty="0"/>
              <a:t>Skill Drill 9-1</a:t>
            </a:r>
            <a:r>
              <a:rPr lang="en-US" altLang="en-US" i="1" dirty="0"/>
              <a:t> </a:t>
            </a:r>
            <a:r>
              <a:rPr lang="en-US" altLang="en-US" dirty="0"/>
              <a:t>to perform a secondary assessment.</a:t>
            </a:r>
          </a:p>
        </p:txBody>
      </p:sp>
    </p:spTree>
    <p:extLst>
      <p:ext uri="{BB962C8B-B14F-4D97-AF65-F5344CB8AC3E}">
        <p14:creationId xmlns:p14="http://schemas.microsoft.com/office/powerpoint/2010/main" val="2800877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a:extLst>
              <a:ext uri="{FF2B5EF4-FFF2-40B4-BE49-F238E27FC236}">
                <a16:creationId xmlns:a16="http://schemas.microsoft.com/office/drawing/2014/main" id="{9DAC1E8A-122C-7246-8E48-91DCC7414157}"/>
              </a:ext>
            </a:extLst>
          </p:cNvPr>
          <p:cNvSpPr>
            <a:spLocks noGrp="1" noChangeArrowheads="1"/>
          </p:cNvSpPr>
          <p:nvPr>
            <p:ph type="title"/>
          </p:nvPr>
        </p:nvSpPr>
        <p:spPr/>
        <p:txBody>
          <a:bodyPr/>
          <a:lstStyle/>
          <a:p>
            <a:pPr eaLnBrk="1" hangingPunct="1">
              <a:lnSpc>
                <a:spcPct val="85000"/>
              </a:lnSpc>
              <a:defRPr/>
            </a:pPr>
            <a:r>
              <a:rPr lang="en-US" dirty="0"/>
              <a:t>Secondary Assessment </a:t>
            </a:r>
            <a:r>
              <a:rPr lang="en-US" sz="2800" b="0" dirty="0"/>
              <a:t>(4 of 12)</a:t>
            </a:r>
          </a:p>
        </p:txBody>
      </p:sp>
      <p:sp>
        <p:nvSpPr>
          <p:cNvPr id="70658" name="Rectangle 3">
            <a:extLst>
              <a:ext uri="{FF2B5EF4-FFF2-40B4-BE49-F238E27FC236}">
                <a16:creationId xmlns:a16="http://schemas.microsoft.com/office/drawing/2014/main" id="{F27AAC2F-A3E0-FC4E-A6B2-ABF4A77399E1}"/>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Exam of a specific area of body:</a:t>
            </a:r>
          </a:p>
          <a:p>
            <a:pPr lvl="1" eaLnBrk="1" hangingPunct="1">
              <a:spcBef>
                <a:spcPct val="35000"/>
              </a:spcBef>
            </a:pPr>
            <a:r>
              <a:rPr lang="en-US" altLang="en-US" dirty="0"/>
              <a:t>Performed on patients who have sustained nonsignificant MOIs or on responsive medical patients</a:t>
            </a:r>
          </a:p>
          <a:p>
            <a:pPr lvl="1" eaLnBrk="1" hangingPunct="1">
              <a:spcBef>
                <a:spcPct val="35000"/>
              </a:spcBef>
            </a:pPr>
            <a:r>
              <a:rPr lang="en-US" altLang="en-US" dirty="0"/>
              <a:t>Based on chief complaint – may focus on body system (</a:t>
            </a:r>
            <a:r>
              <a:rPr lang="en-US" altLang="en-US" dirty="0" err="1"/>
              <a:t>ie</a:t>
            </a:r>
            <a:r>
              <a:rPr lang="en-US" altLang="en-US" dirty="0"/>
              <a:t>, medical complaint of chest pain: focus on cardiovascular system)</a:t>
            </a:r>
          </a:p>
          <a:p>
            <a:pPr lvl="1" eaLnBrk="1" hangingPunct="1">
              <a:spcBef>
                <a:spcPct val="35000"/>
              </a:spcBef>
            </a:pPr>
            <a:r>
              <a:rPr lang="en-US" altLang="en-US" dirty="0"/>
              <a:t>Focuses your attention on immediate problem.</a:t>
            </a:r>
          </a:p>
        </p:txBody>
      </p:sp>
    </p:spTree>
    <p:extLst>
      <p:ext uri="{BB962C8B-B14F-4D97-AF65-F5344CB8AC3E}">
        <p14:creationId xmlns:p14="http://schemas.microsoft.com/office/powerpoint/2010/main" val="2391321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a:extLst>
              <a:ext uri="{FF2B5EF4-FFF2-40B4-BE49-F238E27FC236}">
                <a16:creationId xmlns:a16="http://schemas.microsoft.com/office/drawing/2014/main" id="{2419C0F3-126A-1D4B-A678-D5831E8541D4}"/>
              </a:ext>
            </a:extLst>
          </p:cNvPr>
          <p:cNvSpPr>
            <a:spLocks noGrp="1" noChangeArrowheads="1"/>
          </p:cNvSpPr>
          <p:nvPr>
            <p:ph type="title"/>
          </p:nvPr>
        </p:nvSpPr>
        <p:spPr/>
        <p:txBody>
          <a:bodyPr/>
          <a:lstStyle/>
          <a:p>
            <a:pPr eaLnBrk="1" hangingPunct="1">
              <a:lnSpc>
                <a:spcPct val="85000"/>
              </a:lnSpc>
              <a:defRPr/>
            </a:pPr>
            <a:r>
              <a:rPr lang="en-US" dirty="0"/>
              <a:t>Secondary Assessment </a:t>
            </a:r>
            <a:r>
              <a:rPr lang="en-US" sz="2800" b="0" dirty="0"/>
              <a:t>(5 of 12)</a:t>
            </a:r>
          </a:p>
        </p:txBody>
      </p:sp>
      <p:sp>
        <p:nvSpPr>
          <p:cNvPr id="72706" name="Rectangle 3">
            <a:extLst>
              <a:ext uri="{FF2B5EF4-FFF2-40B4-BE49-F238E27FC236}">
                <a16:creationId xmlns:a16="http://schemas.microsoft.com/office/drawing/2014/main" id="{0ABFD872-88AF-FB4C-AF74-5DA00F23949B}"/>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Assess vital signs.</a:t>
            </a:r>
          </a:p>
          <a:p>
            <a:pPr lvl="1" eaLnBrk="1" hangingPunct="1">
              <a:spcBef>
                <a:spcPct val="35000"/>
              </a:spcBef>
            </a:pPr>
            <a:r>
              <a:rPr lang="en-US" altLang="en-US" dirty="0"/>
              <a:t>Respiration</a:t>
            </a:r>
          </a:p>
          <a:p>
            <a:pPr lvl="2" eaLnBrk="1" hangingPunct="1"/>
            <a:r>
              <a:rPr lang="en-US" altLang="en-US" sz="2000" dirty="0"/>
              <a:t>Normal adult resting respiratory rate is 12 to 20 breaths per minute.</a:t>
            </a:r>
          </a:p>
          <a:p>
            <a:pPr lvl="2" eaLnBrk="1" hangingPunct="1"/>
            <a:r>
              <a:rPr lang="en-US" altLang="en-US" sz="2000" dirty="0"/>
              <a:t>Count patient’s breath for 1 minute.</a:t>
            </a:r>
          </a:p>
          <a:p>
            <a:pPr lvl="2" eaLnBrk="1" hangingPunct="1"/>
            <a:r>
              <a:rPr lang="en-US" altLang="en-US" sz="2000" dirty="0"/>
              <a:t>Check breathing rate and quality.</a:t>
            </a:r>
          </a:p>
          <a:p>
            <a:pPr lvl="1" eaLnBrk="1" hangingPunct="1">
              <a:spcBef>
                <a:spcPct val="35000"/>
              </a:spcBef>
            </a:pPr>
            <a:r>
              <a:rPr lang="en-US" altLang="en-US" dirty="0"/>
              <a:t>Pulse</a:t>
            </a:r>
          </a:p>
          <a:p>
            <a:pPr lvl="2" eaLnBrk="1" hangingPunct="1"/>
            <a:r>
              <a:rPr lang="en-US" altLang="en-US" sz="2000" dirty="0"/>
              <a:t>Indicates speed and force of heartbeat.</a:t>
            </a:r>
          </a:p>
          <a:p>
            <a:pPr lvl="2" eaLnBrk="1" hangingPunct="1"/>
            <a:r>
              <a:rPr lang="en-US" altLang="en-US" sz="2000" dirty="0"/>
              <a:t>Take radial pulse of a conscious patient.</a:t>
            </a:r>
          </a:p>
        </p:txBody>
      </p:sp>
    </p:spTree>
    <p:extLst>
      <p:ext uri="{BB962C8B-B14F-4D97-AF65-F5344CB8AC3E}">
        <p14:creationId xmlns:p14="http://schemas.microsoft.com/office/powerpoint/2010/main" val="431071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a:extLst>
              <a:ext uri="{FF2B5EF4-FFF2-40B4-BE49-F238E27FC236}">
                <a16:creationId xmlns:a16="http://schemas.microsoft.com/office/drawing/2014/main" id="{FF85D826-40E0-2143-BFC5-9D7FB57AF0D8}"/>
              </a:ext>
            </a:extLst>
          </p:cNvPr>
          <p:cNvSpPr>
            <a:spLocks noGrp="1" noChangeArrowheads="1"/>
          </p:cNvSpPr>
          <p:nvPr>
            <p:ph type="title"/>
          </p:nvPr>
        </p:nvSpPr>
        <p:spPr/>
        <p:txBody>
          <a:bodyPr/>
          <a:lstStyle/>
          <a:p>
            <a:pPr eaLnBrk="1" hangingPunct="1">
              <a:lnSpc>
                <a:spcPct val="85000"/>
              </a:lnSpc>
              <a:defRPr/>
            </a:pPr>
            <a:r>
              <a:rPr lang="en-US" dirty="0"/>
              <a:t>Secondary Assessment </a:t>
            </a:r>
            <a:r>
              <a:rPr lang="en-US" sz="2800" b="0" dirty="0"/>
              <a:t>(6 of 12)</a:t>
            </a:r>
          </a:p>
        </p:txBody>
      </p:sp>
      <p:sp>
        <p:nvSpPr>
          <p:cNvPr id="74754" name="Rectangle 3">
            <a:extLst>
              <a:ext uri="{FF2B5EF4-FFF2-40B4-BE49-F238E27FC236}">
                <a16:creationId xmlns:a16="http://schemas.microsoft.com/office/drawing/2014/main" id="{AC1C9B8B-CBED-6D4D-AFA5-263808BF108F}"/>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Assess vital signs (cont'd):</a:t>
            </a:r>
          </a:p>
          <a:p>
            <a:pPr lvl="1" eaLnBrk="1" hangingPunct="1">
              <a:spcBef>
                <a:spcPct val="35000"/>
              </a:spcBef>
            </a:pPr>
            <a:r>
              <a:rPr lang="en-US" altLang="en-US" dirty="0"/>
              <a:t>Pulse (cont'd)</a:t>
            </a:r>
          </a:p>
          <a:p>
            <a:pPr lvl="2" eaLnBrk="1" hangingPunct="1"/>
            <a:r>
              <a:rPr lang="en-US" altLang="en-US" sz="2000" dirty="0"/>
              <a:t>Take carotid pulse of an unconscious patient.</a:t>
            </a:r>
          </a:p>
          <a:p>
            <a:pPr lvl="2" eaLnBrk="1" hangingPunct="1"/>
            <a:r>
              <a:rPr lang="en-US" altLang="en-US" sz="2000" dirty="0"/>
              <a:t>When examining an infant, use brachial pulse.</a:t>
            </a:r>
          </a:p>
          <a:p>
            <a:pPr lvl="2" eaLnBrk="1" hangingPunct="1"/>
            <a:r>
              <a:rPr lang="en-US" altLang="en-US" sz="2000" dirty="0"/>
              <a:t>In a normal adult, resting pulse rate is 60 to 100 beats per minute.</a:t>
            </a:r>
          </a:p>
          <a:p>
            <a:pPr lvl="3"/>
            <a:r>
              <a:rPr lang="en-US" altLang="en-US" sz="2000" dirty="0"/>
              <a:t>Athletic adults could be 40 to 60 resting.</a:t>
            </a:r>
          </a:p>
          <a:p>
            <a:pPr lvl="2" eaLnBrk="1" hangingPunct="1"/>
            <a:r>
              <a:rPr lang="en-US" altLang="en-US" sz="2000" dirty="0"/>
              <a:t>Determine rhythm and quality.</a:t>
            </a:r>
          </a:p>
          <a:p>
            <a:pPr lvl="1" eaLnBrk="1" hangingPunct="1">
              <a:spcBef>
                <a:spcPct val="35000"/>
              </a:spcBef>
            </a:pPr>
            <a:r>
              <a:rPr lang="en-US" altLang="en-US" dirty="0"/>
              <a:t>Capillary refill</a:t>
            </a:r>
          </a:p>
          <a:p>
            <a:pPr lvl="2" eaLnBrk="1" hangingPunct="1"/>
            <a:r>
              <a:rPr lang="en-US" altLang="en-US" sz="2000" dirty="0"/>
              <a:t>Ability of circulatory system to return blood to capillary vessels.</a:t>
            </a:r>
          </a:p>
        </p:txBody>
      </p:sp>
    </p:spTree>
    <p:extLst>
      <p:ext uri="{BB962C8B-B14F-4D97-AF65-F5344CB8AC3E}">
        <p14:creationId xmlns:p14="http://schemas.microsoft.com/office/powerpoint/2010/main" val="281744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a:extLst>
              <a:ext uri="{FF2B5EF4-FFF2-40B4-BE49-F238E27FC236}">
                <a16:creationId xmlns:a16="http://schemas.microsoft.com/office/drawing/2014/main" id="{2DDCA780-DF56-804D-A627-6DACB321FEF9}"/>
              </a:ext>
            </a:extLst>
          </p:cNvPr>
          <p:cNvSpPr>
            <a:spLocks noGrp="1" noChangeArrowheads="1"/>
          </p:cNvSpPr>
          <p:nvPr>
            <p:ph type="title"/>
          </p:nvPr>
        </p:nvSpPr>
        <p:spPr/>
        <p:txBody>
          <a:bodyPr/>
          <a:lstStyle/>
          <a:p>
            <a:pPr eaLnBrk="1" hangingPunct="1">
              <a:lnSpc>
                <a:spcPct val="85000"/>
              </a:lnSpc>
              <a:defRPr/>
            </a:pPr>
            <a:r>
              <a:rPr lang="en-US" dirty="0"/>
              <a:t>Secondary Assessment </a:t>
            </a:r>
            <a:r>
              <a:rPr lang="en-US" sz="2800" b="0" dirty="0"/>
              <a:t>(7 of 12)</a:t>
            </a:r>
          </a:p>
        </p:txBody>
      </p:sp>
      <p:sp>
        <p:nvSpPr>
          <p:cNvPr id="76802" name="Rectangle 3">
            <a:extLst>
              <a:ext uri="{FF2B5EF4-FFF2-40B4-BE49-F238E27FC236}">
                <a16:creationId xmlns:a16="http://schemas.microsoft.com/office/drawing/2014/main" id="{5E41130A-2D60-CC49-BA2B-19C6144C888A}"/>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Assess vital signs (cont'd):</a:t>
            </a:r>
          </a:p>
          <a:p>
            <a:pPr lvl="1" eaLnBrk="1" hangingPunct="1">
              <a:spcBef>
                <a:spcPct val="35000"/>
              </a:spcBef>
            </a:pPr>
            <a:r>
              <a:rPr lang="en-US" altLang="en-US" dirty="0"/>
              <a:t>Capillary refill (cont'd)</a:t>
            </a:r>
          </a:p>
          <a:p>
            <a:pPr lvl="2" eaLnBrk="1" hangingPunct="1"/>
            <a:r>
              <a:rPr lang="en-US" altLang="en-US" sz="2000" dirty="0"/>
              <a:t>Squeeze patient’s nail bed firmly between your thumb and forefinger until nail bed looks pale.</a:t>
            </a:r>
          </a:p>
          <a:p>
            <a:pPr lvl="2" eaLnBrk="1" hangingPunct="1"/>
            <a:r>
              <a:rPr lang="en-US" altLang="en-US" sz="2000" dirty="0"/>
              <a:t>Release pressure and count 2 seconds.</a:t>
            </a:r>
          </a:p>
          <a:p>
            <a:pPr lvl="2" eaLnBrk="1" hangingPunct="1"/>
            <a:r>
              <a:rPr lang="en-US" altLang="en-US" sz="2000" dirty="0"/>
              <a:t>Patient’s nail bed should return to pink in this time, indicating a normal capillary refill.</a:t>
            </a:r>
          </a:p>
        </p:txBody>
      </p:sp>
    </p:spTree>
    <p:extLst>
      <p:ext uri="{BB962C8B-B14F-4D97-AF65-F5344CB8AC3E}">
        <p14:creationId xmlns:p14="http://schemas.microsoft.com/office/powerpoint/2010/main" val="2320612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a:extLst>
              <a:ext uri="{FF2B5EF4-FFF2-40B4-BE49-F238E27FC236}">
                <a16:creationId xmlns:a16="http://schemas.microsoft.com/office/drawing/2014/main" id="{9B595C74-4260-CD4A-AFE1-38213A93C99F}"/>
              </a:ext>
            </a:extLst>
          </p:cNvPr>
          <p:cNvSpPr>
            <a:spLocks noGrp="1" noChangeArrowheads="1"/>
          </p:cNvSpPr>
          <p:nvPr>
            <p:ph type="title"/>
          </p:nvPr>
        </p:nvSpPr>
        <p:spPr/>
        <p:txBody>
          <a:bodyPr/>
          <a:lstStyle/>
          <a:p>
            <a:pPr eaLnBrk="1" hangingPunct="1">
              <a:lnSpc>
                <a:spcPct val="85000"/>
              </a:lnSpc>
              <a:defRPr/>
            </a:pPr>
            <a:r>
              <a:rPr lang="en-US" dirty="0"/>
              <a:t>Secondary Assessment </a:t>
            </a:r>
            <a:r>
              <a:rPr lang="en-US" sz="2800" b="0" dirty="0"/>
              <a:t>(8 of 12)</a:t>
            </a:r>
          </a:p>
        </p:txBody>
      </p:sp>
      <p:sp>
        <p:nvSpPr>
          <p:cNvPr id="78850" name="Rectangle 3">
            <a:extLst>
              <a:ext uri="{FF2B5EF4-FFF2-40B4-BE49-F238E27FC236}">
                <a16:creationId xmlns:a16="http://schemas.microsoft.com/office/drawing/2014/main" id="{48AFE6A6-F5BD-CC4E-AF9D-D5B6382DC174}"/>
              </a:ext>
            </a:extLst>
          </p:cNvPr>
          <p:cNvSpPr>
            <a:spLocks noGrp="1" noChangeArrowheads="1"/>
          </p:cNvSpPr>
          <p:nvPr>
            <p:ph type="body" idx="1"/>
          </p:nvPr>
        </p:nvSpPr>
        <p:spPr>
          <a:xfrm>
            <a:off x="925830" y="1490870"/>
            <a:ext cx="10586232" cy="4699047"/>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Assess vital signs (cont'd):</a:t>
            </a:r>
          </a:p>
          <a:p>
            <a:pPr lvl="1" eaLnBrk="1" hangingPunct="1">
              <a:spcBef>
                <a:spcPct val="35000"/>
              </a:spcBef>
            </a:pPr>
            <a:r>
              <a:rPr lang="en-US" altLang="en-US" dirty="0"/>
              <a:t>Blood pressure (BP)</a:t>
            </a:r>
          </a:p>
          <a:p>
            <a:pPr lvl="2" eaLnBrk="1" hangingPunct="1"/>
            <a:r>
              <a:rPr lang="en-US" altLang="en-US" sz="2000" dirty="0"/>
              <a:t>Systolic pressure is force exerted on walls of arteries as heart contracts.</a:t>
            </a:r>
          </a:p>
          <a:p>
            <a:pPr lvl="2" eaLnBrk="1" hangingPunct="1"/>
            <a:r>
              <a:rPr lang="en-US" altLang="en-US" sz="2000" dirty="0"/>
              <a:t>Diastolic pressure is arterial pressure during relaxation phase of heart.</a:t>
            </a:r>
          </a:p>
          <a:p>
            <a:pPr lvl="2" eaLnBrk="1" hangingPunct="1"/>
            <a:r>
              <a:rPr lang="en-US" altLang="en-US" sz="2000" dirty="0"/>
              <a:t>Hypertension exists when BP remains greater than 130/90 mm Hg.</a:t>
            </a:r>
          </a:p>
          <a:p>
            <a:pPr lvl="2" eaLnBrk="1" hangingPunct="1"/>
            <a:r>
              <a:rPr lang="en-US" altLang="en-US" sz="2000" dirty="0"/>
              <a:t>Check BP by palpation (feeling) or auscultation (listening).</a:t>
            </a:r>
          </a:p>
        </p:txBody>
      </p:sp>
    </p:spTree>
    <p:extLst>
      <p:ext uri="{BB962C8B-B14F-4D97-AF65-F5344CB8AC3E}">
        <p14:creationId xmlns:p14="http://schemas.microsoft.com/office/powerpoint/2010/main" val="36735434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a:extLst>
              <a:ext uri="{FF2B5EF4-FFF2-40B4-BE49-F238E27FC236}">
                <a16:creationId xmlns:a16="http://schemas.microsoft.com/office/drawing/2014/main" id="{86064B20-4C39-FA48-9AD7-AC5C4BD3FF16}"/>
              </a:ext>
            </a:extLst>
          </p:cNvPr>
          <p:cNvSpPr>
            <a:spLocks noGrp="1" noChangeArrowheads="1"/>
          </p:cNvSpPr>
          <p:nvPr>
            <p:ph type="title"/>
          </p:nvPr>
        </p:nvSpPr>
        <p:spPr/>
        <p:txBody>
          <a:bodyPr/>
          <a:lstStyle/>
          <a:p>
            <a:pPr eaLnBrk="1" hangingPunct="1">
              <a:lnSpc>
                <a:spcPct val="85000"/>
              </a:lnSpc>
              <a:defRPr/>
            </a:pPr>
            <a:r>
              <a:rPr lang="en-US" dirty="0"/>
              <a:t>Secondary Assessment </a:t>
            </a:r>
            <a:r>
              <a:rPr lang="en-US" sz="2800" b="0" dirty="0"/>
              <a:t>(9 of 12)</a:t>
            </a:r>
          </a:p>
        </p:txBody>
      </p:sp>
      <p:sp>
        <p:nvSpPr>
          <p:cNvPr id="80898" name="Rectangle 3">
            <a:extLst>
              <a:ext uri="{FF2B5EF4-FFF2-40B4-BE49-F238E27FC236}">
                <a16:creationId xmlns:a16="http://schemas.microsoft.com/office/drawing/2014/main" id="{04DDE6F3-8036-454D-AE96-ECF483C0A65E}"/>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Assess vital signs (cont'd):</a:t>
            </a:r>
          </a:p>
          <a:p>
            <a:pPr lvl="1" eaLnBrk="1" hangingPunct="1">
              <a:spcBef>
                <a:spcPct val="35000"/>
              </a:spcBef>
            </a:pPr>
            <a:r>
              <a:rPr lang="en-US" altLang="en-US" dirty="0"/>
              <a:t>Skin condition</a:t>
            </a:r>
          </a:p>
          <a:p>
            <a:pPr lvl="2" eaLnBrk="1" hangingPunct="1"/>
            <a:r>
              <a:rPr lang="en-US" altLang="en-US" sz="2000" dirty="0"/>
              <a:t>Check for skin color, temperature, and moisture.</a:t>
            </a:r>
          </a:p>
          <a:p>
            <a:pPr lvl="2" eaLnBrk="1" hangingPunct="1"/>
            <a:r>
              <a:rPr lang="en-US" altLang="en-US" sz="2000" dirty="0"/>
              <a:t>Normal body temperature is 98.6</a:t>
            </a:r>
            <a:r>
              <a:rPr lang="en-US" altLang="en-US" sz="2000" dirty="0">
                <a:ea typeface="MS PGothic" panose="020B0600070205080204" pitchFamily="34" charset="-128"/>
                <a:sym typeface="Symbol" pitchFamily="2" charset="2"/>
              </a:rPr>
              <a:t></a:t>
            </a:r>
            <a:r>
              <a:rPr lang="en-US" altLang="en-US" sz="2000" dirty="0"/>
              <a:t>F (37</a:t>
            </a:r>
            <a:r>
              <a:rPr lang="en-US" altLang="en-US" sz="2000" dirty="0">
                <a:ea typeface="MS PGothic" panose="020B0600070205080204" pitchFamily="34" charset="-128"/>
                <a:sym typeface="Symbol" pitchFamily="2" charset="2"/>
              </a:rPr>
              <a:t></a:t>
            </a:r>
            <a:r>
              <a:rPr lang="en-US" altLang="en-US" sz="2000" dirty="0"/>
              <a:t>C).</a:t>
            </a:r>
          </a:p>
          <a:p>
            <a:pPr lvl="2" eaLnBrk="1" hangingPunct="1"/>
            <a:r>
              <a:rPr lang="en-US" altLang="en-US" sz="2000" dirty="0"/>
              <a:t>Normal skin conditions are described as warm, pink, and dry.</a:t>
            </a:r>
          </a:p>
          <a:p>
            <a:pPr lvl="1" eaLnBrk="1" hangingPunct="1">
              <a:spcBef>
                <a:spcPct val="35000"/>
              </a:spcBef>
            </a:pPr>
            <a:r>
              <a:rPr lang="en-US" altLang="en-US" dirty="0"/>
              <a:t>Pupil size and reactivity.</a:t>
            </a:r>
          </a:p>
          <a:p>
            <a:pPr lvl="2" eaLnBrk="1" hangingPunct="1"/>
            <a:r>
              <a:rPr lang="en-US" altLang="en-US" sz="2000" dirty="0"/>
              <a:t>Examine each eye to detect signs of head injury, stroke, or drug overdose.</a:t>
            </a:r>
          </a:p>
        </p:txBody>
      </p:sp>
    </p:spTree>
    <p:extLst>
      <p:ext uri="{BB962C8B-B14F-4D97-AF65-F5344CB8AC3E}">
        <p14:creationId xmlns:p14="http://schemas.microsoft.com/office/powerpoint/2010/main" val="3138089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3">
            <a:extLst>
              <a:ext uri="{FF2B5EF4-FFF2-40B4-BE49-F238E27FC236}">
                <a16:creationId xmlns:a16="http://schemas.microsoft.com/office/drawing/2014/main" id="{AE1B31AA-923A-2640-9519-2D4B2974F408}"/>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Assess vital signs; (cont'd)</a:t>
            </a:r>
          </a:p>
          <a:p>
            <a:pPr lvl="1" eaLnBrk="1" hangingPunct="1">
              <a:spcBef>
                <a:spcPct val="35000"/>
              </a:spcBef>
            </a:pPr>
            <a:r>
              <a:rPr lang="en-US" altLang="en-US" dirty="0"/>
              <a:t>Pupil size and reactivity (cont'd)</a:t>
            </a:r>
          </a:p>
          <a:p>
            <a:pPr lvl="2" eaLnBrk="1" hangingPunct="1"/>
            <a:r>
              <a:rPr lang="en-US" altLang="en-US" sz="2000" dirty="0"/>
              <a:t>Determine whether pupils are of equal size and whether both react when light is shone into them.</a:t>
            </a:r>
          </a:p>
        </p:txBody>
      </p:sp>
      <p:sp>
        <p:nvSpPr>
          <p:cNvPr id="201730" name="Rectangle 2">
            <a:extLst>
              <a:ext uri="{FF2B5EF4-FFF2-40B4-BE49-F238E27FC236}">
                <a16:creationId xmlns:a16="http://schemas.microsoft.com/office/drawing/2014/main" id="{5267B8FE-61ED-5D42-B411-B433E681C2D2}"/>
              </a:ext>
            </a:extLst>
          </p:cNvPr>
          <p:cNvSpPr>
            <a:spLocks noGrp="1" noChangeArrowheads="1"/>
          </p:cNvSpPr>
          <p:nvPr>
            <p:ph type="title"/>
          </p:nvPr>
        </p:nvSpPr>
        <p:spPr/>
        <p:txBody>
          <a:bodyPr/>
          <a:lstStyle/>
          <a:p>
            <a:pPr eaLnBrk="1" hangingPunct="1">
              <a:lnSpc>
                <a:spcPct val="85000"/>
              </a:lnSpc>
              <a:defRPr/>
            </a:pPr>
            <a:r>
              <a:rPr lang="en-US" dirty="0"/>
              <a:t>Secondary Assessment </a:t>
            </a:r>
            <a:r>
              <a:rPr lang="en-US" sz="2800" b="0" dirty="0"/>
              <a:t>(10 of 12)</a:t>
            </a:r>
          </a:p>
        </p:txBody>
      </p:sp>
      <p:sp>
        <p:nvSpPr>
          <p:cNvPr id="8" name="Rectangle 7"/>
          <p:cNvSpPr/>
          <p:nvPr/>
        </p:nvSpPr>
        <p:spPr>
          <a:xfrm>
            <a:off x="2552700" y="5509644"/>
            <a:ext cx="7446392" cy="369332"/>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cap="all" dirty="0"/>
              <a:t>FIGURE</a:t>
            </a:r>
            <a:r>
              <a:rPr lang="en-US" b="1" dirty="0"/>
              <a:t> 9-18 </a:t>
            </a:r>
            <a:r>
              <a:rPr lang="en-US" dirty="0"/>
              <a:t>Normal pupils (A), dilated </a:t>
            </a:r>
            <a:r>
              <a:rPr lang="en-US" dirty="0" err="1"/>
              <a:t>pupuls</a:t>
            </a:r>
            <a:r>
              <a:rPr lang="en-US" dirty="0"/>
              <a:t> (B), and constricted pupils (C). </a:t>
            </a:r>
          </a:p>
        </p:txBody>
      </p:sp>
      <p:sp>
        <p:nvSpPr>
          <p:cNvPr id="9" name="Rectangle 8"/>
          <p:cNvSpPr/>
          <p:nvPr/>
        </p:nvSpPr>
        <p:spPr>
          <a:xfrm>
            <a:off x="2564688" y="5901217"/>
            <a:ext cx="5556685" cy="24622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t>© Jones &amp; Bartlett Learning. </a:t>
            </a:r>
          </a:p>
        </p:txBody>
      </p:sp>
      <p:pic>
        <p:nvPicPr>
          <p:cNvPr id="7170" name="Picture 2" descr="Illustrations A to C show the face of a man looking forward. His blue eyes show the black pupils clearly within them. In Figure A, the pupils are normal. They are dilated in Figure B. They are constricted in Figure C.&#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2700" y="3331929"/>
            <a:ext cx="7086600" cy="21785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9331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a:extLst>
              <a:ext uri="{FF2B5EF4-FFF2-40B4-BE49-F238E27FC236}">
                <a16:creationId xmlns:a16="http://schemas.microsoft.com/office/drawing/2014/main" id="{54ABDB08-EE53-BD40-9CF4-EFBE9ADE6D42}"/>
              </a:ext>
            </a:extLst>
          </p:cNvPr>
          <p:cNvSpPr>
            <a:spLocks noGrp="1" noChangeArrowheads="1"/>
          </p:cNvSpPr>
          <p:nvPr>
            <p:ph type="title"/>
          </p:nvPr>
        </p:nvSpPr>
        <p:spPr/>
        <p:txBody>
          <a:bodyPr/>
          <a:lstStyle/>
          <a:p>
            <a:pPr eaLnBrk="1" hangingPunct="1">
              <a:lnSpc>
                <a:spcPct val="85000"/>
              </a:lnSpc>
              <a:defRPr/>
            </a:pPr>
            <a:r>
              <a:rPr lang="en-US" dirty="0"/>
              <a:t>Secondary Assessment </a:t>
            </a:r>
            <a:r>
              <a:rPr lang="en-US" sz="2800" b="0" dirty="0"/>
              <a:t>(11 of 12)</a:t>
            </a:r>
          </a:p>
        </p:txBody>
      </p:sp>
      <p:sp>
        <p:nvSpPr>
          <p:cNvPr id="84994" name="Rectangle 3">
            <a:extLst>
              <a:ext uri="{FF2B5EF4-FFF2-40B4-BE49-F238E27FC236}">
                <a16:creationId xmlns:a16="http://schemas.microsoft.com/office/drawing/2014/main" id="{C2D725B5-DA2A-5F44-B613-453D192C96B0}"/>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Assess vital signs (cont'd):</a:t>
            </a:r>
          </a:p>
          <a:p>
            <a:pPr lvl="1" eaLnBrk="1" hangingPunct="1">
              <a:spcBef>
                <a:spcPct val="35000"/>
              </a:spcBef>
            </a:pPr>
            <a:r>
              <a:rPr lang="en-US" altLang="en-US" dirty="0"/>
              <a:t>Pupil size and reactivity (cont'd)</a:t>
            </a:r>
          </a:p>
          <a:p>
            <a:pPr lvl="2" eaLnBrk="1" hangingPunct="1"/>
            <a:r>
              <a:rPr lang="en-US" altLang="en-US" sz="2000" dirty="0"/>
              <a:t>Pupils of unequal size can indicate a stroke or injury to brain.</a:t>
            </a:r>
          </a:p>
          <a:p>
            <a:pPr lvl="2" eaLnBrk="1" hangingPunct="1"/>
            <a:r>
              <a:rPr lang="en-US" altLang="en-US" sz="2000" dirty="0"/>
              <a:t>Pupils may remain constricted in a person who is taking narcotics.</a:t>
            </a:r>
          </a:p>
          <a:p>
            <a:pPr lvl="2" eaLnBrk="1" hangingPunct="1"/>
            <a:r>
              <a:rPr lang="en-US" altLang="en-US" sz="2000" dirty="0"/>
              <a:t>Dilated pupils indicate a relaxed or unconscious state.</a:t>
            </a:r>
          </a:p>
        </p:txBody>
      </p:sp>
    </p:spTree>
    <p:extLst>
      <p:ext uri="{BB962C8B-B14F-4D97-AF65-F5344CB8AC3E}">
        <p14:creationId xmlns:p14="http://schemas.microsoft.com/office/powerpoint/2010/main" val="1505674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a:extLst>
              <a:ext uri="{FF2B5EF4-FFF2-40B4-BE49-F238E27FC236}">
                <a16:creationId xmlns:a16="http://schemas.microsoft.com/office/drawing/2014/main" id="{6217C187-9F2F-6944-9E6D-59CE8E4E17D7}"/>
              </a:ext>
            </a:extLst>
          </p:cNvPr>
          <p:cNvSpPr>
            <a:spLocks noGrp="1" noChangeArrowheads="1"/>
          </p:cNvSpPr>
          <p:nvPr>
            <p:ph type="title"/>
          </p:nvPr>
        </p:nvSpPr>
        <p:spPr/>
        <p:txBody>
          <a:bodyPr/>
          <a:lstStyle/>
          <a:p>
            <a:pPr eaLnBrk="1" hangingPunct="1">
              <a:lnSpc>
                <a:spcPct val="85000"/>
              </a:lnSpc>
              <a:defRPr/>
            </a:pPr>
            <a:r>
              <a:rPr lang="en-US" dirty="0"/>
              <a:t>Secondary Assessment </a:t>
            </a:r>
            <a:r>
              <a:rPr lang="en-US" sz="2800" b="0" dirty="0"/>
              <a:t>(12 of 12)</a:t>
            </a:r>
          </a:p>
        </p:txBody>
      </p:sp>
      <p:sp>
        <p:nvSpPr>
          <p:cNvPr id="87042" name="Rectangle 3">
            <a:extLst>
              <a:ext uri="{FF2B5EF4-FFF2-40B4-BE49-F238E27FC236}">
                <a16:creationId xmlns:a16="http://schemas.microsoft.com/office/drawing/2014/main" id="{FD80840B-EF93-8B45-A46A-1EDC65076DF2}"/>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Assess vital signs (cont'd):</a:t>
            </a:r>
          </a:p>
          <a:p>
            <a:pPr lvl="1" eaLnBrk="1" hangingPunct="1">
              <a:spcBef>
                <a:spcPct val="35000"/>
              </a:spcBef>
            </a:pPr>
            <a:r>
              <a:rPr lang="en-US" altLang="en-US" dirty="0"/>
              <a:t>Level of responsiveness</a:t>
            </a:r>
          </a:p>
          <a:p>
            <a:pPr lvl="2" eaLnBrk="1" hangingPunct="1"/>
            <a:r>
              <a:rPr lang="en-US" altLang="en-US" sz="2000" dirty="0"/>
              <a:t>Observe and note any changes that occur between time of your arrival and time you turn over patient’s care to higher-level personnel.</a:t>
            </a:r>
          </a:p>
          <a:p>
            <a:pPr lvl="2" eaLnBrk="1" hangingPunct="1"/>
            <a:r>
              <a:rPr lang="en-US" altLang="en-US" sz="2000" dirty="0"/>
              <a:t>Use AVPU scale.</a:t>
            </a:r>
            <a:endParaRPr lang="en-US" altLang="en-US" sz="2400" dirty="0"/>
          </a:p>
        </p:txBody>
      </p:sp>
    </p:spTree>
    <p:extLst>
      <p:ext uri="{BB962C8B-B14F-4D97-AF65-F5344CB8AC3E}">
        <p14:creationId xmlns:p14="http://schemas.microsoft.com/office/powerpoint/2010/main" val="1059254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a:extLst>
              <a:ext uri="{FF2B5EF4-FFF2-40B4-BE49-F238E27FC236}">
                <a16:creationId xmlns:a16="http://schemas.microsoft.com/office/drawing/2014/main" id="{6FEB2F96-090E-2D41-9A84-1CCE2E0B7A65}"/>
              </a:ext>
            </a:extLst>
          </p:cNvPr>
          <p:cNvSpPr>
            <a:spLocks noGrp="1" noChangeArrowheads="1"/>
          </p:cNvSpPr>
          <p:nvPr>
            <p:ph type="title"/>
          </p:nvPr>
        </p:nvSpPr>
        <p:spPr/>
        <p:txBody>
          <a:bodyPr/>
          <a:lstStyle/>
          <a:p>
            <a:pPr eaLnBrk="1" hangingPunct="1">
              <a:lnSpc>
                <a:spcPct val="85000"/>
              </a:lnSpc>
              <a:defRPr/>
            </a:pPr>
            <a:r>
              <a:rPr lang="en-US" dirty="0"/>
              <a:t>Reassessment </a:t>
            </a:r>
            <a:r>
              <a:rPr lang="en-US" sz="2800" b="0" dirty="0"/>
              <a:t>(1 of 4)</a:t>
            </a:r>
          </a:p>
        </p:txBody>
      </p:sp>
      <p:sp>
        <p:nvSpPr>
          <p:cNvPr id="89090" name="Rectangle 3">
            <a:extLst>
              <a:ext uri="{FF2B5EF4-FFF2-40B4-BE49-F238E27FC236}">
                <a16:creationId xmlns:a16="http://schemas.microsoft.com/office/drawing/2014/main" id="{6AC18422-513D-2546-A1B5-AC39D3EE1DD2}"/>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If you need to continue to care for patient, some parts of the patient assessment need to be repeated.</a:t>
            </a:r>
          </a:p>
          <a:p>
            <a:pPr eaLnBrk="1" hangingPunct="1">
              <a:spcBef>
                <a:spcPct val="35000"/>
              </a:spcBef>
            </a:pPr>
            <a:r>
              <a:rPr lang="en-US" altLang="en-US" dirty="0"/>
              <a:t>Repeat the primary assessment.</a:t>
            </a:r>
          </a:p>
          <a:p>
            <a:pPr lvl="1" eaLnBrk="1" hangingPunct="1">
              <a:spcBef>
                <a:spcPct val="35000"/>
              </a:spcBef>
            </a:pPr>
            <a:r>
              <a:rPr lang="en-US" altLang="en-US" dirty="0"/>
              <a:t>Recheck the patient’s level of responsiveness and ABCs.</a:t>
            </a:r>
          </a:p>
          <a:p>
            <a:pPr lvl="1" eaLnBrk="1" hangingPunct="1">
              <a:spcBef>
                <a:spcPct val="35000"/>
              </a:spcBef>
            </a:pPr>
            <a:r>
              <a:rPr lang="en-US" altLang="en-US" dirty="0"/>
              <a:t>Continue to maintain an open airway and to monitor breathing and pulse for rate and quality.</a:t>
            </a:r>
          </a:p>
        </p:txBody>
      </p:sp>
    </p:spTree>
    <p:extLst>
      <p:ext uri="{BB962C8B-B14F-4D97-AF65-F5344CB8AC3E}">
        <p14:creationId xmlns:p14="http://schemas.microsoft.com/office/powerpoint/2010/main" val="2486836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a:extLst>
              <a:ext uri="{FF2B5EF4-FFF2-40B4-BE49-F238E27FC236}">
                <a16:creationId xmlns:a16="http://schemas.microsoft.com/office/drawing/2014/main" id="{C8781A66-0F25-D342-9406-F07657682E63}"/>
              </a:ext>
            </a:extLst>
          </p:cNvPr>
          <p:cNvSpPr>
            <a:spLocks noGrp="1" noChangeArrowheads="1"/>
          </p:cNvSpPr>
          <p:nvPr>
            <p:ph type="title"/>
          </p:nvPr>
        </p:nvSpPr>
        <p:spPr/>
        <p:txBody>
          <a:bodyPr/>
          <a:lstStyle/>
          <a:p>
            <a:pPr eaLnBrk="1" hangingPunct="1">
              <a:lnSpc>
                <a:spcPct val="85000"/>
              </a:lnSpc>
              <a:defRPr/>
            </a:pPr>
            <a:r>
              <a:rPr lang="en-US" dirty="0"/>
              <a:t>Reassessment </a:t>
            </a:r>
            <a:r>
              <a:rPr lang="en-US" sz="2800" b="0" dirty="0"/>
              <a:t>(2 of 4)</a:t>
            </a:r>
          </a:p>
        </p:txBody>
      </p:sp>
      <p:sp>
        <p:nvSpPr>
          <p:cNvPr id="91138" name="Rectangle 3">
            <a:extLst>
              <a:ext uri="{FF2B5EF4-FFF2-40B4-BE49-F238E27FC236}">
                <a16:creationId xmlns:a16="http://schemas.microsoft.com/office/drawing/2014/main" id="{6ECD8DE0-6B7F-354D-8388-A486C24DD0FB}"/>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Reassess vital signs.</a:t>
            </a:r>
          </a:p>
          <a:p>
            <a:pPr lvl="1" eaLnBrk="1" hangingPunct="1">
              <a:spcBef>
                <a:spcPct val="35000"/>
              </a:spcBef>
            </a:pPr>
            <a:r>
              <a:rPr lang="en-US" altLang="en-US" dirty="0"/>
              <a:t>Observe patient’s skin color and temperature.</a:t>
            </a:r>
          </a:p>
          <a:p>
            <a:pPr lvl="1" eaLnBrk="1" hangingPunct="1">
              <a:spcBef>
                <a:spcPct val="35000"/>
              </a:spcBef>
            </a:pPr>
            <a:r>
              <a:rPr lang="en-US" altLang="en-US" dirty="0"/>
              <a:t>Reassess patient’s BP.</a:t>
            </a:r>
          </a:p>
          <a:p>
            <a:pPr eaLnBrk="1" hangingPunct="1">
              <a:spcBef>
                <a:spcPct val="35000"/>
              </a:spcBef>
            </a:pPr>
            <a:r>
              <a:rPr lang="en-US" altLang="en-US" dirty="0"/>
              <a:t>Reassess chief complaint.</a:t>
            </a:r>
          </a:p>
          <a:p>
            <a:pPr eaLnBrk="1" hangingPunct="1">
              <a:spcBef>
                <a:spcPct val="35000"/>
              </a:spcBef>
            </a:pPr>
            <a:r>
              <a:rPr lang="en-US" altLang="en-US" dirty="0"/>
              <a:t>Recheck effectiveness of treatment.</a:t>
            </a:r>
          </a:p>
          <a:p>
            <a:pPr lvl="1" eaLnBrk="1" hangingPunct="1">
              <a:spcBef>
                <a:spcPct val="35000"/>
              </a:spcBef>
            </a:pPr>
            <a:r>
              <a:rPr lang="en-US" altLang="en-US" dirty="0"/>
              <a:t>If patient’s status changes, determine whether you need to alter your care.</a:t>
            </a:r>
          </a:p>
        </p:txBody>
      </p:sp>
    </p:spTree>
    <p:extLst>
      <p:ext uri="{BB962C8B-B14F-4D97-AF65-F5344CB8AC3E}">
        <p14:creationId xmlns:p14="http://schemas.microsoft.com/office/powerpoint/2010/main" val="2228857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a:extLst>
              <a:ext uri="{FF2B5EF4-FFF2-40B4-BE49-F238E27FC236}">
                <a16:creationId xmlns:a16="http://schemas.microsoft.com/office/drawing/2014/main" id="{814F90D9-6DB1-A84E-A5DA-9E143E4CCF29}"/>
              </a:ext>
            </a:extLst>
          </p:cNvPr>
          <p:cNvSpPr>
            <a:spLocks noGrp="1" noChangeArrowheads="1"/>
          </p:cNvSpPr>
          <p:nvPr>
            <p:ph type="title"/>
          </p:nvPr>
        </p:nvSpPr>
        <p:spPr/>
        <p:txBody>
          <a:bodyPr/>
          <a:lstStyle/>
          <a:p>
            <a:pPr eaLnBrk="1" hangingPunct="1">
              <a:lnSpc>
                <a:spcPct val="85000"/>
              </a:lnSpc>
              <a:defRPr/>
            </a:pPr>
            <a:r>
              <a:rPr lang="en-US" dirty="0"/>
              <a:t>Reassessment </a:t>
            </a:r>
            <a:r>
              <a:rPr lang="en-US" sz="2800" b="0" dirty="0"/>
              <a:t>(3 of 4)</a:t>
            </a:r>
          </a:p>
        </p:txBody>
      </p:sp>
      <p:sp>
        <p:nvSpPr>
          <p:cNvPr id="93186" name="Rectangle 3">
            <a:extLst>
              <a:ext uri="{FF2B5EF4-FFF2-40B4-BE49-F238E27FC236}">
                <a16:creationId xmlns:a16="http://schemas.microsoft.com/office/drawing/2014/main" id="{24DE6AA1-F296-2344-AB12-E5BFC17A32F5}"/>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Identify and treat changes in patient’s condition.</a:t>
            </a:r>
          </a:p>
          <a:p>
            <a:pPr eaLnBrk="1" hangingPunct="1">
              <a:spcBef>
                <a:spcPct val="35000"/>
              </a:spcBef>
            </a:pPr>
            <a:r>
              <a:rPr lang="en-US" altLang="en-US" dirty="0"/>
              <a:t>Reassess patient.</a:t>
            </a:r>
          </a:p>
          <a:p>
            <a:pPr lvl="1" eaLnBrk="1" hangingPunct="1">
              <a:spcBef>
                <a:spcPct val="35000"/>
              </a:spcBef>
            </a:pPr>
            <a:r>
              <a:rPr lang="en-US" altLang="en-US" dirty="0"/>
              <a:t>Reassess a stable patient every 15 minutes.</a:t>
            </a:r>
          </a:p>
          <a:p>
            <a:pPr lvl="1" eaLnBrk="1" hangingPunct="1">
              <a:spcBef>
                <a:spcPct val="35000"/>
              </a:spcBef>
            </a:pPr>
            <a:r>
              <a:rPr lang="en-US" altLang="en-US" dirty="0"/>
              <a:t>If patient is unstable, repeat the reassessment every 5 minutes.</a:t>
            </a:r>
          </a:p>
        </p:txBody>
      </p:sp>
    </p:spTree>
    <p:extLst>
      <p:ext uri="{BB962C8B-B14F-4D97-AF65-F5344CB8AC3E}">
        <p14:creationId xmlns:p14="http://schemas.microsoft.com/office/powerpoint/2010/main" val="1372930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2">
            <a:extLst>
              <a:ext uri="{FF2B5EF4-FFF2-40B4-BE49-F238E27FC236}">
                <a16:creationId xmlns:a16="http://schemas.microsoft.com/office/drawing/2014/main" id="{C5265AC0-632C-374B-8288-E2A860073B2F}"/>
              </a:ext>
            </a:extLst>
          </p:cNvPr>
          <p:cNvSpPr>
            <a:spLocks noGrp="1" noChangeArrowheads="1"/>
          </p:cNvSpPr>
          <p:nvPr>
            <p:ph type="title"/>
          </p:nvPr>
        </p:nvSpPr>
        <p:spPr/>
        <p:txBody>
          <a:bodyPr/>
          <a:lstStyle/>
          <a:p>
            <a:pPr eaLnBrk="1" hangingPunct="1">
              <a:lnSpc>
                <a:spcPct val="85000"/>
              </a:lnSpc>
              <a:defRPr/>
            </a:pPr>
            <a:r>
              <a:rPr lang="en-US" dirty="0"/>
              <a:t>Reassessment </a:t>
            </a:r>
            <a:r>
              <a:rPr lang="en-US" sz="2800" b="0" dirty="0"/>
              <a:t>(4 of 4)</a:t>
            </a:r>
          </a:p>
        </p:txBody>
      </p:sp>
      <p:sp>
        <p:nvSpPr>
          <p:cNvPr id="95234" name="Rectangle 3">
            <a:extLst>
              <a:ext uri="{FF2B5EF4-FFF2-40B4-BE49-F238E27FC236}">
                <a16:creationId xmlns:a16="http://schemas.microsoft.com/office/drawing/2014/main" id="{ED91929C-81B8-E542-837D-4A564259D4AC}"/>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Provide a hand-off report, including:</a:t>
            </a:r>
          </a:p>
          <a:p>
            <a:pPr lvl="1" eaLnBrk="1" hangingPunct="1">
              <a:spcBef>
                <a:spcPct val="35000"/>
              </a:spcBef>
            </a:pPr>
            <a:r>
              <a:rPr lang="en-US" altLang="en-US" dirty="0"/>
              <a:t>Age and sex of patient.</a:t>
            </a:r>
          </a:p>
          <a:p>
            <a:pPr lvl="1" eaLnBrk="1" hangingPunct="1">
              <a:spcBef>
                <a:spcPct val="35000"/>
              </a:spcBef>
            </a:pPr>
            <a:r>
              <a:rPr lang="en-US" altLang="en-US" dirty="0"/>
              <a:t>History of incident.</a:t>
            </a:r>
          </a:p>
          <a:p>
            <a:pPr lvl="1" eaLnBrk="1" hangingPunct="1">
              <a:spcBef>
                <a:spcPct val="35000"/>
              </a:spcBef>
            </a:pPr>
            <a:r>
              <a:rPr lang="en-US" altLang="en-US" dirty="0"/>
              <a:t>Patient’s chief complaint.</a:t>
            </a:r>
          </a:p>
          <a:p>
            <a:pPr lvl="1" eaLnBrk="1" hangingPunct="1">
              <a:spcBef>
                <a:spcPct val="35000"/>
              </a:spcBef>
            </a:pPr>
            <a:r>
              <a:rPr lang="en-US" altLang="en-US" dirty="0"/>
              <a:t>Patient’s level of responsiveness.</a:t>
            </a:r>
          </a:p>
          <a:p>
            <a:pPr lvl="1" eaLnBrk="1" hangingPunct="1">
              <a:spcBef>
                <a:spcPct val="35000"/>
              </a:spcBef>
            </a:pPr>
            <a:r>
              <a:rPr lang="en-US" altLang="en-US" dirty="0"/>
              <a:t>How you found patient.</a:t>
            </a:r>
          </a:p>
          <a:p>
            <a:pPr lvl="1" eaLnBrk="1" hangingPunct="1">
              <a:spcBef>
                <a:spcPct val="35000"/>
              </a:spcBef>
            </a:pPr>
            <a:r>
              <a:rPr lang="en-US" altLang="en-US" dirty="0"/>
              <a:t>Status of vital signs.</a:t>
            </a:r>
          </a:p>
          <a:p>
            <a:pPr lvl="1" eaLnBrk="1" hangingPunct="1">
              <a:spcBef>
                <a:spcPct val="35000"/>
              </a:spcBef>
            </a:pPr>
            <a:r>
              <a:rPr lang="en-US" altLang="en-US" dirty="0"/>
              <a:t>Results of secondary patient assessment.</a:t>
            </a:r>
          </a:p>
          <a:p>
            <a:pPr lvl="1">
              <a:spcBef>
                <a:spcPct val="35000"/>
              </a:spcBef>
            </a:pPr>
            <a:r>
              <a:rPr lang="en-US" altLang="en-US" dirty="0"/>
              <a:t>Any pertinent medical conditions (using the SAMPLE format).</a:t>
            </a:r>
          </a:p>
          <a:p>
            <a:pPr lvl="1">
              <a:spcBef>
                <a:spcPct val="35000"/>
              </a:spcBef>
            </a:pPr>
            <a:r>
              <a:rPr lang="en-US" altLang="en-US" dirty="0"/>
              <a:t>Any interventions provided and how the patient responded.</a:t>
            </a:r>
          </a:p>
          <a:p>
            <a:pPr lvl="1" eaLnBrk="1" hangingPunct="1">
              <a:spcBef>
                <a:spcPct val="35000"/>
              </a:spcBef>
            </a:pPr>
            <a:endParaRPr lang="en-US" altLang="en-US" dirty="0"/>
          </a:p>
        </p:txBody>
      </p:sp>
    </p:spTree>
    <p:extLst>
      <p:ext uri="{BB962C8B-B14F-4D97-AF65-F5344CB8AC3E}">
        <p14:creationId xmlns:p14="http://schemas.microsoft.com/office/powerpoint/2010/main" val="145523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a:extLst>
              <a:ext uri="{FF2B5EF4-FFF2-40B4-BE49-F238E27FC236}">
                <a16:creationId xmlns:a16="http://schemas.microsoft.com/office/drawing/2014/main" id="{794AF175-88F0-7145-A409-26250CA69AE1}"/>
              </a:ext>
            </a:extLst>
          </p:cNvPr>
          <p:cNvSpPr>
            <a:spLocks noGrp="1" noChangeArrowheads="1"/>
          </p:cNvSpPr>
          <p:nvPr>
            <p:ph type="title"/>
          </p:nvPr>
        </p:nvSpPr>
        <p:spPr/>
        <p:txBody>
          <a:bodyPr/>
          <a:lstStyle/>
          <a:p>
            <a:pPr eaLnBrk="1" hangingPunct="1">
              <a:lnSpc>
                <a:spcPct val="85000"/>
              </a:lnSpc>
              <a:defRPr/>
            </a:pPr>
            <a:r>
              <a:rPr lang="en-US" dirty="0"/>
              <a:t>A Word About Medical and Trauma Patients </a:t>
            </a:r>
            <a:r>
              <a:rPr lang="en-US" sz="2800" b="0" dirty="0"/>
              <a:t>(1 of 2)</a:t>
            </a:r>
          </a:p>
        </p:txBody>
      </p:sp>
      <p:sp>
        <p:nvSpPr>
          <p:cNvPr id="99330" name="Rectangle 3">
            <a:extLst>
              <a:ext uri="{FF2B5EF4-FFF2-40B4-BE49-F238E27FC236}">
                <a16:creationId xmlns:a16="http://schemas.microsoft.com/office/drawing/2014/main" id="{2C6F148F-9FFE-2943-8612-652D38E3B7E6}"/>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Patients can generally be classified into two main categories:</a:t>
            </a:r>
          </a:p>
          <a:p>
            <a:pPr lvl="1" eaLnBrk="1" hangingPunct="1">
              <a:spcBef>
                <a:spcPct val="35000"/>
              </a:spcBef>
            </a:pPr>
            <a:r>
              <a:rPr lang="en-US" altLang="en-US" dirty="0"/>
              <a:t>Those who have a sudden illness.</a:t>
            </a:r>
          </a:p>
          <a:p>
            <a:pPr lvl="1" eaLnBrk="1" hangingPunct="1">
              <a:spcBef>
                <a:spcPct val="35000"/>
              </a:spcBef>
            </a:pPr>
            <a:r>
              <a:rPr lang="en-US" altLang="en-US" dirty="0"/>
              <a:t>Those who sustain trauma.</a:t>
            </a:r>
          </a:p>
          <a:p>
            <a:pPr eaLnBrk="1" hangingPunct="1">
              <a:spcBef>
                <a:spcPct val="35000"/>
              </a:spcBef>
            </a:pPr>
            <a:r>
              <a:rPr lang="en-US" altLang="en-US" dirty="0"/>
              <a:t>Patient assessment sequence can be used to examine patients who have experienced illnesses, trauma, or both.</a:t>
            </a:r>
          </a:p>
        </p:txBody>
      </p:sp>
    </p:spTree>
    <p:extLst>
      <p:ext uri="{BB962C8B-B14F-4D97-AF65-F5344CB8AC3E}">
        <p14:creationId xmlns:p14="http://schemas.microsoft.com/office/powerpoint/2010/main" val="3413199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a:extLst>
              <a:ext uri="{FF2B5EF4-FFF2-40B4-BE49-F238E27FC236}">
                <a16:creationId xmlns:a16="http://schemas.microsoft.com/office/drawing/2014/main" id="{A13A5868-3956-8D4F-B3EF-08C898B8A7BC}"/>
              </a:ext>
            </a:extLst>
          </p:cNvPr>
          <p:cNvSpPr>
            <a:spLocks noGrp="1" noChangeArrowheads="1"/>
          </p:cNvSpPr>
          <p:nvPr>
            <p:ph type="title"/>
          </p:nvPr>
        </p:nvSpPr>
        <p:spPr/>
        <p:txBody>
          <a:bodyPr/>
          <a:lstStyle/>
          <a:p>
            <a:pPr eaLnBrk="1" hangingPunct="1">
              <a:lnSpc>
                <a:spcPct val="85000"/>
              </a:lnSpc>
              <a:defRPr/>
            </a:pPr>
            <a:r>
              <a:rPr lang="en-US" dirty="0"/>
              <a:t>A Word About Medical and Trauma Patients </a:t>
            </a:r>
            <a:r>
              <a:rPr lang="en-US" sz="2800" b="0" dirty="0"/>
              <a:t>(2 of 2)</a:t>
            </a:r>
          </a:p>
        </p:txBody>
      </p:sp>
      <p:sp>
        <p:nvSpPr>
          <p:cNvPr id="101378" name="Rectangle 3">
            <a:extLst>
              <a:ext uri="{FF2B5EF4-FFF2-40B4-BE49-F238E27FC236}">
                <a16:creationId xmlns:a16="http://schemas.microsoft.com/office/drawing/2014/main" id="{741D7388-D129-BA47-B1E0-7AB024BB82B0}"/>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When examining medical patients, follow basic assessment sequence.</a:t>
            </a:r>
          </a:p>
          <a:p>
            <a:pPr eaLnBrk="1" hangingPunct="1">
              <a:spcBef>
                <a:spcPct val="35000"/>
              </a:spcBef>
            </a:pPr>
            <a:r>
              <a:rPr lang="en-US" altLang="en-US" dirty="0"/>
              <a:t>When caring for a trauma patient, perform secondary assessment before taking medical history.</a:t>
            </a:r>
          </a:p>
          <a:p>
            <a:pPr eaLnBrk="1" hangingPunct="1">
              <a:spcBef>
                <a:spcPct val="35000"/>
              </a:spcBef>
            </a:pPr>
            <a:r>
              <a:rPr lang="en-US" altLang="en-US" dirty="0"/>
              <a:t>Always avoid jumping to conclusions.</a:t>
            </a:r>
          </a:p>
        </p:txBody>
      </p:sp>
    </p:spTree>
    <p:extLst>
      <p:ext uri="{BB962C8B-B14F-4D97-AF65-F5344CB8AC3E}">
        <p14:creationId xmlns:p14="http://schemas.microsoft.com/office/powerpoint/2010/main" val="24467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a:extLst>
              <a:ext uri="{FF2B5EF4-FFF2-40B4-BE49-F238E27FC236}">
                <a16:creationId xmlns:a16="http://schemas.microsoft.com/office/drawing/2014/main" id="{28F89EE2-4D2B-AF45-B20D-BDCECDF65842}"/>
              </a:ext>
            </a:extLst>
          </p:cNvPr>
          <p:cNvSpPr>
            <a:spLocks noGrp="1" noChangeArrowheads="1"/>
          </p:cNvSpPr>
          <p:nvPr>
            <p:ph type="title"/>
          </p:nvPr>
        </p:nvSpPr>
        <p:spPr/>
        <p:txBody>
          <a:bodyPr/>
          <a:lstStyle/>
          <a:p>
            <a:pPr eaLnBrk="1" hangingPunct="1">
              <a:lnSpc>
                <a:spcPct val="85000"/>
              </a:lnSpc>
              <a:defRPr/>
            </a:pPr>
            <a:r>
              <a:rPr lang="en-US" dirty="0"/>
              <a:t>Summary </a:t>
            </a:r>
            <a:r>
              <a:rPr lang="en-US" sz="2800" b="0" dirty="0"/>
              <a:t>(1 of 4)</a:t>
            </a:r>
          </a:p>
        </p:txBody>
      </p:sp>
      <p:sp>
        <p:nvSpPr>
          <p:cNvPr id="103426" name="Rectangle 3">
            <a:extLst>
              <a:ext uri="{FF2B5EF4-FFF2-40B4-BE49-F238E27FC236}">
                <a16:creationId xmlns:a16="http://schemas.microsoft.com/office/drawing/2014/main" id="{091F1699-A921-B047-A146-6ACE5959D8B6}"/>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A complete patient assessment consists of five steps: </a:t>
            </a:r>
          </a:p>
          <a:p>
            <a:pPr marL="914400" lvl="1" indent="-457200">
              <a:spcBef>
                <a:spcPct val="35000"/>
              </a:spcBef>
              <a:buFont typeface="+mj-lt"/>
              <a:buAutoNum type="arabicPeriod"/>
            </a:pPr>
            <a:r>
              <a:rPr lang="en-US" altLang="en-US" dirty="0"/>
              <a:t>Perform a scene size-up, </a:t>
            </a:r>
          </a:p>
          <a:p>
            <a:pPr marL="914400" lvl="1" indent="-457200">
              <a:spcBef>
                <a:spcPct val="35000"/>
              </a:spcBef>
              <a:buFont typeface="+mj-lt"/>
              <a:buAutoNum type="arabicPeriod"/>
            </a:pPr>
            <a:r>
              <a:rPr lang="en-US" altLang="en-US" dirty="0"/>
              <a:t>Perform a primary assessment, </a:t>
            </a:r>
          </a:p>
          <a:p>
            <a:pPr marL="914400" lvl="1" indent="-457200">
              <a:spcBef>
                <a:spcPct val="35000"/>
              </a:spcBef>
              <a:buFont typeface="+mj-lt"/>
              <a:buAutoNum type="arabicPeriod"/>
            </a:pPr>
            <a:r>
              <a:rPr lang="en-US" altLang="en-US" dirty="0"/>
              <a:t>Obtain a patient’s medical history, </a:t>
            </a:r>
          </a:p>
          <a:p>
            <a:pPr marL="914400" lvl="1" indent="-457200">
              <a:spcBef>
                <a:spcPct val="35000"/>
              </a:spcBef>
              <a:buFont typeface="+mj-lt"/>
              <a:buAutoNum type="arabicPeriod"/>
            </a:pPr>
            <a:r>
              <a:rPr lang="en-US" altLang="en-US" dirty="0"/>
              <a:t>Perform a secondary assessment, and </a:t>
            </a:r>
          </a:p>
          <a:p>
            <a:pPr marL="914400" lvl="1" indent="-457200">
              <a:spcBef>
                <a:spcPct val="35000"/>
              </a:spcBef>
              <a:buFont typeface="+mj-lt"/>
              <a:buAutoNum type="arabicPeriod"/>
            </a:pPr>
            <a:r>
              <a:rPr lang="en-US" altLang="en-US" dirty="0"/>
              <a:t>Provide reassessment.</a:t>
            </a:r>
          </a:p>
          <a:p>
            <a:pPr eaLnBrk="1" hangingPunct="1">
              <a:spcBef>
                <a:spcPct val="35000"/>
              </a:spcBef>
            </a:pPr>
            <a:r>
              <a:rPr lang="en-US" altLang="en-US" dirty="0"/>
              <a:t>Scene size-up is a general overview of incident and its surroundings. </a:t>
            </a:r>
          </a:p>
        </p:txBody>
      </p:sp>
    </p:spTree>
    <p:extLst>
      <p:ext uri="{BB962C8B-B14F-4D97-AF65-F5344CB8AC3E}">
        <p14:creationId xmlns:p14="http://schemas.microsoft.com/office/powerpoint/2010/main" val="747928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2">
            <a:extLst>
              <a:ext uri="{FF2B5EF4-FFF2-40B4-BE49-F238E27FC236}">
                <a16:creationId xmlns:a16="http://schemas.microsoft.com/office/drawing/2014/main" id="{1ED4CFB6-5BF8-6849-B485-4D1883B34634}"/>
              </a:ext>
            </a:extLst>
          </p:cNvPr>
          <p:cNvSpPr>
            <a:spLocks noGrp="1" noChangeArrowheads="1"/>
          </p:cNvSpPr>
          <p:nvPr>
            <p:ph type="title"/>
          </p:nvPr>
        </p:nvSpPr>
        <p:spPr/>
        <p:txBody>
          <a:bodyPr/>
          <a:lstStyle/>
          <a:p>
            <a:pPr eaLnBrk="1" hangingPunct="1">
              <a:lnSpc>
                <a:spcPct val="85000"/>
              </a:lnSpc>
              <a:defRPr/>
            </a:pPr>
            <a:r>
              <a:rPr lang="en-US" dirty="0"/>
              <a:t>Summary </a:t>
            </a:r>
            <a:r>
              <a:rPr lang="en-US" sz="2800" b="0" dirty="0"/>
              <a:t>(2 of 4)</a:t>
            </a:r>
          </a:p>
        </p:txBody>
      </p:sp>
      <p:sp>
        <p:nvSpPr>
          <p:cNvPr id="105474" name="Rectangle 3">
            <a:extLst>
              <a:ext uri="{FF2B5EF4-FFF2-40B4-BE49-F238E27FC236}">
                <a16:creationId xmlns:a16="http://schemas.microsoft.com/office/drawing/2014/main" id="{6CB159D4-8009-014D-828B-B667EAF13106}"/>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During primary assessment, determine and correct any life-threatening conditions. </a:t>
            </a:r>
          </a:p>
          <a:p>
            <a:pPr eaLnBrk="1" hangingPunct="1">
              <a:spcBef>
                <a:spcPct val="35000"/>
              </a:spcBef>
            </a:pPr>
            <a:r>
              <a:rPr lang="en-US" altLang="en-US" dirty="0"/>
              <a:t>Steps of primary assessment are to: </a:t>
            </a:r>
          </a:p>
          <a:p>
            <a:pPr lvl="1">
              <a:spcBef>
                <a:spcPct val="35000"/>
              </a:spcBef>
            </a:pPr>
            <a:r>
              <a:rPr lang="en-US" altLang="en-US" dirty="0"/>
              <a:t>Form a general impression of patient</a:t>
            </a:r>
          </a:p>
          <a:p>
            <a:pPr lvl="1">
              <a:spcBef>
                <a:spcPct val="35000"/>
              </a:spcBef>
            </a:pPr>
            <a:r>
              <a:rPr lang="en-US" altLang="en-US" dirty="0"/>
              <a:t>Assess responsiveness</a:t>
            </a:r>
          </a:p>
          <a:p>
            <a:pPr lvl="1">
              <a:spcBef>
                <a:spcPct val="35000"/>
              </a:spcBef>
            </a:pPr>
            <a:r>
              <a:rPr lang="en-US" altLang="en-US" dirty="0"/>
              <a:t>Perform a rapid scan that consists of checking and correcting problems with patient’s airway, breathing, and circulation. </a:t>
            </a:r>
          </a:p>
          <a:p>
            <a:pPr lvl="1">
              <a:spcBef>
                <a:spcPct val="35000"/>
              </a:spcBef>
            </a:pPr>
            <a:r>
              <a:rPr lang="en-US" altLang="en-US" dirty="0"/>
              <a:t>Finally, update responding EMS units</a:t>
            </a:r>
          </a:p>
        </p:txBody>
      </p:sp>
    </p:spTree>
    <p:extLst>
      <p:ext uri="{BB962C8B-B14F-4D97-AF65-F5344CB8AC3E}">
        <p14:creationId xmlns:p14="http://schemas.microsoft.com/office/powerpoint/2010/main" val="2221430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a:extLst>
              <a:ext uri="{FF2B5EF4-FFF2-40B4-BE49-F238E27FC236}">
                <a16:creationId xmlns:a16="http://schemas.microsoft.com/office/drawing/2014/main" id="{2A13CBDC-D3A4-1E43-B86B-D5DC9D587D2B}"/>
              </a:ext>
            </a:extLst>
          </p:cNvPr>
          <p:cNvSpPr>
            <a:spLocks noGrp="1" noChangeArrowheads="1"/>
          </p:cNvSpPr>
          <p:nvPr>
            <p:ph type="title"/>
          </p:nvPr>
        </p:nvSpPr>
        <p:spPr/>
        <p:txBody>
          <a:bodyPr/>
          <a:lstStyle/>
          <a:p>
            <a:pPr eaLnBrk="1" hangingPunct="1">
              <a:lnSpc>
                <a:spcPct val="85000"/>
              </a:lnSpc>
              <a:defRPr/>
            </a:pPr>
            <a:r>
              <a:rPr lang="en-US" dirty="0"/>
              <a:t>Summary </a:t>
            </a:r>
            <a:r>
              <a:rPr lang="en-US" sz="2800" b="0" dirty="0"/>
              <a:t>(3 of 4)</a:t>
            </a:r>
          </a:p>
        </p:txBody>
      </p:sp>
      <p:sp>
        <p:nvSpPr>
          <p:cNvPr id="107522" name="Rectangle 3">
            <a:extLst>
              <a:ext uri="{FF2B5EF4-FFF2-40B4-BE49-F238E27FC236}">
                <a16:creationId xmlns:a16="http://schemas.microsoft.com/office/drawing/2014/main" id="{9CBC9023-FDDE-8D42-B3A5-12CEEBB22F0A}"/>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A medical history provides a systematic account of patient’s past medical conditions, illnesses, and injuries to determine signs and symptoms of current condition.</a:t>
            </a:r>
          </a:p>
          <a:p>
            <a:pPr eaLnBrk="1" hangingPunct="1">
              <a:spcBef>
                <a:spcPct val="35000"/>
              </a:spcBef>
            </a:pPr>
            <a:r>
              <a:rPr lang="en-US" altLang="en-US" dirty="0"/>
              <a:t>Secondary assessment of patient consists of a secondary assessment of entire body used to assess non–life-threatening conditions.</a:t>
            </a:r>
          </a:p>
        </p:txBody>
      </p:sp>
    </p:spTree>
    <p:extLst>
      <p:ext uri="{BB962C8B-B14F-4D97-AF65-F5344CB8AC3E}">
        <p14:creationId xmlns:p14="http://schemas.microsoft.com/office/powerpoint/2010/main" val="39860555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a:extLst>
              <a:ext uri="{FF2B5EF4-FFF2-40B4-BE49-F238E27FC236}">
                <a16:creationId xmlns:a16="http://schemas.microsoft.com/office/drawing/2014/main" id="{C7358E8E-3CAD-AC49-9847-101000A937B8}"/>
              </a:ext>
            </a:extLst>
          </p:cNvPr>
          <p:cNvSpPr>
            <a:spLocks noGrp="1" noChangeArrowheads="1"/>
          </p:cNvSpPr>
          <p:nvPr>
            <p:ph type="title"/>
          </p:nvPr>
        </p:nvSpPr>
        <p:spPr/>
        <p:txBody>
          <a:bodyPr/>
          <a:lstStyle/>
          <a:p>
            <a:pPr eaLnBrk="1" hangingPunct="1">
              <a:lnSpc>
                <a:spcPct val="85000"/>
              </a:lnSpc>
              <a:defRPr/>
            </a:pPr>
            <a:r>
              <a:rPr lang="en-US" dirty="0"/>
              <a:t>Summary </a:t>
            </a:r>
            <a:r>
              <a:rPr lang="en-US" sz="2800" b="0" dirty="0"/>
              <a:t>(4 of 4)</a:t>
            </a:r>
          </a:p>
        </p:txBody>
      </p:sp>
      <p:sp>
        <p:nvSpPr>
          <p:cNvPr id="109570" name="Rectangle 3">
            <a:extLst>
              <a:ext uri="{FF2B5EF4-FFF2-40B4-BE49-F238E27FC236}">
                <a16:creationId xmlns:a16="http://schemas.microsoft.com/office/drawing/2014/main" id="{E6B3BEB1-66F3-C248-BB30-C03F4F4CC0E6}"/>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If patient is stable, repeat vital signs every 15 minutes. If patient is unstable, repeat the vital signs every 5 minutes. </a:t>
            </a:r>
          </a:p>
          <a:p>
            <a:pPr eaLnBrk="1" hangingPunct="1">
              <a:spcBef>
                <a:spcPct val="35000"/>
              </a:spcBef>
            </a:pPr>
            <a:r>
              <a:rPr lang="en-US" altLang="en-US" dirty="0"/>
              <a:t>Provide a concise and accurate hand-off report to EMS personnel. </a:t>
            </a:r>
          </a:p>
        </p:txBody>
      </p:sp>
    </p:spTree>
    <p:extLst>
      <p:ext uri="{BB962C8B-B14F-4D97-AF65-F5344CB8AC3E}">
        <p14:creationId xmlns:p14="http://schemas.microsoft.com/office/powerpoint/2010/main" val="4042456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a:extLst>
              <a:ext uri="{FF2B5EF4-FFF2-40B4-BE49-F238E27FC236}">
                <a16:creationId xmlns:a16="http://schemas.microsoft.com/office/drawing/2014/main" id="{CA261A0C-0A8E-864C-8CDC-CCB3EBC21EB8}"/>
              </a:ext>
            </a:extLst>
          </p:cNvPr>
          <p:cNvSpPr>
            <a:spLocks noGrp="1" noChangeArrowheads="1"/>
          </p:cNvSpPr>
          <p:nvPr>
            <p:ph type="title"/>
          </p:nvPr>
        </p:nvSpPr>
        <p:spPr/>
        <p:txBody>
          <a:bodyPr/>
          <a:lstStyle/>
          <a:p>
            <a:pPr eaLnBrk="1" hangingPunct="1">
              <a:lnSpc>
                <a:spcPct val="85000"/>
              </a:lnSpc>
              <a:defRPr/>
            </a:pPr>
            <a:r>
              <a:rPr lang="en-US" altLang="en-US" dirty="0"/>
              <a:t>Review </a:t>
            </a:r>
          </a:p>
        </p:txBody>
      </p:sp>
      <p:sp>
        <p:nvSpPr>
          <p:cNvPr id="111618" name="Rectangle 3">
            <a:extLst>
              <a:ext uri="{FF2B5EF4-FFF2-40B4-BE49-F238E27FC236}">
                <a16:creationId xmlns:a16="http://schemas.microsoft.com/office/drawing/2014/main" id="{11952545-CC6F-E64E-8E77-BC54BA219B34}"/>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marL="457200" indent="-457200">
              <a:spcBef>
                <a:spcPct val="35000"/>
              </a:spcBef>
              <a:buFontTx/>
              <a:buAutoNum type="arabicPeriod"/>
            </a:pPr>
            <a:r>
              <a:rPr lang="en-US" altLang="en-US" dirty="0"/>
              <a:t>Which of the following steps might be performed during the scene size-up? </a:t>
            </a:r>
          </a:p>
          <a:p>
            <a:pPr marL="1028700" lvl="1" indent="-457200">
              <a:spcBef>
                <a:spcPct val="35000"/>
              </a:spcBef>
              <a:buFontTx/>
              <a:buAutoNum type="alphaUcPeriod"/>
            </a:pPr>
            <a:r>
              <a:rPr lang="en-US" altLang="en-US" dirty="0"/>
              <a:t>Assessing vital signs using appropriate monitoring devices.</a:t>
            </a:r>
          </a:p>
          <a:p>
            <a:pPr marL="1028700" lvl="1" indent="-457200">
              <a:spcBef>
                <a:spcPct val="35000"/>
              </a:spcBef>
              <a:buFontTx/>
              <a:buAutoNum type="alphaUcPeriod"/>
            </a:pPr>
            <a:r>
              <a:rPr lang="en-US" altLang="en-US" dirty="0"/>
              <a:t>Forming a general impression of patient.</a:t>
            </a:r>
          </a:p>
          <a:p>
            <a:pPr marL="1028700" lvl="1" indent="-457200">
              <a:spcBef>
                <a:spcPct val="35000"/>
              </a:spcBef>
              <a:buFontTx/>
              <a:buAutoNum type="alphaUcPeriod"/>
            </a:pPr>
            <a:r>
              <a:rPr lang="en-US" altLang="en-US" dirty="0"/>
              <a:t>Notifying dispatch to send fire personnel. </a:t>
            </a:r>
          </a:p>
          <a:p>
            <a:pPr marL="1028700" lvl="1" indent="-457200">
              <a:spcBef>
                <a:spcPct val="35000"/>
              </a:spcBef>
              <a:buFontTx/>
              <a:buAutoNum type="alphaUcPeriod"/>
            </a:pPr>
            <a:r>
              <a:rPr lang="en-US" altLang="en-US" dirty="0"/>
              <a:t>Performing a full-body scan. </a:t>
            </a:r>
          </a:p>
        </p:txBody>
      </p:sp>
    </p:spTree>
    <p:extLst>
      <p:ext uri="{BB962C8B-B14F-4D97-AF65-F5344CB8AC3E}">
        <p14:creationId xmlns:p14="http://schemas.microsoft.com/office/powerpoint/2010/main" val="2600920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a:extLst>
              <a:ext uri="{FF2B5EF4-FFF2-40B4-BE49-F238E27FC236}">
                <a16:creationId xmlns:a16="http://schemas.microsoft.com/office/drawing/2014/main" id="{3D1449A0-8725-0A49-B5B1-72AA7F0F508B}"/>
              </a:ext>
            </a:extLst>
          </p:cNvPr>
          <p:cNvSpPr>
            <a:spLocks noGrp="1" noChangeArrowheads="1"/>
          </p:cNvSpPr>
          <p:nvPr>
            <p:ph type="title"/>
          </p:nvPr>
        </p:nvSpPr>
        <p:spPr/>
        <p:txBody>
          <a:bodyPr/>
          <a:lstStyle/>
          <a:p>
            <a:pPr eaLnBrk="1" hangingPunct="1">
              <a:lnSpc>
                <a:spcPct val="85000"/>
              </a:lnSpc>
              <a:defRPr/>
            </a:pPr>
            <a:r>
              <a:rPr lang="en-US" altLang="en-US" dirty="0"/>
              <a:t>Review </a:t>
            </a:r>
            <a:endParaRPr lang="en-US" altLang="en-US" dirty="0">
              <a:solidFill>
                <a:srgbClr val="FBBF00"/>
              </a:solidFill>
            </a:endParaRPr>
          </a:p>
        </p:txBody>
      </p:sp>
      <p:sp>
        <p:nvSpPr>
          <p:cNvPr id="58371" name="Rectangle 3">
            <a:extLst>
              <a:ext uri="{FF2B5EF4-FFF2-40B4-BE49-F238E27FC236}">
                <a16:creationId xmlns:a16="http://schemas.microsoft.com/office/drawing/2014/main" id="{4B5C574A-298A-664A-89A3-82D0975246D4}"/>
              </a:ext>
            </a:extLst>
          </p:cNvPr>
          <p:cNvSpPr>
            <a:spLocks noGrp="1" noChangeArrowheads="1"/>
          </p:cNvSpPr>
          <p:nvPr>
            <p:ph type="body" idx="1"/>
          </p:nvPr>
        </p:nvSpPr>
        <p:spPr/>
        <p:txBody>
          <a:bodyPr vert="horz" lIns="91440" tIns="45720" rIns="228600" bIns="45720" rtlCol="0">
            <a:noAutofit/>
          </a:bodyPr>
          <a:lstStyle/>
          <a:p>
            <a:pPr marL="457200" indent="-457200">
              <a:buNone/>
              <a:tabLst>
                <a:tab pos="457200" algn="l"/>
              </a:tabLst>
              <a:defRPr/>
            </a:pPr>
            <a:r>
              <a:rPr lang="en-US" altLang="en-US" b="1" dirty="0"/>
              <a:t>Answer: </a:t>
            </a:r>
          </a:p>
          <a:p>
            <a:pPr marL="457200" indent="-457200">
              <a:spcBef>
                <a:spcPct val="35000"/>
              </a:spcBef>
              <a:buNone/>
              <a:tabLst>
                <a:tab pos="457200" algn="l"/>
              </a:tabLst>
              <a:defRPr/>
            </a:pPr>
            <a:r>
              <a:rPr lang="en-US" altLang="en-US" b="1" dirty="0">
                <a:solidFill>
                  <a:schemeClr val="accent3"/>
                </a:solidFill>
              </a:rPr>
              <a:t>C.	Notifying dispatch to send fire personnel.</a:t>
            </a:r>
          </a:p>
        </p:txBody>
      </p:sp>
    </p:spTree>
    <p:extLst>
      <p:ext uri="{BB962C8B-B14F-4D97-AF65-F5344CB8AC3E}">
        <p14:creationId xmlns:p14="http://schemas.microsoft.com/office/powerpoint/2010/main" val="3976077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a:extLst>
              <a:ext uri="{FF2B5EF4-FFF2-40B4-BE49-F238E27FC236}">
                <a16:creationId xmlns:a16="http://schemas.microsoft.com/office/drawing/2014/main" id="{AC7AB213-1EE0-DB45-99EC-E3170ABB2668}"/>
              </a:ext>
            </a:extLst>
          </p:cNvPr>
          <p:cNvSpPr>
            <a:spLocks noGrp="1" noChangeArrowheads="1"/>
          </p:cNvSpPr>
          <p:nvPr>
            <p:ph type="title"/>
          </p:nvPr>
        </p:nvSpPr>
        <p:spPr/>
        <p:txBody>
          <a:bodyPr/>
          <a:lstStyle/>
          <a:p>
            <a:pPr eaLnBrk="1" hangingPunct="1">
              <a:lnSpc>
                <a:spcPct val="85000"/>
              </a:lnSpc>
              <a:defRPr/>
            </a:pPr>
            <a:r>
              <a:rPr lang="en-US" altLang="en-US" dirty="0"/>
              <a:t>Review </a:t>
            </a:r>
            <a:endParaRPr lang="en-US" altLang="en-US" dirty="0">
              <a:solidFill>
                <a:srgbClr val="FBBF00"/>
              </a:solidFill>
            </a:endParaRPr>
          </a:p>
        </p:txBody>
      </p:sp>
      <p:sp>
        <p:nvSpPr>
          <p:cNvPr id="115714" name="Rectangle 3">
            <a:extLst>
              <a:ext uri="{FF2B5EF4-FFF2-40B4-BE49-F238E27FC236}">
                <a16:creationId xmlns:a16="http://schemas.microsoft.com/office/drawing/2014/main" id="{7D390559-4E08-C54C-A54A-37ACAE4A18C3}"/>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marL="457200" indent="-457200">
              <a:spcBef>
                <a:spcPct val="35000"/>
              </a:spcBef>
              <a:buFontTx/>
              <a:buAutoNum type="arabicPeriod" startAt="2"/>
            </a:pPr>
            <a:r>
              <a:rPr lang="en-US" altLang="en-US" dirty="0"/>
              <a:t>The goal of primary assessment is to: </a:t>
            </a:r>
          </a:p>
          <a:p>
            <a:pPr marL="1028700" lvl="1" indent="-457200">
              <a:spcBef>
                <a:spcPct val="35000"/>
              </a:spcBef>
              <a:buFontTx/>
              <a:buAutoNum type="alphaUcPeriod"/>
            </a:pPr>
            <a:r>
              <a:rPr lang="en-US" altLang="en-US" dirty="0"/>
              <a:t>quickly diagnose the patient’s condition.</a:t>
            </a:r>
          </a:p>
          <a:p>
            <a:pPr marL="1028700" lvl="1" indent="-457200">
              <a:spcBef>
                <a:spcPct val="35000"/>
              </a:spcBef>
              <a:buFontTx/>
              <a:buAutoNum type="alphaUcPeriod"/>
            </a:pPr>
            <a:r>
              <a:rPr lang="en-US" altLang="en-US" dirty="0"/>
              <a:t>determine need to perform a full-body assessment. </a:t>
            </a:r>
          </a:p>
          <a:p>
            <a:pPr marL="1028700" lvl="1" indent="-457200">
              <a:spcBef>
                <a:spcPct val="35000"/>
              </a:spcBef>
              <a:buFontTx/>
              <a:buAutoNum type="alphaUcPeriod"/>
            </a:pPr>
            <a:r>
              <a:rPr lang="en-US" altLang="en-US" dirty="0"/>
              <a:t>determine number of patients. </a:t>
            </a:r>
          </a:p>
          <a:p>
            <a:pPr marL="1028700" lvl="1" indent="-457200">
              <a:spcBef>
                <a:spcPct val="35000"/>
              </a:spcBef>
              <a:buFontTx/>
              <a:buAutoNum type="alphaUcPeriod"/>
            </a:pPr>
            <a:r>
              <a:rPr lang="en-US" altLang="en-US" dirty="0"/>
              <a:t>identify and treat life threats. </a:t>
            </a:r>
          </a:p>
        </p:txBody>
      </p:sp>
    </p:spTree>
    <p:extLst>
      <p:ext uri="{BB962C8B-B14F-4D97-AF65-F5344CB8AC3E}">
        <p14:creationId xmlns:p14="http://schemas.microsoft.com/office/powerpoint/2010/main" val="374993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a:extLst>
              <a:ext uri="{FF2B5EF4-FFF2-40B4-BE49-F238E27FC236}">
                <a16:creationId xmlns:a16="http://schemas.microsoft.com/office/drawing/2014/main" id="{A9263758-2BFF-4449-AEB9-9C5E97BFCCBD}"/>
              </a:ext>
            </a:extLst>
          </p:cNvPr>
          <p:cNvSpPr>
            <a:spLocks noGrp="1" noChangeArrowheads="1"/>
          </p:cNvSpPr>
          <p:nvPr>
            <p:ph type="title"/>
          </p:nvPr>
        </p:nvSpPr>
        <p:spPr/>
        <p:txBody>
          <a:bodyPr/>
          <a:lstStyle/>
          <a:p>
            <a:pPr eaLnBrk="1" hangingPunct="1">
              <a:lnSpc>
                <a:spcPct val="85000"/>
              </a:lnSpc>
              <a:defRPr/>
            </a:pPr>
            <a:r>
              <a:rPr lang="en-US" altLang="en-US" dirty="0"/>
              <a:t>Review </a:t>
            </a:r>
            <a:endParaRPr lang="en-US" altLang="en-US" dirty="0">
              <a:solidFill>
                <a:srgbClr val="FBBF00"/>
              </a:solidFill>
            </a:endParaRPr>
          </a:p>
        </p:txBody>
      </p:sp>
      <p:sp>
        <p:nvSpPr>
          <p:cNvPr id="60419" name="Rectangle 3">
            <a:extLst>
              <a:ext uri="{FF2B5EF4-FFF2-40B4-BE49-F238E27FC236}">
                <a16:creationId xmlns:a16="http://schemas.microsoft.com/office/drawing/2014/main" id="{E6F7B69C-E590-934D-9706-ADD2BA4B66B6}"/>
              </a:ext>
            </a:extLst>
          </p:cNvPr>
          <p:cNvSpPr>
            <a:spLocks noGrp="1" noChangeArrowheads="1"/>
          </p:cNvSpPr>
          <p:nvPr>
            <p:ph type="body" idx="1"/>
          </p:nvPr>
        </p:nvSpPr>
        <p:spPr/>
        <p:txBody>
          <a:bodyPr vert="horz" lIns="91440" tIns="45720" rIns="228600" bIns="45720" rtlCol="0">
            <a:noAutofit/>
          </a:bodyPr>
          <a:lstStyle/>
          <a:p>
            <a:pPr eaLnBrk="1" hangingPunct="1">
              <a:buFontTx/>
              <a:buNone/>
              <a:defRPr/>
            </a:pPr>
            <a:r>
              <a:rPr lang="en-US" altLang="en-US" b="1" dirty="0"/>
              <a:t>Answer: </a:t>
            </a:r>
          </a:p>
          <a:p>
            <a:pPr eaLnBrk="1" hangingPunct="1">
              <a:spcBef>
                <a:spcPct val="35000"/>
              </a:spcBef>
              <a:buFontTx/>
              <a:buNone/>
              <a:defRPr/>
            </a:pPr>
            <a:r>
              <a:rPr lang="en-US" altLang="en-US" b="1" dirty="0">
                <a:solidFill>
                  <a:schemeClr val="accent3"/>
                </a:solidFill>
              </a:rPr>
              <a:t>D. identify and treat life threats. </a:t>
            </a:r>
          </a:p>
        </p:txBody>
      </p:sp>
    </p:spTree>
    <p:extLst>
      <p:ext uri="{BB962C8B-B14F-4D97-AF65-F5344CB8AC3E}">
        <p14:creationId xmlns:p14="http://schemas.microsoft.com/office/powerpoint/2010/main" val="3983974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a:extLst>
              <a:ext uri="{FF2B5EF4-FFF2-40B4-BE49-F238E27FC236}">
                <a16:creationId xmlns:a16="http://schemas.microsoft.com/office/drawing/2014/main" id="{6C2ABEE4-AE5C-A34D-B342-8AA10B2765A8}"/>
              </a:ext>
            </a:extLst>
          </p:cNvPr>
          <p:cNvSpPr>
            <a:spLocks noGrp="1" noChangeArrowheads="1"/>
          </p:cNvSpPr>
          <p:nvPr>
            <p:ph type="title"/>
          </p:nvPr>
        </p:nvSpPr>
        <p:spPr/>
        <p:txBody>
          <a:bodyPr/>
          <a:lstStyle/>
          <a:p>
            <a:pPr eaLnBrk="1" hangingPunct="1">
              <a:lnSpc>
                <a:spcPct val="85000"/>
              </a:lnSpc>
              <a:defRPr/>
            </a:pPr>
            <a:r>
              <a:rPr lang="en-US" altLang="en-US" dirty="0"/>
              <a:t>Review </a:t>
            </a:r>
            <a:endParaRPr lang="en-US" altLang="en-US" dirty="0">
              <a:solidFill>
                <a:srgbClr val="FBBF00"/>
              </a:solidFill>
            </a:endParaRPr>
          </a:p>
        </p:txBody>
      </p:sp>
      <p:sp>
        <p:nvSpPr>
          <p:cNvPr id="119810" name="Rectangle 3">
            <a:extLst>
              <a:ext uri="{FF2B5EF4-FFF2-40B4-BE49-F238E27FC236}">
                <a16:creationId xmlns:a16="http://schemas.microsoft.com/office/drawing/2014/main" id="{C80DB495-86F2-2942-A3D4-C3C501975C2D}"/>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marL="457200" indent="-457200">
              <a:spcBef>
                <a:spcPct val="35000"/>
              </a:spcBef>
              <a:buFontTx/>
              <a:buAutoNum type="arabicPeriod" startAt="3"/>
            </a:pPr>
            <a:r>
              <a:rPr lang="en-US" altLang="en-US" dirty="0"/>
              <a:t>After performing a primary assessment and treating any immediate life threats, you should next: </a:t>
            </a:r>
          </a:p>
          <a:p>
            <a:pPr marL="1028700" lvl="1" indent="-400050">
              <a:spcBef>
                <a:spcPct val="35000"/>
              </a:spcBef>
              <a:buFontTx/>
              <a:buAutoNum type="alphaUcPeriod"/>
            </a:pPr>
            <a:r>
              <a:rPr lang="en-US" altLang="en-US" dirty="0"/>
              <a:t>determine priority of patient care and transport.</a:t>
            </a:r>
          </a:p>
          <a:p>
            <a:pPr marL="1028700" lvl="1" indent="-400050">
              <a:spcBef>
                <a:spcPct val="35000"/>
              </a:spcBef>
              <a:buFontTx/>
              <a:buAutoNum type="alphaUcPeriod"/>
            </a:pPr>
            <a:r>
              <a:rPr lang="en-US" altLang="en-US" dirty="0"/>
              <a:t>reassess patient. </a:t>
            </a:r>
          </a:p>
          <a:p>
            <a:pPr marL="1028700" lvl="1" indent="-400050">
              <a:spcBef>
                <a:spcPct val="35000"/>
              </a:spcBef>
              <a:buFontTx/>
              <a:buAutoNum type="alphaUcPeriod"/>
            </a:pPr>
            <a:r>
              <a:rPr lang="en-US" altLang="en-US" dirty="0"/>
              <a:t>recheck your interventions. </a:t>
            </a:r>
          </a:p>
          <a:p>
            <a:pPr marL="1028700" lvl="1" indent="-400050">
              <a:spcBef>
                <a:spcPct val="35000"/>
              </a:spcBef>
              <a:buFontTx/>
              <a:buAutoNum type="alphaUcPeriod"/>
            </a:pPr>
            <a:r>
              <a:rPr lang="en-US" altLang="en-US" dirty="0"/>
              <a:t>promptly transport patient to closest hospital. </a:t>
            </a:r>
          </a:p>
        </p:txBody>
      </p:sp>
    </p:spTree>
    <p:extLst>
      <p:ext uri="{BB962C8B-B14F-4D97-AF65-F5344CB8AC3E}">
        <p14:creationId xmlns:p14="http://schemas.microsoft.com/office/powerpoint/2010/main" val="2504176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a:extLst>
              <a:ext uri="{FF2B5EF4-FFF2-40B4-BE49-F238E27FC236}">
                <a16:creationId xmlns:a16="http://schemas.microsoft.com/office/drawing/2014/main" id="{1FEF7123-C166-1A45-84CA-646E895C9078}"/>
              </a:ext>
            </a:extLst>
          </p:cNvPr>
          <p:cNvSpPr>
            <a:spLocks noGrp="1" noChangeArrowheads="1"/>
          </p:cNvSpPr>
          <p:nvPr>
            <p:ph type="title"/>
          </p:nvPr>
        </p:nvSpPr>
        <p:spPr/>
        <p:txBody>
          <a:bodyPr/>
          <a:lstStyle/>
          <a:p>
            <a:pPr eaLnBrk="1" hangingPunct="1">
              <a:lnSpc>
                <a:spcPct val="85000"/>
              </a:lnSpc>
              <a:defRPr/>
            </a:pPr>
            <a:r>
              <a:rPr lang="en-US" altLang="en-US" dirty="0"/>
              <a:t>Review </a:t>
            </a:r>
            <a:endParaRPr lang="en-US" altLang="en-US" dirty="0">
              <a:solidFill>
                <a:srgbClr val="FBBF00"/>
              </a:solidFill>
            </a:endParaRPr>
          </a:p>
        </p:txBody>
      </p:sp>
      <p:sp>
        <p:nvSpPr>
          <p:cNvPr id="62467" name="Rectangle 3">
            <a:extLst>
              <a:ext uri="{FF2B5EF4-FFF2-40B4-BE49-F238E27FC236}">
                <a16:creationId xmlns:a16="http://schemas.microsoft.com/office/drawing/2014/main" id="{4AEDD47D-B50F-EA49-B883-816D829722F5}"/>
              </a:ext>
            </a:extLst>
          </p:cNvPr>
          <p:cNvSpPr>
            <a:spLocks noGrp="1" noChangeArrowheads="1"/>
          </p:cNvSpPr>
          <p:nvPr>
            <p:ph type="body" idx="1"/>
          </p:nvPr>
        </p:nvSpPr>
        <p:spPr/>
        <p:txBody>
          <a:bodyPr vert="horz" lIns="91440" tIns="45720" rIns="228600" bIns="45720" rtlCol="0">
            <a:noAutofit/>
          </a:bodyPr>
          <a:lstStyle/>
          <a:p>
            <a:pPr marL="457200" indent="-457200">
              <a:buNone/>
              <a:tabLst>
                <a:tab pos="457200" algn="l"/>
              </a:tabLst>
              <a:defRPr/>
            </a:pPr>
            <a:r>
              <a:rPr lang="en-US" altLang="en-US" b="1" dirty="0"/>
              <a:t>Answer: </a:t>
            </a:r>
          </a:p>
          <a:p>
            <a:pPr marL="457200" indent="-457200">
              <a:spcBef>
                <a:spcPct val="35000"/>
              </a:spcBef>
              <a:buNone/>
              <a:tabLst>
                <a:tab pos="457200" algn="l"/>
              </a:tabLst>
              <a:defRPr/>
            </a:pPr>
            <a:r>
              <a:rPr lang="en-US" altLang="en-US" b="1" dirty="0">
                <a:solidFill>
                  <a:schemeClr val="accent3"/>
                </a:solidFill>
              </a:rPr>
              <a:t>A.	determine priority of patient care and transport.</a:t>
            </a:r>
          </a:p>
        </p:txBody>
      </p:sp>
    </p:spTree>
    <p:extLst>
      <p:ext uri="{BB962C8B-B14F-4D97-AF65-F5344CB8AC3E}">
        <p14:creationId xmlns:p14="http://schemas.microsoft.com/office/powerpoint/2010/main" val="2499090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Educational subjects 16x9">
  <a:themeElements>
    <a:clrScheme name="JBLPSG PPT 1">
      <a:dk1>
        <a:srgbClr val="3C4743"/>
      </a:dk1>
      <a:lt1>
        <a:srgbClr val="E1E1E1"/>
      </a:lt1>
      <a:dk2>
        <a:srgbClr val="000000"/>
      </a:dk2>
      <a:lt2>
        <a:srgbClr val="FFFFFF"/>
      </a:lt2>
      <a:accent1>
        <a:srgbClr val="FFC324"/>
      </a:accent1>
      <a:accent2>
        <a:srgbClr val="F05123"/>
      </a:accent2>
      <a:accent3>
        <a:srgbClr val="418AC9"/>
      </a:accent3>
      <a:accent4>
        <a:srgbClr val="B7B7B7"/>
      </a:accent4>
      <a:accent5>
        <a:srgbClr val="00B18A"/>
      </a:accent5>
      <a:accent6>
        <a:srgbClr val="7BABBF"/>
      </a:accent6>
      <a:hlink>
        <a:srgbClr val="004B91"/>
      </a:hlink>
      <a:folHlink>
        <a:srgbClr val="5C284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0001127.potx" id="{6B18C398-4F76-4BDC-B8A4-D02A96E0AA82}" vid="{FBF1AC64-E511-41D2-AA23-0E693E79CD77}"/>
    </a:ext>
  </a:extLst>
</a:theme>
</file>

<file path=ppt/theme/theme2.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571</TotalTime>
  <Words>9194</Words>
  <Application>Microsoft Macintosh PowerPoint</Application>
  <PresentationFormat>Widescreen</PresentationFormat>
  <Paragraphs>812</Paragraphs>
  <Slides>58</Slides>
  <Notes>57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58</vt:i4>
      </vt:variant>
    </vt:vector>
  </HeadingPairs>
  <TitlesOfParts>
    <vt:vector size="63" baseType="lpstr">
      <vt:lpstr>Arial</vt:lpstr>
      <vt:lpstr>Arial Black</vt:lpstr>
      <vt:lpstr>Calibri</vt:lpstr>
      <vt:lpstr>Wingdings</vt:lpstr>
      <vt:lpstr>Educational subjects 16x9</vt:lpstr>
      <vt:lpstr>Patient Assessment</vt:lpstr>
      <vt:lpstr>National EMS Education Standard Competencies (1 of 5)</vt:lpstr>
      <vt:lpstr>National EMS Education Standard Competencies (2 of 5)</vt:lpstr>
      <vt:lpstr>National EMS Education Standard Competencies (3 of 5)</vt:lpstr>
      <vt:lpstr>National EMS Education Standard Competencies (4 of 5)</vt:lpstr>
      <vt:lpstr>National EMS Education Standard Competencies (5 of 5)</vt:lpstr>
      <vt:lpstr>Introduction (1 of 2)</vt:lpstr>
      <vt:lpstr>Introduction (2 of 2)</vt:lpstr>
      <vt:lpstr>Patient Assessment Sequence</vt:lpstr>
      <vt:lpstr>Scene Size-Up (1 of 8)</vt:lpstr>
      <vt:lpstr>Scene Size-Up (2 of 8)</vt:lpstr>
      <vt:lpstr>Scene Size-Up (3 of 8)</vt:lpstr>
      <vt:lpstr>Scene Size-Up (4 of 8)</vt:lpstr>
      <vt:lpstr>Scene Size-Up (5 of 8)</vt:lpstr>
      <vt:lpstr>Scene Size-Up (6 of 8)</vt:lpstr>
      <vt:lpstr>Scene Size-Up (7 of 8)</vt:lpstr>
      <vt:lpstr>Scene Size-Up (8 of 8)</vt:lpstr>
      <vt:lpstr>Primary Assessment (1 of 9)</vt:lpstr>
      <vt:lpstr>Primary Assessment (2 of 9)</vt:lpstr>
      <vt:lpstr>Primary Assessment (3 of 9)</vt:lpstr>
      <vt:lpstr>Primary Assessment (4 of 9)</vt:lpstr>
      <vt:lpstr>Primary Assessment (5 of 9)</vt:lpstr>
      <vt:lpstr>Primary Assessment (6 of 9)</vt:lpstr>
      <vt:lpstr>Primary Assessment (7 of 9)</vt:lpstr>
      <vt:lpstr>Primary Assessment (8 of 9)</vt:lpstr>
      <vt:lpstr>Primary Assessment (9 of 9)</vt:lpstr>
      <vt:lpstr>History Taking (1 of 4)</vt:lpstr>
      <vt:lpstr>History Taking (2 of 4)</vt:lpstr>
      <vt:lpstr>History Taking (3 of 4)</vt:lpstr>
      <vt:lpstr>History Taking (4 of 4)</vt:lpstr>
      <vt:lpstr>Secondary Assessment (1 of 12)</vt:lpstr>
      <vt:lpstr>Secondary Assessment (2 of 12)</vt:lpstr>
      <vt:lpstr>Secondary Assessment (3 of 12)</vt:lpstr>
      <vt:lpstr>Secondary Assessment (4 of 12)</vt:lpstr>
      <vt:lpstr>Secondary Assessment (5 of 12)</vt:lpstr>
      <vt:lpstr>Secondary Assessment (6 of 12)</vt:lpstr>
      <vt:lpstr>Secondary Assessment (7 of 12)</vt:lpstr>
      <vt:lpstr>Secondary Assessment (8 of 12)</vt:lpstr>
      <vt:lpstr>Secondary Assessment (9 of 12)</vt:lpstr>
      <vt:lpstr>Secondary Assessment (10 of 12)</vt:lpstr>
      <vt:lpstr>Secondary Assessment (11 of 12)</vt:lpstr>
      <vt:lpstr>Secondary Assessment (12 of 12)</vt:lpstr>
      <vt:lpstr>Reassessment (1 of 4)</vt:lpstr>
      <vt:lpstr>Reassessment (2 of 4)</vt:lpstr>
      <vt:lpstr>Reassessment (3 of 4)</vt:lpstr>
      <vt:lpstr>Reassessment (4 of 4)</vt:lpstr>
      <vt:lpstr>A Word About Medical and Trauma Patients (1 of 2)</vt:lpstr>
      <vt:lpstr>A Word About Medical and Trauma Patients (2 of 2)</vt:lpstr>
      <vt:lpstr>Summary (1 of 4)</vt:lpstr>
      <vt:lpstr>Summary (2 of 4)</vt:lpstr>
      <vt:lpstr>Summary (3 of 4)</vt:lpstr>
      <vt:lpstr>Summary (4 of 4)</vt:lpstr>
      <vt:lpstr>Review </vt:lpstr>
      <vt:lpstr>Review </vt:lpstr>
      <vt:lpstr>Review </vt:lpstr>
      <vt:lpstr>Review </vt:lpstr>
      <vt:lpstr>Review </vt:lpstr>
      <vt:lpstr>Review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Layout</dc:title>
  <dc:creator>Kristin Parker</dc:creator>
  <cp:lastModifiedBy>Kelly Sylvester</cp:lastModifiedBy>
  <cp:revision>56</cp:revision>
  <dcterms:created xsi:type="dcterms:W3CDTF">2019-03-08T18:11:57Z</dcterms:created>
  <dcterms:modified xsi:type="dcterms:W3CDTF">2020-11-30T21:49:57Z</dcterms:modified>
</cp:coreProperties>
</file>