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9"/>
  </p:notesMasterIdLst>
  <p:handoutMasterIdLst>
    <p:handoutMasterId r:id="rId10"/>
  </p:handoutMasterIdLst>
  <p:sldIdLst>
    <p:sldId id="740" r:id="rId2"/>
    <p:sldId id="735" r:id="rId3"/>
    <p:sldId id="741" r:id="rId4"/>
    <p:sldId id="742" r:id="rId5"/>
    <p:sldId id="743" r:id="rId6"/>
    <p:sldId id="744" r:id="rId7"/>
    <p:sldId id="745"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B74"/>
    <a:srgbClr val="FFFFFF"/>
    <a:srgbClr val="FFC425"/>
    <a:srgbClr val="E5E6D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E5AA47-199E-4CBF-B21D-5F186A0A99E7}" v="99" dt="2020-08-10T16:05:51.470"/>
  </p1510:revLst>
</p1510:revInfo>
</file>

<file path=ppt/tableStyles.xml><?xml version="1.0" encoding="utf-8"?>
<a:tblStyleLst xmlns:a="http://schemas.openxmlformats.org/drawingml/2006/main" def="{3B4B98B0-60AC-42C2-AFA5-B58CD77FA1E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62" autoAdjust="0"/>
    <p:restoredTop sz="82029"/>
  </p:normalViewPr>
  <p:slideViewPr>
    <p:cSldViewPr snapToGrid="0">
      <p:cViewPr varScale="1">
        <p:scale>
          <a:sx n="75" d="100"/>
          <a:sy n="75" d="100"/>
        </p:scale>
        <p:origin x="1344" y="78"/>
      </p:cViewPr>
      <p:guideLst>
        <p:guide orient="horz" pos="2160"/>
        <p:guide pos="3840"/>
      </p:guideLst>
    </p:cSldViewPr>
  </p:slideViewPr>
  <p:notesTextViewPr>
    <p:cViewPr>
      <p:scale>
        <a:sx n="1" d="1"/>
        <a:sy n="1" d="1"/>
      </p:scale>
      <p:origin x="0" y="0"/>
    </p:cViewPr>
  </p:notesTextViewPr>
  <p:notesViewPr>
    <p:cSldViewPr snapToGrid="0">
      <p:cViewPr varScale="1">
        <p:scale>
          <a:sx n="65" d="100"/>
          <a:sy n="65" d="100"/>
        </p:scale>
        <p:origin x="2784" y="4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59" Type="http://schemas.microsoft.com/office/2015/10/relationships/revisionInfo" Target="revisionInfo.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8" Type="http://schemas.microsoft.com/office/2016/11/relationships/changesInfo" Target="changesInfos/changesInfo1.xml"/><Relationship Id="rId5" Type="http://schemas.openxmlformats.org/officeDocument/2006/relationships/slide" Target="slides/slide4.xml"/><Relationship Id="rId10"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Yuan Gregory" userId="8839d734-a022-4f7a-aa1a-7ded42ea4e8b" providerId="ADAL" clId="{07E5AA47-199E-4CBF-B21D-5F186A0A99E7}"/>
    <pc:docChg chg="custSel modSld modMainMaster">
      <pc:chgData name="Paula-Yuan Gregory" userId="8839d734-a022-4f7a-aa1a-7ded42ea4e8b" providerId="ADAL" clId="{07E5AA47-199E-4CBF-B21D-5F186A0A99E7}" dt="2020-08-11T15:39:11.160" v="208" actId="20577"/>
      <pc:docMkLst>
        <pc:docMk/>
      </pc:docMkLst>
      <pc:sldChg chg="modSp">
        <pc:chgData name="Paula-Yuan Gregory" userId="8839d734-a022-4f7a-aa1a-7ded42ea4e8b" providerId="ADAL" clId="{07E5AA47-199E-4CBF-B21D-5F186A0A99E7}" dt="2020-08-11T15:39:11.160" v="208" actId="20577"/>
        <pc:sldMkLst>
          <pc:docMk/>
          <pc:sldMk cId="1732698309" sldId="258"/>
        </pc:sldMkLst>
        <pc:spChg chg="mod">
          <ac:chgData name="Paula-Yuan Gregory" userId="8839d734-a022-4f7a-aa1a-7ded42ea4e8b" providerId="ADAL" clId="{07E5AA47-199E-4CBF-B21D-5F186A0A99E7}" dt="2020-08-11T15:39:11.160" v="208" actId="20577"/>
          <ac:spMkLst>
            <pc:docMk/>
            <pc:sldMk cId="1732698309" sldId="258"/>
            <ac:spMk id="15" creationId="{CF4F1586-DE6A-1A40-AEF4-23ADA41937E4}"/>
          </ac:spMkLst>
        </pc:spChg>
      </pc:sldChg>
      <pc:sldChg chg="addSp delSp modSp">
        <pc:chgData name="Paula-Yuan Gregory" userId="8839d734-a022-4f7a-aa1a-7ded42ea4e8b" providerId="ADAL" clId="{07E5AA47-199E-4CBF-B21D-5F186A0A99E7}" dt="2020-08-10T15:59:45.998" v="112" actId="1076"/>
        <pc:sldMkLst>
          <pc:docMk/>
          <pc:sldMk cId="2021669146" sldId="741"/>
        </pc:sldMkLst>
        <pc:spChg chg="add mod">
          <ac:chgData name="Paula-Yuan Gregory" userId="8839d734-a022-4f7a-aa1a-7ded42ea4e8b" providerId="ADAL" clId="{07E5AA47-199E-4CBF-B21D-5F186A0A99E7}" dt="2020-08-10T15:59:45.998" v="112" actId="1076"/>
          <ac:spMkLst>
            <pc:docMk/>
            <pc:sldMk cId="2021669146" sldId="741"/>
            <ac:spMk id="6" creationId="{AFA6017C-47FF-4F32-95FF-EE340E43139A}"/>
          </ac:spMkLst>
        </pc:spChg>
        <pc:picChg chg="del">
          <ac:chgData name="Paula-Yuan Gregory" userId="8839d734-a022-4f7a-aa1a-7ded42ea4e8b" providerId="ADAL" clId="{07E5AA47-199E-4CBF-B21D-5F186A0A99E7}" dt="2020-08-10T15:59:36.204" v="93" actId="478"/>
          <ac:picMkLst>
            <pc:docMk/>
            <pc:sldMk cId="2021669146" sldId="741"/>
            <ac:picMk id="17411" creationId="{9A2F8220-5196-3549-97B2-7C2940D01BA1}"/>
          </ac:picMkLst>
        </pc:picChg>
      </pc:sldChg>
      <pc:sldChg chg="addSp delSp modSp">
        <pc:chgData name="Paula-Yuan Gregory" userId="8839d734-a022-4f7a-aa1a-7ded42ea4e8b" providerId="ADAL" clId="{07E5AA47-199E-4CBF-B21D-5F186A0A99E7}" dt="2020-08-10T16:00:10.395" v="132" actId="1076"/>
        <pc:sldMkLst>
          <pc:docMk/>
          <pc:sldMk cId="4068059589" sldId="747"/>
        </pc:sldMkLst>
        <pc:spChg chg="add mod">
          <ac:chgData name="Paula-Yuan Gregory" userId="8839d734-a022-4f7a-aa1a-7ded42ea4e8b" providerId="ADAL" clId="{07E5AA47-199E-4CBF-B21D-5F186A0A99E7}" dt="2020-08-10T16:00:10.395" v="132" actId="1076"/>
          <ac:spMkLst>
            <pc:docMk/>
            <pc:sldMk cId="4068059589" sldId="747"/>
            <ac:spMk id="6" creationId="{AFA6017C-47FF-4F32-95FF-EE340E43139A}"/>
          </ac:spMkLst>
        </pc:spChg>
        <pc:picChg chg="del">
          <ac:chgData name="Paula-Yuan Gregory" userId="8839d734-a022-4f7a-aa1a-7ded42ea4e8b" providerId="ADAL" clId="{07E5AA47-199E-4CBF-B21D-5F186A0A99E7}" dt="2020-08-10T16:00:02.956" v="113" actId="478"/>
          <ac:picMkLst>
            <pc:docMk/>
            <pc:sldMk cId="4068059589" sldId="747"/>
            <ac:picMk id="29699" creationId="{8B8F1A46-6573-9C4E-815F-07063B1B6E88}"/>
          </ac:picMkLst>
        </pc:picChg>
      </pc:sldChg>
      <pc:sldChg chg="addSp delSp modSp">
        <pc:chgData name="Paula-Yuan Gregory" userId="8839d734-a022-4f7a-aa1a-7ded42ea4e8b" providerId="ADAL" clId="{07E5AA47-199E-4CBF-B21D-5F186A0A99E7}" dt="2020-08-10T16:03:14.260" v="145" actId="20577"/>
        <pc:sldMkLst>
          <pc:docMk/>
          <pc:sldMk cId="1458110044" sldId="748"/>
        </pc:sldMkLst>
        <pc:spChg chg="add mod">
          <ac:chgData name="Paula-Yuan Gregory" userId="8839d734-a022-4f7a-aa1a-7ded42ea4e8b" providerId="ADAL" clId="{07E5AA47-199E-4CBF-B21D-5F186A0A99E7}" dt="2020-08-10T16:03:14.260" v="145" actId="20577"/>
          <ac:spMkLst>
            <pc:docMk/>
            <pc:sldMk cId="1458110044" sldId="748"/>
            <ac:spMk id="5" creationId="{AFA6017C-47FF-4F32-95FF-EE340E43139A}"/>
          </ac:spMkLst>
        </pc:spChg>
        <pc:spChg chg="mod">
          <ac:chgData name="Paula-Yuan Gregory" userId="8839d734-a022-4f7a-aa1a-7ded42ea4e8b" providerId="ADAL" clId="{07E5AA47-199E-4CBF-B21D-5F186A0A99E7}" dt="2020-08-06T16:18:30.625" v="66" actId="1036"/>
          <ac:spMkLst>
            <pc:docMk/>
            <pc:sldMk cId="1458110044" sldId="748"/>
            <ac:spMk id="31748" creationId="{8B04988E-E865-CF43-827C-7D5AB287D363}"/>
          </ac:spMkLst>
        </pc:spChg>
        <pc:picChg chg="del mod">
          <ac:chgData name="Paula-Yuan Gregory" userId="8839d734-a022-4f7a-aa1a-7ded42ea4e8b" providerId="ADAL" clId="{07E5AA47-199E-4CBF-B21D-5F186A0A99E7}" dt="2020-08-10T16:03:08.742" v="133" actId="478"/>
          <ac:picMkLst>
            <pc:docMk/>
            <pc:sldMk cId="1458110044" sldId="748"/>
            <ac:picMk id="31747" creationId="{6F45AB12-2F18-8447-BA0B-73C7B2C07B7B}"/>
          </ac:picMkLst>
        </pc:picChg>
      </pc:sldChg>
      <pc:sldChg chg="addSp delSp modSp">
        <pc:chgData name="Paula-Yuan Gregory" userId="8839d734-a022-4f7a-aa1a-7ded42ea4e8b" providerId="ADAL" clId="{07E5AA47-199E-4CBF-B21D-5F186A0A99E7}" dt="2020-08-10T16:03:30.781" v="159" actId="1076"/>
        <pc:sldMkLst>
          <pc:docMk/>
          <pc:sldMk cId="2476686328" sldId="749"/>
        </pc:sldMkLst>
        <pc:spChg chg="add mod">
          <ac:chgData name="Paula-Yuan Gregory" userId="8839d734-a022-4f7a-aa1a-7ded42ea4e8b" providerId="ADAL" clId="{07E5AA47-199E-4CBF-B21D-5F186A0A99E7}" dt="2020-08-10T16:03:30.781" v="159" actId="1076"/>
          <ac:spMkLst>
            <pc:docMk/>
            <pc:sldMk cId="2476686328" sldId="749"/>
            <ac:spMk id="6" creationId="{AFA6017C-47FF-4F32-95FF-EE340E43139A}"/>
          </ac:spMkLst>
        </pc:spChg>
        <pc:picChg chg="del">
          <ac:chgData name="Paula-Yuan Gregory" userId="8839d734-a022-4f7a-aa1a-7ded42ea4e8b" providerId="ADAL" clId="{07E5AA47-199E-4CBF-B21D-5F186A0A99E7}" dt="2020-08-10T16:03:21.986" v="146" actId="478"/>
          <ac:picMkLst>
            <pc:docMk/>
            <pc:sldMk cId="2476686328" sldId="749"/>
            <ac:picMk id="33795" creationId="{5AFD9C67-3243-7B4D-94C5-B95CFFC6C447}"/>
          </ac:picMkLst>
        </pc:picChg>
      </pc:sldChg>
      <pc:sldChg chg="addSp delSp modSp">
        <pc:chgData name="Paula-Yuan Gregory" userId="8839d734-a022-4f7a-aa1a-7ded42ea4e8b" providerId="ADAL" clId="{07E5AA47-199E-4CBF-B21D-5F186A0A99E7}" dt="2020-08-10T16:04:21.152" v="174" actId="1076"/>
        <pc:sldMkLst>
          <pc:docMk/>
          <pc:sldMk cId="1709711209" sldId="757"/>
        </pc:sldMkLst>
        <pc:spChg chg="add mod">
          <ac:chgData name="Paula-Yuan Gregory" userId="8839d734-a022-4f7a-aa1a-7ded42ea4e8b" providerId="ADAL" clId="{07E5AA47-199E-4CBF-B21D-5F186A0A99E7}" dt="2020-08-10T16:04:21.152" v="174" actId="1076"/>
          <ac:spMkLst>
            <pc:docMk/>
            <pc:sldMk cId="1709711209" sldId="757"/>
            <ac:spMk id="6" creationId="{AFA6017C-47FF-4F32-95FF-EE340E43139A}"/>
          </ac:spMkLst>
        </pc:spChg>
        <pc:picChg chg="del">
          <ac:chgData name="Paula-Yuan Gregory" userId="8839d734-a022-4f7a-aa1a-7ded42ea4e8b" providerId="ADAL" clId="{07E5AA47-199E-4CBF-B21D-5F186A0A99E7}" dt="2020-08-10T16:04:10.933" v="160" actId="478"/>
          <ac:picMkLst>
            <pc:docMk/>
            <pc:sldMk cId="1709711209" sldId="757"/>
            <ac:picMk id="4" creationId="{09DEA73D-5A8B-EC45-8116-54FF69F09FC1}"/>
          </ac:picMkLst>
        </pc:picChg>
      </pc:sldChg>
      <pc:sldChg chg="addSp delSp modSp">
        <pc:chgData name="Paula-Yuan Gregory" userId="8839d734-a022-4f7a-aa1a-7ded42ea4e8b" providerId="ADAL" clId="{07E5AA47-199E-4CBF-B21D-5F186A0A99E7}" dt="2020-08-10T16:05:00.206" v="189" actId="1076"/>
        <pc:sldMkLst>
          <pc:docMk/>
          <pc:sldMk cId="3251773752" sldId="763"/>
        </pc:sldMkLst>
        <pc:spChg chg="add mod">
          <ac:chgData name="Paula-Yuan Gregory" userId="8839d734-a022-4f7a-aa1a-7ded42ea4e8b" providerId="ADAL" clId="{07E5AA47-199E-4CBF-B21D-5F186A0A99E7}" dt="2020-08-10T16:05:00.206" v="189" actId="1076"/>
          <ac:spMkLst>
            <pc:docMk/>
            <pc:sldMk cId="3251773752" sldId="763"/>
            <ac:spMk id="6" creationId="{AFA6017C-47FF-4F32-95FF-EE340E43139A}"/>
          </ac:spMkLst>
        </pc:spChg>
        <pc:picChg chg="del">
          <ac:chgData name="Paula-Yuan Gregory" userId="8839d734-a022-4f7a-aa1a-7ded42ea4e8b" providerId="ADAL" clId="{07E5AA47-199E-4CBF-B21D-5F186A0A99E7}" dt="2020-08-10T16:04:53.182" v="175" actId="478"/>
          <ac:picMkLst>
            <pc:docMk/>
            <pc:sldMk cId="3251773752" sldId="763"/>
            <ac:picMk id="62467" creationId="{B5E0193B-DEF4-C24E-B39F-40659D813B92}"/>
          </ac:picMkLst>
        </pc:picChg>
      </pc:sldChg>
      <pc:sldChg chg="addSp delSp modSp">
        <pc:chgData name="Paula-Yuan Gregory" userId="8839d734-a022-4f7a-aa1a-7ded42ea4e8b" providerId="ADAL" clId="{07E5AA47-199E-4CBF-B21D-5F186A0A99E7}" dt="2020-08-10T16:05:58.708" v="206" actId="1076"/>
        <pc:sldMkLst>
          <pc:docMk/>
          <pc:sldMk cId="1797629057" sldId="767"/>
        </pc:sldMkLst>
        <pc:spChg chg="add mod">
          <ac:chgData name="Paula-Yuan Gregory" userId="8839d734-a022-4f7a-aa1a-7ded42ea4e8b" providerId="ADAL" clId="{07E5AA47-199E-4CBF-B21D-5F186A0A99E7}" dt="2020-08-10T16:05:58.708" v="206" actId="1076"/>
          <ac:spMkLst>
            <pc:docMk/>
            <pc:sldMk cId="1797629057" sldId="767"/>
            <ac:spMk id="5" creationId="{AFA6017C-47FF-4F32-95FF-EE340E43139A}"/>
          </ac:spMkLst>
        </pc:spChg>
        <pc:picChg chg="del">
          <ac:chgData name="Paula-Yuan Gregory" userId="8839d734-a022-4f7a-aa1a-7ded42ea4e8b" providerId="ADAL" clId="{07E5AA47-199E-4CBF-B21D-5F186A0A99E7}" dt="2020-08-10T16:05:51.111" v="190" actId="478"/>
          <ac:picMkLst>
            <pc:docMk/>
            <pc:sldMk cId="1797629057" sldId="767"/>
            <ac:picMk id="4" creationId="{B1EBDCDD-FFA7-8D43-885E-1C222A3005F2}"/>
          </ac:picMkLst>
        </pc:picChg>
      </pc:sldChg>
      <pc:sldMasterChg chg="modSp modSldLayout">
        <pc:chgData name="Paula-Yuan Gregory" userId="8839d734-a022-4f7a-aa1a-7ded42ea4e8b" providerId="ADAL" clId="{07E5AA47-199E-4CBF-B21D-5F186A0A99E7}" dt="2020-07-29T16:36:33.145" v="7" actId="20577"/>
        <pc:sldMasterMkLst>
          <pc:docMk/>
          <pc:sldMasterMk cId="2871921020" sldId="2147483648"/>
        </pc:sldMasterMkLst>
        <pc:spChg chg="mod">
          <ac:chgData name="Paula-Yuan Gregory" userId="8839d734-a022-4f7a-aa1a-7ded42ea4e8b" providerId="ADAL" clId="{07E5AA47-199E-4CBF-B21D-5F186A0A99E7}" dt="2020-07-29T16:36:27.074" v="3" actId="20577"/>
          <ac:spMkLst>
            <pc:docMk/>
            <pc:sldMasterMk cId="2871921020" sldId="2147483648"/>
            <ac:spMk id="7" creationId="{21F38BD8-3F75-CE4C-AFEF-0C6B45F77F8C}"/>
          </ac:spMkLst>
        </pc:spChg>
        <pc:sldLayoutChg chg="modSp">
          <pc:chgData name="Paula-Yuan Gregory" userId="8839d734-a022-4f7a-aa1a-7ded42ea4e8b" providerId="ADAL" clId="{07E5AA47-199E-4CBF-B21D-5F186A0A99E7}" dt="2020-07-29T16:36:33.145" v="7" actId="20577"/>
          <pc:sldLayoutMkLst>
            <pc:docMk/>
            <pc:sldMasterMk cId="2871921020" sldId="2147483648"/>
            <pc:sldLayoutMk cId="3047549913" sldId="2147483649"/>
          </pc:sldLayoutMkLst>
          <pc:spChg chg="mod">
            <ac:chgData name="Paula-Yuan Gregory" userId="8839d734-a022-4f7a-aa1a-7ded42ea4e8b" providerId="ADAL" clId="{07E5AA47-199E-4CBF-B21D-5F186A0A99E7}" dt="2020-07-29T16:36:33.145" v="7" actId="20577"/>
            <ac:spMkLst>
              <pc:docMk/>
              <pc:sldMasterMk cId="2871921020" sldId="2147483648"/>
              <pc:sldLayoutMk cId="3047549913" sldId="2147483649"/>
              <ac:spMk id="17" creationId="{BEEECFBC-FB4D-9945-A4FF-28E342055AC3}"/>
            </ac:spMkLst>
          </pc:spChg>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dirty="0">
              <a:latin typeface="Arial" panose="020B0604020202020204" pitchFamily="34" charset="0"/>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EEBDA6D-DC69-4DCE-BAF7-6763517D3376}" type="datetimeFigureOut">
              <a:rPr lang="en-US">
                <a:latin typeface="Arial" panose="020B0604020202020204" pitchFamily="34" charset="0"/>
              </a:rPr>
              <a:t>11/30/2020</a:t>
            </a:fld>
            <a:endParaRPr dirty="0">
              <a:latin typeface="Arial" panose="020B0604020202020204" pitchFamily="34" charset="0"/>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dirty="0">
              <a:latin typeface="Arial" panose="020B0604020202020204" pitchFamily="34" charset="0"/>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2977E94-A6AB-4E02-8E43-E89F9CF4757F}" type="slidenum">
              <a:rPr>
                <a:latin typeface="Arial" panose="020B0604020202020204" pitchFamily="34" charset="0"/>
              </a:rPr>
              <a:t>‹#›</a:t>
            </a:fld>
            <a:endParaRPr dirty="0">
              <a:latin typeface="Arial" panose="020B0604020202020204" pitchFamily="34" charset="0"/>
            </a:endParaRPr>
          </a:p>
        </p:txBody>
      </p:sp>
    </p:spTree>
    <p:extLst>
      <p:ext uri="{BB962C8B-B14F-4D97-AF65-F5344CB8AC3E}">
        <p14:creationId xmlns:p14="http://schemas.microsoft.com/office/powerpoint/2010/main" val="215425838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237F6C43-988E-4257-9A1C-C162EF036D58}" type="datetimeFigureOut">
              <a:rPr lang="en-US" smtClean="0"/>
              <a:pPr/>
              <a:t>11/30/2020</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DED491D0-8E1B-49C7-849B-A28568D94497}" type="slidenum">
              <a:rPr lang="en-US" smtClean="0"/>
              <a:pPr/>
              <a:t>‹#›</a:t>
            </a:fld>
            <a:endParaRPr lang="en-US" dirty="0"/>
          </a:p>
        </p:txBody>
      </p:sp>
    </p:spTree>
    <p:extLst>
      <p:ext uri="{BB962C8B-B14F-4D97-AF65-F5344CB8AC3E}">
        <p14:creationId xmlns:p14="http://schemas.microsoft.com/office/powerpoint/2010/main" val="1726325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8715652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876924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545565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738348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33505604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xmlns="" id="{462DC127-A2C8-5E47-8724-8ABC93AFB900}"/>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xmlns="" id="{40B23848-1F0A-564B-9C2F-A6BA82971B0D}"/>
              </a:ext>
            </a:extLst>
          </p:cNvPr>
          <p:cNvSpPr>
            <a:spLocks noGrp="1" noChangeArrowheads="1"/>
          </p:cNvSpPr>
          <p:nvPr>
            <p:ph type="body" idx="1"/>
          </p:nvPr>
        </p:nvSpPr>
        <p:spPr/>
        <p:txBody>
          <a:bodyPr/>
          <a:lstStyle/>
          <a:p>
            <a:pPr>
              <a:defRPr/>
            </a:pPr>
            <a:endParaRPr lang="en-US" dirty="0">
              <a:ea typeface="ＭＳ Ｐゴシック" charset="0"/>
            </a:endParaRPr>
          </a:p>
        </p:txBody>
      </p:sp>
    </p:spTree>
    <p:extLst>
      <p:ext uri="{BB962C8B-B14F-4D97-AF65-F5344CB8AC3E}">
        <p14:creationId xmlns:p14="http://schemas.microsoft.com/office/powerpoint/2010/main" val="1820305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bwMode="invGray">
      <p:bgPr>
        <a:solidFill>
          <a:srgbClr val="003B74"/>
        </a:solidFill>
        <a:effectLst/>
      </p:bgPr>
    </p:bg>
    <p:spTree>
      <p:nvGrpSpPr>
        <p:cNvPr id="1" name=""/>
        <p:cNvGrpSpPr/>
        <p:nvPr/>
      </p:nvGrpSpPr>
      <p:grpSpPr>
        <a:xfrm>
          <a:off x="0" y="0"/>
          <a:ext cx="0" cy="0"/>
          <a:chOff x="0" y="0"/>
          <a:chExt cx="0" cy="0"/>
        </a:xfrm>
      </p:grpSpPr>
      <p:sp>
        <p:nvSpPr>
          <p:cNvPr id="9" name="Rectangle 8"/>
          <p:cNvSpPr/>
          <p:nvPr/>
        </p:nvSpPr>
        <p:spPr>
          <a:xfrm>
            <a:off x="0" y="1851660"/>
            <a:ext cx="12192000" cy="3771900"/>
          </a:xfrm>
          <a:prstGeom prst="rect">
            <a:avLst/>
          </a:prstGeom>
          <a:solidFill>
            <a:schemeClr val="bg2">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10" name="Rectangle 9"/>
          <p:cNvSpPr/>
          <p:nvPr/>
        </p:nvSpPr>
        <p:spPr>
          <a:xfrm>
            <a:off x="-1" y="701802"/>
            <a:ext cx="12192001" cy="10332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1"/>
          <p:cNvSpPr>
            <a:spLocks noGrp="1"/>
          </p:cNvSpPr>
          <p:nvPr>
            <p:ph type="ctrTitle" hasCustomPrompt="1"/>
          </p:nvPr>
        </p:nvSpPr>
        <p:spPr bwMode="black">
          <a:xfrm>
            <a:off x="882217" y="2200275"/>
            <a:ext cx="6421553" cy="3074670"/>
          </a:xfrm>
          <a:noFill/>
        </p:spPr>
        <p:txBody>
          <a:bodyPr lIns="0" tIns="0" rIns="0" bIns="0" anchor="ctr" anchorCtr="0">
            <a:normAutofit/>
          </a:bodyPr>
          <a:lstStyle>
            <a:lvl1pPr algn="l">
              <a:lnSpc>
                <a:spcPct val="90000"/>
              </a:lnSpc>
              <a:defRPr sz="6000" b="1">
                <a:solidFill>
                  <a:schemeClr val="tx1"/>
                </a:solidFill>
              </a:defRPr>
            </a:lvl1pPr>
          </a:lstStyle>
          <a:p>
            <a:r>
              <a:rPr lang="en-US" dirty="0"/>
              <a:t>Chapter Title</a:t>
            </a:r>
            <a:endParaRPr dirty="0"/>
          </a:p>
        </p:txBody>
      </p:sp>
      <p:sp>
        <p:nvSpPr>
          <p:cNvPr id="3" name="Subtitle 2"/>
          <p:cNvSpPr>
            <a:spLocks noGrp="1"/>
          </p:cNvSpPr>
          <p:nvPr>
            <p:ph type="subTitle" idx="1" hasCustomPrompt="1"/>
          </p:nvPr>
        </p:nvSpPr>
        <p:spPr>
          <a:xfrm>
            <a:off x="882217" y="845820"/>
            <a:ext cx="6524423" cy="777639"/>
          </a:xfrm>
        </p:spPr>
        <p:txBody>
          <a:bodyPr lIns="0" tIns="0" rIns="0" bIns="0" anchor="ctr" anchorCtr="0">
            <a:normAutofit/>
          </a:bodyPr>
          <a:lstStyle>
            <a:lvl1pPr marL="0" indent="0" algn="l">
              <a:spcBef>
                <a:spcPts val="0"/>
              </a:spcBef>
              <a:buNone/>
              <a:defRPr sz="3200" b="1">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CHAPTER 1</a:t>
            </a:r>
            <a:endParaRPr dirty="0"/>
          </a:p>
        </p:txBody>
      </p:sp>
      <p:sp>
        <p:nvSpPr>
          <p:cNvPr id="7" name="Picture Placeholder 6">
            <a:extLst>
              <a:ext uri="{FF2B5EF4-FFF2-40B4-BE49-F238E27FC236}">
                <a16:creationId xmlns:a16="http://schemas.microsoft.com/office/drawing/2014/main" xmlns="" id="{EC9CFE91-0E8B-934B-8D25-5CBB7FD65D50}"/>
              </a:ext>
            </a:extLst>
          </p:cNvPr>
          <p:cNvSpPr>
            <a:spLocks noGrp="1"/>
          </p:cNvSpPr>
          <p:nvPr>
            <p:ph type="pic" sz="quarter" idx="10"/>
          </p:nvPr>
        </p:nvSpPr>
        <p:spPr>
          <a:xfrm>
            <a:off x="8100060" y="388500"/>
            <a:ext cx="3604981" cy="6081000"/>
          </a:xfrm>
        </p:spPr>
        <p:txBody>
          <a:bodyPr/>
          <a:lstStyle/>
          <a:p>
            <a:r>
              <a:rPr lang="en-US"/>
              <a:t>Click icon to add picture</a:t>
            </a:r>
          </a:p>
        </p:txBody>
      </p:sp>
      <p:sp>
        <p:nvSpPr>
          <p:cNvPr id="17" name="Rectangle 16">
            <a:extLst>
              <a:ext uri="{FF2B5EF4-FFF2-40B4-BE49-F238E27FC236}">
                <a16:creationId xmlns:a16="http://schemas.microsoft.com/office/drawing/2014/main" xmlns="" id="{BEEECFBC-FB4D-9945-A4FF-28E342055AC3}"/>
              </a:ext>
            </a:extLst>
          </p:cNvPr>
          <p:cNvSpPr/>
          <p:nvPr userDrawn="1"/>
        </p:nvSpPr>
        <p:spPr>
          <a:xfrm>
            <a:off x="0" y="6503670"/>
            <a:ext cx="12192000" cy="215444"/>
          </a:xfrm>
          <a:prstGeom prst="rect">
            <a:avLst/>
          </a:prstGeom>
        </p:spPr>
        <p:txBody>
          <a:bodyPr wrap="square">
            <a:spAutoFit/>
          </a:bodyPr>
          <a:lstStyle/>
          <a:p>
            <a:pPr algn="ctr"/>
            <a:r>
              <a:rPr lang="en-US" sz="800" dirty="0">
                <a:solidFill>
                  <a:schemeClr val="bg2"/>
                </a:solidFill>
                <a:latin typeface="Arial" panose="020B0604020202020204" pitchFamily="34" charset="0"/>
                <a:cs typeface="Arial" panose="020B0604020202020204" pitchFamily="34" charset="0"/>
              </a:rPr>
              <a:t>Copyright </a:t>
            </a:r>
            <a:r>
              <a:rPr lang="en-US" sz="800">
                <a:solidFill>
                  <a:schemeClr val="bg2"/>
                </a:solidFill>
                <a:latin typeface="Arial" panose="020B0604020202020204" pitchFamily="34" charset="0"/>
                <a:cs typeface="Arial" panose="020B0604020202020204" pitchFamily="34" charset="0"/>
              </a:rPr>
              <a:t>© 2022 </a:t>
            </a:r>
            <a:r>
              <a:rPr lang="en-US" sz="800" dirty="0">
                <a:solidFill>
                  <a:schemeClr val="bg2"/>
                </a:solidFill>
                <a:latin typeface="Arial" panose="020B0604020202020204" pitchFamily="34" charset="0"/>
                <a:cs typeface="Arial" panose="020B0604020202020204" pitchFamily="34" charset="0"/>
              </a:rPr>
              <a:t>by Jones &amp; Bartlett Learning, LLC an Ascend Learning Company. </a:t>
            </a:r>
            <a:r>
              <a:rPr lang="en-US" sz="800" dirty="0" err="1">
                <a:solidFill>
                  <a:schemeClr val="bg2"/>
                </a:solidFill>
                <a:latin typeface="Arial" panose="020B0604020202020204" pitchFamily="34" charset="0"/>
                <a:cs typeface="Arial" panose="020B0604020202020204" pitchFamily="34" charset="0"/>
              </a:rPr>
              <a:t>www.jblearning.com</a:t>
            </a:r>
            <a:r>
              <a:rPr lang="en-US" sz="800" dirty="0">
                <a:solidFill>
                  <a:schemeClr val="bg2"/>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30475499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Blank">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xmlns="" id="{41E3BDFD-7FA5-2143-88E5-0CEE0A6011AD}"/>
              </a:ext>
            </a:extLst>
          </p:cNvPr>
          <p:cNvSpPr/>
          <p:nvPr userDrawn="1"/>
        </p:nvSpPr>
        <p:spPr>
          <a:xfrm>
            <a:off x="0" y="6503670"/>
            <a:ext cx="12192000" cy="215444"/>
          </a:xfrm>
          <a:prstGeom prst="rect">
            <a:avLst/>
          </a:prstGeom>
        </p:spPr>
        <p:txBody>
          <a:bodyPr wrap="square">
            <a:spAutoFit/>
          </a:bodyPr>
          <a:lstStyle/>
          <a:p>
            <a:pPr algn="ctr"/>
            <a:r>
              <a:rPr lang="en-US" sz="800" dirty="0">
                <a:latin typeface="Arial" panose="020B0604020202020204" pitchFamily="34" charset="0"/>
                <a:cs typeface="Arial" panose="020B0604020202020204" pitchFamily="34" charset="0"/>
              </a:rPr>
              <a:t>Copyright © 2020 by Jones &amp; Bartlett Learning, LLC an Ascend Learning Company. www.jblearning.com. Background texture © </a:t>
            </a:r>
            <a:r>
              <a:rPr lang="en-US" sz="800" dirty="0" err="1">
                <a:latin typeface="Arial" panose="020B0604020202020204" pitchFamily="34" charset="0"/>
                <a:cs typeface="Arial" panose="020B0604020202020204" pitchFamily="34" charset="0"/>
              </a:rPr>
              <a:t>Bunphot</a:t>
            </a:r>
            <a:r>
              <a:rPr lang="en-US" sz="800" dirty="0">
                <a:latin typeface="Arial" panose="020B0604020202020204" pitchFamily="34" charset="0"/>
                <a:cs typeface="Arial" panose="020B0604020202020204" pitchFamily="34" charset="0"/>
              </a:rPr>
              <a:t>/Getty Images.</a:t>
            </a:r>
          </a:p>
        </p:txBody>
      </p:sp>
      <p:sp>
        <p:nvSpPr>
          <p:cNvPr id="6" name="Rectangle 5">
            <a:extLst>
              <a:ext uri="{FF2B5EF4-FFF2-40B4-BE49-F238E27FC236}">
                <a16:creationId xmlns:a16="http://schemas.microsoft.com/office/drawing/2014/main" xmlns="" id="{A4FD052D-18CE-1249-A891-AB3E165F4441}"/>
              </a:ext>
            </a:extLst>
          </p:cNvPr>
          <p:cNvSpPr/>
          <p:nvPr userDrawn="1"/>
        </p:nvSpPr>
        <p:spPr>
          <a:xfrm>
            <a:off x="0" y="2274570"/>
            <a:ext cx="12192000" cy="1760220"/>
          </a:xfrm>
          <a:prstGeom prst="rect">
            <a:avLst/>
          </a:prstGeom>
          <a:solidFill>
            <a:srgbClr val="003B7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xmlns="" id="{8C0E0F34-F7A9-8D4B-9F49-A76F8B00661D}"/>
              </a:ext>
            </a:extLst>
          </p:cNvPr>
          <p:cNvSpPr>
            <a:spLocks noGrp="1"/>
          </p:cNvSpPr>
          <p:nvPr>
            <p:ph type="body" sz="quarter" idx="10" hasCustomPrompt="1"/>
          </p:nvPr>
        </p:nvSpPr>
        <p:spPr>
          <a:xfrm>
            <a:off x="935038" y="2571750"/>
            <a:ext cx="10321925" cy="1165225"/>
          </a:xfrm>
        </p:spPr>
        <p:txBody>
          <a:bodyPr anchor="ctr" anchorCtr="0"/>
          <a:lstStyle>
            <a:lvl1pPr marL="0" indent="0" algn="ctr">
              <a:buNone/>
              <a:defRPr sz="4800" b="1">
                <a:solidFill>
                  <a:srgbClr val="FFFFFF"/>
                </a:solidFill>
              </a:defRPr>
            </a:lvl1pPr>
          </a:lstStyle>
          <a:p>
            <a:pPr lvl="0"/>
            <a:r>
              <a:rPr lang="en-US" dirty="0"/>
              <a:t>Divider</a:t>
            </a:r>
          </a:p>
        </p:txBody>
      </p:sp>
    </p:spTree>
    <p:extLst>
      <p:ext uri="{BB962C8B-B14F-4D97-AF65-F5344CB8AC3E}">
        <p14:creationId xmlns:p14="http://schemas.microsoft.com/office/powerpoint/2010/main" val="1830296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idx="1"/>
          </p:nvPr>
        </p:nvSpPr>
        <p:spPr>
          <a:xfrm>
            <a:off x="925830" y="1490870"/>
            <a:ext cx="10287000" cy="4699047"/>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5413334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
        <p:nvSpPr>
          <p:cNvPr id="3" name="Content Placeholder 2"/>
          <p:cNvSpPr>
            <a:spLocks noGrp="1"/>
          </p:cNvSpPr>
          <p:nvPr>
            <p:ph sz="half" idx="1"/>
          </p:nvPr>
        </p:nvSpPr>
        <p:spPr>
          <a:xfrm>
            <a:off x="914400" y="1461052"/>
            <a:ext cx="4855464"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6415368" y="1461052"/>
            <a:ext cx="4862232" cy="472943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3201040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Text Placeholder 2"/>
          <p:cNvSpPr>
            <a:spLocks noGrp="1"/>
          </p:cNvSpPr>
          <p:nvPr>
            <p:ph type="body" idx="1"/>
          </p:nvPr>
        </p:nvSpPr>
        <p:spPr>
          <a:xfrm>
            <a:off x="777240" y="1496187"/>
            <a:ext cx="4992624" cy="470916"/>
          </a:xfrm>
        </p:spPr>
        <p:txBody>
          <a:bodyPr anchor="t" anchorCtr="0"/>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77240" y="2077278"/>
            <a:ext cx="4992624" cy="439083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Picture Placeholder 10">
            <a:extLst>
              <a:ext uri="{FF2B5EF4-FFF2-40B4-BE49-F238E27FC236}">
                <a16:creationId xmlns:a16="http://schemas.microsoft.com/office/drawing/2014/main" xmlns="" id="{A3169499-437D-8F4D-94AA-E2299357328F}"/>
              </a:ext>
            </a:extLst>
          </p:cNvPr>
          <p:cNvSpPr>
            <a:spLocks noGrp="1"/>
          </p:cNvSpPr>
          <p:nvPr>
            <p:ph type="pic" sz="quarter" idx="10"/>
          </p:nvPr>
        </p:nvSpPr>
        <p:spPr>
          <a:xfrm>
            <a:off x="6096000" y="1496186"/>
            <a:ext cx="5208588" cy="4556743"/>
          </a:xfrm>
        </p:spPr>
        <p:txBody>
          <a:bodyPr/>
          <a:lstStyle/>
          <a:p>
            <a:r>
              <a:rPr lang="en-US"/>
              <a:t>Click icon to add picture</a:t>
            </a:r>
          </a:p>
        </p:txBody>
      </p:sp>
      <p:sp>
        <p:nvSpPr>
          <p:cNvPr id="12" name="Text Placeholder 8">
            <a:extLst>
              <a:ext uri="{FF2B5EF4-FFF2-40B4-BE49-F238E27FC236}">
                <a16:creationId xmlns:a16="http://schemas.microsoft.com/office/drawing/2014/main" xmlns="" id="{B116746D-2971-C346-AB96-03BED323E049}"/>
              </a:ext>
            </a:extLst>
          </p:cNvPr>
          <p:cNvSpPr>
            <a:spLocks noGrp="1"/>
          </p:cNvSpPr>
          <p:nvPr>
            <p:ph type="body" sz="quarter" idx="11" hasCustomPrompt="1"/>
          </p:nvPr>
        </p:nvSpPr>
        <p:spPr>
          <a:xfrm>
            <a:off x="6096000" y="6142515"/>
            <a:ext cx="5208588" cy="651192"/>
          </a:xfrm>
        </p:spPr>
        <p:txBody>
          <a:bodyPr/>
          <a:lstStyle>
            <a:lvl1pPr marL="0" indent="0">
              <a:buNone/>
              <a:defRPr sz="1000"/>
            </a:lvl1pPr>
          </a:lstStyle>
          <a:p>
            <a:pPr lvl="0"/>
            <a:r>
              <a:rPr lang="en-US" dirty="0"/>
              <a:t>Credit line FPO</a:t>
            </a:r>
          </a:p>
        </p:txBody>
      </p:sp>
    </p:spTree>
    <p:extLst>
      <p:ext uri="{BB962C8B-B14F-4D97-AF65-F5344CB8AC3E}">
        <p14:creationId xmlns:p14="http://schemas.microsoft.com/office/powerpoint/2010/main" val="4261286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dirty="0"/>
          </a:p>
        </p:txBody>
      </p:sp>
    </p:spTree>
    <p:extLst>
      <p:ext uri="{BB962C8B-B14F-4D97-AF65-F5344CB8AC3E}">
        <p14:creationId xmlns:p14="http://schemas.microsoft.com/office/powerpoint/2010/main" val="2641611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4" name="Text Placeholder 2"/>
          <p:cNvSpPr>
            <a:spLocks noGrp="1"/>
          </p:cNvSpPr>
          <p:nvPr>
            <p:ph type="body" sz="half" idx="2"/>
          </p:nvPr>
        </p:nvSpPr>
        <p:spPr>
          <a:xfrm>
            <a:off x="880110" y="1510748"/>
            <a:ext cx="4246582" cy="4404625"/>
          </a:xfrm>
        </p:spPr>
        <p:txBody>
          <a:bodyPr>
            <a:normAutofit/>
          </a:bodyPr>
          <a:lstStyle>
            <a:lvl1pPr marL="0" indent="0">
              <a:spcBef>
                <a:spcPts val="1500"/>
              </a:spcBef>
              <a:buNone/>
              <a:defRPr sz="2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ext Placeholder 8">
            <a:extLst>
              <a:ext uri="{FF2B5EF4-FFF2-40B4-BE49-F238E27FC236}">
                <a16:creationId xmlns:a16="http://schemas.microsoft.com/office/drawing/2014/main" xmlns="" id="{752B3F09-47B3-324C-BCD8-DE2A52443CC0}"/>
              </a:ext>
            </a:extLst>
          </p:cNvPr>
          <p:cNvSpPr>
            <a:spLocks noGrp="1"/>
          </p:cNvSpPr>
          <p:nvPr>
            <p:ph type="body" sz="quarter" idx="10" hasCustomPrompt="1"/>
          </p:nvPr>
        </p:nvSpPr>
        <p:spPr>
          <a:xfrm>
            <a:off x="5518150" y="6046788"/>
            <a:ext cx="5792992" cy="651192"/>
          </a:xfrm>
        </p:spPr>
        <p:txBody>
          <a:bodyPr/>
          <a:lstStyle>
            <a:lvl1pPr marL="0" indent="0">
              <a:buNone/>
              <a:defRPr sz="1000"/>
            </a:lvl1pPr>
          </a:lstStyle>
          <a:p>
            <a:pPr lvl="0"/>
            <a:r>
              <a:rPr lang="en-US" dirty="0"/>
              <a:t>Credit line FPO</a:t>
            </a:r>
          </a:p>
        </p:txBody>
      </p:sp>
      <p:sp>
        <p:nvSpPr>
          <p:cNvPr id="11" name="Picture Placeholder 10">
            <a:extLst>
              <a:ext uri="{FF2B5EF4-FFF2-40B4-BE49-F238E27FC236}">
                <a16:creationId xmlns:a16="http://schemas.microsoft.com/office/drawing/2014/main" xmlns="" id="{8A3226D5-00A8-E049-8469-4BFBE39DD467}"/>
              </a:ext>
            </a:extLst>
          </p:cNvPr>
          <p:cNvSpPr>
            <a:spLocks noGrp="1"/>
          </p:cNvSpPr>
          <p:nvPr>
            <p:ph type="pic" sz="quarter" idx="11"/>
          </p:nvPr>
        </p:nvSpPr>
        <p:spPr>
          <a:xfrm>
            <a:off x="5518150" y="1508815"/>
            <a:ext cx="5792788" cy="4404624"/>
          </a:xfrm>
        </p:spPr>
        <p:txBody>
          <a:bodyPr/>
          <a:lstStyle/>
          <a:p>
            <a:r>
              <a:rPr lang="en-US"/>
              <a:t>Click icon to add picture</a:t>
            </a:r>
          </a:p>
        </p:txBody>
      </p:sp>
    </p:spTree>
    <p:extLst>
      <p:ext uri="{BB962C8B-B14F-4D97-AF65-F5344CB8AC3E}">
        <p14:creationId xmlns:p14="http://schemas.microsoft.com/office/powerpoint/2010/main" val="311474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lvl1pPr>
              <a:defRPr sz="3000"/>
            </a:lvl1pPr>
          </a:lstStyle>
          <a:p>
            <a:r>
              <a:rPr lang="en-US"/>
              <a:t>Click to edit Master title style</a:t>
            </a:r>
            <a:endParaRPr/>
          </a:p>
        </p:txBody>
      </p:sp>
      <p:sp>
        <p:nvSpPr>
          <p:cNvPr id="3" name="Content Placeholder 3"/>
          <p:cNvSpPr>
            <a:spLocks noGrp="1"/>
          </p:cNvSpPr>
          <p:nvPr>
            <p:ph idx="1" hasCustomPrompt="1"/>
          </p:nvPr>
        </p:nvSpPr>
        <p:spPr>
          <a:xfrm>
            <a:off x="921496" y="1461052"/>
            <a:ext cx="3181874" cy="4895328"/>
          </a:xfrm>
        </p:spPr>
        <p:txBody>
          <a:bodyPr>
            <a:normAutofit/>
          </a:bodyPr>
          <a:lstStyle>
            <a:lvl1pPr marL="0" indent="0">
              <a:buNone/>
              <a:defRPr sz="2200"/>
            </a:lvl1pPr>
            <a:lvl2pPr marL="457200" indent="0">
              <a:buNone/>
              <a:defRPr sz="2000"/>
            </a:lvl2pPr>
            <a:lvl3pPr marL="914400" indent="0">
              <a:buNone/>
              <a:defRPr sz="1800"/>
            </a:lvl3pPr>
            <a:lvl4pPr marL="1371600" indent="0">
              <a:buNone/>
              <a:defRPr sz="1600"/>
            </a:lvl4pPr>
            <a:lvl5pPr marL="1828800" indent="0">
              <a:buNone/>
              <a:defRPr sz="1600"/>
            </a:lvl5pPr>
            <a:lvl6pPr>
              <a:defRPr sz="1600"/>
            </a:lvl6pPr>
            <a:lvl7pPr>
              <a:defRPr sz="1600"/>
            </a:lvl7pPr>
            <a:lvl8pPr>
              <a:defRPr sz="1600"/>
            </a:lvl8pPr>
            <a:lvl9pPr>
              <a:defRPr sz="1600"/>
            </a:lvl9pPr>
          </a:lstStyle>
          <a:p>
            <a:pPr lvl="0"/>
            <a:r>
              <a:rPr lang="en-US" dirty="0"/>
              <a:t>Sample text</a:t>
            </a:r>
            <a:endParaRPr dirty="0"/>
          </a:p>
        </p:txBody>
      </p:sp>
      <p:sp>
        <p:nvSpPr>
          <p:cNvPr id="7" name="Content Placeholder 3">
            <a:extLst>
              <a:ext uri="{FF2B5EF4-FFF2-40B4-BE49-F238E27FC236}">
                <a16:creationId xmlns:a16="http://schemas.microsoft.com/office/drawing/2014/main" xmlns="" id="{40A1ED7B-82D7-5A47-A193-C7C24693D3C4}"/>
              </a:ext>
            </a:extLst>
          </p:cNvPr>
          <p:cNvSpPr>
            <a:spLocks noGrp="1"/>
          </p:cNvSpPr>
          <p:nvPr>
            <p:ph idx="10" hasCustomPrompt="1"/>
          </p:nvPr>
        </p:nvSpPr>
        <p:spPr>
          <a:xfrm>
            <a:off x="448765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
        <p:nvSpPr>
          <p:cNvPr id="8" name="Content Placeholder 3">
            <a:extLst>
              <a:ext uri="{FF2B5EF4-FFF2-40B4-BE49-F238E27FC236}">
                <a16:creationId xmlns:a16="http://schemas.microsoft.com/office/drawing/2014/main" xmlns="" id="{43872FE9-5E92-4F44-8A71-024A081C439C}"/>
              </a:ext>
            </a:extLst>
          </p:cNvPr>
          <p:cNvSpPr>
            <a:spLocks noGrp="1"/>
          </p:cNvSpPr>
          <p:nvPr>
            <p:ph idx="11" hasCustomPrompt="1"/>
          </p:nvPr>
        </p:nvSpPr>
        <p:spPr>
          <a:xfrm>
            <a:off x="8053816" y="1461052"/>
            <a:ext cx="3181874" cy="4895328"/>
          </a:xfrm>
        </p:spPr>
        <p:txBody>
          <a:bodyPr>
            <a:normAutofit/>
          </a:bodyPr>
          <a:lstStyle>
            <a:lvl1pPr marL="0" indent="0">
              <a:buNone/>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Sample text</a:t>
            </a:r>
          </a:p>
        </p:txBody>
      </p:sp>
    </p:spTree>
    <p:extLst>
      <p:ext uri="{BB962C8B-B14F-4D97-AF65-F5344CB8AC3E}">
        <p14:creationId xmlns:p14="http://schemas.microsoft.com/office/powerpoint/2010/main" val="31116968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p:cNvSpPr/>
          <p:nvPr/>
        </p:nvSpPr>
        <p:spPr>
          <a:xfrm>
            <a:off x="0" y="0"/>
            <a:ext cx="12188952" cy="118872"/>
          </a:xfrm>
          <a:prstGeom prst="rect">
            <a:avLst/>
          </a:prstGeom>
          <a:solidFill>
            <a:srgbClr val="FFC42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b="0" i="0" dirty="0">
              <a:latin typeface="Arial" panose="020B0604020202020204" pitchFamily="34" charset="0"/>
            </a:endParaRPr>
          </a:p>
        </p:txBody>
      </p:sp>
      <p:sp>
        <p:nvSpPr>
          <p:cNvPr id="2" name="Title Placeholder 1"/>
          <p:cNvSpPr>
            <a:spLocks noGrp="1"/>
          </p:cNvSpPr>
          <p:nvPr>
            <p:ph type="title"/>
          </p:nvPr>
        </p:nvSpPr>
        <p:spPr bwMode="black">
          <a:xfrm>
            <a:off x="0" y="121033"/>
            <a:ext cx="12192000" cy="1002089"/>
          </a:xfrm>
          <a:prstGeom prst="rect">
            <a:avLst/>
          </a:prstGeom>
          <a:solidFill>
            <a:srgbClr val="003B74"/>
          </a:solidFill>
        </p:spPr>
        <p:txBody>
          <a:bodyPr vert="horz" lIns="914400" tIns="45720" rIns="914400" bIns="45720" rtlCol="0" anchor="ctr">
            <a:normAutofit/>
          </a:bodyPr>
          <a:lstStyle/>
          <a:p>
            <a:r>
              <a:rPr lang="en-US"/>
              <a:t>Click to edit Master title style</a:t>
            </a:r>
            <a:endParaRPr dirty="0"/>
          </a:p>
        </p:txBody>
      </p:sp>
      <p:sp>
        <p:nvSpPr>
          <p:cNvPr id="3" name="Text Placeholder 2"/>
          <p:cNvSpPr>
            <a:spLocks noGrp="1"/>
          </p:cNvSpPr>
          <p:nvPr>
            <p:ph type="body" idx="1"/>
          </p:nvPr>
        </p:nvSpPr>
        <p:spPr>
          <a:xfrm>
            <a:off x="891540" y="2203704"/>
            <a:ext cx="10435590" cy="3986213"/>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Rectangle 6">
            <a:extLst>
              <a:ext uri="{FF2B5EF4-FFF2-40B4-BE49-F238E27FC236}">
                <a16:creationId xmlns:a16="http://schemas.microsoft.com/office/drawing/2014/main" xmlns="" id="{21F38BD8-3F75-CE4C-AFEF-0C6B45F77F8C}"/>
              </a:ext>
            </a:extLst>
          </p:cNvPr>
          <p:cNvSpPr/>
          <p:nvPr userDrawn="1"/>
        </p:nvSpPr>
        <p:spPr>
          <a:xfrm rot="5400000">
            <a:off x="9544258" y="4245031"/>
            <a:ext cx="5010495" cy="215444"/>
          </a:xfrm>
          <a:prstGeom prst="rect">
            <a:avLst/>
          </a:prstGeom>
        </p:spPr>
        <p:txBody>
          <a:bodyPr wrap="square">
            <a:spAutoFit/>
          </a:bodyPr>
          <a:lstStyle/>
          <a:p>
            <a:r>
              <a:rPr lang="en-US" sz="800" dirty="0">
                <a:latin typeface="Arial" panose="020B0604020202020204" pitchFamily="34" charset="0"/>
                <a:cs typeface="Arial" panose="020B0604020202020204" pitchFamily="34" charset="0"/>
              </a:rPr>
              <a:t>Copyright © 2022 by Jones &amp; Bartlett Learning, LLC an Ascend Learning Company. </a:t>
            </a:r>
            <a:r>
              <a:rPr lang="en-US" sz="800" dirty="0" err="1">
                <a:latin typeface="Arial" panose="020B0604020202020204" pitchFamily="34" charset="0"/>
                <a:cs typeface="Arial" panose="020B0604020202020204" pitchFamily="34" charset="0"/>
              </a:rPr>
              <a:t>www.jblearning.com</a:t>
            </a:r>
            <a:endParaRPr lang="en-US" sz="8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71921020"/>
      </p:ext>
    </p:extLst>
  </p:cSld>
  <p:clrMap bg1="lt1" tx1="dk1" bg2="lt2" tx2="dk2" accent1="accent1" accent2="accent2" accent3="accent3" accent4="accent4" accent5="accent5" accent6="accent6" hlink="hlink" folHlink="folHlink"/>
  <p:sldLayoutIdLst>
    <p:sldLayoutId id="2147483649" r:id="rId1"/>
    <p:sldLayoutId id="2147483655" r:id="rId2"/>
    <p:sldLayoutId id="2147483650" r:id="rId3"/>
    <p:sldLayoutId id="2147483652" r:id="rId4"/>
    <p:sldLayoutId id="2147483653" r:id="rId5"/>
    <p:sldLayoutId id="2147483654" r:id="rId6"/>
    <p:sldLayoutId id="2147483656" r:id="rId7"/>
    <p:sldLayoutId id="2147483657" r:id="rId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5000"/>
        </a:lnSpc>
        <a:spcBef>
          <a:spcPct val="0"/>
        </a:spcBef>
        <a:buNone/>
        <a:defRPr sz="3000" b="1" kern="1200">
          <a:solidFill>
            <a:schemeClr val="bg2"/>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100000"/>
        </a:lnSpc>
        <a:spcBef>
          <a:spcPts val="1500"/>
        </a:spcBef>
        <a:buFont typeface="Wingdings" panose="05000000000000000000" pitchFamily="2" charset="2"/>
        <a:buChar char="§"/>
        <a:defRPr sz="22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100000"/>
        </a:lnSpc>
        <a:spcBef>
          <a:spcPts val="300"/>
        </a:spcBef>
        <a:buFont typeface="Wingdings" panose="05000000000000000000" pitchFamily="2" charset="2"/>
        <a:buChar char="§"/>
        <a:defRPr sz="20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100000"/>
        </a:lnSpc>
        <a:spcBef>
          <a:spcPts val="300"/>
        </a:spcBef>
        <a:buFont typeface="Wingdings" panose="05000000000000000000" pitchFamily="2" charset="2"/>
        <a:buChar char="§"/>
        <a:defRPr sz="18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6pPr>
      <a:lvl7pPr marL="29718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7pPr>
      <a:lvl8pPr marL="34290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8pPr>
      <a:lvl9pPr marL="3886200" indent="-228600" algn="l" defTabSz="914400" rtl="0" eaLnBrk="1" latinLnBrk="0" hangingPunct="1">
        <a:lnSpc>
          <a:spcPct val="100000"/>
        </a:lnSpc>
        <a:spcBef>
          <a:spcPts val="0"/>
        </a:spcBef>
        <a:buFont typeface="Wingdings" panose="05000000000000000000" pitchFamily="2" charset="2"/>
        <a:buChar char="§"/>
        <a:defRPr sz="16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4.jpeg"/></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8.jpeg"/></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10.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1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Subtitle 14">
            <a:extLst>
              <a:ext uri="{FF2B5EF4-FFF2-40B4-BE49-F238E27FC236}">
                <a16:creationId xmlns="" xmlns:a16="http://schemas.microsoft.com/office/drawing/2014/main" id="{CF4F1586-DE6A-1A40-AEF4-23ADA41937E4}"/>
              </a:ext>
            </a:extLst>
          </p:cNvPr>
          <p:cNvSpPr>
            <a:spLocks noGrp="1"/>
          </p:cNvSpPr>
          <p:nvPr>
            <p:ph type="subTitle" idx="1"/>
          </p:nvPr>
        </p:nvSpPr>
        <p:spPr/>
        <p:txBody>
          <a:bodyPr/>
          <a:lstStyle/>
          <a:p>
            <a:r>
              <a:rPr lang="en-US" dirty="0"/>
              <a:t>CHAPTER 9</a:t>
            </a:r>
          </a:p>
        </p:txBody>
      </p:sp>
      <p:sp>
        <p:nvSpPr>
          <p:cNvPr id="19" name="Title 18">
            <a:extLst>
              <a:ext uri="{FF2B5EF4-FFF2-40B4-BE49-F238E27FC236}">
                <a16:creationId xmlns="" xmlns:a16="http://schemas.microsoft.com/office/drawing/2014/main" id="{A58A35F8-EA88-094E-8EAD-88FE6A07C447}"/>
              </a:ext>
            </a:extLst>
          </p:cNvPr>
          <p:cNvSpPr>
            <a:spLocks noGrp="1"/>
          </p:cNvSpPr>
          <p:nvPr>
            <p:ph type="ctrTitle"/>
          </p:nvPr>
        </p:nvSpPr>
        <p:spPr/>
        <p:txBody>
          <a:bodyPr/>
          <a:lstStyle/>
          <a:p>
            <a:r>
              <a:rPr lang="en-US" dirty="0"/>
              <a:t>Patient Assessment</a:t>
            </a:r>
          </a:p>
        </p:txBody>
      </p:sp>
      <p:pic>
        <p:nvPicPr>
          <p:cNvPr id="6" name="Picture 5" descr="A cover page shows the logo of A A O S on the left end with the text American Academy of Orthopaedic Surgeons below it. The book title reads, Seventh Edition, Emergency Medical Responder, Your First Response in Emergency Care, authored by David Schottke; Series Editor: Andrew N. Pollak, MD, FAAOS . At the bottom is the logo of Navigate eBook.">
            <a:extLst>
              <a:ext uri="{FF2B5EF4-FFF2-40B4-BE49-F238E27FC236}">
                <a16:creationId xmlns="" xmlns:a16="http://schemas.microsoft.com/office/drawing/2014/main" id="{A8280651-A45A-1342-9DDA-D8CFB0746F8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573715" y="0"/>
            <a:ext cx="5618285" cy="6858000"/>
          </a:xfrm>
          <a:prstGeom prst="rect">
            <a:avLst/>
          </a:prstGeom>
        </p:spPr>
      </p:pic>
    </p:spTree>
    <p:extLst>
      <p:ext uri="{BB962C8B-B14F-4D97-AF65-F5344CB8AC3E}">
        <p14:creationId xmlns:p14="http://schemas.microsoft.com/office/powerpoint/2010/main" val="2069641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(1-6)</a:t>
            </a:r>
            <a:endParaRPr lang="en-US" sz="2800" b="0" dirty="0"/>
          </a:p>
        </p:txBody>
      </p:sp>
      <p:sp>
        <p:nvSpPr>
          <p:cNvPr id="11" name="Rectangle 10"/>
          <p:cNvSpPr/>
          <p:nvPr/>
        </p:nvSpPr>
        <p:spPr>
          <a:xfrm>
            <a:off x="711200" y="4251112"/>
            <a:ext cx="5168900" cy="2292935"/>
          </a:xfrm>
          <a:prstGeom prst="rect">
            <a:avLst/>
          </a:prstGeom>
        </p:spPr>
        <p:txBody>
          <a:bodyPr wrap="square">
            <a:spAutoFit/>
          </a:bodyPr>
          <a:lstStyle/>
          <a:p>
            <a:r>
              <a:rPr lang="en-US" sz="1300" b="1" dirty="0" smtClean="0"/>
              <a:t>Step 1 Assess </a:t>
            </a:r>
            <a:r>
              <a:rPr lang="en-US" sz="1300" b="1" dirty="0"/>
              <a:t>the head.</a:t>
            </a:r>
            <a:r>
              <a:rPr lang="en-US" sz="1300" dirty="0"/>
              <a:t> Use both hands to thoroughly examine all areas of the scalp. Do not move the patient’s head! This precaution is especially important if the patient is unconscious or has sustained a spinal injury. Injuries to the head tend to bleed excessively. Be sure to find the actual wound; do not be fooled by areas of matted, bloody hair. If necessary, remove the patient’s eyeglasses and put them in a safe place. Many patients who need eyeglasses become upset if their eyeglasses are taken away. Use your judgment in each case. Be considerate of the patient. If the patient is wearing a wig, it may be necessary to remove the hairpiece to complete the head examination. Be sure to check the entire head for bumps, areas of tenderness, and bleeding.</a:t>
            </a:r>
          </a:p>
        </p:txBody>
      </p:sp>
      <p:sp>
        <p:nvSpPr>
          <p:cNvPr id="12" name="Rectangle 11"/>
          <p:cNvSpPr/>
          <p:nvPr/>
        </p:nvSpPr>
        <p:spPr>
          <a:xfrm>
            <a:off x="687492" y="650240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134100" y="4251112"/>
            <a:ext cx="5334000" cy="1492716"/>
          </a:xfrm>
          <a:prstGeom prst="rect">
            <a:avLst/>
          </a:prstGeom>
        </p:spPr>
        <p:txBody>
          <a:bodyPr wrap="square">
            <a:spAutoFit/>
          </a:bodyPr>
          <a:lstStyle/>
          <a:p>
            <a:r>
              <a:rPr lang="en-US" sz="1300" b="1" dirty="0" smtClean="0"/>
              <a:t>Step 2 Assess </a:t>
            </a:r>
            <a:r>
              <a:rPr lang="en-US" sz="1300" b="1" dirty="0"/>
              <a:t>the eyes</a:t>
            </a:r>
            <a:r>
              <a:rPr lang="en-US" sz="1300" dirty="0"/>
              <a:t>. Cover one of the patient’s eyes for 5 seconds. Then quickly open the eyelid and watch the pupil, the dark part at the center of the eye. The normal reaction of the pupil is to constrict (get smaller) within about 1 second. If you are examining a patient’s eyes at night or in the dark, use a flashlight and aim the light at the closed eye. A pupil that fails to react to light or pupils that are unequal in size may be important diagnostic signs; report this information to personnel at the next level of medical care.</a:t>
            </a:r>
          </a:p>
        </p:txBody>
      </p:sp>
      <p:sp>
        <p:nvSpPr>
          <p:cNvPr id="15" name="Rectangle 14"/>
          <p:cNvSpPr/>
          <p:nvPr/>
        </p:nvSpPr>
        <p:spPr>
          <a:xfrm>
            <a:off x="6135792" y="5753099"/>
            <a:ext cx="2868508" cy="246221"/>
          </a:xfrm>
          <a:prstGeom prst="rect">
            <a:avLst/>
          </a:prstGeom>
        </p:spPr>
        <p:txBody>
          <a:bodyPr wrap="square">
            <a:spAutoFit/>
          </a:bodyPr>
          <a:lstStyle/>
          <a:p>
            <a:r>
              <a:rPr lang="en-US" sz="1000" dirty="0"/>
              <a:t>© Jones &amp; Bartlett Learning. Courtesy of MIEMSS. </a:t>
            </a:r>
          </a:p>
        </p:txBody>
      </p:sp>
      <p:pic>
        <p:nvPicPr>
          <p:cNvPr id="1026" name="Picture 2" descr="The photo shows a person's gloved hands aiming a small flashlight into the right eye of a man lying on the ground facing upward. &#10;" title="A photo shows Step 2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1992" y="1595604"/>
            <a:ext cx="4278954" cy="2636458"/>
          </a:xfrm>
          <a:prstGeom prst="rect">
            <a:avLst/>
          </a:prstGeom>
          <a:noFill/>
          <a:extLst>
            <a:ext uri="{909E8E84-426E-40DD-AFC4-6F175D3DCCD1}">
              <a14:hiddenFill xmlns:a14="http://schemas.microsoft.com/office/drawing/2010/main">
                <a:solidFill>
                  <a:srgbClr val="FFFFFF"/>
                </a:solidFill>
              </a14:hiddenFill>
            </a:ext>
          </a:extLst>
        </p:spPr>
      </p:pic>
      <p:pic>
        <p:nvPicPr>
          <p:cNvPr id="1027" name="Picture 3" descr="The photo shows a person's gloved hands holding the top of a man's head who is lying on the ground facing upward. &#10;" title="A photo shows Step 1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00573" y="1576554"/>
            <a:ext cx="4278954" cy="26364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66205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(2-6)</a:t>
            </a:r>
            <a:endParaRPr lang="en-US" sz="2800" b="0" dirty="0"/>
          </a:p>
        </p:txBody>
      </p:sp>
      <p:sp>
        <p:nvSpPr>
          <p:cNvPr id="11" name="Rectangle 10"/>
          <p:cNvSpPr/>
          <p:nvPr/>
        </p:nvSpPr>
        <p:spPr>
          <a:xfrm>
            <a:off x="762000" y="4619412"/>
            <a:ext cx="5168900" cy="692497"/>
          </a:xfrm>
          <a:prstGeom prst="rect">
            <a:avLst/>
          </a:prstGeom>
        </p:spPr>
        <p:txBody>
          <a:bodyPr wrap="square">
            <a:spAutoFit/>
          </a:bodyPr>
          <a:lstStyle/>
          <a:p>
            <a:r>
              <a:rPr lang="en-US" sz="1300" b="1" dirty="0" smtClean="0"/>
              <a:t>Step 3 Assess </a:t>
            </a:r>
            <a:r>
              <a:rPr lang="en-US" sz="1300" b="1" dirty="0"/>
              <a:t>the nose</a:t>
            </a:r>
            <a:r>
              <a:rPr lang="en-US" sz="1300" dirty="0"/>
              <a:t>. Assess the nose for tenderness or deformity, which may indicate a broken nose. Check to see if there is any blood or fluid coming from the nose.</a:t>
            </a:r>
          </a:p>
        </p:txBody>
      </p:sp>
      <p:sp>
        <p:nvSpPr>
          <p:cNvPr id="12" name="Rectangle 11"/>
          <p:cNvSpPr/>
          <p:nvPr/>
        </p:nvSpPr>
        <p:spPr>
          <a:xfrm>
            <a:off x="776392" y="534670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184900" y="4619412"/>
            <a:ext cx="5334000" cy="1492716"/>
          </a:xfrm>
          <a:prstGeom prst="rect">
            <a:avLst/>
          </a:prstGeom>
        </p:spPr>
        <p:txBody>
          <a:bodyPr wrap="square">
            <a:spAutoFit/>
          </a:bodyPr>
          <a:lstStyle/>
          <a:p>
            <a:r>
              <a:rPr lang="en-US" sz="1300" b="1" dirty="0" smtClean="0"/>
              <a:t>Step 4 Assess </a:t>
            </a:r>
            <a:r>
              <a:rPr lang="en-US" sz="1300" b="1" dirty="0"/>
              <a:t>the mouth.</a:t>
            </a:r>
            <a:r>
              <a:rPr lang="en-US" sz="1300" dirty="0"/>
              <a:t> Your first assessment of the mouth should have taken place when you checked to see whether the patient was breathing. Now recheck the mouth for foreign objects such as food, vomitus, dentures, gum, chewing tobacco, and loose teeth. Be sure to carefully clear away any material that obstructs the patient’s airway. In addition, be ready to manage any vomiting. It is important to prevent </a:t>
            </a:r>
            <a:r>
              <a:rPr lang="en-US" sz="1300" b="1" dirty="0"/>
              <a:t>aspiration</a:t>
            </a:r>
            <a:r>
              <a:rPr lang="en-US" sz="1300" dirty="0"/>
              <a:t> (inhalation) of vomitus into the lungs.</a:t>
            </a:r>
          </a:p>
        </p:txBody>
      </p:sp>
      <p:sp>
        <p:nvSpPr>
          <p:cNvPr id="15" name="Rectangle 14"/>
          <p:cNvSpPr/>
          <p:nvPr/>
        </p:nvSpPr>
        <p:spPr>
          <a:xfrm>
            <a:off x="6186592" y="6121399"/>
            <a:ext cx="2868508" cy="246221"/>
          </a:xfrm>
          <a:prstGeom prst="rect">
            <a:avLst/>
          </a:prstGeom>
        </p:spPr>
        <p:txBody>
          <a:bodyPr wrap="square">
            <a:spAutoFit/>
          </a:bodyPr>
          <a:lstStyle/>
          <a:p>
            <a:r>
              <a:rPr lang="en-US" sz="1000" dirty="0"/>
              <a:t>© Jones &amp; Bartlett Learning. Courtesy of MIEMSS. </a:t>
            </a:r>
          </a:p>
        </p:txBody>
      </p:sp>
      <p:pic>
        <p:nvPicPr>
          <p:cNvPr id="2050" name="Picture 2" descr="The photo shows a person's gloved hands aiming a small flashlight into the mouth of a man lying on the ground facing upward. &#10;" title="A photo shows Step 4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5863" y="1468202"/>
            <a:ext cx="5083474" cy="3132160"/>
          </a:xfrm>
          <a:prstGeom prst="rect">
            <a:avLst/>
          </a:prstGeom>
          <a:noFill/>
          <a:extLst>
            <a:ext uri="{909E8E84-426E-40DD-AFC4-6F175D3DCCD1}">
              <a14:hiddenFill xmlns:a14="http://schemas.microsoft.com/office/drawing/2010/main">
                <a:solidFill>
                  <a:srgbClr val="FFFFFF"/>
                </a:solidFill>
              </a14:hiddenFill>
            </a:ext>
          </a:extLst>
        </p:spPr>
      </p:pic>
      <p:pic>
        <p:nvPicPr>
          <p:cNvPr id="2051" name="Picture 3" descr="The photo shows a person's gloved hands aiming a small flashlight into the left nostril of a man lying on the ground facing upward. &#10;" title="A photo shows Step 3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096" y="1713916"/>
            <a:ext cx="4646612" cy="28673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2814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(3-6)</a:t>
            </a:r>
            <a:endParaRPr lang="en-US" sz="2800" b="0" dirty="0"/>
          </a:p>
        </p:txBody>
      </p:sp>
      <p:sp>
        <p:nvSpPr>
          <p:cNvPr id="11" name="Rectangle 10"/>
          <p:cNvSpPr/>
          <p:nvPr/>
        </p:nvSpPr>
        <p:spPr>
          <a:xfrm>
            <a:off x="800100" y="4086012"/>
            <a:ext cx="5168900" cy="2308324"/>
          </a:xfrm>
          <a:prstGeom prst="rect">
            <a:avLst/>
          </a:prstGeom>
        </p:spPr>
        <p:txBody>
          <a:bodyPr wrap="square">
            <a:spAutoFit/>
          </a:bodyPr>
          <a:lstStyle/>
          <a:p>
            <a:r>
              <a:rPr lang="en-US" sz="1200" b="1" dirty="0" smtClean="0"/>
              <a:t>Step 5 Check </a:t>
            </a:r>
            <a:r>
              <a:rPr lang="en-US" sz="1200" b="1" dirty="0"/>
              <a:t>for unusual breath odors.</a:t>
            </a:r>
            <a:r>
              <a:rPr lang="en-US" sz="1200" dirty="0"/>
              <a:t> Use your sense of smell to aid in the assessment. A patient who has diabetes may have a fruity breath odor. Do not allow the presence of alcohol on the patient’s breath to change the way you treat the patient. In fact, if you detect the smell of alcohol, you should conduct an especially careful physical examination, particularly if the patient appears to be severely injured. Consider skipping this step of the assessment in the face of known community transmission of a dangerous viral illness via the airborne route. In such a context, the risk to the provider clearly outweighs the advantage to patient care associated with gaining additional information about the patient’s condition. Remember to place any unconscious patient who has not sustained trauma in the recovery position. This position helps keep the patient’s airway open and prevents aspiration of vomitus into the airway or lungs. </a:t>
            </a:r>
          </a:p>
        </p:txBody>
      </p:sp>
      <p:sp>
        <p:nvSpPr>
          <p:cNvPr id="12" name="Rectangle 11"/>
          <p:cNvSpPr/>
          <p:nvPr/>
        </p:nvSpPr>
        <p:spPr>
          <a:xfrm>
            <a:off x="801792" y="638810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159500" y="4022512"/>
            <a:ext cx="5334000" cy="2492990"/>
          </a:xfrm>
          <a:prstGeom prst="rect">
            <a:avLst/>
          </a:prstGeom>
        </p:spPr>
        <p:txBody>
          <a:bodyPr wrap="square">
            <a:spAutoFit/>
          </a:bodyPr>
          <a:lstStyle/>
          <a:p>
            <a:r>
              <a:rPr lang="en-US" sz="1200" b="1" dirty="0" smtClean="0"/>
              <a:t>Step 6 Assess </a:t>
            </a:r>
            <a:r>
              <a:rPr lang="en-US" sz="1200" b="1" dirty="0"/>
              <a:t>the neck and face.</a:t>
            </a:r>
            <a:r>
              <a:rPr lang="en-US" sz="1200" dirty="0"/>
              <a:t> Assess the neck carefully using both hands, one on each side of the patient’s neck. Be sure to touch the vertebrae (the bony part of the back of the neck) to see whether gentle pressure produces pain. Check the neck veins. Swollen (distended) neck veins may indicate heart conditions or major trauma to the chest. Examine the neck for a stoma (opening), which indicates that the patient is a neck breather. A neck breather is a person who has undergone a surgical procedure in which the airway above the stoma has been removed. The stoma may be the patient’s only means of breathing, and the patient may not be able to speak normally. The stoma is often concealed behind an article of clothing or a bib. While you are performing the hands-on assessment of the head and neck, be sure to note the color of the facial skin, its temperature, and whether it is moist or dry (TABLE 9-4). After you have completed the head examination, be sure to note any bumps, bruises, cuts, or other abnormalities.</a:t>
            </a:r>
          </a:p>
        </p:txBody>
      </p:sp>
      <p:sp>
        <p:nvSpPr>
          <p:cNvPr id="15" name="Rectangle 14"/>
          <p:cNvSpPr/>
          <p:nvPr/>
        </p:nvSpPr>
        <p:spPr>
          <a:xfrm>
            <a:off x="6161192" y="6515099"/>
            <a:ext cx="2868508" cy="246221"/>
          </a:xfrm>
          <a:prstGeom prst="rect">
            <a:avLst/>
          </a:prstGeom>
        </p:spPr>
        <p:txBody>
          <a:bodyPr wrap="square">
            <a:spAutoFit/>
          </a:bodyPr>
          <a:lstStyle/>
          <a:p>
            <a:r>
              <a:rPr lang="en-US" sz="1000" dirty="0"/>
              <a:t>© Jones &amp; Bartlett Learning. Courtesy of MIEMSS. </a:t>
            </a:r>
          </a:p>
        </p:txBody>
      </p:sp>
      <p:pic>
        <p:nvPicPr>
          <p:cNvPr id="3074" name="Picture 2" descr="The photo shows an emergency responder bending down to check his breath of a man lying on the ground facing upward.&#10;" title="A photo shows Step 5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5350" y="1557622"/>
            <a:ext cx="4000500" cy="2464890"/>
          </a:xfrm>
          <a:prstGeom prst="rect">
            <a:avLst/>
          </a:prstGeom>
          <a:noFill/>
          <a:extLst>
            <a:ext uri="{909E8E84-426E-40DD-AFC4-6F175D3DCCD1}">
              <a14:hiddenFill xmlns:a14="http://schemas.microsoft.com/office/drawing/2010/main">
                <a:solidFill>
                  <a:srgbClr val="FFFFFF"/>
                </a:solidFill>
              </a14:hiddenFill>
            </a:ext>
          </a:extLst>
        </p:spPr>
      </p:pic>
      <p:pic>
        <p:nvPicPr>
          <p:cNvPr id="3075" name="Picture 3" descr="The photo shows a person's gloved hands behind the base of a man's head on either side, who is lying on the ground facing upward. &#10;" title="A photo shows Step 6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37392" y="1553689"/>
            <a:ext cx="4000500" cy="24648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58487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(4-6)</a:t>
            </a:r>
            <a:endParaRPr lang="en-US" sz="2800" b="0" dirty="0"/>
          </a:p>
        </p:txBody>
      </p:sp>
      <p:sp>
        <p:nvSpPr>
          <p:cNvPr id="11" name="Rectangle 10"/>
          <p:cNvSpPr/>
          <p:nvPr/>
        </p:nvSpPr>
        <p:spPr>
          <a:xfrm>
            <a:off x="800100" y="4086012"/>
            <a:ext cx="5168900" cy="892552"/>
          </a:xfrm>
          <a:prstGeom prst="rect">
            <a:avLst/>
          </a:prstGeom>
        </p:spPr>
        <p:txBody>
          <a:bodyPr wrap="square">
            <a:spAutoFit/>
          </a:bodyPr>
          <a:lstStyle/>
          <a:p>
            <a:r>
              <a:rPr lang="en-US" sz="1300" b="1" dirty="0" smtClean="0"/>
              <a:t>Step 7 Assess </a:t>
            </a:r>
            <a:r>
              <a:rPr lang="en-US" sz="1300" b="1" dirty="0"/>
              <a:t>the work of breathing.</a:t>
            </a:r>
            <a:r>
              <a:rPr lang="en-US" sz="1300" dirty="0"/>
              <a:t> If the patient is conscious, ask him or her to take a deep breath and tell you whether he or she feels any pain on </a:t>
            </a:r>
            <a:r>
              <a:rPr lang="en-US" sz="1300" b="1" dirty="0"/>
              <a:t>inhalation</a:t>
            </a:r>
            <a:r>
              <a:rPr lang="en-US" sz="1300" dirty="0"/>
              <a:t> or </a:t>
            </a:r>
            <a:r>
              <a:rPr lang="en-US" sz="1300" b="1" dirty="0"/>
              <a:t>exhalation</a:t>
            </a:r>
            <a:r>
              <a:rPr lang="en-US" sz="1300" dirty="0"/>
              <a:t>. Note whether the patient breathes with difficulty.</a:t>
            </a:r>
          </a:p>
        </p:txBody>
      </p:sp>
      <p:sp>
        <p:nvSpPr>
          <p:cNvPr id="12" name="Rectangle 11"/>
          <p:cNvSpPr/>
          <p:nvPr/>
        </p:nvSpPr>
        <p:spPr>
          <a:xfrm>
            <a:off x="814492" y="495935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159500" y="4022512"/>
            <a:ext cx="5384800" cy="2492990"/>
          </a:xfrm>
          <a:prstGeom prst="rect">
            <a:avLst/>
          </a:prstGeom>
        </p:spPr>
        <p:txBody>
          <a:bodyPr wrap="square">
            <a:spAutoFit/>
          </a:bodyPr>
          <a:lstStyle/>
          <a:p>
            <a:r>
              <a:rPr lang="en-US" sz="1300" b="1" dirty="0" smtClean="0"/>
              <a:t>Step 8 Assess </a:t>
            </a:r>
            <a:r>
              <a:rPr lang="en-US" sz="1300" b="1" dirty="0"/>
              <a:t>the chest for injury.</a:t>
            </a:r>
            <a:r>
              <a:rPr lang="en-US" sz="1300" dirty="0"/>
              <a:t> Look and listen for signs of difficult breathing such as coughing, wheezing, or foaming at the mouth. It is important to look at both sides of the chest completely, noting any injuries, bleeding, or sections of the chest that move abnormally, unequally, or painfully. Unequal motion of one side or section of the chest may be a sign of a serious condition, called a </a:t>
            </a:r>
            <a:r>
              <a:rPr lang="en-US" sz="1300" b="1" dirty="0"/>
              <a:t>flail chest</a:t>
            </a:r>
            <a:r>
              <a:rPr lang="en-US" sz="1300" dirty="0"/>
              <a:t>, which can result from multiple rib </a:t>
            </a:r>
            <a:r>
              <a:rPr lang="en-US" sz="1300" b="1" dirty="0"/>
              <a:t>fractures</a:t>
            </a:r>
            <a:r>
              <a:rPr lang="en-US" sz="1300" dirty="0"/>
              <a:t> (breaks). Be sure to run your hands over all parts of the chest. Like the head and neck examinations, try to move the patient as little as possible while you assess the chest. Apply firm but gentle pressure to the collarbone (</a:t>
            </a:r>
            <a:r>
              <a:rPr lang="en-US" sz="1300" b="1" dirty="0"/>
              <a:t>clavicle</a:t>
            </a:r>
            <a:r>
              <a:rPr lang="en-US" sz="1300" dirty="0"/>
              <a:t>) to check for fractures. Check the chest for fractured ribs by placing your hands on the chest and pushing down gently but firmly. Then put your hands on each side of the chest and push inward, gently squeezing the chest.</a:t>
            </a:r>
          </a:p>
        </p:txBody>
      </p:sp>
      <p:sp>
        <p:nvSpPr>
          <p:cNvPr id="15" name="Rectangle 14"/>
          <p:cNvSpPr/>
          <p:nvPr/>
        </p:nvSpPr>
        <p:spPr>
          <a:xfrm>
            <a:off x="6161192" y="6476999"/>
            <a:ext cx="2868508" cy="246221"/>
          </a:xfrm>
          <a:prstGeom prst="rect">
            <a:avLst/>
          </a:prstGeom>
        </p:spPr>
        <p:txBody>
          <a:bodyPr wrap="square">
            <a:spAutoFit/>
          </a:bodyPr>
          <a:lstStyle/>
          <a:p>
            <a:r>
              <a:rPr lang="en-US" sz="1000" dirty="0"/>
              <a:t>© Jones &amp; Bartlett Learning. Courtesy of MIEMSS. </a:t>
            </a:r>
          </a:p>
        </p:txBody>
      </p:sp>
      <p:pic>
        <p:nvPicPr>
          <p:cNvPr id="4098" name="Picture 2" descr="The photo shows an emergency responder's gloved hands placed on either side of the bare chest of a man lying on his back on the ground.&#10;" title="A photo shows Step 8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8342" y="1468144"/>
            <a:ext cx="4114800" cy="2535318"/>
          </a:xfrm>
          <a:prstGeom prst="rect">
            <a:avLst/>
          </a:prstGeom>
          <a:noFill/>
          <a:extLst>
            <a:ext uri="{909E8E84-426E-40DD-AFC4-6F175D3DCCD1}">
              <a14:hiddenFill xmlns:a14="http://schemas.microsoft.com/office/drawing/2010/main">
                <a:solidFill>
                  <a:srgbClr val="FFFFFF"/>
                </a:solidFill>
              </a14:hiddenFill>
            </a:ext>
          </a:extLst>
        </p:spPr>
      </p:pic>
      <p:pic>
        <p:nvPicPr>
          <p:cNvPr id="4099" name="Picture 3" descr="The photo shows an emergency responder in uniform and wearing gloves kneeling by the side of a bare-chested man lying on his back on the ground.&#10;" title="A photo shows Step 7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238" y="1525294"/>
            <a:ext cx="4114800" cy="25353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1191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(5-6)</a:t>
            </a:r>
            <a:endParaRPr lang="en-US" sz="2800" b="0" dirty="0"/>
          </a:p>
        </p:txBody>
      </p:sp>
      <p:sp>
        <p:nvSpPr>
          <p:cNvPr id="11" name="Rectangle 10"/>
          <p:cNvSpPr/>
          <p:nvPr/>
        </p:nvSpPr>
        <p:spPr>
          <a:xfrm>
            <a:off x="800100" y="4086012"/>
            <a:ext cx="5168900" cy="2292935"/>
          </a:xfrm>
          <a:prstGeom prst="rect">
            <a:avLst/>
          </a:prstGeom>
        </p:spPr>
        <p:txBody>
          <a:bodyPr wrap="square">
            <a:spAutoFit/>
          </a:bodyPr>
          <a:lstStyle/>
          <a:p>
            <a:r>
              <a:rPr lang="en-US" sz="1300" b="1" dirty="0" smtClean="0"/>
              <a:t>Step 9 Assess </a:t>
            </a:r>
            <a:r>
              <a:rPr lang="en-US" sz="1300" b="1" dirty="0"/>
              <a:t>the abdomen.</a:t>
            </a:r>
            <a:r>
              <a:rPr lang="en-US" sz="1300" dirty="0"/>
              <a:t> Continue your assessment downward to the </a:t>
            </a:r>
            <a:r>
              <a:rPr lang="en-US" sz="1300" b="1" dirty="0"/>
              <a:t>abdomen</a:t>
            </a:r>
            <a:r>
              <a:rPr lang="en-US" sz="1300" dirty="0"/>
              <a:t> (stomach and groin). Look for any signs of external bleeding, penetrating injuries, or protruding parts, such as intestines. Ask the patient to relax the stomach muscles and observe whether the stomach remains rigid. Rigidity is often a sign of abdominal injury. Swelling is also a sign of abdominal injury. Note whether the clothing has been soiled with urine or feces. This finding may be an important diagnostic sign for certain illnesses or injuries, such as stroke. Make sure you check the genital area for external injuries. Although both the patient and you may be socially uncomfortable during this examination, it must be done if there is any suspicion of injury.</a:t>
            </a:r>
          </a:p>
        </p:txBody>
      </p:sp>
      <p:sp>
        <p:nvSpPr>
          <p:cNvPr id="12" name="Rectangle 11"/>
          <p:cNvSpPr/>
          <p:nvPr/>
        </p:nvSpPr>
        <p:spPr>
          <a:xfrm>
            <a:off x="776392" y="635000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159500" y="4022512"/>
            <a:ext cx="5384800" cy="1092607"/>
          </a:xfrm>
          <a:prstGeom prst="rect">
            <a:avLst/>
          </a:prstGeom>
        </p:spPr>
        <p:txBody>
          <a:bodyPr wrap="square">
            <a:spAutoFit/>
          </a:bodyPr>
          <a:lstStyle/>
          <a:p>
            <a:r>
              <a:rPr lang="en-US" sz="1300" b="1" dirty="0" smtClean="0"/>
              <a:t>Step 10 Assess </a:t>
            </a:r>
            <a:r>
              <a:rPr lang="en-US" sz="1300" b="1" dirty="0"/>
              <a:t>the pelvis.</a:t>
            </a:r>
            <a:r>
              <a:rPr lang="en-US" sz="1300" dirty="0"/>
              <a:t> Next, check for fractures of the pelvis. First check for signs of obvious bruising, bleeding, or swelling. If no pain is reported by the patient, then gently press on the pelvic bones. If the patient reports pain or tenderness or if you note any movement, a severe injury may be present in this region.</a:t>
            </a:r>
          </a:p>
        </p:txBody>
      </p:sp>
      <p:sp>
        <p:nvSpPr>
          <p:cNvPr id="15" name="Rectangle 14"/>
          <p:cNvSpPr/>
          <p:nvPr/>
        </p:nvSpPr>
        <p:spPr>
          <a:xfrm>
            <a:off x="6148492" y="5118099"/>
            <a:ext cx="2868508" cy="246221"/>
          </a:xfrm>
          <a:prstGeom prst="rect">
            <a:avLst/>
          </a:prstGeom>
        </p:spPr>
        <p:txBody>
          <a:bodyPr wrap="square">
            <a:spAutoFit/>
          </a:bodyPr>
          <a:lstStyle/>
          <a:p>
            <a:r>
              <a:rPr lang="en-US" sz="1000" dirty="0"/>
              <a:t>© Jones &amp; Bartlett Learning. Courtesy of MIEMSS. </a:t>
            </a:r>
          </a:p>
        </p:txBody>
      </p:sp>
      <p:pic>
        <p:nvPicPr>
          <p:cNvPr id="5122" name="Picture 2" descr="The photo shows an emergency responder's gloved hands placed on either side of the hips of a man lying on his back on the ground.&#10;" title="A photo shows Step 10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97600" y="1416770"/>
            <a:ext cx="4229100" cy="2605742"/>
          </a:xfrm>
          <a:prstGeom prst="rect">
            <a:avLst/>
          </a:prstGeom>
          <a:noFill/>
          <a:extLst>
            <a:ext uri="{909E8E84-426E-40DD-AFC4-6F175D3DCCD1}">
              <a14:hiddenFill xmlns:a14="http://schemas.microsoft.com/office/drawing/2010/main">
                <a:solidFill>
                  <a:srgbClr val="FFFFFF"/>
                </a:solidFill>
              </a14:hiddenFill>
            </a:ext>
          </a:extLst>
        </p:spPr>
      </p:pic>
      <p:pic>
        <p:nvPicPr>
          <p:cNvPr id="5123" name="Picture 3" descr="The photo shows an emergency responder's gloved hands placed one on top of the other on the abdomen of a man lying on his back on the ground.&#10;" title="A photo shows Step 9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7250" y="1435820"/>
            <a:ext cx="4229100" cy="26057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6724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3810" name="Rectangle 2">
            <a:extLst>
              <a:ext uri="{FF2B5EF4-FFF2-40B4-BE49-F238E27FC236}">
                <a16:creationId xmlns:a16="http://schemas.microsoft.com/office/drawing/2014/main" xmlns="" id="{EFC71A36-7306-844F-A292-AE65256D24DF}"/>
              </a:ext>
            </a:extLst>
          </p:cNvPr>
          <p:cNvSpPr>
            <a:spLocks noGrp="1" noChangeArrowheads="1"/>
          </p:cNvSpPr>
          <p:nvPr>
            <p:ph type="title"/>
          </p:nvPr>
        </p:nvSpPr>
        <p:spPr/>
        <p:txBody>
          <a:bodyPr/>
          <a:lstStyle/>
          <a:p>
            <a:pPr>
              <a:lnSpc>
                <a:spcPct val="85000"/>
              </a:lnSpc>
              <a:defRPr/>
            </a:pPr>
            <a:r>
              <a:rPr lang="en-US" sz="2800" b="0" dirty="0" smtClean="0"/>
              <a:t>Skill Drill 9-1 </a:t>
            </a:r>
            <a:r>
              <a:rPr lang="en-US" sz="2800" dirty="0"/>
              <a:t>Performing a Secondary Assessment </a:t>
            </a:r>
            <a:r>
              <a:rPr lang="en-US" sz="2800" b="0" dirty="0" smtClean="0"/>
              <a:t>(6-6)</a:t>
            </a:r>
            <a:endParaRPr lang="en-US" sz="2800" b="0" dirty="0"/>
          </a:p>
        </p:txBody>
      </p:sp>
      <p:sp>
        <p:nvSpPr>
          <p:cNvPr id="11" name="Rectangle 10"/>
          <p:cNvSpPr/>
          <p:nvPr/>
        </p:nvSpPr>
        <p:spPr>
          <a:xfrm>
            <a:off x="762000" y="3692312"/>
            <a:ext cx="5194300" cy="2677656"/>
          </a:xfrm>
          <a:prstGeom prst="rect">
            <a:avLst/>
          </a:prstGeom>
        </p:spPr>
        <p:txBody>
          <a:bodyPr wrap="square">
            <a:spAutoFit/>
          </a:bodyPr>
          <a:lstStyle/>
          <a:p>
            <a:r>
              <a:rPr lang="en-US" sz="1200" b="1" dirty="0" smtClean="0"/>
              <a:t>Step 11 Assess </a:t>
            </a:r>
            <a:r>
              <a:rPr lang="en-US" sz="1200" b="1" dirty="0"/>
              <a:t>the back.</a:t>
            </a:r>
            <a:r>
              <a:rPr lang="en-US" sz="1200" dirty="0"/>
              <a:t> The patient’s back should be checked one side of the back at a time. Use one hand to gently lift the patient’s shoulder and then, using your other hand, slide it down the patient’s back as you inspect the surface. In cases where a patient has been injured, move the patient as a unit, taking care to support the head and spine to keep them in proper alignment. Continue to stabilize the head and neck to prevent movement while you examine the patient. As you check each side of the back, be sure that your hands go all the way to the midline of the patient’s body so you can feel the spinal column. Check one-half the back from one side, then switch sides and check the other side in the same manner. This ensures that no part of the back is missed during the examination. If the patient is lying on his or her side or stomach, it will be much easier to examine the patient’s back. If the patient must be rolled onto a backboard, you can examine the patient’s back while the patient is on his or her side. Do not wait for a backboard if this will delay your examination of the patient.</a:t>
            </a:r>
          </a:p>
        </p:txBody>
      </p:sp>
      <p:sp>
        <p:nvSpPr>
          <p:cNvPr id="12" name="Rectangle 11"/>
          <p:cNvSpPr/>
          <p:nvPr/>
        </p:nvSpPr>
        <p:spPr>
          <a:xfrm>
            <a:off x="776392" y="6350000"/>
            <a:ext cx="2919308" cy="254000"/>
          </a:xfrm>
          <a:prstGeom prst="rect">
            <a:avLst/>
          </a:prstGeom>
        </p:spPr>
        <p:txBody>
          <a:bodyPr wrap="square">
            <a:spAutoFit/>
          </a:bodyPr>
          <a:lstStyle/>
          <a:p>
            <a:r>
              <a:rPr lang="en-US" sz="1000" dirty="0"/>
              <a:t>© Jones &amp; Bartlett Learning. Courtesy of MIEMSS. </a:t>
            </a:r>
          </a:p>
        </p:txBody>
      </p:sp>
      <p:sp>
        <p:nvSpPr>
          <p:cNvPr id="14" name="Rectangle 13"/>
          <p:cNvSpPr/>
          <p:nvPr/>
        </p:nvSpPr>
        <p:spPr>
          <a:xfrm>
            <a:off x="6413500" y="3641512"/>
            <a:ext cx="5384800" cy="2862322"/>
          </a:xfrm>
          <a:prstGeom prst="rect">
            <a:avLst/>
          </a:prstGeom>
        </p:spPr>
        <p:txBody>
          <a:bodyPr wrap="square">
            <a:spAutoFit/>
          </a:bodyPr>
          <a:lstStyle/>
          <a:p>
            <a:r>
              <a:rPr lang="en-US" sz="1200" b="1" dirty="0" smtClean="0"/>
              <a:t>Step 12 Assess </a:t>
            </a:r>
            <a:r>
              <a:rPr lang="en-US" sz="1200" b="1" dirty="0"/>
              <a:t>the extremities.</a:t>
            </a:r>
            <a:r>
              <a:rPr lang="en-US" sz="1200" dirty="0"/>
              <a:t> Do a systematic assessment of each extremity to determine whether there are any injuries. This examination consists of the following five steps: </a:t>
            </a:r>
            <a:endParaRPr lang="en-US" sz="1200" dirty="0" smtClean="0"/>
          </a:p>
          <a:p>
            <a:pPr marL="342900" indent="-342900">
              <a:buAutoNum type="arabicPeriod"/>
            </a:pPr>
            <a:r>
              <a:rPr lang="en-US" sz="1200" dirty="0" smtClean="0"/>
              <a:t>Observe </a:t>
            </a:r>
            <a:r>
              <a:rPr lang="en-US" sz="1200" dirty="0"/>
              <a:t>the extremity to determine whether there is any visible injury. Look for bleeding and deformity. </a:t>
            </a:r>
            <a:endParaRPr lang="en-US" sz="1200" dirty="0" smtClean="0"/>
          </a:p>
          <a:p>
            <a:pPr marL="342900" indent="-342900">
              <a:buAutoNum type="arabicPeriod"/>
            </a:pPr>
            <a:r>
              <a:rPr lang="en-US" sz="1200" dirty="0" smtClean="0"/>
              <a:t>Examine </a:t>
            </a:r>
            <a:r>
              <a:rPr lang="en-US" sz="1200" dirty="0"/>
              <a:t>for tenderness in each extremity by encircling it with both hands and gently, but firmly, squeezing each part of the limb. Watch the patient’s face and listen to see if the patient shows any signs of pain. </a:t>
            </a:r>
            <a:endParaRPr lang="en-US" sz="1200" dirty="0" smtClean="0"/>
          </a:p>
          <a:p>
            <a:pPr marL="342900" indent="-342900">
              <a:buAutoNum type="arabicPeriod"/>
            </a:pPr>
            <a:r>
              <a:rPr lang="en-US" sz="1200" dirty="0" smtClean="0"/>
              <a:t>Ask </a:t>
            </a:r>
            <a:r>
              <a:rPr lang="en-US" sz="1200" dirty="0"/>
              <a:t>the patient to move the extremity. Check for normal movement. Determine whether there is any pain when the patient moves the extremity. </a:t>
            </a:r>
            <a:endParaRPr lang="en-US" sz="1200" dirty="0" smtClean="0"/>
          </a:p>
          <a:p>
            <a:pPr marL="342900" indent="-342900">
              <a:buAutoNum type="arabicPeriod"/>
            </a:pPr>
            <a:r>
              <a:rPr lang="en-US" sz="1200" dirty="0" smtClean="0"/>
              <a:t>Check </a:t>
            </a:r>
            <a:r>
              <a:rPr lang="en-US" sz="1200" dirty="0"/>
              <a:t>for sensation by touching the bare skin of each ex-</a:t>
            </a:r>
            <a:r>
              <a:rPr lang="en-US" sz="1200" dirty="0" err="1"/>
              <a:t>tremity</a:t>
            </a:r>
            <a:r>
              <a:rPr lang="en-US" sz="1200" dirty="0"/>
              <a:t>. See if the patient can feel your touch. </a:t>
            </a:r>
            <a:endParaRPr lang="en-US" sz="1200" dirty="0" smtClean="0"/>
          </a:p>
          <a:p>
            <a:pPr marL="342900" indent="-342900">
              <a:buAutoNum type="arabicPeriod"/>
            </a:pPr>
            <a:r>
              <a:rPr lang="en-US" sz="1200" dirty="0" smtClean="0"/>
              <a:t>Assess </a:t>
            </a:r>
            <a:r>
              <a:rPr lang="en-US" sz="1200" dirty="0"/>
              <a:t>the circulatory status of each extremity by checking for the presence of a distal pulse in that extremity and by checking for capillary refill (discussed later in this chapter). </a:t>
            </a:r>
          </a:p>
        </p:txBody>
      </p:sp>
      <p:sp>
        <p:nvSpPr>
          <p:cNvPr id="15" name="Rectangle 14"/>
          <p:cNvSpPr/>
          <p:nvPr/>
        </p:nvSpPr>
        <p:spPr>
          <a:xfrm>
            <a:off x="6427892" y="6502399"/>
            <a:ext cx="2868508" cy="246221"/>
          </a:xfrm>
          <a:prstGeom prst="rect">
            <a:avLst/>
          </a:prstGeom>
        </p:spPr>
        <p:txBody>
          <a:bodyPr wrap="square">
            <a:spAutoFit/>
          </a:bodyPr>
          <a:lstStyle/>
          <a:p>
            <a:r>
              <a:rPr lang="en-US" sz="1000" dirty="0"/>
              <a:t>© Jones &amp; Bartlett Learning. Courtesy of MIEMSS. </a:t>
            </a:r>
          </a:p>
        </p:txBody>
      </p:sp>
      <p:pic>
        <p:nvPicPr>
          <p:cNvPr id="6146" name="Picture 2" descr="The photo shows an emergency responder's gloved hands holding the lower leg of a man lying on the ground.&#10;" title="A photo shows Step 12 of the process of performing a secondary assessment. "/>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0" y="1525975"/>
            <a:ext cx="3314700" cy="2042338"/>
          </a:xfrm>
          <a:prstGeom prst="rect">
            <a:avLst/>
          </a:prstGeom>
          <a:noFill/>
          <a:extLst>
            <a:ext uri="{909E8E84-426E-40DD-AFC4-6F175D3DCCD1}">
              <a14:hiddenFill xmlns:a14="http://schemas.microsoft.com/office/drawing/2010/main">
                <a:solidFill>
                  <a:srgbClr val="FFFFFF"/>
                </a:solidFill>
              </a14:hiddenFill>
            </a:ext>
          </a:extLst>
        </p:spPr>
      </p:pic>
      <p:pic>
        <p:nvPicPr>
          <p:cNvPr id="6147" name="Picture 3" descr="The photo shows an emergency responder's gloved hands using a stethoscope on the bare back of a man lying on his side. Two other responder's hands can be seen holding and supporting the man on his side.&#10;" title="A photo shows Step 11 of the process of performing a secondary assessment. "/>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2644" y="1939538"/>
            <a:ext cx="4443412" cy="1682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87924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Educational subjects 16x9">
  <a:themeElements>
    <a:clrScheme name="JBLPSG PPT 1">
      <a:dk1>
        <a:srgbClr val="3C4743"/>
      </a:dk1>
      <a:lt1>
        <a:srgbClr val="E1E1E1"/>
      </a:lt1>
      <a:dk2>
        <a:srgbClr val="000000"/>
      </a:dk2>
      <a:lt2>
        <a:srgbClr val="FFFFFF"/>
      </a:lt2>
      <a:accent1>
        <a:srgbClr val="FFC324"/>
      </a:accent1>
      <a:accent2>
        <a:srgbClr val="F05123"/>
      </a:accent2>
      <a:accent3>
        <a:srgbClr val="418AC9"/>
      </a:accent3>
      <a:accent4>
        <a:srgbClr val="B7B7B7"/>
      </a:accent4>
      <a:accent5>
        <a:srgbClr val="00B18A"/>
      </a:accent5>
      <a:accent6>
        <a:srgbClr val="7BABBF"/>
      </a:accent6>
      <a:hlink>
        <a:srgbClr val="004B91"/>
      </a:hlink>
      <a:folHlink>
        <a:srgbClr val="5C284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NTAPL_PPTx_template" id="{4E94D904-A370-A547-A421-E2EDEF91E72E}" vid="{303F4BD5-E208-0C4A-A0D7-FA535DEBCE4F}"/>
    </a:ext>
  </a:extLst>
</a:theme>
</file>

<file path=ppt/theme/theme2.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Educational subjects 16x9</Template>
  <TotalTime>686</TotalTime>
  <Words>1792</Words>
  <Application>Microsoft Office PowerPoint</Application>
  <PresentationFormat>Widescreen</PresentationFormat>
  <Paragraphs>37</Paragraphs>
  <Slides>7</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ＭＳ Ｐゴシック</vt:lpstr>
      <vt:lpstr>Arial</vt:lpstr>
      <vt:lpstr>Calibri</vt:lpstr>
      <vt:lpstr>Wingdings</vt:lpstr>
      <vt:lpstr>Educational subjects 16x9</vt:lpstr>
      <vt:lpstr>Patient Assessment</vt:lpstr>
      <vt:lpstr>Skill Drill 9-1 Performing a Secondary Assessment (1-6)</vt:lpstr>
      <vt:lpstr>Skill Drill 9-1 Performing a Secondary Assessment (2-6)</vt:lpstr>
      <vt:lpstr>Skill Drill 9-1 Performing a Secondary Assessment (3-6)</vt:lpstr>
      <vt:lpstr>Skill Drill 9-1 Performing a Secondary Assessment (4-6)</vt:lpstr>
      <vt:lpstr>Skill Drill 9-1 Performing a Secondary Assessment (5-6)</vt:lpstr>
      <vt:lpstr>Skill Drill 9-1 Performing a Secondary Assessment (6-6)</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Title</dc:title>
  <dc:creator>Bob Elling</dc:creator>
  <cp:lastModifiedBy>Ravi Shankar Jayavel</cp:lastModifiedBy>
  <cp:revision>107</cp:revision>
  <dcterms:created xsi:type="dcterms:W3CDTF">2020-07-20T18:35:12Z</dcterms:created>
  <dcterms:modified xsi:type="dcterms:W3CDTF">2020-11-30T10:09:53Z</dcterms:modified>
</cp:coreProperties>
</file>