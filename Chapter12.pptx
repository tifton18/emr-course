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4"/>
  </p:notesMasterIdLst>
  <p:handoutMasterIdLst>
    <p:handoutMasterId r:id="rId65"/>
  </p:handoutMasterIdLst>
  <p:sldIdLst>
    <p:sldId id="258" r:id="rId2"/>
    <p:sldId id="994" r:id="rId3"/>
    <p:sldId id="995" r:id="rId4"/>
    <p:sldId id="996" r:id="rId5"/>
    <p:sldId id="997" r:id="rId6"/>
    <p:sldId id="998" r:id="rId7"/>
    <p:sldId id="999" r:id="rId8"/>
    <p:sldId id="1000" r:id="rId9"/>
    <p:sldId id="1001" r:id="rId10"/>
    <p:sldId id="1002" r:id="rId11"/>
    <p:sldId id="1003" r:id="rId12"/>
    <p:sldId id="1004" r:id="rId13"/>
    <p:sldId id="1005" r:id="rId14"/>
    <p:sldId id="1006" r:id="rId15"/>
    <p:sldId id="1007" r:id="rId16"/>
    <p:sldId id="1008" r:id="rId17"/>
    <p:sldId id="1009" r:id="rId18"/>
    <p:sldId id="1010" r:id="rId19"/>
    <p:sldId id="1011" r:id="rId20"/>
    <p:sldId id="1012" r:id="rId21"/>
    <p:sldId id="1013" r:id="rId22"/>
    <p:sldId id="1014" r:id="rId23"/>
    <p:sldId id="1015" r:id="rId24"/>
    <p:sldId id="1016" r:id="rId25"/>
    <p:sldId id="1018" r:id="rId26"/>
    <p:sldId id="1056" r:id="rId27"/>
    <p:sldId id="1019" r:id="rId28"/>
    <p:sldId id="1020" r:id="rId29"/>
    <p:sldId id="1021" r:id="rId30"/>
    <p:sldId id="1022" r:id="rId31"/>
    <p:sldId id="1023" r:id="rId32"/>
    <p:sldId id="1024" r:id="rId33"/>
    <p:sldId id="1025" r:id="rId34"/>
    <p:sldId id="1026" r:id="rId35"/>
    <p:sldId id="1027" r:id="rId36"/>
    <p:sldId id="1028" r:id="rId37"/>
    <p:sldId id="1029" r:id="rId38"/>
    <p:sldId id="1030" r:id="rId39"/>
    <p:sldId id="1031" r:id="rId40"/>
    <p:sldId id="1032" r:id="rId41"/>
    <p:sldId id="1033" r:id="rId42"/>
    <p:sldId id="1034" r:id="rId43"/>
    <p:sldId id="1035" r:id="rId44"/>
    <p:sldId id="1036" r:id="rId45"/>
    <p:sldId id="1037" r:id="rId46"/>
    <p:sldId id="1038" r:id="rId47"/>
    <p:sldId id="1039" r:id="rId48"/>
    <p:sldId id="1040" r:id="rId49"/>
    <p:sldId id="1041" r:id="rId50"/>
    <p:sldId id="1042" r:id="rId51"/>
    <p:sldId id="1043" r:id="rId52"/>
    <p:sldId id="1057" r:id="rId53"/>
    <p:sldId id="1044" r:id="rId54"/>
    <p:sldId id="1046" r:id="rId55"/>
    <p:sldId id="1048" r:id="rId56"/>
    <p:sldId id="1049" r:id="rId57"/>
    <p:sldId id="1050" r:id="rId58"/>
    <p:sldId id="1051" r:id="rId59"/>
    <p:sldId id="1052" r:id="rId60"/>
    <p:sldId id="1053" r:id="rId61"/>
    <p:sldId id="1054" r:id="rId62"/>
    <p:sldId id="1055"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A03697-443F-4272-B35A-C223FBFF796D}" v="12" dt="2020-08-11T15:17:37.356"/>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96" autoAdjust="0"/>
    <p:restoredTop sz="81497"/>
  </p:normalViewPr>
  <p:slideViewPr>
    <p:cSldViewPr snapToGrid="0">
      <p:cViewPr>
        <p:scale>
          <a:sx n="100" d="100"/>
          <a:sy n="100" d="100"/>
        </p:scale>
        <p:origin x="1864" y="232"/>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Yuan Gregory" userId="8839d734-a022-4f7a-aa1a-7ded42ea4e8b" providerId="ADAL" clId="{9FA03697-443F-4272-B35A-C223FBFF796D}"/>
    <pc:docChg chg="modSld modMainMaster">
      <pc:chgData name="Paula-Yuan Gregory" userId="8839d734-a022-4f7a-aa1a-7ded42ea4e8b" providerId="ADAL" clId="{9FA03697-443F-4272-B35A-C223FBFF796D}" dt="2020-08-11T15:18:54.993" v="93" actId="20577"/>
      <pc:docMkLst>
        <pc:docMk/>
      </pc:docMkLst>
      <pc:sldChg chg="addSp delSp modSp">
        <pc:chgData name="Paula-Yuan Gregory" userId="8839d734-a022-4f7a-aa1a-7ded42ea4e8b" providerId="ADAL" clId="{9FA03697-443F-4272-B35A-C223FBFF796D}" dt="2020-08-11T15:15:20.469" v="14" actId="1076"/>
        <pc:sldMkLst>
          <pc:docMk/>
          <pc:sldMk cId="3462953968" sldId="998"/>
        </pc:sldMkLst>
        <pc:spChg chg="add mod">
          <ac:chgData name="Paula-Yuan Gregory" userId="8839d734-a022-4f7a-aa1a-7ded42ea4e8b" providerId="ADAL" clId="{9FA03697-443F-4272-B35A-C223FBFF796D}" dt="2020-08-11T15:15:20.469" v="14" actId="1076"/>
          <ac:spMkLst>
            <pc:docMk/>
            <pc:sldMk cId="3462953968" sldId="998"/>
            <ac:spMk id="5" creationId="{3FACC328-3C28-4483-993E-AC8735E975DB}"/>
          </ac:spMkLst>
        </pc:spChg>
        <pc:picChg chg="del">
          <ac:chgData name="Paula-Yuan Gregory" userId="8839d734-a022-4f7a-aa1a-7ded42ea4e8b" providerId="ADAL" clId="{9FA03697-443F-4272-B35A-C223FBFF796D}" dt="2020-08-11T15:15:14.696" v="0" actId="478"/>
          <ac:picMkLst>
            <pc:docMk/>
            <pc:sldMk cId="3462953968" sldId="998"/>
            <ac:picMk id="13315" creationId="{799383E2-E9D8-4441-958C-2323B157A841}"/>
          </ac:picMkLst>
        </pc:picChg>
      </pc:sldChg>
      <pc:sldChg chg="addSp delSp modSp">
        <pc:chgData name="Paula-Yuan Gregory" userId="8839d734-a022-4f7a-aa1a-7ded42ea4e8b" providerId="ADAL" clId="{9FA03697-443F-4272-B35A-C223FBFF796D}" dt="2020-08-11T15:15:58.741" v="29" actId="1076"/>
        <pc:sldMkLst>
          <pc:docMk/>
          <pc:sldMk cId="2549052273" sldId="1011"/>
        </pc:sldMkLst>
        <pc:spChg chg="add mod">
          <ac:chgData name="Paula-Yuan Gregory" userId="8839d734-a022-4f7a-aa1a-7ded42ea4e8b" providerId="ADAL" clId="{9FA03697-443F-4272-B35A-C223FBFF796D}" dt="2020-08-11T15:15:58.741" v="29" actId="1076"/>
          <ac:spMkLst>
            <pc:docMk/>
            <pc:sldMk cId="2549052273" sldId="1011"/>
            <ac:spMk id="6" creationId="{1B2900EC-F73B-4503-8904-31C1777FC603}"/>
          </ac:spMkLst>
        </pc:spChg>
        <pc:picChg chg="del">
          <ac:chgData name="Paula-Yuan Gregory" userId="8839d734-a022-4f7a-aa1a-7ded42ea4e8b" providerId="ADAL" clId="{9FA03697-443F-4272-B35A-C223FBFF796D}" dt="2020-08-11T15:15:42.327" v="15" actId="478"/>
          <ac:picMkLst>
            <pc:docMk/>
            <pc:sldMk cId="2549052273" sldId="1011"/>
            <ac:picMk id="39940" creationId="{EFC65B3C-3B05-A743-B830-7AFDA9909F79}"/>
          </ac:picMkLst>
        </pc:picChg>
      </pc:sldChg>
      <pc:sldChg chg="addSp delSp modSp">
        <pc:chgData name="Paula-Yuan Gregory" userId="8839d734-a022-4f7a-aa1a-7ded42ea4e8b" providerId="ADAL" clId="{9FA03697-443F-4272-B35A-C223FBFF796D}" dt="2020-08-11T15:16:36.977" v="59" actId="1076"/>
        <pc:sldMkLst>
          <pc:docMk/>
          <pc:sldMk cId="4243686961" sldId="1013"/>
        </pc:sldMkLst>
        <pc:spChg chg="add mod">
          <ac:chgData name="Paula-Yuan Gregory" userId="8839d734-a022-4f7a-aa1a-7ded42ea4e8b" providerId="ADAL" clId="{9FA03697-443F-4272-B35A-C223FBFF796D}" dt="2020-08-11T15:16:28.762" v="44" actId="1076"/>
          <ac:spMkLst>
            <pc:docMk/>
            <pc:sldMk cId="4243686961" sldId="1013"/>
            <ac:spMk id="8" creationId="{D129A3FD-0AE2-4BD5-8342-98AF106B065F}"/>
          </ac:spMkLst>
        </pc:spChg>
        <pc:spChg chg="add mod">
          <ac:chgData name="Paula-Yuan Gregory" userId="8839d734-a022-4f7a-aa1a-7ded42ea4e8b" providerId="ADAL" clId="{9FA03697-443F-4272-B35A-C223FBFF796D}" dt="2020-08-11T15:16:36.977" v="59" actId="1076"/>
          <ac:spMkLst>
            <pc:docMk/>
            <pc:sldMk cId="4243686961" sldId="1013"/>
            <ac:spMk id="9" creationId="{AF2A2021-378B-4B17-8484-493917F495E6}"/>
          </ac:spMkLst>
        </pc:spChg>
        <pc:picChg chg="del">
          <ac:chgData name="Paula-Yuan Gregory" userId="8839d734-a022-4f7a-aa1a-7ded42ea4e8b" providerId="ADAL" clId="{9FA03697-443F-4272-B35A-C223FBFF796D}" dt="2020-08-11T15:16:23.955" v="30" actId="478"/>
          <ac:picMkLst>
            <pc:docMk/>
            <pc:sldMk cId="4243686961" sldId="1013"/>
            <ac:picMk id="44036" creationId="{392DBE39-B9A0-B04B-86AD-18500C0C4528}"/>
          </ac:picMkLst>
        </pc:picChg>
        <pc:picChg chg="del">
          <ac:chgData name="Paula-Yuan Gregory" userId="8839d734-a022-4f7a-aa1a-7ded42ea4e8b" providerId="ADAL" clId="{9FA03697-443F-4272-B35A-C223FBFF796D}" dt="2020-08-11T15:16:33.829" v="58" actId="478"/>
          <ac:picMkLst>
            <pc:docMk/>
            <pc:sldMk cId="4243686961" sldId="1013"/>
            <ac:picMk id="44037" creationId="{77256CD5-A932-6C42-9A5A-02D0A48C8A27}"/>
          </ac:picMkLst>
        </pc:picChg>
      </pc:sldChg>
      <pc:sldChg chg="addSp delSp modSp">
        <pc:chgData name="Paula-Yuan Gregory" userId="8839d734-a022-4f7a-aa1a-7ded42ea4e8b" providerId="ADAL" clId="{9FA03697-443F-4272-B35A-C223FBFF796D}" dt="2020-08-11T15:17:06.745" v="74" actId="1076"/>
        <pc:sldMkLst>
          <pc:docMk/>
          <pc:sldMk cId="4195928223" sldId="1026"/>
        </pc:sldMkLst>
        <pc:spChg chg="add mod">
          <ac:chgData name="Paula-Yuan Gregory" userId="8839d734-a022-4f7a-aa1a-7ded42ea4e8b" providerId="ADAL" clId="{9FA03697-443F-4272-B35A-C223FBFF796D}" dt="2020-08-11T15:17:06.745" v="74" actId="1076"/>
          <ac:spMkLst>
            <pc:docMk/>
            <pc:sldMk cId="4195928223" sldId="1026"/>
            <ac:spMk id="6" creationId="{F85F70FE-8CC8-45DD-8BC8-45AE2566A56D}"/>
          </ac:spMkLst>
        </pc:spChg>
        <pc:picChg chg="del">
          <ac:chgData name="Paula-Yuan Gregory" userId="8839d734-a022-4f7a-aa1a-7ded42ea4e8b" providerId="ADAL" clId="{9FA03697-443F-4272-B35A-C223FBFF796D}" dt="2020-08-11T15:17:01.664" v="60" actId="478"/>
          <ac:picMkLst>
            <pc:docMk/>
            <pc:sldMk cId="4195928223" sldId="1026"/>
            <ac:picMk id="70661" creationId="{70B7DD24-A61A-5B41-9872-C8733E07E4AB}"/>
          </ac:picMkLst>
        </pc:picChg>
      </pc:sldChg>
      <pc:sldChg chg="addSp delSp modSp">
        <pc:chgData name="Paula-Yuan Gregory" userId="8839d734-a022-4f7a-aa1a-7ded42ea4e8b" providerId="ADAL" clId="{9FA03697-443F-4272-B35A-C223FBFF796D}" dt="2020-08-11T15:17:42.407" v="89" actId="1076"/>
        <pc:sldMkLst>
          <pc:docMk/>
          <pc:sldMk cId="1796721945" sldId="1043"/>
        </pc:sldMkLst>
        <pc:spChg chg="add mod">
          <ac:chgData name="Paula-Yuan Gregory" userId="8839d734-a022-4f7a-aa1a-7ded42ea4e8b" providerId="ADAL" clId="{9FA03697-443F-4272-B35A-C223FBFF796D}" dt="2020-08-11T15:17:42.407" v="89" actId="1076"/>
          <ac:spMkLst>
            <pc:docMk/>
            <pc:sldMk cId="1796721945" sldId="1043"/>
            <ac:spMk id="6" creationId="{824A1D45-5D43-4385-AB1E-1E95A2690BBA}"/>
          </ac:spMkLst>
        </pc:spChg>
        <pc:picChg chg="del">
          <ac:chgData name="Paula-Yuan Gregory" userId="8839d734-a022-4f7a-aa1a-7ded42ea4e8b" providerId="ADAL" clId="{9FA03697-443F-4272-B35A-C223FBFF796D}" dt="2020-08-11T15:17:36.813" v="75" actId="478"/>
          <ac:picMkLst>
            <pc:docMk/>
            <pc:sldMk cId="1796721945" sldId="1043"/>
            <ac:picMk id="105477" creationId="{FC6C0040-0573-3046-A938-7913F539D43D}"/>
          </ac:picMkLst>
        </pc:picChg>
      </pc:sldChg>
      <pc:sldMasterChg chg="modSp modSldLayout">
        <pc:chgData name="Paula-Yuan Gregory" userId="8839d734-a022-4f7a-aa1a-7ded42ea4e8b" providerId="ADAL" clId="{9FA03697-443F-4272-B35A-C223FBFF796D}" dt="2020-08-11T15:18:54.993" v="93" actId="20577"/>
        <pc:sldMasterMkLst>
          <pc:docMk/>
          <pc:sldMasterMk cId="2871921020" sldId="2147483648"/>
        </pc:sldMasterMkLst>
        <pc:spChg chg="mod">
          <ac:chgData name="Paula-Yuan Gregory" userId="8839d734-a022-4f7a-aa1a-7ded42ea4e8b" providerId="ADAL" clId="{9FA03697-443F-4272-B35A-C223FBFF796D}" dt="2020-08-11T15:18:54.993" v="93" actId="20577"/>
          <ac:spMkLst>
            <pc:docMk/>
            <pc:sldMasterMk cId="2871921020" sldId="2147483648"/>
            <ac:spMk id="7" creationId="{21F38BD8-3F75-CE4C-AFEF-0C6B45F77F8C}"/>
          </ac:spMkLst>
        </pc:spChg>
        <pc:sldLayoutChg chg="modSp">
          <pc:chgData name="Paula-Yuan Gregory" userId="8839d734-a022-4f7a-aa1a-7ded42ea4e8b" providerId="ADAL" clId="{9FA03697-443F-4272-B35A-C223FBFF796D}" dt="2020-08-11T15:18:47.775" v="91" actId="20577"/>
          <pc:sldLayoutMkLst>
            <pc:docMk/>
            <pc:sldMasterMk cId="2871921020" sldId="2147483648"/>
            <pc:sldLayoutMk cId="3047549913" sldId="2147483649"/>
          </pc:sldLayoutMkLst>
          <pc:spChg chg="mod">
            <ac:chgData name="Paula-Yuan Gregory" userId="8839d734-a022-4f7a-aa1a-7ded42ea4e8b" providerId="ADAL" clId="{9FA03697-443F-4272-B35A-C223FBFF796D}" dt="2020-08-11T15:18:47.775" v="91" actId="20577"/>
            <ac:spMkLst>
              <pc:docMk/>
              <pc:sldMasterMk cId="2871921020" sldId="2147483648"/>
              <pc:sldLayoutMk cId="3047549913" sldId="2147483649"/>
              <ac:spMk id="17" creationId="{BEEECFBC-FB4D-9945-A4FF-28E342055AC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3DD8E6CB-FC50-974B-BFCA-0DBA5775D0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Rectangle 3">
            <a:extLst>
              <a:ext uri="{FF2B5EF4-FFF2-40B4-BE49-F238E27FC236}">
                <a16:creationId xmlns:a16="http://schemas.microsoft.com/office/drawing/2014/main" id="{37AF19AF-D356-0049-870A-D0891B09BB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dirty="0"/>
              <a:t>Medicine:</a:t>
            </a:r>
          </a:p>
          <a:p>
            <a:r>
              <a:rPr lang="en-US" altLang="en-US" dirty="0"/>
              <a:t>Recognizes and manages life threats based on assessment findings of a patient with a medical emergency while awaiting additional emergency response.</a:t>
            </a:r>
          </a:p>
          <a:p>
            <a:pPr eaLnBrk="1" hangingPunct="1"/>
            <a:endParaRPr lang="en-US" altLang="en-US" dirty="0"/>
          </a:p>
        </p:txBody>
      </p:sp>
    </p:spTree>
    <p:extLst>
      <p:ext uri="{BB962C8B-B14F-4D97-AF65-F5344CB8AC3E}">
        <p14:creationId xmlns:p14="http://schemas.microsoft.com/office/powerpoint/2010/main" val="3308512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BDA34E5C-BEA4-6C47-9B12-5687D337B9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4" name="Rectangle 3">
            <a:extLst>
              <a:ext uri="{FF2B5EF4-FFF2-40B4-BE49-F238E27FC236}">
                <a16:creationId xmlns:a16="http://schemas.microsoft.com/office/drawing/2014/main" id="{0CDD94CC-0F3E-6644-9098-D3F6C236A3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i="1" dirty="0"/>
              <a:t>Psychiatric:</a:t>
            </a:r>
          </a:p>
          <a:p>
            <a:r>
              <a:rPr lang="en-US" altLang="en-US" dirty="0"/>
              <a:t>Recognition of:</a:t>
            </a:r>
          </a:p>
          <a:p>
            <a:r>
              <a:rPr lang="en-US" altLang="en-US" dirty="0"/>
              <a:t>• Behaviors that pose a risk to EMR, patient, or others. (p 244; pp 246-248)</a:t>
            </a:r>
          </a:p>
          <a:p>
            <a:pPr eaLnBrk="1" hangingPunct="1"/>
            <a:endParaRPr lang="en-US" altLang="en-US" dirty="0"/>
          </a:p>
        </p:txBody>
      </p:sp>
    </p:spTree>
    <p:extLst>
      <p:ext uri="{BB962C8B-B14F-4D97-AF65-F5344CB8AC3E}">
        <p14:creationId xmlns:p14="http://schemas.microsoft.com/office/powerpoint/2010/main" val="2724925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B7DE3D40-40E1-C34C-A2B6-85BA014D8B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2" name="Rectangle 3">
            <a:extLst>
              <a:ext uri="{FF2B5EF4-FFF2-40B4-BE49-F238E27FC236}">
                <a16:creationId xmlns:a16="http://schemas.microsoft.com/office/drawing/2014/main" id="{A31EF5E2-5FFE-C741-A979-9F79DB8801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dirty="0"/>
              <a:t>Special Patient Populations:</a:t>
            </a:r>
            <a:endParaRPr lang="en-US" altLang="en-US" dirty="0"/>
          </a:p>
          <a:p>
            <a:r>
              <a:rPr lang="en-US" altLang="en-US" dirty="0"/>
              <a:t>Recognizes and manages life threats based on simple assessment findings for a patient with special needs while awaiting additional emergency response.</a:t>
            </a:r>
          </a:p>
          <a:p>
            <a:r>
              <a:rPr lang="en-US" altLang="en-US" b="1" i="1" dirty="0"/>
              <a:t>Patients With Special Challenges:</a:t>
            </a:r>
            <a:endParaRPr lang="en-US" altLang="en-US" i="1" dirty="0"/>
          </a:p>
          <a:p>
            <a:r>
              <a:rPr lang="en-US" altLang="en-US" dirty="0"/>
              <a:t>• Recognizing and reporting abuse and neglect. (p 244; pp 248-249)</a:t>
            </a:r>
          </a:p>
        </p:txBody>
      </p:sp>
    </p:spTree>
    <p:extLst>
      <p:ext uri="{BB962C8B-B14F-4D97-AF65-F5344CB8AC3E}">
        <p14:creationId xmlns:p14="http://schemas.microsoft.com/office/powerpoint/2010/main" val="786670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D6F668C2-0D41-2543-AB1F-25ACDADA835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0" name="Rectangle 3">
            <a:extLst>
              <a:ext uri="{FF2B5EF4-FFF2-40B4-BE49-F238E27FC236}">
                <a16:creationId xmlns:a16="http://schemas.microsoft.com/office/drawing/2014/main" id="{1AEFC4A3-775D-7149-9327-8688B458C7E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 Introduction</a:t>
            </a:r>
          </a:p>
          <a:p>
            <a:r>
              <a:rPr lang="en-US" altLang="en-US" dirty="0"/>
              <a:t>A.	Emergency situations have emotional and psychological effects on rescuers, patients, family members and friends, and even bystanders. </a:t>
            </a:r>
          </a:p>
          <a:p>
            <a:r>
              <a:rPr lang="en-US" altLang="en-US" dirty="0"/>
              <a:t>B.	EMRs need to give psychological support as well as necessary emergency medical care. </a:t>
            </a:r>
          </a:p>
          <a:p>
            <a:r>
              <a:rPr lang="en-US" altLang="en-US" dirty="0"/>
              <a:t>C.	Five factors contributing to behavioral changes:</a:t>
            </a:r>
          </a:p>
          <a:p>
            <a:r>
              <a:rPr lang="en-US" altLang="en-US" dirty="0"/>
              <a:t>	1.	Medical conditions. </a:t>
            </a:r>
          </a:p>
          <a:p>
            <a:r>
              <a:rPr lang="en-US" altLang="en-US" dirty="0"/>
              <a:t>	2.	Physical trauma.</a:t>
            </a:r>
          </a:p>
          <a:p>
            <a:r>
              <a:rPr lang="en-US" altLang="en-US" dirty="0"/>
              <a:t>	3.	Psychiatric illnesses.</a:t>
            </a:r>
          </a:p>
          <a:p>
            <a:r>
              <a:rPr lang="en-US" altLang="en-US" dirty="0"/>
              <a:t>	4.	Mind-altering substances.</a:t>
            </a:r>
          </a:p>
          <a:p>
            <a:r>
              <a:rPr lang="en-US" altLang="en-US" dirty="0"/>
              <a:t>	5.	Situational stresses. </a:t>
            </a:r>
          </a:p>
          <a:p>
            <a:pPr eaLnBrk="1" hangingPunct="1"/>
            <a:endParaRPr lang="en-US" altLang="en-US" dirty="0"/>
          </a:p>
        </p:txBody>
      </p:sp>
    </p:spTree>
    <p:extLst>
      <p:ext uri="{BB962C8B-B14F-4D97-AF65-F5344CB8AC3E}">
        <p14:creationId xmlns:p14="http://schemas.microsoft.com/office/powerpoint/2010/main" val="729359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DA17E806-CB2C-6646-8F8F-78C99A1E4E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8" name="Rectangle 3">
            <a:extLst>
              <a:ext uri="{FF2B5EF4-FFF2-40B4-BE49-F238E27FC236}">
                <a16:creationId xmlns:a16="http://schemas.microsoft.com/office/drawing/2014/main" id="{41820B14-25ED-CF43-9E95-6B9854EBFC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Figure: Patient assessment sequence.</a:t>
            </a:r>
          </a:p>
        </p:txBody>
      </p:sp>
    </p:spTree>
    <p:extLst>
      <p:ext uri="{BB962C8B-B14F-4D97-AF65-F5344CB8AC3E}">
        <p14:creationId xmlns:p14="http://schemas.microsoft.com/office/powerpoint/2010/main" val="1067303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1C6D4512-F4F1-7F47-8A72-696E18A7F9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Rectangle 3">
            <a:extLst>
              <a:ext uri="{FF2B5EF4-FFF2-40B4-BE49-F238E27FC236}">
                <a16:creationId xmlns:a16="http://schemas.microsoft.com/office/drawing/2014/main" id="{C3EA1FAB-18E4-964F-8D3D-F2E94FBA1F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II. Patient Assessment in Behavioral Emergencies</a:t>
            </a:r>
          </a:p>
          <a:p>
            <a:r>
              <a:rPr lang="en-US" altLang="en-US" dirty="0"/>
              <a:t>A. 	When you are assessing a patient who appears to be experiencing a behavioral emergency, follow steps of patient assessment sequence.</a:t>
            </a:r>
          </a:p>
          <a:p>
            <a:r>
              <a:rPr lang="en-US" altLang="en-US" dirty="0"/>
              <a:t>	1.	Complete a scene size-up, being especially careful to ensure that scene is safe both for you and for patient.</a:t>
            </a:r>
            <a:endParaRPr lang="en-US" altLang="en-US" b="1" dirty="0"/>
          </a:p>
          <a:p>
            <a:r>
              <a:rPr lang="en-US" altLang="en-US" dirty="0"/>
              <a:t>	2.	If patient is oriented and responsive, complete primary assessment by observing patient’s responsiveness, airway, and breathing, and measuring pulse.</a:t>
            </a:r>
            <a:endParaRPr lang="en-US" altLang="en-US" b="1" dirty="0"/>
          </a:p>
          <a:p>
            <a:r>
              <a:rPr lang="en-US" altLang="en-US" dirty="0"/>
              <a:t>	3.	History should follow SAMPLE format.</a:t>
            </a:r>
            <a:endParaRPr lang="en-US" altLang="en-US" b="1" dirty="0"/>
          </a:p>
          <a:p>
            <a:r>
              <a:rPr lang="en-US" altLang="en-US" dirty="0"/>
              <a:t>		a.	Do not neglect to ask about medical problems.</a:t>
            </a:r>
            <a:endParaRPr lang="en-US" altLang="en-US" b="1" dirty="0"/>
          </a:p>
          <a:p>
            <a:r>
              <a:rPr lang="en-US" altLang="en-US" dirty="0"/>
              <a:t>		b.	It is important not to overlook this part of examination.</a:t>
            </a:r>
            <a:endParaRPr lang="en-US" altLang="en-US" b="1" dirty="0"/>
          </a:p>
          <a:p>
            <a:pPr eaLnBrk="1" hangingPunct="1"/>
            <a:endParaRPr lang="en-US" altLang="en-US" dirty="0"/>
          </a:p>
        </p:txBody>
      </p:sp>
    </p:spTree>
    <p:extLst>
      <p:ext uri="{BB962C8B-B14F-4D97-AF65-F5344CB8AC3E}">
        <p14:creationId xmlns:p14="http://schemas.microsoft.com/office/powerpoint/2010/main" val="1703160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932C65F7-824B-D04C-8DCF-B767D04809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4" name="Rectangle 3">
            <a:extLst>
              <a:ext uri="{FF2B5EF4-FFF2-40B4-BE49-F238E27FC236}">
                <a16:creationId xmlns:a16="http://schemas.microsoft.com/office/drawing/2014/main" id="{2F4265F1-1368-3A44-8A4B-1F55F4B553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4.	Secondary assessment should rule out any obvious injuries and focus on signs of medical illnesses.</a:t>
            </a:r>
            <a:endParaRPr lang="en-US" altLang="en-US" b="1" dirty="0"/>
          </a:p>
          <a:p>
            <a:r>
              <a:rPr lang="en-US" altLang="en-US" dirty="0"/>
              <a:t>		a.	Take a set of vital signs.</a:t>
            </a:r>
            <a:endParaRPr lang="en-US" altLang="en-US" b="1" dirty="0"/>
          </a:p>
          <a:p>
            <a:r>
              <a:rPr lang="en-US" altLang="en-US" dirty="0"/>
              <a:t>		b.	Tell the patient what you are doing at each step of the way.</a:t>
            </a:r>
            <a:endParaRPr lang="en-US" altLang="en-US" b="1" dirty="0"/>
          </a:p>
          <a:p>
            <a:r>
              <a:rPr lang="en-US" altLang="en-US" dirty="0"/>
              <a:t>	5.	Reassess the patient every 15 minutes for a stable patient and every 5 minutes for an unstable patient.</a:t>
            </a:r>
            <a:endParaRPr lang="en-US" altLang="en-US" b="1" dirty="0"/>
          </a:p>
          <a:p>
            <a:r>
              <a:rPr lang="en-US" altLang="en-US" dirty="0"/>
              <a:t>		a.	In cases where you cannot complete the assessment, document the assessment findings and the reason for not completing all steps.</a:t>
            </a:r>
            <a:endParaRPr lang="en-US" altLang="en-US" b="1" dirty="0"/>
          </a:p>
          <a:p>
            <a:pPr eaLnBrk="1" hangingPunct="1"/>
            <a:endParaRPr lang="en-US" altLang="en-US" dirty="0"/>
          </a:p>
        </p:txBody>
      </p:sp>
    </p:spTree>
    <p:extLst>
      <p:ext uri="{BB962C8B-B14F-4D97-AF65-F5344CB8AC3E}">
        <p14:creationId xmlns:p14="http://schemas.microsoft.com/office/powerpoint/2010/main" val="194664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5F32D3A3-1217-5C48-8654-89E054684F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Rectangle 3">
            <a:extLst>
              <a:ext uri="{FF2B5EF4-FFF2-40B4-BE49-F238E27FC236}">
                <a16:creationId xmlns:a16="http://schemas.microsoft.com/office/drawing/2014/main" id="{EE681865-852C-7A4A-BAA0-F9BEB5EAEB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III. Behavioral Crises</a:t>
            </a:r>
          </a:p>
          <a:p>
            <a:r>
              <a:rPr lang="en-US" altLang="en-US" dirty="0"/>
              <a:t>A. 	Behavioral emergencies are situations in which persons exhibit abnormal, unacceptable behavior that cannot be tolerated by the patients themselves or by family, friends, or community.</a:t>
            </a:r>
          </a:p>
          <a:p>
            <a:r>
              <a:rPr lang="en-US" altLang="en-US" dirty="0"/>
              <a:t>B.	Five main factors contribute to behavioral changes.</a:t>
            </a:r>
          </a:p>
          <a:p>
            <a:r>
              <a:rPr lang="en-US" altLang="en-US" dirty="0"/>
              <a:t>	1.	Medical conditions:</a:t>
            </a:r>
            <a:endParaRPr lang="en-US" altLang="en-US" b="1" dirty="0"/>
          </a:p>
          <a:p>
            <a:r>
              <a:rPr lang="en-US" altLang="en-US" dirty="0"/>
              <a:t>		a.	Uncontrolled diabetes that causes low blood glucose.</a:t>
            </a:r>
            <a:endParaRPr lang="en-US" altLang="en-US" b="1" dirty="0"/>
          </a:p>
          <a:p>
            <a:r>
              <a:rPr lang="en-US" altLang="en-US" dirty="0"/>
              <a:t>		b.	Respiratory conditions that prevent patient’s brain from receiving enough oxygen.</a:t>
            </a:r>
            <a:endParaRPr lang="en-US" altLang="en-US" b="1" dirty="0"/>
          </a:p>
          <a:p>
            <a:r>
              <a:rPr lang="en-US" altLang="en-US" dirty="0"/>
              <a:t>		c.	Strokes.</a:t>
            </a:r>
            <a:endParaRPr lang="en-US" altLang="en-US" b="1" dirty="0"/>
          </a:p>
          <a:p>
            <a:pPr eaLnBrk="1" hangingPunct="1"/>
            <a:endParaRPr lang="en-US" altLang="en-US" dirty="0"/>
          </a:p>
        </p:txBody>
      </p:sp>
    </p:spTree>
    <p:extLst>
      <p:ext uri="{BB962C8B-B14F-4D97-AF65-F5344CB8AC3E}">
        <p14:creationId xmlns:p14="http://schemas.microsoft.com/office/powerpoint/2010/main" val="2689521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F7B4B61D-62E1-5F48-AE9E-F237A2963D1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0" name="Rectangle 3">
            <a:extLst>
              <a:ext uri="{FF2B5EF4-FFF2-40B4-BE49-F238E27FC236}">
                <a16:creationId xmlns:a16="http://schemas.microsoft.com/office/drawing/2014/main" id="{0E18AD77-4FA2-144B-A734-277E6004B19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d.	Head injuries.</a:t>
            </a:r>
            <a:endParaRPr lang="en-US" altLang="en-US" b="1" dirty="0"/>
          </a:p>
          <a:p>
            <a:r>
              <a:rPr lang="en-US" altLang="en-US" dirty="0"/>
              <a:t>		e.	High fevers.</a:t>
            </a:r>
            <a:endParaRPr lang="en-US" altLang="en-US" b="1" dirty="0"/>
          </a:p>
          <a:p>
            <a:r>
              <a:rPr lang="en-US" altLang="en-US" dirty="0"/>
              <a:t>		f.	Infections.</a:t>
            </a:r>
            <a:endParaRPr lang="en-US" altLang="en-US" b="1" dirty="0"/>
          </a:p>
          <a:p>
            <a:r>
              <a:rPr lang="en-US" altLang="en-US" dirty="0"/>
              <a:t>		g.	Excessively low body temperature.</a:t>
            </a:r>
            <a:endParaRPr lang="en-US" altLang="en-US" b="1" dirty="0"/>
          </a:p>
          <a:p>
            <a:r>
              <a:rPr lang="en-US" altLang="en-US" dirty="0"/>
              <a:t>	2.	Physical trauma conditions:</a:t>
            </a:r>
            <a:endParaRPr lang="en-US" altLang="en-US" b="1" dirty="0"/>
          </a:p>
          <a:p>
            <a:r>
              <a:rPr lang="en-US" altLang="en-US" dirty="0"/>
              <a:t>		a.	Head injuries</a:t>
            </a:r>
            <a:endParaRPr lang="en-US" altLang="en-US" b="1" dirty="0"/>
          </a:p>
          <a:p>
            <a:r>
              <a:rPr lang="en-US" altLang="en-US" dirty="0"/>
              <a:t>		b.	Injuries that result in shock and an inadequate blood supply to brain.</a:t>
            </a:r>
            <a:endParaRPr lang="en-US" altLang="en-US" b="1" dirty="0"/>
          </a:p>
          <a:p>
            <a:pPr eaLnBrk="1" hangingPunct="1"/>
            <a:endParaRPr lang="en-US" altLang="en-US" dirty="0"/>
          </a:p>
        </p:txBody>
      </p:sp>
    </p:spTree>
    <p:extLst>
      <p:ext uri="{BB962C8B-B14F-4D97-AF65-F5344CB8AC3E}">
        <p14:creationId xmlns:p14="http://schemas.microsoft.com/office/powerpoint/2010/main" val="1776058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CAFBF1AE-97A1-7346-8FC7-CE5303FE652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Rectangle 3">
            <a:extLst>
              <a:ext uri="{FF2B5EF4-FFF2-40B4-BE49-F238E27FC236}">
                <a16:creationId xmlns:a16="http://schemas.microsoft.com/office/drawing/2014/main" id="{FE6A5D03-4E1C-664F-A453-39A0CB2390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3.	Psychiatric illnesses:</a:t>
            </a:r>
            <a:endParaRPr lang="en-US" altLang="en-US" b="1" dirty="0"/>
          </a:p>
          <a:p>
            <a:r>
              <a:rPr lang="en-US" altLang="en-US" dirty="0"/>
              <a:t>		a.	Depression.</a:t>
            </a:r>
            <a:endParaRPr lang="en-US" altLang="en-US" b="1" dirty="0"/>
          </a:p>
          <a:p>
            <a:r>
              <a:rPr lang="en-US" altLang="en-US" dirty="0"/>
              <a:t>		b.	Panic.</a:t>
            </a:r>
            <a:endParaRPr lang="en-US" altLang="en-US" b="1" dirty="0"/>
          </a:p>
          <a:p>
            <a:r>
              <a:rPr lang="en-US" altLang="en-US" dirty="0"/>
              <a:t>		c.	Psychotic behavior.</a:t>
            </a:r>
            <a:endParaRPr lang="en-US" altLang="en-US" b="1" dirty="0"/>
          </a:p>
          <a:p>
            <a:r>
              <a:rPr lang="en-US" altLang="en-US" dirty="0"/>
              <a:t>	4.	Mind-altering substances:</a:t>
            </a:r>
            <a:endParaRPr lang="en-US" altLang="en-US" b="1" dirty="0"/>
          </a:p>
          <a:p>
            <a:r>
              <a:rPr lang="en-US" altLang="en-US" dirty="0"/>
              <a:t>		a.	Alcohol.</a:t>
            </a:r>
            <a:endParaRPr lang="en-US" altLang="en-US" b="1" dirty="0"/>
          </a:p>
          <a:p>
            <a:r>
              <a:rPr lang="en-US" altLang="en-US" dirty="0"/>
              <a:t>		b.	A wide variety of chemical substances.</a:t>
            </a:r>
            <a:endParaRPr lang="en-US" altLang="en-US" b="1" dirty="0"/>
          </a:p>
          <a:p>
            <a:pPr eaLnBrk="1" hangingPunct="1"/>
            <a:endParaRPr lang="en-US" altLang="en-US" dirty="0"/>
          </a:p>
        </p:txBody>
      </p:sp>
    </p:spTree>
    <p:extLst>
      <p:ext uri="{BB962C8B-B14F-4D97-AF65-F5344CB8AC3E}">
        <p14:creationId xmlns:p14="http://schemas.microsoft.com/office/powerpoint/2010/main" val="2867627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DA14C92F-9432-EC4C-B95A-0AC3C871CC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6" name="Rectangle 3">
            <a:extLst>
              <a:ext uri="{FF2B5EF4-FFF2-40B4-BE49-F238E27FC236}">
                <a16:creationId xmlns:a16="http://schemas.microsoft.com/office/drawing/2014/main" id="{A0135D8C-5145-7343-80FA-E9376FA1791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5.	Situational stresses from a variety of emotional traumas:</a:t>
            </a:r>
            <a:endParaRPr lang="en-US" altLang="en-US" b="1" dirty="0"/>
          </a:p>
          <a:p>
            <a:r>
              <a:rPr lang="en-US" altLang="en-US" dirty="0"/>
              <a:t>		a.	Death of a loved one.</a:t>
            </a:r>
            <a:endParaRPr lang="en-US" altLang="en-US" b="1" dirty="0"/>
          </a:p>
          <a:p>
            <a:r>
              <a:rPr lang="en-US" altLang="en-US" dirty="0"/>
              <a:t>		b.	Serious injury to a loved one.</a:t>
            </a:r>
            <a:endParaRPr lang="en-US" altLang="en-US" b="1" dirty="0"/>
          </a:p>
          <a:p>
            <a:pPr eaLnBrk="1" hangingPunct="1"/>
            <a:endParaRPr lang="en-US" altLang="en-US" dirty="0"/>
          </a:p>
        </p:txBody>
      </p:sp>
    </p:spTree>
    <p:extLst>
      <p:ext uri="{BB962C8B-B14F-4D97-AF65-F5344CB8AC3E}">
        <p14:creationId xmlns:p14="http://schemas.microsoft.com/office/powerpoint/2010/main" val="1493962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6DF2DEB2-13DA-8846-AFC8-A4460D3BC02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Rectangle 3">
            <a:extLst>
              <a:ext uri="{FF2B5EF4-FFF2-40B4-BE49-F238E27FC236}">
                <a16:creationId xmlns:a16="http://schemas.microsoft.com/office/drawing/2014/main" id="{D076AD98-CF77-9144-BD9C-497479A4F1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IV. What Is a Situational Crisis?</a:t>
            </a:r>
          </a:p>
          <a:p>
            <a:r>
              <a:rPr lang="en-US" altLang="en-US" dirty="0"/>
              <a:t>A.	A situational crisis is a state of emotional upset or turmoil.</a:t>
            </a:r>
          </a:p>
          <a:p>
            <a:r>
              <a:rPr lang="en-US" altLang="en-US" dirty="0"/>
              <a:t>B.	The crisis is caused by a sudden and disruptive event such as a physical illness, a traumatic injury, or death of a loved one.</a:t>
            </a:r>
          </a:p>
          <a:p>
            <a:r>
              <a:rPr lang="en-US" altLang="en-US" dirty="0"/>
              <a:t>C.	You will often encounter this type of crisis as an EMR. </a:t>
            </a:r>
          </a:p>
          <a:p>
            <a:r>
              <a:rPr lang="en-US" altLang="en-US" dirty="0"/>
              <a:t>D.	Most situational crises:</a:t>
            </a:r>
          </a:p>
          <a:p>
            <a:r>
              <a:rPr lang="en-US" altLang="en-US" dirty="0"/>
              <a:t>	1.	Are sudden and unexpected (such as a motor vehicle crash).</a:t>
            </a:r>
          </a:p>
          <a:p>
            <a:r>
              <a:rPr lang="en-US" altLang="en-US" dirty="0"/>
              <a:t>	2.	Cannot be handled by person’s usual coping mechanisms.</a:t>
            </a:r>
          </a:p>
          <a:p>
            <a:r>
              <a:rPr lang="en-US" altLang="en-US" dirty="0"/>
              <a:t>	3.	Last only a short time. </a:t>
            </a:r>
          </a:p>
          <a:p>
            <a:r>
              <a:rPr lang="en-US" altLang="en-US" dirty="0"/>
              <a:t>	4.	Can cause socially unacceptable, self-destructive, or dangerous behavior. </a:t>
            </a:r>
          </a:p>
          <a:p>
            <a:pPr eaLnBrk="1" hangingPunct="1"/>
            <a:endParaRPr lang="en-US" altLang="en-US" dirty="0"/>
          </a:p>
        </p:txBody>
      </p:sp>
    </p:spTree>
    <p:extLst>
      <p:ext uri="{BB962C8B-B14F-4D97-AF65-F5344CB8AC3E}">
        <p14:creationId xmlns:p14="http://schemas.microsoft.com/office/powerpoint/2010/main" val="3069133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BCDBF903-DB2E-0742-B81F-F21D906AB3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Rectangle 3">
            <a:extLst>
              <a:ext uri="{FF2B5EF4-FFF2-40B4-BE49-F238E27FC236}">
                <a16:creationId xmlns:a16="http://schemas.microsoft.com/office/drawing/2014/main" id="{5E289F30-2CC7-4C45-94CD-36A92CF0CF7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 Phases of a Situational Crisis</a:t>
            </a:r>
          </a:p>
          <a:p>
            <a:r>
              <a:rPr lang="en-US" altLang="en-US" dirty="0"/>
              <a:t>A.	There are four emotional phases to each situational crisis.</a:t>
            </a:r>
          </a:p>
          <a:p>
            <a:r>
              <a:rPr lang="en-US" altLang="en-US" dirty="0"/>
              <a:t>	1.	People may not experience every phase during a crisis, but they will certainly experience one or more. </a:t>
            </a:r>
          </a:p>
          <a:p>
            <a:r>
              <a:rPr lang="en-US" altLang="en-US" dirty="0"/>
              <a:t>	2.	Understanding what these phases are and why they occur will help you better treat people who are experiencing an emotional crisis. </a:t>
            </a:r>
          </a:p>
          <a:p>
            <a:r>
              <a:rPr lang="en-US" altLang="en-US" dirty="0"/>
              <a:t>	3.	Emotional phases:</a:t>
            </a:r>
          </a:p>
          <a:p>
            <a:r>
              <a:rPr lang="en-US" altLang="en-US" dirty="0"/>
              <a:t>		a.	High anxiety or emotional shock.</a:t>
            </a:r>
          </a:p>
          <a:p>
            <a:r>
              <a:rPr lang="en-US" altLang="en-US" dirty="0"/>
              <a:t>		b.	Denial.</a:t>
            </a:r>
          </a:p>
          <a:p>
            <a:r>
              <a:rPr lang="en-US" altLang="en-US" dirty="0"/>
              <a:t>		c.	Anger.</a:t>
            </a:r>
          </a:p>
          <a:p>
            <a:r>
              <a:rPr lang="en-US" altLang="en-US" dirty="0"/>
              <a:t>		d.	Remorse and grief.</a:t>
            </a:r>
          </a:p>
          <a:p>
            <a:pPr eaLnBrk="1" hangingPunct="1"/>
            <a:endParaRPr lang="en-US" altLang="en-US" dirty="0"/>
          </a:p>
        </p:txBody>
      </p:sp>
    </p:spTree>
    <p:extLst>
      <p:ext uri="{BB962C8B-B14F-4D97-AF65-F5344CB8AC3E}">
        <p14:creationId xmlns:p14="http://schemas.microsoft.com/office/powerpoint/2010/main" val="2130415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A01AF44B-95B1-8940-87EE-ACC14B720DC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0" name="Rectangle 3">
            <a:extLst>
              <a:ext uri="{FF2B5EF4-FFF2-40B4-BE49-F238E27FC236}">
                <a16:creationId xmlns:a16="http://schemas.microsoft.com/office/drawing/2014/main" id="{0E21ECB4-DFD2-C149-886C-793C5736E5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	High anxiety or emotional shock:</a:t>
            </a:r>
          </a:p>
          <a:p>
            <a:r>
              <a:rPr lang="en-US" altLang="en-US" dirty="0"/>
              <a:t>	1.	High anxiety is characterized by obvious signs and symptoms:</a:t>
            </a:r>
          </a:p>
          <a:p>
            <a:r>
              <a:rPr lang="en-US" altLang="en-US" dirty="0"/>
              <a:t>		a.	Flushed (red) face.</a:t>
            </a:r>
          </a:p>
          <a:p>
            <a:r>
              <a:rPr lang="en-US" altLang="en-US" dirty="0"/>
              <a:t>		b.	Rapid breathing.</a:t>
            </a:r>
          </a:p>
          <a:p>
            <a:r>
              <a:rPr lang="en-US" altLang="en-US" dirty="0"/>
              <a:t>		c.	Rapid speech.</a:t>
            </a:r>
          </a:p>
          <a:p>
            <a:r>
              <a:rPr lang="en-US" altLang="en-US" dirty="0"/>
              <a:t>		d.	Increased activity.</a:t>
            </a:r>
          </a:p>
          <a:p>
            <a:r>
              <a:rPr lang="en-US" altLang="en-US" dirty="0"/>
              <a:t>		e.	Loud or screaming voice.</a:t>
            </a:r>
          </a:p>
          <a:p>
            <a:r>
              <a:rPr lang="en-US" altLang="en-US" dirty="0"/>
              <a:t>		f.	General agitation.</a:t>
            </a:r>
          </a:p>
          <a:p>
            <a:pPr eaLnBrk="1" hangingPunct="1"/>
            <a:endParaRPr lang="en-US" altLang="en-US" dirty="0"/>
          </a:p>
        </p:txBody>
      </p:sp>
    </p:spTree>
    <p:extLst>
      <p:ext uri="{BB962C8B-B14F-4D97-AF65-F5344CB8AC3E}">
        <p14:creationId xmlns:p14="http://schemas.microsoft.com/office/powerpoint/2010/main" val="2785731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8E0D354C-2F6E-4A4E-B662-48B1A7B896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8" name="Rectangle 3">
            <a:extLst>
              <a:ext uri="{FF2B5EF4-FFF2-40B4-BE49-F238E27FC236}">
                <a16:creationId xmlns:a16="http://schemas.microsoft.com/office/drawing/2014/main" id="{706163AE-772B-0A4E-8407-3840322C7E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2.	Emotional shock is often the result of a sudden illness, accident, or sudden death of a loved one and is characterized by:</a:t>
            </a:r>
          </a:p>
          <a:p>
            <a:r>
              <a:rPr lang="en-US" altLang="en-US" dirty="0"/>
              <a:t>	a.	Cool, clammy skin.</a:t>
            </a:r>
          </a:p>
          <a:p>
            <a:r>
              <a:rPr lang="en-US" altLang="en-US" dirty="0"/>
              <a:t>	b.	A rapid, weak pulse.</a:t>
            </a:r>
          </a:p>
          <a:p>
            <a:r>
              <a:rPr lang="en-US" altLang="en-US" dirty="0"/>
              <a:t>	c.	Vomiting and nausea. </a:t>
            </a:r>
          </a:p>
          <a:p>
            <a:r>
              <a:rPr lang="en-US" altLang="en-US" dirty="0"/>
              <a:t>	d.	General inactivity and weakness. </a:t>
            </a:r>
          </a:p>
          <a:p>
            <a:pPr eaLnBrk="1" hangingPunct="1"/>
            <a:endParaRPr lang="en-US" altLang="en-US" dirty="0"/>
          </a:p>
        </p:txBody>
      </p:sp>
    </p:spTree>
    <p:extLst>
      <p:ext uri="{BB962C8B-B14F-4D97-AF65-F5344CB8AC3E}">
        <p14:creationId xmlns:p14="http://schemas.microsoft.com/office/powerpoint/2010/main" val="22374310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6E112148-0A59-F84A-9C0E-545DC91B0F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Rectangle 3">
            <a:extLst>
              <a:ext uri="{FF2B5EF4-FFF2-40B4-BE49-F238E27FC236}">
                <a16:creationId xmlns:a16="http://schemas.microsoft.com/office/drawing/2014/main" id="{522EC700-6403-B64C-8FB3-B20BBB7705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	Denial</a:t>
            </a:r>
          </a:p>
          <a:p>
            <a:r>
              <a:rPr lang="en-US" altLang="en-US" dirty="0"/>
              <a:t>	1.	Refusal to accept fact that an event has occurred</a:t>
            </a:r>
          </a:p>
          <a:p>
            <a:r>
              <a:rPr lang="en-US" altLang="en-US" dirty="0"/>
              <a:t>	2.	Your response should be as follows:</a:t>
            </a:r>
          </a:p>
          <a:p>
            <a:r>
              <a:rPr lang="en-US" altLang="en-US" dirty="0"/>
              <a:t>		a.	Allow patient to express denial. </a:t>
            </a:r>
          </a:p>
          <a:p>
            <a:r>
              <a:rPr lang="en-US" altLang="en-US" dirty="0"/>
              <a:t>		b.	Do not argue with patient. </a:t>
            </a:r>
          </a:p>
          <a:p>
            <a:r>
              <a:rPr lang="en-US" altLang="en-US" dirty="0"/>
              <a:t>		c.	Try to understand emotional and psychological trauma that patient is experiencing. </a:t>
            </a:r>
          </a:p>
          <a:p>
            <a:pPr eaLnBrk="1" hangingPunct="1"/>
            <a:endParaRPr lang="en-US" altLang="en-US" dirty="0"/>
          </a:p>
        </p:txBody>
      </p:sp>
    </p:spTree>
    <p:extLst>
      <p:ext uri="{BB962C8B-B14F-4D97-AF65-F5344CB8AC3E}">
        <p14:creationId xmlns:p14="http://schemas.microsoft.com/office/powerpoint/2010/main" val="38592577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7777F5E1-551E-9B44-B3C2-634D1E67CBA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4" name="Rectangle 3">
            <a:extLst>
              <a:ext uri="{FF2B5EF4-FFF2-40B4-BE49-F238E27FC236}">
                <a16:creationId xmlns:a16="http://schemas.microsoft.com/office/drawing/2014/main" id="{0886B19B-CDD5-F346-AB3D-082BA7C453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	Anger</a:t>
            </a:r>
          </a:p>
          <a:p>
            <a:r>
              <a:rPr lang="en-US" altLang="en-US" dirty="0"/>
              <a:t>	1.	Anger is a normal human response to emotional overload or frustration.</a:t>
            </a:r>
          </a:p>
          <a:p>
            <a:r>
              <a:rPr lang="en-US" altLang="en-US" dirty="0"/>
              <a:t>	2.	Anger may follow denial or may occur instead of denial.</a:t>
            </a:r>
          </a:p>
          <a:p>
            <a:r>
              <a:rPr lang="en-US" altLang="en-US" dirty="0"/>
              <a:t>	3.	In a crisis, people may vent angry feelings at you or an authority figure. </a:t>
            </a:r>
          </a:p>
          <a:p>
            <a:r>
              <a:rPr lang="en-US" altLang="en-US" dirty="0"/>
              <a:t>		a.	Do not take person’s anger personally, but acknowledge that it is a reaction to stress.</a:t>
            </a:r>
          </a:p>
          <a:p>
            <a:r>
              <a:rPr lang="en-US" altLang="en-US" dirty="0"/>
              <a:t>	4.	Frustration and a sense of helplessness can often build to anger.</a:t>
            </a:r>
          </a:p>
          <a:p>
            <a:r>
              <a:rPr lang="en-US" altLang="en-US" dirty="0"/>
              <a:t>		a.	Always be professional and do not react to anger by becoming angry yourself.</a:t>
            </a:r>
          </a:p>
          <a:p>
            <a:r>
              <a:rPr lang="en-US" altLang="en-US" dirty="0"/>
              <a:t>		b.	Remain calm and deliberate in your actions to prevent escalation of violence.</a:t>
            </a:r>
          </a:p>
          <a:p>
            <a:pPr eaLnBrk="1" hangingPunct="1"/>
            <a:endParaRPr lang="en-US" altLang="en-US" dirty="0"/>
          </a:p>
        </p:txBody>
      </p:sp>
    </p:spTree>
    <p:extLst>
      <p:ext uri="{BB962C8B-B14F-4D97-AF65-F5344CB8AC3E}">
        <p14:creationId xmlns:p14="http://schemas.microsoft.com/office/powerpoint/2010/main" val="37170722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3038483C-BC4B-F24D-B292-E288AE7828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2" name="Rectangle 3">
            <a:extLst>
              <a:ext uri="{FF2B5EF4-FFF2-40B4-BE49-F238E27FC236}">
                <a16:creationId xmlns:a16="http://schemas.microsoft.com/office/drawing/2014/main" id="{17F2B4F8-2572-FA4C-98D9-850B500A08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E.	Remorse or grief:</a:t>
            </a:r>
          </a:p>
          <a:p>
            <a:r>
              <a:rPr lang="en-US" altLang="en-US" dirty="0"/>
              <a:t>	1.	An acceptance of situation may lead to remorse or grief.</a:t>
            </a:r>
          </a:p>
          <a:p>
            <a:r>
              <a:rPr lang="en-US" altLang="en-US" dirty="0"/>
              <a:t>	2.	People may feel guilty or apologetic about their behavior or actions during an incident or about incident itself.</a:t>
            </a:r>
          </a:p>
          <a:p>
            <a:pPr eaLnBrk="1" hangingPunct="1"/>
            <a:endParaRPr lang="en-US" altLang="en-US" dirty="0"/>
          </a:p>
          <a:p>
            <a:pPr eaLnBrk="1" hangingPunct="1"/>
            <a:r>
              <a:rPr lang="en-US" altLang="en-US" dirty="0"/>
              <a:t>Figure: An acceptance of situation may lead to grief.</a:t>
            </a:r>
          </a:p>
        </p:txBody>
      </p:sp>
    </p:spTree>
    <p:extLst>
      <p:ext uri="{BB962C8B-B14F-4D97-AF65-F5344CB8AC3E}">
        <p14:creationId xmlns:p14="http://schemas.microsoft.com/office/powerpoint/2010/main" val="32242080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ED50FEB8-ECE0-524C-8324-685FB4D730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Rectangle 3">
            <a:extLst>
              <a:ext uri="{FF2B5EF4-FFF2-40B4-BE49-F238E27FC236}">
                <a16:creationId xmlns:a16="http://schemas.microsoft.com/office/drawing/2014/main" id="{D2D01198-A5C1-AC4A-9DBD-CF987C4AFB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VI. Crisis Management</a:t>
            </a:r>
          </a:p>
          <a:p>
            <a:r>
              <a:rPr lang="en-US" altLang="en-US" dirty="0"/>
              <a:t>A.	Role of EMR:</a:t>
            </a:r>
          </a:p>
          <a:p>
            <a:r>
              <a:rPr lang="en-US" altLang="en-US" dirty="0"/>
              <a:t>	1.	Follow steps of patient assessment sequence:</a:t>
            </a:r>
          </a:p>
          <a:p>
            <a:r>
              <a:rPr lang="en-US" altLang="en-US" dirty="0"/>
              <a:t>		a.	Perform a scene size-up.</a:t>
            </a:r>
          </a:p>
          <a:p>
            <a:r>
              <a:rPr lang="en-US" altLang="en-US" dirty="0"/>
              <a:t>		b.	Perform a primary assessment.</a:t>
            </a:r>
          </a:p>
          <a:p>
            <a:r>
              <a:rPr lang="en-US" altLang="en-US" dirty="0"/>
              <a:t>		c.	Obtain patient’s medical history (SAMPLE).</a:t>
            </a:r>
          </a:p>
          <a:p>
            <a:r>
              <a:rPr lang="en-US" altLang="en-US" dirty="0"/>
              <a:t>		d.	Perform a secondary assessment.</a:t>
            </a:r>
          </a:p>
          <a:p>
            <a:r>
              <a:rPr lang="en-US" altLang="en-US" dirty="0"/>
              <a:t>		e.	Provide reassessment.</a:t>
            </a:r>
          </a:p>
          <a:p>
            <a:r>
              <a:rPr lang="en-US" altLang="en-US" dirty="0"/>
              <a:t>	2.	Most important assessment skill may be your ability to communicate with patient.</a:t>
            </a:r>
          </a:p>
          <a:p>
            <a:pPr eaLnBrk="1" hangingPunct="1"/>
            <a:endParaRPr lang="en-US" altLang="en-US" dirty="0"/>
          </a:p>
        </p:txBody>
      </p:sp>
    </p:spTree>
    <p:extLst>
      <p:ext uri="{BB962C8B-B14F-4D97-AF65-F5344CB8AC3E}">
        <p14:creationId xmlns:p14="http://schemas.microsoft.com/office/powerpoint/2010/main" val="2615797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4ED20235-4034-9848-B375-CD31C4D30F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8" name="Rectangle 3">
            <a:extLst>
              <a:ext uri="{FF2B5EF4-FFF2-40B4-BE49-F238E27FC236}">
                <a16:creationId xmlns:a16="http://schemas.microsoft.com/office/drawing/2014/main" id="{2AEA44EF-8605-C042-AFFC-CE22399E401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	Communicating with the patient	</a:t>
            </a:r>
          </a:p>
          <a:p>
            <a:r>
              <a:rPr lang="en-US" altLang="en-US" dirty="0"/>
              <a:t>	1.	First and most important step you can take in crisis management is to talk with person.</a:t>
            </a:r>
          </a:p>
          <a:p>
            <a:r>
              <a:rPr lang="en-US" altLang="en-US" dirty="0"/>
              <a:t>		a.	Introduce yourself to patient.</a:t>
            </a:r>
          </a:p>
          <a:p>
            <a:r>
              <a:rPr lang="en-US" altLang="en-US" dirty="0"/>
              <a:t>		b.	Ask patient his or her name.</a:t>
            </a:r>
          </a:p>
          <a:p>
            <a:r>
              <a:rPr lang="en-US" altLang="en-US" dirty="0"/>
              <a:t>		c.	Ask what you can do to help.</a:t>
            </a:r>
          </a:p>
          <a:p>
            <a:r>
              <a:rPr lang="en-US" altLang="en-US" dirty="0"/>
              <a:t>	2.	Be honest, warm, caring, and empathetic. </a:t>
            </a:r>
          </a:p>
          <a:p>
            <a:r>
              <a:rPr lang="en-US" altLang="en-US" dirty="0"/>
              <a:t>	3.	Position yourself at patient’s eye level.</a:t>
            </a:r>
          </a:p>
          <a:p>
            <a:pPr eaLnBrk="1" hangingPunct="1"/>
            <a:endParaRPr lang="en-US" altLang="en-US" dirty="0"/>
          </a:p>
          <a:p>
            <a:pPr eaLnBrk="1" hangingPunct="1"/>
            <a:r>
              <a:rPr lang="en-US" altLang="en-US" dirty="0"/>
              <a:t>Figure: </a:t>
            </a:r>
            <a:r>
              <a:rPr lang="en-US" altLang="en-US" b="1" dirty="0"/>
              <a:t>(Top) </a:t>
            </a:r>
            <a:r>
              <a:rPr lang="en-US" altLang="en-US" dirty="0"/>
              <a:t>Crouch or seat yourself at same level as patient. </a:t>
            </a:r>
            <a:r>
              <a:rPr lang="en-US" altLang="en-US" b="1" dirty="0"/>
              <a:t>(Bottom) </a:t>
            </a:r>
            <a:r>
              <a:rPr lang="en-US" altLang="en-US" dirty="0"/>
              <a:t>This body language communicates an uncaring attitude.</a:t>
            </a:r>
          </a:p>
        </p:txBody>
      </p:sp>
    </p:spTree>
    <p:extLst>
      <p:ext uri="{BB962C8B-B14F-4D97-AF65-F5344CB8AC3E}">
        <p14:creationId xmlns:p14="http://schemas.microsoft.com/office/powerpoint/2010/main" val="26339947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3DED62F5-B412-EB40-9AEA-563E07382F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Rectangle 3">
            <a:extLst>
              <a:ext uri="{FF2B5EF4-FFF2-40B4-BE49-F238E27FC236}">
                <a16:creationId xmlns:a16="http://schemas.microsoft.com/office/drawing/2014/main" id="{210CBB9B-A479-1A43-A37A-343F28C26B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4.	Establish eye contact with patient.</a:t>
            </a:r>
          </a:p>
          <a:p>
            <a:r>
              <a:rPr lang="en-US" altLang="en-US" dirty="0"/>
              <a:t>	5.	Use a calm, steady voice and provide honest reassurance.</a:t>
            </a:r>
          </a:p>
          <a:p>
            <a:r>
              <a:rPr lang="en-US" altLang="en-US" dirty="0"/>
              <a:t>	6.	Try not to let negative personal feelings about the person or about the person’s behavior interfere with your attempt to provide assistance.</a:t>
            </a:r>
          </a:p>
          <a:p>
            <a:r>
              <a:rPr lang="en-US" altLang="en-US" dirty="0"/>
              <a:t>	7.	Simple acts of kindness can comfort and reassure a patient in a situational crisis.</a:t>
            </a:r>
          </a:p>
          <a:p>
            <a:pPr eaLnBrk="1" hangingPunct="1"/>
            <a:endParaRPr lang="en-US" altLang="en-US" dirty="0"/>
          </a:p>
        </p:txBody>
      </p:sp>
    </p:spTree>
    <p:extLst>
      <p:ext uri="{BB962C8B-B14F-4D97-AF65-F5344CB8AC3E}">
        <p14:creationId xmlns:p14="http://schemas.microsoft.com/office/powerpoint/2010/main" val="24175928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37EBE14C-4A5E-4B42-866A-7EBB680F0E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4" name="Rectangle 3">
            <a:extLst>
              <a:ext uri="{FF2B5EF4-FFF2-40B4-BE49-F238E27FC236}">
                <a16:creationId xmlns:a16="http://schemas.microsoft.com/office/drawing/2014/main" id="{3EC536D2-D7FA-9E41-8C6E-76D8B6EAFEB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8.	Restatement:</a:t>
            </a:r>
            <a:endParaRPr lang="en-US" altLang="en-US" b="1" dirty="0"/>
          </a:p>
          <a:p>
            <a:r>
              <a:rPr lang="en-US" altLang="en-US" dirty="0"/>
              <a:t>		a.	Rephrasing a person’s own words and thoughts and repeating them back to person.</a:t>
            </a:r>
          </a:p>
          <a:p>
            <a:r>
              <a:rPr lang="en-US" altLang="en-US" dirty="0"/>
              <a:t>		b.	It is usually not helpful to say, “I know what you mean” or “I know how you feel.”</a:t>
            </a:r>
          </a:p>
          <a:p>
            <a:r>
              <a:rPr lang="en-US" altLang="en-US" dirty="0"/>
              <a:t>		c.	Be honest and give patient hope, but do not give false hope. </a:t>
            </a:r>
          </a:p>
          <a:p>
            <a:r>
              <a:rPr lang="en-US" altLang="en-US" dirty="0"/>
              <a:t>	9.	Redirection:</a:t>
            </a:r>
            <a:endParaRPr lang="en-US" altLang="en-US" b="1" dirty="0"/>
          </a:p>
          <a:p>
            <a:r>
              <a:rPr lang="en-US" altLang="en-US" dirty="0"/>
              <a:t>		a.	Sometimes a patient may be embarrassed about being center of attention or may be concerned about others involved in situation.</a:t>
            </a:r>
          </a:p>
          <a:p>
            <a:r>
              <a:rPr lang="en-US" altLang="en-US" dirty="0"/>
              <a:t>		b.	Redirection helps focus a patient’s attention on immediate situation or crisis.</a:t>
            </a:r>
          </a:p>
          <a:p>
            <a:pPr eaLnBrk="1" hangingPunct="1"/>
            <a:endParaRPr lang="en-US" altLang="en-US" dirty="0"/>
          </a:p>
        </p:txBody>
      </p:sp>
    </p:spTree>
    <p:extLst>
      <p:ext uri="{BB962C8B-B14F-4D97-AF65-F5344CB8AC3E}">
        <p14:creationId xmlns:p14="http://schemas.microsoft.com/office/powerpoint/2010/main" val="26631655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6374D4EA-F6A6-2341-BCBA-8B6924E471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Rectangle 3">
            <a:extLst>
              <a:ext uri="{FF2B5EF4-FFF2-40B4-BE49-F238E27FC236}">
                <a16:creationId xmlns:a16="http://schemas.microsoft.com/office/drawing/2014/main" id="{4FA88386-B106-1E45-825D-85D39DD5EA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c.	Use redirection in an attempt to alleviate a patient’s expressed concerns and draw his or her attention back to immediate situation.</a:t>
            </a:r>
          </a:p>
          <a:p>
            <a:r>
              <a:rPr lang="en-US" altLang="en-US" dirty="0"/>
              <a:t>		d.	If patient is in a public place, move him or her to a quieter and more private location. </a:t>
            </a:r>
          </a:p>
          <a:p>
            <a:r>
              <a:rPr lang="en-US" altLang="en-US" dirty="0"/>
              <a:t>	10.	Empathy:</a:t>
            </a:r>
            <a:endParaRPr lang="en-US" altLang="en-US" b="1" dirty="0"/>
          </a:p>
          <a:p>
            <a:r>
              <a:rPr lang="en-US" altLang="en-US" dirty="0"/>
              <a:t>		a.	Ability to empathize involves imagining yourself in another person’s situation, sharing that individual’s feelings or ideas.</a:t>
            </a:r>
          </a:p>
          <a:p>
            <a:r>
              <a:rPr lang="en-US" altLang="en-US" dirty="0"/>
              <a:t>		b.	Empathy is one of most helpful concepts you can use when caring for patients in crisis situations.</a:t>
            </a:r>
          </a:p>
          <a:p>
            <a:r>
              <a:rPr lang="en-US" altLang="en-US" dirty="0"/>
              <a:t>		c.	Use a calm and caring approach.</a:t>
            </a:r>
          </a:p>
          <a:p>
            <a:pPr eaLnBrk="1" hangingPunct="1"/>
            <a:endParaRPr lang="en-US" altLang="en-US" dirty="0"/>
          </a:p>
        </p:txBody>
      </p:sp>
    </p:spTree>
    <p:extLst>
      <p:ext uri="{BB962C8B-B14F-4D97-AF65-F5344CB8AC3E}">
        <p14:creationId xmlns:p14="http://schemas.microsoft.com/office/powerpoint/2010/main" val="35529968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964CE2E7-9449-3544-9F1B-4129598A48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8" name="Rectangle 3">
            <a:extLst>
              <a:ext uri="{FF2B5EF4-FFF2-40B4-BE49-F238E27FC236}">
                <a16:creationId xmlns:a16="http://schemas.microsoft.com/office/drawing/2014/main" id="{537FDE00-CD83-7849-8BCB-163527DC82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11.	Communication skills</a:t>
            </a:r>
            <a:endParaRPr lang="en-US" altLang="en-US" b="1" dirty="0"/>
          </a:p>
          <a:p>
            <a:r>
              <a:rPr lang="en-US" altLang="en-US" dirty="0"/>
              <a:t>		a.	Principles for assessing patients with behavioral problems</a:t>
            </a:r>
          </a:p>
          <a:p>
            <a:r>
              <a:rPr lang="en-US" altLang="en-US" dirty="0"/>
              <a:t>			</a:t>
            </a:r>
            <a:r>
              <a:rPr lang="en-US" altLang="en-US" dirty="0" err="1"/>
              <a:t>i</a:t>
            </a:r>
            <a:r>
              <a:rPr lang="en-US" altLang="en-US" dirty="0"/>
              <a:t>.	Identify yourself and let patient know you are there to help. </a:t>
            </a:r>
          </a:p>
          <a:p>
            <a:r>
              <a:rPr lang="en-US" altLang="en-US" dirty="0"/>
              <a:t>			ii.	Inform the patient of what you are doing. </a:t>
            </a:r>
          </a:p>
          <a:p>
            <a:r>
              <a:rPr lang="en-US" altLang="en-US" dirty="0"/>
              <a:t>			iii.	Ask questions in a calm, reassuring voice. </a:t>
            </a:r>
          </a:p>
          <a:p>
            <a:r>
              <a:rPr lang="en-US" altLang="en-US" dirty="0"/>
              <a:t>			iv.	Allow patient to tell you what happened. Do not be judgmental.</a:t>
            </a:r>
          </a:p>
          <a:p>
            <a:r>
              <a:rPr lang="en-US" altLang="en-US" dirty="0"/>
              <a:t>			v.	Show you are listening by using restatement and redirection. </a:t>
            </a:r>
          </a:p>
          <a:p>
            <a:r>
              <a:rPr lang="en-US" altLang="en-US" dirty="0"/>
              <a:t>			vi.	Acknowledge patient’s feelings. </a:t>
            </a:r>
          </a:p>
          <a:p>
            <a:r>
              <a:rPr lang="en-US" altLang="en-US" dirty="0"/>
              <a:t>			vii.	Assess patient’s mental status, including appearance; activity; speech; orientation to person, place, and time; mood; thought process; and memory</a:t>
            </a:r>
          </a:p>
          <a:p>
            <a:pPr eaLnBrk="1" hangingPunct="1"/>
            <a:endParaRPr lang="en-US" altLang="en-US" dirty="0"/>
          </a:p>
        </p:txBody>
      </p:sp>
    </p:spTree>
    <p:extLst>
      <p:ext uri="{BB962C8B-B14F-4D97-AF65-F5344CB8AC3E}">
        <p14:creationId xmlns:p14="http://schemas.microsoft.com/office/powerpoint/2010/main" val="41780606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964CE2E7-9449-3544-9F1B-4129598A48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8" name="Rectangle 3">
            <a:extLst>
              <a:ext uri="{FF2B5EF4-FFF2-40B4-BE49-F238E27FC236}">
                <a16:creationId xmlns:a16="http://schemas.microsoft.com/office/drawing/2014/main" id="{537FDE00-CD83-7849-8BCB-163527DC82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12.	Communication with patients with developmental disabilities:</a:t>
            </a:r>
            <a:endParaRPr lang="en-US" altLang="en-US" b="1" dirty="0"/>
          </a:p>
          <a:p>
            <a:r>
              <a:rPr lang="en-US" altLang="en-US" dirty="0"/>
              <a:t>		a.	CDC data indicates one in six children has a developmental disability.</a:t>
            </a:r>
          </a:p>
          <a:p>
            <a:r>
              <a:rPr lang="en-US" altLang="en-US" dirty="0"/>
              <a:t>		b.	Developmental disabilities range from learning disabilities and developmental delays to autism spectrum disorder.</a:t>
            </a:r>
          </a:p>
          <a:p>
            <a:r>
              <a:rPr lang="en-US" altLang="en-US" dirty="0"/>
              <a:t>		c.	For example, patients with autism might:</a:t>
            </a:r>
          </a:p>
          <a:p>
            <a:r>
              <a:rPr lang="en-US" altLang="en-US" dirty="0"/>
              <a:t>			</a:t>
            </a:r>
            <a:r>
              <a:rPr lang="en-US" altLang="en-US" dirty="0" err="1"/>
              <a:t>i</a:t>
            </a:r>
            <a:r>
              <a:rPr lang="en-US" altLang="en-US" dirty="0"/>
              <a:t>.	Avoid eye contact and want to be alone. </a:t>
            </a:r>
          </a:p>
          <a:p>
            <a:r>
              <a:rPr lang="en-US" altLang="en-US" dirty="0"/>
              <a:t>			ii.	Not look at objects with another person points to them. </a:t>
            </a:r>
          </a:p>
          <a:p>
            <a:r>
              <a:rPr lang="en-US" altLang="en-US" dirty="0"/>
              <a:t>			iii.	Have trouble expressing their needs using typical words or motions. </a:t>
            </a:r>
          </a:p>
          <a:p>
            <a:r>
              <a:rPr lang="en-US" altLang="en-US" dirty="0"/>
              <a:t>			iv.	Appear to be unaware when people talk to them but respond to other sounds.</a:t>
            </a:r>
          </a:p>
          <a:p>
            <a:r>
              <a:rPr lang="en-US" altLang="en-US" dirty="0"/>
              <a:t>			v.	Have trouble adapting when their routine changes. </a:t>
            </a:r>
          </a:p>
          <a:p>
            <a:r>
              <a:rPr lang="en-US" altLang="en-US" dirty="0"/>
              <a:t>			vi.	Prefer not to be held or touched. </a:t>
            </a:r>
          </a:p>
          <a:p>
            <a:r>
              <a:rPr lang="en-US" altLang="en-US" dirty="0"/>
              <a:t>			</a:t>
            </a:r>
          </a:p>
          <a:p>
            <a:pPr eaLnBrk="1" hangingPunct="1"/>
            <a:endParaRPr lang="en-US" altLang="en-US" dirty="0"/>
          </a:p>
        </p:txBody>
      </p:sp>
    </p:spTree>
    <p:extLst>
      <p:ext uri="{BB962C8B-B14F-4D97-AF65-F5344CB8AC3E}">
        <p14:creationId xmlns:p14="http://schemas.microsoft.com/office/powerpoint/2010/main" val="7123393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60C7AE89-4999-764A-89E7-34D201BCCF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6" name="Rectangle 3">
            <a:extLst>
              <a:ext uri="{FF2B5EF4-FFF2-40B4-BE49-F238E27FC236}">
                <a16:creationId xmlns:a16="http://schemas.microsoft.com/office/drawing/2014/main" id="{97295677-D68F-9440-BC65-322AC3D782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	Crowd control</a:t>
            </a:r>
          </a:p>
          <a:p>
            <a:r>
              <a:rPr lang="en-US" altLang="en-US" dirty="0"/>
              <a:t>	1.	Performing simple crowd control may help reduce a patient’s anxiety when there are too many people around.</a:t>
            </a:r>
          </a:p>
          <a:p>
            <a:r>
              <a:rPr lang="en-US" altLang="en-US" dirty="0"/>
              <a:t>	2.	Any emergency personnel who are not needed right away should leave room until patient is calm. </a:t>
            </a:r>
          </a:p>
          <a:p>
            <a:r>
              <a:rPr lang="en-US" altLang="en-US" dirty="0"/>
              <a:t>	3.	During your initial size-up of scene, determine whether there is a crowd that might become hostile. </a:t>
            </a:r>
          </a:p>
          <a:p>
            <a:r>
              <a:rPr lang="en-US" altLang="en-US" dirty="0"/>
              <a:t>		a.	It is better to ask for help with an unruly crowd early than to wait until situation is truly unsafe for you and patient. </a:t>
            </a:r>
          </a:p>
          <a:p>
            <a:pPr eaLnBrk="1" hangingPunct="1"/>
            <a:endParaRPr lang="en-US" altLang="en-US" dirty="0"/>
          </a:p>
        </p:txBody>
      </p:sp>
    </p:spTree>
    <p:extLst>
      <p:ext uri="{BB962C8B-B14F-4D97-AF65-F5344CB8AC3E}">
        <p14:creationId xmlns:p14="http://schemas.microsoft.com/office/powerpoint/2010/main" val="26535918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9A75592-6D3B-7548-8C34-9A21A7C372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Rectangle 3">
            <a:extLst>
              <a:ext uri="{FF2B5EF4-FFF2-40B4-BE49-F238E27FC236}">
                <a16:creationId xmlns:a16="http://schemas.microsoft.com/office/drawing/2014/main" id="{18941FB7-5119-E54A-A582-37A8404C77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	Domestic violence</a:t>
            </a:r>
          </a:p>
          <a:p>
            <a:r>
              <a:rPr lang="en-US" altLang="en-US" dirty="0"/>
              <a:t>	1.	Domestic violence is a common occurrence in today’s society. </a:t>
            </a:r>
          </a:p>
          <a:p>
            <a:r>
              <a:rPr lang="en-US" altLang="en-US" dirty="0"/>
              <a:t>	2.	Its different forms include:</a:t>
            </a:r>
          </a:p>
          <a:p>
            <a:r>
              <a:rPr lang="en-US" altLang="en-US" dirty="0"/>
              <a:t>		a.	Elder abuse.</a:t>
            </a:r>
          </a:p>
          <a:p>
            <a:r>
              <a:rPr lang="en-US" altLang="en-US" dirty="0"/>
              <a:t>		b.	Child abuse.</a:t>
            </a:r>
          </a:p>
          <a:p>
            <a:r>
              <a:rPr lang="en-US" altLang="en-US" dirty="0"/>
              <a:t>		c.	Spouse and domestic partner abuse. </a:t>
            </a:r>
          </a:p>
          <a:p>
            <a:r>
              <a:rPr lang="en-US" altLang="en-US" dirty="0"/>
              <a:t>	3.	EMRs need to be able to recognize signs and symptoms of abuse and to understand three phases in cycle of abuse.</a:t>
            </a:r>
          </a:p>
          <a:p>
            <a:r>
              <a:rPr lang="en-US" altLang="en-US" dirty="0"/>
              <a:t>	4.	When responding to a domestic violence call, you need to:</a:t>
            </a:r>
          </a:p>
          <a:p>
            <a:r>
              <a:rPr lang="en-US" altLang="en-US" dirty="0"/>
              <a:t>		a.	Maintain safety for all rescuers as well as for patient.</a:t>
            </a:r>
          </a:p>
          <a:p>
            <a:pPr eaLnBrk="1" hangingPunct="1"/>
            <a:endParaRPr lang="en-US" altLang="en-US" dirty="0"/>
          </a:p>
        </p:txBody>
      </p:sp>
    </p:spTree>
    <p:extLst>
      <p:ext uri="{BB962C8B-B14F-4D97-AF65-F5344CB8AC3E}">
        <p14:creationId xmlns:p14="http://schemas.microsoft.com/office/powerpoint/2010/main" val="9009062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D0EA3DDE-65FC-D247-9CA1-1660B43DFE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Rectangle 3">
            <a:extLst>
              <a:ext uri="{FF2B5EF4-FFF2-40B4-BE49-F238E27FC236}">
                <a16:creationId xmlns:a16="http://schemas.microsoft.com/office/drawing/2014/main" id="{3516541E-C08E-E549-B923-FC708B1DA3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b.	Conduct an effective assessment and provide treatment.</a:t>
            </a:r>
          </a:p>
          <a:p>
            <a:r>
              <a:rPr lang="en-US" altLang="en-US" dirty="0"/>
              <a:t>	c.	Understand requirements for reporting abuse in your state.</a:t>
            </a:r>
          </a:p>
          <a:p>
            <a:r>
              <a:rPr lang="en-US" altLang="en-US" dirty="0"/>
              <a:t>5.	Signs and symptoms include physical injuries, emotional state of the victim, and personality indicators of abuser.</a:t>
            </a:r>
          </a:p>
          <a:p>
            <a:r>
              <a:rPr lang="en-US" altLang="en-US" dirty="0"/>
              <a:t>	a.	Physical injuries:</a:t>
            </a:r>
          </a:p>
          <a:p>
            <a:r>
              <a:rPr lang="en-US" altLang="en-US" dirty="0"/>
              <a:t>		</a:t>
            </a:r>
            <a:r>
              <a:rPr lang="en-US" altLang="en-US" dirty="0" err="1"/>
              <a:t>i</a:t>
            </a:r>
            <a:r>
              <a:rPr lang="en-US" altLang="en-US" dirty="0"/>
              <a:t>.	Broken bones.</a:t>
            </a:r>
          </a:p>
          <a:p>
            <a:r>
              <a:rPr lang="en-US" altLang="en-US" dirty="0"/>
              <a:t>		ii.	Cuts.</a:t>
            </a:r>
          </a:p>
          <a:p>
            <a:pPr eaLnBrk="1" hangingPunct="1"/>
            <a:endParaRPr lang="en-US" altLang="en-US" dirty="0"/>
          </a:p>
        </p:txBody>
      </p:sp>
    </p:spTree>
    <p:extLst>
      <p:ext uri="{BB962C8B-B14F-4D97-AF65-F5344CB8AC3E}">
        <p14:creationId xmlns:p14="http://schemas.microsoft.com/office/powerpoint/2010/main" val="37079078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4A580B7E-3B5F-034D-88D7-823F838AD86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Rectangle 3">
            <a:extLst>
              <a:ext uri="{FF2B5EF4-FFF2-40B4-BE49-F238E27FC236}">
                <a16:creationId xmlns:a16="http://schemas.microsoft.com/office/drawing/2014/main" id="{A7A1FC36-1C7A-3C44-A4F7-5DDC963AE50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iii.	Head injuries. </a:t>
            </a:r>
          </a:p>
          <a:p>
            <a:r>
              <a:rPr lang="en-US" altLang="en-US" dirty="0"/>
              <a:t>		iv.	Bruises. </a:t>
            </a:r>
          </a:p>
          <a:p>
            <a:r>
              <a:rPr lang="en-US" altLang="en-US" dirty="0"/>
              <a:t>		v.	Burns. </a:t>
            </a:r>
          </a:p>
          <a:p>
            <a:r>
              <a:rPr lang="en-US" altLang="en-US" dirty="0"/>
              <a:t>		vi.	Scars from old injuries.</a:t>
            </a:r>
          </a:p>
          <a:p>
            <a:r>
              <a:rPr lang="en-US" altLang="en-US" dirty="0"/>
              <a:t>		vii.	Injuries in various stages of healing. </a:t>
            </a:r>
          </a:p>
          <a:p>
            <a:r>
              <a:rPr lang="en-US" altLang="en-US" dirty="0"/>
              <a:t>		viii.	Internal injuries. </a:t>
            </a:r>
          </a:p>
          <a:p>
            <a:pPr eaLnBrk="1" hangingPunct="1"/>
            <a:endParaRPr lang="en-US" altLang="en-US" dirty="0"/>
          </a:p>
        </p:txBody>
      </p:sp>
    </p:spTree>
    <p:extLst>
      <p:ext uri="{BB962C8B-B14F-4D97-AF65-F5344CB8AC3E}">
        <p14:creationId xmlns:p14="http://schemas.microsoft.com/office/powerpoint/2010/main" val="16971954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E5CA1913-5BA0-0546-8C99-8EF2A1461B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Rectangle 3">
            <a:extLst>
              <a:ext uri="{FF2B5EF4-FFF2-40B4-BE49-F238E27FC236}">
                <a16:creationId xmlns:a16="http://schemas.microsoft.com/office/drawing/2014/main" id="{8D0242CA-28BE-3142-A55B-D4EC660531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b.	Emotional symptoms:</a:t>
            </a:r>
          </a:p>
          <a:p>
            <a:r>
              <a:rPr lang="en-US" altLang="en-US" dirty="0"/>
              <a:t>		</a:t>
            </a:r>
            <a:r>
              <a:rPr lang="en-US" altLang="en-US" dirty="0" err="1"/>
              <a:t>i</a:t>
            </a:r>
            <a:r>
              <a:rPr lang="en-US" altLang="en-US" dirty="0"/>
              <a:t>.	Depression. </a:t>
            </a:r>
          </a:p>
          <a:p>
            <a:r>
              <a:rPr lang="en-US" altLang="en-US" dirty="0"/>
              <a:t>		ii.	Suicide attempts. </a:t>
            </a:r>
          </a:p>
          <a:p>
            <a:r>
              <a:rPr lang="en-US" altLang="en-US" dirty="0"/>
              <a:t>		iii.	Abuse of alcohol or drugs.</a:t>
            </a:r>
          </a:p>
          <a:p>
            <a:r>
              <a:rPr lang="en-US" altLang="en-US" dirty="0"/>
              <a:t>		iv.	Feelings of anxiety, distress, and hopelessness.</a:t>
            </a:r>
          </a:p>
          <a:p>
            <a:r>
              <a:rPr lang="en-US" altLang="en-US" dirty="0"/>
              <a:t>6.	Abusers may be paranoid, overly sensitive, obsessive, or threatening. </a:t>
            </a:r>
          </a:p>
          <a:p>
            <a:r>
              <a:rPr lang="en-US" altLang="en-US" dirty="0"/>
              <a:t>	a.	They often abuse alcohol or drugs and have access to weapons.</a:t>
            </a:r>
          </a:p>
          <a:p>
            <a:pPr eaLnBrk="1" hangingPunct="1"/>
            <a:endParaRPr lang="en-US" altLang="en-US" dirty="0"/>
          </a:p>
        </p:txBody>
      </p:sp>
    </p:spTree>
    <p:extLst>
      <p:ext uri="{BB962C8B-B14F-4D97-AF65-F5344CB8AC3E}">
        <p14:creationId xmlns:p14="http://schemas.microsoft.com/office/powerpoint/2010/main" val="1545082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80F866EB-3E60-8A4C-964A-37CD871813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Rectangle 3">
            <a:extLst>
              <a:ext uri="{FF2B5EF4-FFF2-40B4-BE49-F238E27FC236}">
                <a16:creationId xmlns:a16="http://schemas.microsoft.com/office/drawing/2014/main" id="{B97AFD3B-15E5-7847-B71F-730C4B45443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7.	If you suspect abuse, your responsibility is to maintain safety for yourself and for patient.</a:t>
            </a:r>
          </a:p>
          <a:p>
            <a:r>
              <a:rPr lang="en-US" altLang="en-US" dirty="0"/>
              <a:t>	a.	To diffuse a tense situation, try to separate patient from abuser.</a:t>
            </a:r>
          </a:p>
          <a:p>
            <a:r>
              <a:rPr lang="en-US" altLang="en-US" dirty="0"/>
              <a:t>	b.	As you question patient, express your concern.</a:t>
            </a:r>
          </a:p>
          <a:p>
            <a:r>
              <a:rPr lang="en-US" altLang="en-US" dirty="0"/>
              <a:t>	c.	Try to keep from judging patient.</a:t>
            </a:r>
          </a:p>
          <a:p>
            <a:r>
              <a:rPr lang="en-US" altLang="en-US" dirty="0"/>
              <a:t>	d.	If patient refuses transport, some agencies provide information about domestic abuse shelters.</a:t>
            </a:r>
          </a:p>
          <a:p>
            <a:r>
              <a:rPr lang="en-US" altLang="en-US" dirty="0"/>
              <a:t>	e.	In some cases, presence of law enforcement personnel will be helpful.</a:t>
            </a:r>
          </a:p>
          <a:p>
            <a:r>
              <a:rPr lang="en-US" altLang="en-US" dirty="0"/>
              <a:t>	f.	Learn requirements for reporting cases of suspected abuse in your state. </a:t>
            </a:r>
          </a:p>
          <a:p>
            <a:pPr eaLnBrk="1" hangingPunct="1"/>
            <a:endParaRPr lang="en-US" altLang="en-US" dirty="0"/>
          </a:p>
        </p:txBody>
      </p:sp>
    </p:spTree>
    <p:extLst>
      <p:ext uri="{BB962C8B-B14F-4D97-AF65-F5344CB8AC3E}">
        <p14:creationId xmlns:p14="http://schemas.microsoft.com/office/powerpoint/2010/main" val="15993534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A967026C-7B0F-D541-A29C-53D5DA2D57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Rectangle 3">
            <a:extLst>
              <a:ext uri="{FF2B5EF4-FFF2-40B4-BE49-F238E27FC236}">
                <a16:creationId xmlns:a16="http://schemas.microsoft.com/office/drawing/2014/main" id="{2C451453-1011-EC4E-979C-FE1E6D4D4D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8.	Cycles of abuse </a:t>
            </a:r>
          </a:p>
          <a:p>
            <a:r>
              <a:rPr lang="en-US" altLang="en-US" dirty="0"/>
              <a:t>	a.	Tension phase</a:t>
            </a:r>
          </a:p>
          <a:p>
            <a:r>
              <a:rPr lang="en-US" altLang="en-US" dirty="0"/>
              <a:t>		</a:t>
            </a:r>
            <a:r>
              <a:rPr lang="en-US" altLang="en-US" dirty="0" err="1"/>
              <a:t>i</a:t>
            </a:r>
            <a:r>
              <a:rPr lang="en-US" altLang="en-US" dirty="0"/>
              <a:t>.	Abuser becomes angry and often blames victim. </a:t>
            </a:r>
          </a:p>
          <a:p>
            <a:r>
              <a:rPr lang="en-US" altLang="en-US" dirty="0"/>
              <a:t>		ii.	Victim may try to placate the abuser or minimize or deny abuse.</a:t>
            </a:r>
          </a:p>
          <a:p>
            <a:r>
              <a:rPr lang="en-US" altLang="en-US" dirty="0"/>
              <a:t>		iii.	Tension phase is usually the longest part of abuse cycle.</a:t>
            </a:r>
          </a:p>
          <a:p>
            <a:r>
              <a:rPr lang="en-US" altLang="en-US" dirty="0"/>
              <a:t>	b.	Explosive phase:</a:t>
            </a:r>
          </a:p>
          <a:p>
            <a:r>
              <a:rPr lang="en-US" altLang="en-US" dirty="0"/>
              <a:t>		</a:t>
            </a:r>
            <a:r>
              <a:rPr lang="en-US" altLang="en-US" dirty="0" err="1"/>
              <a:t>i</a:t>
            </a:r>
            <a:r>
              <a:rPr lang="en-US" altLang="en-US" dirty="0"/>
              <a:t>.	Abuser becomes enraged and loses control as well as ability to think clearly. </a:t>
            </a:r>
          </a:p>
          <a:p>
            <a:r>
              <a:rPr lang="en-US" altLang="en-US" dirty="0"/>
              <a:t>		ii.	Most injuries to victim occur during this stage. </a:t>
            </a:r>
          </a:p>
          <a:p>
            <a:r>
              <a:rPr lang="en-US" altLang="en-US" dirty="0"/>
              <a:t>	c.	Make-up phase: </a:t>
            </a:r>
          </a:p>
          <a:p>
            <a:r>
              <a:rPr lang="en-US" altLang="en-US" dirty="0"/>
              <a:t>		</a:t>
            </a:r>
            <a:r>
              <a:rPr lang="en-US" altLang="en-US" dirty="0" err="1"/>
              <a:t>i</a:t>
            </a:r>
            <a:r>
              <a:rPr lang="en-US" altLang="en-US" dirty="0"/>
              <a:t>.	Abuser makes promises, which are seldom kept.</a:t>
            </a:r>
          </a:p>
          <a:p>
            <a:r>
              <a:rPr lang="en-US" altLang="en-US" dirty="0"/>
              <a:t>		ii.	This phase helps keep abused person in relationship with abuser.</a:t>
            </a:r>
          </a:p>
          <a:p>
            <a:r>
              <a:rPr lang="en-US" altLang="en-US" dirty="0"/>
              <a:t>	d.	EMRs may enter a domestic scene anywhere in this cycle. </a:t>
            </a:r>
          </a:p>
          <a:p>
            <a:r>
              <a:rPr lang="en-US" altLang="en-US" dirty="0"/>
              <a:t>		</a:t>
            </a:r>
            <a:r>
              <a:rPr lang="en-US" altLang="en-US" dirty="0" err="1"/>
              <a:t>i</a:t>
            </a:r>
            <a:r>
              <a:rPr lang="en-US" altLang="en-US" dirty="0"/>
              <a:t>.	Understanding cycle will help you anticipate the actions of both abuser and victim. </a:t>
            </a:r>
          </a:p>
          <a:p>
            <a:pPr eaLnBrk="1" hangingPunct="1"/>
            <a:endParaRPr lang="en-US" altLang="en-US" dirty="0"/>
          </a:p>
        </p:txBody>
      </p:sp>
    </p:spTree>
    <p:extLst>
      <p:ext uri="{BB962C8B-B14F-4D97-AF65-F5344CB8AC3E}">
        <p14:creationId xmlns:p14="http://schemas.microsoft.com/office/powerpoint/2010/main" val="1984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B013E616-5604-BE43-A9BF-6A4289A297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2" name="Rectangle 3">
            <a:extLst>
              <a:ext uri="{FF2B5EF4-FFF2-40B4-BE49-F238E27FC236}">
                <a16:creationId xmlns:a16="http://schemas.microsoft.com/office/drawing/2014/main" id="{C28FBC78-3C8D-B443-A71D-922E7EE510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E.	Violent patients:</a:t>
            </a:r>
          </a:p>
          <a:p>
            <a:r>
              <a:rPr lang="en-US" altLang="en-US" dirty="0"/>
              <a:t>	1.	Immediately attempt to establish verbal and eye contact with patient.</a:t>
            </a:r>
          </a:p>
          <a:p>
            <a:r>
              <a:rPr lang="en-US" altLang="en-US" dirty="0"/>
              <a:t>		a.	This begins the process of establishing rapport. </a:t>
            </a:r>
          </a:p>
          <a:p>
            <a:r>
              <a:rPr lang="en-US" altLang="en-US" dirty="0"/>
              <a:t>	2.	Check with family members and friends about patient’s past history of violence. </a:t>
            </a:r>
          </a:p>
          <a:p>
            <a:r>
              <a:rPr lang="en-US" altLang="en-US" dirty="0"/>
              <a:t>	3.	Signs of potential violence:</a:t>
            </a:r>
          </a:p>
          <a:p>
            <a:r>
              <a:rPr lang="en-US" altLang="en-US" dirty="0"/>
              <a:t>		a.	History of violence. </a:t>
            </a:r>
          </a:p>
          <a:p>
            <a:r>
              <a:rPr lang="en-US" altLang="en-US" dirty="0"/>
              <a:t>		b.	Yelling or verbal threatening.</a:t>
            </a:r>
          </a:p>
          <a:p>
            <a:pPr eaLnBrk="1" hangingPunct="1"/>
            <a:endParaRPr lang="en-US" altLang="en-US" dirty="0"/>
          </a:p>
          <a:p>
            <a:r>
              <a:rPr lang="en-US" altLang="en-US" dirty="0"/>
              <a:t>Figure: A patient’s posture will indicate potential for violent behavior.</a:t>
            </a:r>
          </a:p>
        </p:txBody>
      </p:sp>
    </p:spTree>
    <p:extLst>
      <p:ext uri="{BB962C8B-B14F-4D97-AF65-F5344CB8AC3E}">
        <p14:creationId xmlns:p14="http://schemas.microsoft.com/office/powerpoint/2010/main" val="28779380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A632093-04C9-7F4A-94F0-4A2F0BD70B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0" name="Rectangle 3">
            <a:extLst>
              <a:ext uri="{FF2B5EF4-FFF2-40B4-BE49-F238E27FC236}">
                <a16:creationId xmlns:a16="http://schemas.microsoft.com/office/drawing/2014/main" id="{24904ECB-933A-0242-8D3B-147656336F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c.	Loud, obscene, or bizarre speech. </a:t>
            </a:r>
          </a:p>
          <a:p>
            <a:r>
              <a:rPr lang="en-US" altLang="en-US" dirty="0"/>
              <a:t>	d.	Pacing, inability to sit still, or protection of personal space. </a:t>
            </a:r>
          </a:p>
          <a:p>
            <a:r>
              <a:rPr lang="en-US" altLang="en-US" dirty="0"/>
              <a:t>	e.	Abuse of drugs or alcohol. </a:t>
            </a:r>
          </a:p>
          <a:p>
            <a:r>
              <a:rPr lang="en-US" altLang="en-US" dirty="0"/>
              <a:t>4.	Never force a potentially violent patient into a corner, and do not allow yourself to be cut off from a route of retreat. </a:t>
            </a:r>
          </a:p>
          <a:p>
            <a:pPr eaLnBrk="1" hangingPunct="1"/>
            <a:endParaRPr lang="en-US" altLang="en-US" dirty="0"/>
          </a:p>
        </p:txBody>
      </p:sp>
    </p:spTree>
    <p:extLst>
      <p:ext uri="{BB962C8B-B14F-4D97-AF65-F5344CB8AC3E}">
        <p14:creationId xmlns:p14="http://schemas.microsoft.com/office/powerpoint/2010/main" val="36593169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65E71378-EC35-6A46-83BD-1A51E77A08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8" name="Rectangle 3">
            <a:extLst>
              <a:ext uri="{FF2B5EF4-FFF2-40B4-BE49-F238E27FC236}">
                <a16:creationId xmlns:a16="http://schemas.microsoft.com/office/drawing/2014/main" id="{929F539A-B9ED-924C-A744-3C69648AF3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5.	Have only one person talk with patient.</a:t>
            </a:r>
          </a:p>
          <a:p>
            <a:r>
              <a:rPr lang="en-US" altLang="en-US" dirty="0"/>
              <a:t>	a.	Communicator should be rescuer with whom patient seems to have best initial rapport.</a:t>
            </a:r>
          </a:p>
          <a:p>
            <a:r>
              <a:rPr lang="en-US" altLang="en-US" dirty="0"/>
              <a:t>6.	Anticipate need to summon law enforcement personnel if all other means of approach and intervention fail.</a:t>
            </a:r>
          </a:p>
          <a:p>
            <a:pPr eaLnBrk="1" hangingPunct="1"/>
            <a:endParaRPr lang="en-US" altLang="en-US" dirty="0"/>
          </a:p>
        </p:txBody>
      </p:sp>
    </p:spTree>
    <p:extLst>
      <p:ext uri="{BB962C8B-B14F-4D97-AF65-F5344CB8AC3E}">
        <p14:creationId xmlns:p14="http://schemas.microsoft.com/office/powerpoint/2010/main" val="28484647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E368897F-2F75-1D41-BE9B-BEEC9996940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6" name="Rectangle 3">
            <a:extLst>
              <a:ext uri="{FF2B5EF4-FFF2-40B4-BE49-F238E27FC236}">
                <a16:creationId xmlns:a16="http://schemas.microsoft.com/office/drawing/2014/main" id="{A5EAD88A-0A86-CA4F-99FF-9585F01CCC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F.	Violence against EMRs:</a:t>
            </a:r>
          </a:p>
          <a:p>
            <a:r>
              <a:rPr lang="en-US" altLang="en-US" dirty="0"/>
              <a:t>	1.	Several factors increase risk of violence in the workplace, including:</a:t>
            </a:r>
          </a:p>
          <a:p>
            <a:r>
              <a:rPr lang="en-US" altLang="en-US" dirty="0"/>
              <a:t>		a.	Working alone or in small numbers.</a:t>
            </a:r>
          </a:p>
          <a:p>
            <a:r>
              <a:rPr lang="en-US" altLang="en-US" dirty="0"/>
              <a:t>		b.	Working late at night or early in morning hours.</a:t>
            </a:r>
          </a:p>
          <a:p>
            <a:r>
              <a:rPr lang="en-US" altLang="en-US" dirty="0"/>
              <a:t>		c.	Working in high-crime areas.</a:t>
            </a:r>
          </a:p>
          <a:p>
            <a:r>
              <a:rPr lang="en-US" altLang="en-US" dirty="0"/>
              <a:t>		d.	Working in community settings.</a:t>
            </a:r>
          </a:p>
          <a:p>
            <a:pPr eaLnBrk="1" hangingPunct="1"/>
            <a:endParaRPr lang="en-US" altLang="en-US" dirty="0"/>
          </a:p>
        </p:txBody>
      </p:sp>
    </p:spTree>
    <p:extLst>
      <p:ext uri="{BB962C8B-B14F-4D97-AF65-F5344CB8AC3E}">
        <p14:creationId xmlns:p14="http://schemas.microsoft.com/office/powerpoint/2010/main" val="13391655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6F96603B-CC29-1245-B4FE-85019E8B515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4" name="Rectangle 3">
            <a:extLst>
              <a:ext uri="{FF2B5EF4-FFF2-40B4-BE49-F238E27FC236}">
                <a16:creationId xmlns:a16="http://schemas.microsoft.com/office/drawing/2014/main" id="{1592B798-83BC-A848-AF25-B29F2E99B9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2.	Be alert when you respond to a call that has an increased chance for violence, including in following situations:</a:t>
            </a:r>
          </a:p>
          <a:p>
            <a:r>
              <a:rPr lang="en-US" altLang="en-US" dirty="0"/>
              <a:t>	a.	Crime scenes.</a:t>
            </a:r>
          </a:p>
          <a:p>
            <a:r>
              <a:rPr lang="en-US" altLang="en-US" dirty="0"/>
              <a:t>	b.	Incidents involving gangs.</a:t>
            </a:r>
          </a:p>
          <a:p>
            <a:r>
              <a:rPr lang="en-US" altLang="en-US" dirty="0"/>
              <a:t>	c.	Large gatherings of hostile or potentially hostile people.</a:t>
            </a:r>
          </a:p>
          <a:p>
            <a:r>
              <a:rPr lang="en-US" altLang="en-US" dirty="0"/>
              <a:t>	d.	Domestic disputes.</a:t>
            </a:r>
          </a:p>
          <a:p>
            <a:pPr eaLnBrk="1" hangingPunct="1"/>
            <a:endParaRPr lang="en-US" altLang="en-US" dirty="0"/>
          </a:p>
        </p:txBody>
      </p:sp>
    </p:spTree>
    <p:extLst>
      <p:ext uri="{BB962C8B-B14F-4D97-AF65-F5344CB8AC3E}">
        <p14:creationId xmlns:p14="http://schemas.microsoft.com/office/powerpoint/2010/main" val="32811610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9DECF884-E937-9B4B-879A-E9A0065C5F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2" name="Rectangle 3">
            <a:extLst>
              <a:ext uri="{FF2B5EF4-FFF2-40B4-BE49-F238E27FC236}">
                <a16:creationId xmlns:a16="http://schemas.microsoft.com/office/drawing/2014/main" id="{4B2B0290-CA7A-1E40-8283-58FC04F2A0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Although EMRs are more likely to be involved in potentially violent situations than average citizens, there are ways to minimize risk of injury. </a:t>
            </a:r>
          </a:p>
          <a:p>
            <a:r>
              <a:rPr lang="en-US" altLang="en-US" dirty="0"/>
              <a:t>	a.	Take steps to keep yourself and other rescuers safe at these scenes. </a:t>
            </a:r>
          </a:p>
          <a:p>
            <a:r>
              <a:rPr lang="en-US" altLang="en-US" dirty="0"/>
              <a:t>	b.	Always keep an escape route open between you and patient.</a:t>
            </a:r>
          </a:p>
          <a:p>
            <a:r>
              <a:rPr lang="en-US" altLang="en-US" dirty="0"/>
              <a:t>4.	Prevention:</a:t>
            </a:r>
          </a:p>
          <a:p>
            <a:r>
              <a:rPr lang="en-US" altLang="en-US" dirty="0"/>
              <a:t>	a.	Prevention is the best way to avoid violence.</a:t>
            </a:r>
          </a:p>
          <a:p>
            <a:r>
              <a:rPr lang="en-US" altLang="en-US" dirty="0"/>
              <a:t>	b.	As you arrive at scene, use your personal “antenna” to pick up any signs that you may be approaching a violent situation.</a:t>
            </a:r>
          </a:p>
          <a:p>
            <a:r>
              <a:rPr lang="en-US" altLang="en-US" dirty="0"/>
              <a:t>	c.	Make sure you have an escape route in mind.</a:t>
            </a:r>
          </a:p>
          <a:p>
            <a:r>
              <a:rPr lang="en-US" altLang="en-US" dirty="0"/>
              <a:t>	d.	Your ability to use good interpersonal communication skills will help prevent many situations from becoming violent.</a:t>
            </a:r>
          </a:p>
          <a:p>
            <a:r>
              <a:rPr lang="en-US" altLang="en-US" dirty="0"/>
              <a:t>	e.	If you think you need backup or law enforcement personnel, request it early. </a:t>
            </a:r>
          </a:p>
          <a:p>
            <a:pPr eaLnBrk="1" hangingPunct="1"/>
            <a:endParaRPr lang="en-US" altLang="en-US" dirty="0"/>
          </a:p>
        </p:txBody>
      </p:sp>
    </p:spTree>
    <p:extLst>
      <p:ext uri="{BB962C8B-B14F-4D97-AF65-F5344CB8AC3E}">
        <p14:creationId xmlns:p14="http://schemas.microsoft.com/office/powerpoint/2010/main" val="39896027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2BAA4035-9453-F746-9D85-561C774F23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0" name="Rectangle 3">
            <a:extLst>
              <a:ext uri="{FF2B5EF4-FFF2-40B4-BE49-F238E27FC236}">
                <a16:creationId xmlns:a16="http://schemas.microsoft.com/office/drawing/2014/main" id="{256B743C-C04A-4544-8BF6-0FC648DAE6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G.	Armed patient</a:t>
            </a:r>
          </a:p>
          <a:p>
            <a:r>
              <a:rPr lang="en-US" altLang="en-US" dirty="0"/>
              <a:t>	1.	It is not your role to handle an armed patient unless you are a law enforcement officer.</a:t>
            </a:r>
          </a:p>
          <a:p>
            <a:r>
              <a:rPr lang="en-US" altLang="en-US" dirty="0"/>
              <a:t>	2.	Be alert for potentially threatening situations and summon assistance if you think person is armed. </a:t>
            </a:r>
          </a:p>
          <a:p>
            <a:r>
              <a:rPr lang="en-US" altLang="en-US" dirty="0"/>
              <a:t>	3.	Stay in your vehicle if you must wait for a law enforcement officer.</a:t>
            </a:r>
          </a:p>
          <a:p>
            <a:r>
              <a:rPr lang="en-US" altLang="en-US" dirty="0"/>
              <a:t>	4.	If, despite caution, you are confronted by an armed person, immediately attempt to withdraw.</a:t>
            </a:r>
          </a:p>
          <a:p>
            <a:pPr eaLnBrk="1" hangingPunct="1"/>
            <a:endParaRPr lang="en-US" altLang="en-US" dirty="0"/>
          </a:p>
        </p:txBody>
      </p:sp>
    </p:spTree>
    <p:extLst>
      <p:ext uri="{BB962C8B-B14F-4D97-AF65-F5344CB8AC3E}">
        <p14:creationId xmlns:p14="http://schemas.microsoft.com/office/powerpoint/2010/main" val="19134873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67739C2C-C6B6-B248-A52F-DA092155C9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8" name="Rectangle 3">
            <a:extLst>
              <a:ext uri="{FF2B5EF4-FFF2-40B4-BE49-F238E27FC236}">
                <a16:creationId xmlns:a16="http://schemas.microsoft.com/office/drawing/2014/main" id="{98E7980F-65C3-2F46-8CE4-DE5156CACD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H.	Medical and legal considerations:</a:t>
            </a:r>
          </a:p>
          <a:p>
            <a:r>
              <a:rPr lang="en-US" altLang="en-US" dirty="0"/>
              <a:t>	1.	You must understand laws of your state and community that relate to dealing with emotionally disturbed patients.</a:t>
            </a:r>
          </a:p>
          <a:p>
            <a:r>
              <a:rPr lang="en-US" altLang="en-US" dirty="0"/>
              <a:t>	2.	If an emotionally disturbed patient agrees to be treated, few legal issues should arise.</a:t>
            </a:r>
          </a:p>
          <a:p>
            <a:r>
              <a:rPr lang="en-US" altLang="en-US" dirty="0"/>
              <a:t>	3.	If a patient who appears to be disturbed refuses to accept treatment, it may be necessary to provide care against patient’s will. </a:t>
            </a:r>
          </a:p>
          <a:p>
            <a:r>
              <a:rPr lang="en-US" altLang="en-US" dirty="0"/>
              <a:t>		a.	You must have a reasonable belief that patient would harm self or others. </a:t>
            </a:r>
          </a:p>
          <a:p>
            <a:pPr eaLnBrk="1" hangingPunct="1"/>
            <a:r>
              <a:rPr lang="en-US" altLang="en-US" dirty="0"/>
              <a:t>		b.	As an EMR, you usually will not be responsible for transporting patient, but you should know what laws in your state permit you to do.</a:t>
            </a:r>
          </a:p>
          <a:p>
            <a:pPr eaLnBrk="1" hangingPunct="1"/>
            <a:endParaRPr lang="en-US" altLang="en-US" dirty="0"/>
          </a:p>
        </p:txBody>
      </p:sp>
    </p:spTree>
    <p:extLst>
      <p:ext uri="{BB962C8B-B14F-4D97-AF65-F5344CB8AC3E}">
        <p14:creationId xmlns:p14="http://schemas.microsoft.com/office/powerpoint/2010/main" val="36382519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555162ED-629A-6E4F-BFAC-914FDCCDDD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6" name="Rectangle 3">
            <a:extLst>
              <a:ext uri="{FF2B5EF4-FFF2-40B4-BE49-F238E27FC236}">
                <a16:creationId xmlns:a16="http://schemas.microsoft.com/office/drawing/2014/main" id="{969C0EA2-9D82-AA41-B67D-693C2A8D15E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c.	If you are required to restrain a patient, consider these factors: </a:t>
            </a:r>
          </a:p>
          <a:p>
            <a:r>
              <a:rPr lang="en-US" altLang="en-US" dirty="0"/>
              <a:t>			</a:t>
            </a:r>
            <a:r>
              <a:rPr lang="en-US" altLang="en-US" dirty="0" err="1"/>
              <a:t>i</a:t>
            </a:r>
            <a:r>
              <a:rPr lang="en-US" altLang="en-US" dirty="0"/>
              <a:t>.	Patient’s size and apparent strength. </a:t>
            </a:r>
          </a:p>
          <a:p>
            <a:r>
              <a:rPr lang="en-US" altLang="en-US" dirty="0"/>
              <a:t>			ii.	Patient’s gender. </a:t>
            </a:r>
          </a:p>
          <a:p>
            <a:r>
              <a:rPr lang="en-US" altLang="en-US" dirty="0"/>
              <a:t>			iii.	Type of abnormal behavior. </a:t>
            </a:r>
          </a:p>
          <a:p>
            <a:r>
              <a:rPr lang="en-US" altLang="en-US" dirty="0"/>
              <a:t>			iv.	Patient’s mental state. </a:t>
            </a:r>
          </a:p>
          <a:p>
            <a:r>
              <a:rPr lang="en-US" altLang="en-US" dirty="0"/>
              <a:t>			v.	Method of restraint. </a:t>
            </a:r>
          </a:p>
          <a:p>
            <a:pPr eaLnBrk="1" hangingPunct="1"/>
            <a:endParaRPr lang="en-US" altLang="en-US" dirty="0"/>
          </a:p>
        </p:txBody>
      </p:sp>
    </p:spTree>
    <p:extLst>
      <p:ext uri="{BB962C8B-B14F-4D97-AF65-F5344CB8AC3E}">
        <p14:creationId xmlns:p14="http://schemas.microsoft.com/office/powerpoint/2010/main" val="29464090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2D9F26C0-9EA7-EA44-B555-6007C2DCC0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4" name="Rectangle 3">
            <a:extLst>
              <a:ext uri="{FF2B5EF4-FFF2-40B4-BE49-F238E27FC236}">
                <a16:creationId xmlns:a16="http://schemas.microsoft.com/office/drawing/2014/main" id="{BDDCE7AE-E4E3-9345-AED9-1B79297FCE9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4.	You may use reasonable force to defend yourself against an attack by an emotionally disturbed patient. </a:t>
            </a:r>
          </a:p>
          <a:p>
            <a:r>
              <a:rPr lang="en-US" altLang="en-US" dirty="0"/>
              <a:t>	5.	To prevent problems if you must restrain a patient, seek assistance from law enforcement officials or from your medical director.</a:t>
            </a:r>
          </a:p>
          <a:p>
            <a:r>
              <a:rPr lang="en-US" altLang="en-US" dirty="0"/>
              <a:t>	6.	Document conditions present in cases where you must restrain or subdue a patient.</a:t>
            </a:r>
          </a:p>
          <a:p>
            <a:r>
              <a:rPr lang="en-US" altLang="en-US" dirty="0"/>
              <a:t>	7.	Whenever possible, a caregiver of same sex should take primary responsibility for care of patient.</a:t>
            </a:r>
          </a:p>
          <a:p>
            <a:pPr eaLnBrk="1" hangingPunct="1"/>
            <a:endParaRPr lang="en-US" altLang="en-US" dirty="0"/>
          </a:p>
        </p:txBody>
      </p:sp>
    </p:spTree>
    <p:extLst>
      <p:ext uri="{BB962C8B-B14F-4D97-AF65-F5344CB8AC3E}">
        <p14:creationId xmlns:p14="http://schemas.microsoft.com/office/powerpoint/2010/main" val="1532265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FAFE37F4-C2D8-4342-8578-D2C4EFA2133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2" name="Rectangle 3">
            <a:extLst>
              <a:ext uri="{FF2B5EF4-FFF2-40B4-BE49-F238E27FC236}">
                <a16:creationId xmlns:a16="http://schemas.microsoft.com/office/drawing/2014/main" id="{79C45FD4-DD65-744E-94A6-7919547C3C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	Other types of emotional crises:</a:t>
            </a:r>
          </a:p>
          <a:p>
            <a:r>
              <a:rPr lang="en-US" altLang="en-US" dirty="0"/>
              <a:t>	1.	Other types of emotional crises also require you to have good communication skills.</a:t>
            </a:r>
            <a:endParaRPr lang="en-US" altLang="en-US" b="1" dirty="0"/>
          </a:p>
          <a:p>
            <a:r>
              <a:rPr lang="en-US" altLang="en-US" dirty="0"/>
              <a:t>	2.	Attempted suicide:</a:t>
            </a:r>
            <a:endParaRPr lang="en-US" altLang="en-US" b="1" dirty="0"/>
          </a:p>
          <a:p>
            <a:r>
              <a:rPr lang="en-US" altLang="en-US" dirty="0"/>
              <a:t>		a.	Each year, thousands of people—from teenagers to elderly persons—attempt suicide (self-inflicted death). </a:t>
            </a:r>
          </a:p>
          <a:p>
            <a:r>
              <a:rPr lang="en-US" altLang="en-US" dirty="0"/>
              <a:t>		b.	Many patients who fail at their first attempt will try to commit suicide again. </a:t>
            </a:r>
          </a:p>
          <a:p>
            <a:r>
              <a:rPr lang="en-US" altLang="en-US" dirty="0"/>
              <a:t>		c.	Most people who attempt suicide have a serious psychiatric illness, such as depression or alcohol or substance abuse.</a:t>
            </a:r>
          </a:p>
          <a:p>
            <a:r>
              <a:rPr lang="en-US" altLang="en-US" dirty="0"/>
              <a:t>		d.	Patient may be under influence of drugs or alcohol.</a:t>
            </a:r>
          </a:p>
          <a:p>
            <a:r>
              <a:rPr lang="en-US" altLang="en-US" dirty="0"/>
              <a:t>		e.	The underlying psychiatric disease is usually treatable, and with proper treatment patient will no longer be suicidal.</a:t>
            </a:r>
          </a:p>
          <a:p>
            <a:r>
              <a:rPr lang="en-US" altLang="en-US" dirty="0"/>
              <a:t>		f.	Review the risk factors that make it more likely that someone will consider or attempt suicide (Table 12-1).</a:t>
            </a:r>
          </a:p>
          <a:p>
            <a:r>
              <a:rPr lang="en-US" altLang="en-US" dirty="0"/>
              <a:t>		g.	Management of an attempted suicide consists of following steps:</a:t>
            </a:r>
          </a:p>
          <a:p>
            <a:r>
              <a:rPr lang="en-US" altLang="en-US" dirty="0"/>
              <a:t>			</a:t>
            </a:r>
            <a:r>
              <a:rPr lang="en-US" altLang="en-US" dirty="0" err="1"/>
              <a:t>i</a:t>
            </a:r>
            <a:r>
              <a:rPr lang="en-US" altLang="en-US" dirty="0"/>
              <a:t>.	Protect yourself and patient from further harm.</a:t>
            </a:r>
          </a:p>
          <a:p>
            <a:r>
              <a:rPr lang="en-US" altLang="en-US" dirty="0"/>
              <a:t>			ii.	Obtain a complete history of incident.</a:t>
            </a:r>
          </a:p>
          <a:p>
            <a:r>
              <a:rPr lang="en-US" altLang="en-US" dirty="0"/>
              <a:t>			iii.	Determine whether patient still has a weapon or drugs on him or her.</a:t>
            </a:r>
          </a:p>
          <a:p>
            <a:pPr eaLnBrk="1" hangingPunct="1"/>
            <a:endParaRPr lang="en-US" altLang="en-US" dirty="0"/>
          </a:p>
        </p:txBody>
      </p:sp>
    </p:spTree>
    <p:extLst>
      <p:ext uri="{BB962C8B-B14F-4D97-AF65-F5344CB8AC3E}">
        <p14:creationId xmlns:p14="http://schemas.microsoft.com/office/powerpoint/2010/main" val="42255455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6E4BE069-D742-B643-A568-7836A21859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0" name="Rectangle 3">
            <a:extLst>
              <a:ext uri="{FF2B5EF4-FFF2-40B4-BE49-F238E27FC236}">
                <a16:creationId xmlns:a16="http://schemas.microsoft.com/office/drawing/2014/main" id="{F8DEC6B5-9C29-004B-9EEF-EEEB24AE630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iv.	Support patient’s ABCs, as needed.</a:t>
            </a:r>
          </a:p>
          <a:p>
            <a:r>
              <a:rPr lang="en-US" altLang="en-US" dirty="0"/>
              <a:t>			v.	Dress any open wounds.</a:t>
            </a:r>
          </a:p>
          <a:p>
            <a:r>
              <a:rPr lang="en-US" altLang="en-US" dirty="0"/>
              <a:t>			vi.	Treat patient for spinal injuries, if indicated.</a:t>
            </a:r>
          </a:p>
          <a:p>
            <a:r>
              <a:rPr lang="en-US" altLang="en-US" dirty="0"/>
              <a:t>			vii.	Do not judge patient. Treat him or her for injuries or conditions you discover.</a:t>
            </a:r>
          </a:p>
          <a:p>
            <a:r>
              <a:rPr lang="en-US" altLang="en-US" dirty="0"/>
              <a:t>			viii.	Provide emotional support for patient and family.</a:t>
            </a:r>
          </a:p>
          <a:p>
            <a:pPr eaLnBrk="1" hangingPunct="1"/>
            <a:endParaRPr lang="en-US" altLang="en-US" dirty="0"/>
          </a:p>
        </p:txBody>
      </p:sp>
    </p:spTree>
    <p:extLst>
      <p:ext uri="{BB962C8B-B14F-4D97-AF65-F5344CB8AC3E}">
        <p14:creationId xmlns:p14="http://schemas.microsoft.com/office/powerpoint/2010/main" val="16491204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0D4E6B65-BB77-4C47-8591-5E0DD26931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8" name="Rectangle 3">
            <a:extLst>
              <a:ext uri="{FF2B5EF4-FFF2-40B4-BE49-F238E27FC236}">
                <a16:creationId xmlns:a16="http://schemas.microsoft.com/office/drawing/2014/main" id="{8104C05C-3DE0-F34B-AAC5-0A711A9A33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Posttraumatic stress disorder (PTSD):</a:t>
            </a:r>
            <a:endParaRPr lang="en-US" altLang="en-US" b="1" dirty="0"/>
          </a:p>
          <a:p>
            <a:r>
              <a:rPr lang="en-US" altLang="en-US" dirty="0"/>
              <a:t>	a.	PTSD is a mental health or behavioral condition triggered by experiencing or witnessing a terrifying event. </a:t>
            </a:r>
            <a:endParaRPr lang="en-US" altLang="en-US" b="1" dirty="0"/>
          </a:p>
          <a:p>
            <a:r>
              <a:rPr lang="en-US" altLang="en-US" dirty="0"/>
              <a:t>	b.	People experiencing PTSD get worse with time, and their anxiety often interferes with their normal day-to-day activities.</a:t>
            </a:r>
            <a:endParaRPr lang="en-US" altLang="en-US" b="1" dirty="0"/>
          </a:p>
          <a:p>
            <a:r>
              <a:rPr lang="en-US" altLang="en-US" dirty="0"/>
              <a:t>	c.	Symptoms include:</a:t>
            </a:r>
          </a:p>
          <a:p>
            <a:r>
              <a:rPr lang="en-US" altLang="en-US" dirty="0"/>
              <a:t>		</a:t>
            </a:r>
            <a:r>
              <a:rPr lang="en-US" altLang="en-US" dirty="0" err="1"/>
              <a:t>i</a:t>
            </a:r>
            <a:r>
              <a:rPr lang="en-US" altLang="en-US" dirty="0"/>
              <a:t>.	Intrusive memories of traumatic event.</a:t>
            </a:r>
            <a:endParaRPr lang="en-US" altLang="en-US" b="1" dirty="0"/>
          </a:p>
          <a:p>
            <a:r>
              <a:rPr lang="en-US" altLang="en-US" dirty="0"/>
              <a:t>		ii.	Avoidance of places, activities, or people that remind them of traumatic event.</a:t>
            </a:r>
            <a:endParaRPr lang="en-US" altLang="en-US" b="1" dirty="0"/>
          </a:p>
          <a:p>
            <a:r>
              <a:rPr lang="en-US" altLang="en-US" dirty="0"/>
              <a:t>		iii.	Negative feelings.</a:t>
            </a:r>
            <a:endParaRPr lang="en-US" altLang="en-US" b="1" dirty="0"/>
          </a:p>
          <a:p>
            <a:r>
              <a:rPr lang="en-US" altLang="en-US" dirty="0"/>
              <a:t>		iv.	Emotional reactions.</a:t>
            </a:r>
            <a:endParaRPr lang="en-US" altLang="en-US" b="1" dirty="0"/>
          </a:p>
          <a:p>
            <a:pPr eaLnBrk="1" hangingPunct="1"/>
            <a:endParaRPr lang="en-US" altLang="en-US" dirty="0"/>
          </a:p>
        </p:txBody>
      </p:sp>
    </p:spTree>
    <p:extLst>
      <p:ext uri="{BB962C8B-B14F-4D97-AF65-F5344CB8AC3E}">
        <p14:creationId xmlns:p14="http://schemas.microsoft.com/office/powerpoint/2010/main" val="39780463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F9C2014C-DC99-F643-BB84-98EE1D7E28E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6" name="Rectangle 3">
            <a:extLst>
              <a:ext uri="{FF2B5EF4-FFF2-40B4-BE49-F238E27FC236}">
                <a16:creationId xmlns:a16="http://schemas.microsoft.com/office/drawing/2014/main" id="{DF50F349-872A-654E-B0F2-B78F819314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d.	As an EMR, your job is to:</a:t>
            </a:r>
          </a:p>
          <a:p>
            <a:r>
              <a:rPr lang="en-US" altLang="en-US" dirty="0"/>
              <a:t>		</a:t>
            </a:r>
            <a:r>
              <a:rPr lang="en-US" altLang="en-US" dirty="0" err="1"/>
              <a:t>i</a:t>
            </a:r>
            <a:r>
              <a:rPr lang="en-US" altLang="en-US" dirty="0"/>
              <a:t>.	Protect patient from harm.</a:t>
            </a:r>
            <a:endParaRPr lang="en-US" altLang="en-US" b="1" dirty="0"/>
          </a:p>
          <a:p>
            <a:r>
              <a:rPr lang="en-US" altLang="en-US" dirty="0"/>
              <a:t>		ii.	Speak with patient in a positive and supportive way.</a:t>
            </a:r>
            <a:endParaRPr lang="en-US" altLang="en-US" b="1" dirty="0"/>
          </a:p>
          <a:p>
            <a:r>
              <a:rPr lang="en-US" altLang="en-US" dirty="0"/>
              <a:t>		iii.	Arrange for patient to be transported to an appropriate medical facility for evaluation and treatment.</a:t>
            </a:r>
            <a:endParaRPr lang="en-US" altLang="en-US" b="1" dirty="0"/>
          </a:p>
          <a:p>
            <a:pPr eaLnBrk="1" hangingPunct="1"/>
            <a:endParaRPr lang="en-US" altLang="en-US" dirty="0"/>
          </a:p>
        </p:txBody>
      </p:sp>
    </p:spTree>
    <p:extLst>
      <p:ext uri="{BB962C8B-B14F-4D97-AF65-F5344CB8AC3E}">
        <p14:creationId xmlns:p14="http://schemas.microsoft.com/office/powerpoint/2010/main" val="35584241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F22314D8-0AAE-474E-911E-6BA4686AB8C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4" name="Rectangle 3">
            <a:extLst>
              <a:ext uri="{FF2B5EF4-FFF2-40B4-BE49-F238E27FC236}">
                <a16:creationId xmlns:a16="http://schemas.microsoft.com/office/drawing/2014/main" id="{5E475E30-FC51-E841-9210-F6E7E1C103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4.	Sexual assault:</a:t>
            </a:r>
            <a:endParaRPr lang="en-US" altLang="en-US" b="1" dirty="0"/>
          </a:p>
          <a:p>
            <a:r>
              <a:rPr lang="en-US" altLang="en-US" dirty="0"/>
              <a:t>	a.	Victims of sexual assault may be men or women, old or young. </a:t>
            </a:r>
          </a:p>
          <a:p>
            <a:r>
              <a:rPr lang="en-US" altLang="en-US" dirty="0"/>
              <a:t>	b.	Psychological aspects of treatment are important.</a:t>
            </a:r>
          </a:p>
          <a:p>
            <a:r>
              <a:rPr lang="en-US" altLang="en-US" dirty="0"/>
              <a:t>	c.	You may have to delay all but most essential treatment until a responder of same sex as patient arrives.</a:t>
            </a:r>
          </a:p>
          <a:p>
            <a:r>
              <a:rPr lang="en-US" altLang="en-US" dirty="0"/>
              <a:t>	d.	Your first priority is medical well-being of patient. </a:t>
            </a:r>
          </a:p>
          <a:p>
            <a:r>
              <a:rPr lang="en-US" altLang="en-US" dirty="0"/>
              <a:t>		</a:t>
            </a:r>
            <a:r>
              <a:rPr lang="en-US" altLang="en-US" dirty="0" err="1"/>
              <a:t>i</a:t>
            </a:r>
            <a:r>
              <a:rPr lang="en-US" altLang="en-US" dirty="0"/>
              <a:t>.	Treat any injuries person may have.</a:t>
            </a:r>
          </a:p>
          <a:p>
            <a:pPr eaLnBrk="1" hangingPunct="1"/>
            <a:endParaRPr lang="en-US" altLang="en-US" dirty="0"/>
          </a:p>
        </p:txBody>
      </p:sp>
    </p:spTree>
    <p:extLst>
      <p:ext uri="{BB962C8B-B14F-4D97-AF65-F5344CB8AC3E}">
        <p14:creationId xmlns:p14="http://schemas.microsoft.com/office/powerpoint/2010/main" val="42276118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D608EBBF-EB98-7041-A528-9DB0678E33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2" name="Rectangle 3">
            <a:extLst>
              <a:ext uri="{FF2B5EF4-FFF2-40B4-BE49-F238E27FC236}">
                <a16:creationId xmlns:a16="http://schemas.microsoft.com/office/drawing/2014/main" id="{C5EF8604-AC59-A049-B299-D55FA897B4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e.	Sexual assault is also a crime. </a:t>
            </a:r>
          </a:p>
          <a:p>
            <a:r>
              <a:rPr lang="en-US" altLang="en-US" dirty="0"/>
              <a:t>		</a:t>
            </a:r>
            <a:r>
              <a:rPr lang="en-US" altLang="en-US" dirty="0" err="1"/>
              <a:t>i</a:t>
            </a:r>
            <a:r>
              <a:rPr lang="en-US" altLang="en-US" dirty="0"/>
              <a:t>.	Do not remove clothing except to give medical care. </a:t>
            </a:r>
          </a:p>
          <a:p>
            <a:r>
              <a:rPr lang="en-US" altLang="en-US" dirty="0"/>
              <a:t>		ii.	Try to convince victim not to bathe or use toilet. </a:t>
            </a:r>
          </a:p>
          <a:p>
            <a:r>
              <a:rPr lang="en-US" altLang="en-US" dirty="0"/>
              <a:t>		iii.	Keep scene and any evidence as undisturbed and intact as possible.</a:t>
            </a:r>
          </a:p>
          <a:p>
            <a:r>
              <a:rPr lang="en-US" altLang="en-US" dirty="0"/>
              <a:t>		iv.	Avoid aggressively questioning the patient about incident.</a:t>
            </a:r>
          </a:p>
          <a:p>
            <a:r>
              <a:rPr lang="en-US" altLang="en-US" dirty="0"/>
              <a:t>	f.	Treat patient with empathy.</a:t>
            </a:r>
          </a:p>
          <a:p>
            <a:r>
              <a:rPr lang="en-US" altLang="en-US" dirty="0"/>
              <a:t>		</a:t>
            </a:r>
            <a:r>
              <a:rPr lang="en-US" altLang="en-US" dirty="0" err="1"/>
              <a:t>i</a:t>
            </a:r>
            <a:r>
              <a:rPr lang="en-US" altLang="en-US" dirty="0"/>
              <a:t>.	Maintain patient’s privacy by covering her or him with a sheet or blanket.</a:t>
            </a:r>
          </a:p>
          <a:p>
            <a:r>
              <a:rPr lang="en-US" altLang="en-US" dirty="0"/>
              <a:t>		ii.	Do not leave patient alone.</a:t>
            </a:r>
          </a:p>
          <a:p>
            <a:pPr eaLnBrk="1" hangingPunct="1"/>
            <a:endParaRPr lang="en-US" altLang="en-US" dirty="0"/>
          </a:p>
        </p:txBody>
      </p:sp>
    </p:spTree>
    <p:extLst>
      <p:ext uri="{BB962C8B-B14F-4D97-AF65-F5344CB8AC3E}">
        <p14:creationId xmlns:p14="http://schemas.microsoft.com/office/powerpoint/2010/main" val="5641346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7B708EA4-5B07-5841-BC35-D3321F6C460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0" name="Rectangle 3">
            <a:extLst>
              <a:ext uri="{FF2B5EF4-FFF2-40B4-BE49-F238E27FC236}">
                <a16:creationId xmlns:a16="http://schemas.microsoft.com/office/drawing/2014/main" id="{3FC2CE31-9450-0E49-B97E-0F59F71246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5.	Death and dying:</a:t>
            </a:r>
            <a:endParaRPr lang="en-US" altLang="en-US" b="1" dirty="0"/>
          </a:p>
          <a:p>
            <a:r>
              <a:rPr lang="en-US" altLang="en-US" dirty="0"/>
              <a:t>	a.	You will encounter death and dying from natural, accidental, and intentional causes.</a:t>
            </a:r>
          </a:p>
          <a:p>
            <a:r>
              <a:rPr lang="en-US" altLang="en-US" dirty="0"/>
              <a:t>	b.	Do whatever you can to meet patient’s medical needs.</a:t>
            </a:r>
          </a:p>
          <a:p>
            <a:r>
              <a:rPr lang="en-US" altLang="en-US" dirty="0"/>
              <a:t>	c.	Your attempts to save or give comfort to the patient help everyone to deal emotionally with the patient’s death.</a:t>
            </a:r>
          </a:p>
          <a:p>
            <a:r>
              <a:rPr lang="en-US" altLang="en-US" dirty="0"/>
              <a:t>	d.	Most people are afraid of dying. </a:t>
            </a:r>
          </a:p>
          <a:p>
            <a:r>
              <a:rPr lang="en-US" altLang="en-US" dirty="0"/>
              <a:t>		</a:t>
            </a:r>
            <a:r>
              <a:rPr lang="en-US" altLang="en-US" dirty="0" err="1"/>
              <a:t>i</a:t>
            </a:r>
            <a:r>
              <a:rPr lang="en-US" altLang="en-US" dirty="0"/>
              <a:t>.	Work through your personal feelings about death so you can confront it in the field. </a:t>
            </a:r>
          </a:p>
          <a:p>
            <a:pPr eaLnBrk="1" hangingPunct="1"/>
            <a:endParaRPr lang="en-US" altLang="en-US" dirty="0"/>
          </a:p>
        </p:txBody>
      </p:sp>
    </p:spTree>
    <p:extLst>
      <p:ext uri="{BB962C8B-B14F-4D97-AF65-F5344CB8AC3E}">
        <p14:creationId xmlns:p14="http://schemas.microsoft.com/office/powerpoint/2010/main" val="15073645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060113FF-75F7-E444-829D-BC425C02BB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8" name="Rectangle 3">
            <a:extLst>
              <a:ext uri="{FF2B5EF4-FFF2-40B4-BE49-F238E27FC236}">
                <a16:creationId xmlns:a16="http://schemas.microsoft.com/office/drawing/2014/main" id="{8562D1D8-FBBB-3148-B618-5CB2E5A4CE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e.	Consider the psychological needs of patient and his or her family.</a:t>
            </a:r>
          </a:p>
          <a:p>
            <a:r>
              <a:rPr lang="en-US" altLang="en-US" dirty="0"/>
              <a:t>		</a:t>
            </a:r>
            <a:r>
              <a:rPr lang="en-US" altLang="en-US" dirty="0" err="1"/>
              <a:t>i</a:t>
            </a:r>
            <a:r>
              <a:rPr lang="en-US" altLang="en-US" dirty="0"/>
              <a:t>.	Do not be afraid to touch.</a:t>
            </a:r>
          </a:p>
          <a:p>
            <a:r>
              <a:rPr lang="en-US" altLang="en-US" dirty="0"/>
              <a:t>		ii.	Make positive statements, but do not give false hope.</a:t>
            </a:r>
          </a:p>
          <a:p>
            <a:r>
              <a:rPr lang="en-US" altLang="en-US" dirty="0"/>
              <a:t>		iii.	Provide comfort in any way you can. </a:t>
            </a:r>
          </a:p>
          <a:p>
            <a:pPr eaLnBrk="1" hangingPunct="1"/>
            <a:endParaRPr lang="en-US" altLang="en-US" dirty="0"/>
          </a:p>
          <a:p>
            <a:r>
              <a:rPr lang="en-US" altLang="en-US" dirty="0"/>
              <a:t>Figure: Do not be afraid to show empathy to patients and family members.</a:t>
            </a:r>
          </a:p>
        </p:txBody>
      </p:sp>
    </p:spTree>
    <p:extLst>
      <p:ext uri="{BB962C8B-B14F-4D97-AF65-F5344CB8AC3E}">
        <p14:creationId xmlns:p14="http://schemas.microsoft.com/office/powerpoint/2010/main" val="10398220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61AC1692-E5BB-6247-8973-2DCE81B808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6" name="Rectangle 3">
            <a:extLst>
              <a:ext uri="{FF2B5EF4-FFF2-40B4-BE49-F238E27FC236}">
                <a16:creationId xmlns:a16="http://schemas.microsoft.com/office/drawing/2014/main" id="{9669378E-7B8F-964D-9354-9FA85D0FEB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J.	Coping with work-related stress:</a:t>
            </a:r>
          </a:p>
          <a:p>
            <a:r>
              <a:rPr lang="en-US" altLang="en-US" dirty="0"/>
              <a:t>	1.	Providing emergency care is stressful for EMRs.</a:t>
            </a:r>
            <a:endParaRPr lang="en-US" altLang="en-US" b="1" dirty="0"/>
          </a:p>
          <a:p>
            <a:r>
              <a:rPr lang="en-US" altLang="en-US" dirty="0"/>
              <a:t>	2.	If you let stress build up without releasing it in healthy ways, it can begin to have negative effects on you and your performance.</a:t>
            </a:r>
            <a:endParaRPr lang="en-US" altLang="en-US" b="1" dirty="0"/>
          </a:p>
          <a:p>
            <a:r>
              <a:rPr lang="en-US" altLang="en-US" dirty="0"/>
              <a:t>	3.	Signs and symptoms of extreme stress include:</a:t>
            </a:r>
          </a:p>
          <a:p>
            <a:r>
              <a:rPr lang="en-US" altLang="en-US" dirty="0"/>
              <a:t>		a.	Depression.</a:t>
            </a:r>
            <a:endParaRPr lang="en-US" altLang="en-US" b="1" dirty="0"/>
          </a:p>
          <a:p>
            <a:r>
              <a:rPr lang="en-US" altLang="en-US" dirty="0"/>
              <a:t>		b.	Inability to sleep.</a:t>
            </a:r>
            <a:endParaRPr lang="en-US" altLang="en-US" b="1" dirty="0"/>
          </a:p>
          <a:p>
            <a:r>
              <a:rPr lang="en-US" altLang="en-US" dirty="0"/>
              <a:t>		c.	Weight changes.</a:t>
            </a:r>
            <a:endParaRPr lang="en-US" altLang="en-US" b="1" dirty="0"/>
          </a:p>
          <a:p>
            <a:r>
              <a:rPr lang="en-US" altLang="en-US" dirty="0"/>
              <a:t>		d.	Increased alcohol consumption or drug abuse.</a:t>
            </a:r>
          </a:p>
          <a:p>
            <a:r>
              <a:rPr lang="en-US" altLang="en-US" b="1" dirty="0"/>
              <a:t>		</a:t>
            </a:r>
            <a:r>
              <a:rPr lang="en-US" altLang="en-US" b="0" dirty="0"/>
              <a:t>e.	Inability to get along with family and coworkers.</a:t>
            </a:r>
          </a:p>
          <a:p>
            <a:r>
              <a:rPr lang="en-US" altLang="en-US" b="0" dirty="0"/>
              <a:t>		f.	Lack of interest in food or sex.</a:t>
            </a:r>
          </a:p>
          <a:p>
            <a:pPr eaLnBrk="1" hangingPunct="1"/>
            <a:endParaRPr lang="en-US" altLang="en-US" dirty="0"/>
          </a:p>
        </p:txBody>
      </p:sp>
    </p:spTree>
    <p:extLst>
      <p:ext uri="{BB962C8B-B14F-4D97-AF65-F5344CB8AC3E}">
        <p14:creationId xmlns:p14="http://schemas.microsoft.com/office/powerpoint/2010/main" val="2287713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61AC1692-E5BB-6247-8973-2DCE81B808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6" name="Rectangle 3">
            <a:extLst>
              <a:ext uri="{FF2B5EF4-FFF2-40B4-BE49-F238E27FC236}">
                <a16:creationId xmlns:a16="http://schemas.microsoft.com/office/drawing/2014/main" id="{9669378E-7B8F-964D-9354-9FA85D0FEB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K.	Critical incident stress debriefing and peer support: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	1.	To help prevent excess stress and relieve stress caused by critical incidents, psychologists have developed a critical incident stress debriefing (CISD) process.</a:t>
            </a:r>
            <a:endParaRPr lang="en-US" alt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		a.	CISD brings rescuers and a trained person together to talk about the rescuer’s feelings.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		b.	CISD may help rescuers understand the signs and symptoms of stress and receive reassurance from the group leader.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		c.	</a:t>
            </a:r>
            <a:r>
              <a:rPr lang="en-US" altLang="en-US" dirty="0"/>
              <a:t>CISD allows people to obtain more help from trained professionals, if needed.</a:t>
            </a:r>
            <a:endParaRPr lang="en-US" altLang="en-US" b="1" dirty="0"/>
          </a:p>
          <a:p>
            <a:r>
              <a:rPr lang="en-US" altLang="en-US" dirty="0"/>
              <a:t>	2.	Peer support is a process involving properly trained member of your department to provide confidential support to another member who is experiencing personal, emotional, or work-related 		problems. </a:t>
            </a:r>
          </a:p>
        </p:txBody>
      </p:sp>
    </p:spTree>
    <p:extLst>
      <p:ext uri="{BB962C8B-B14F-4D97-AF65-F5344CB8AC3E}">
        <p14:creationId xmlns:p14="http://schemas.microsoft.com/office/powerpoint/2010/main" val="3211051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AD053191-6DA4-0942-81DD-122EDD14760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2" name="Rectangle 3">
            <a:extLst>
              <a:ext uri="{FF2B5EF4-FFF2-40B4-BE49-F238E27FC236}">
                <a16:creationId xmlns:a16="http://schemas.microsoft.com/office/drawing/2014/main" id="{703D3203-FB4C-2F42-AC86-7E53AF3FC3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VII. Summary:</a:t>
            </a:r>
          </a:p>
          <a:p>
            <a:pPr marL="228600" indent="-228600">
              <a:buAutoNum type="alphaUcPeriod"/>
            </a:pPr>
            <a:r>
              <a:rPr lang="en-US" altLang="en-US" dirty="0"/>
              <a:t>Only a small percentage of patients you treat will be severely mentally disturbed, but almost every patient you care for will be experiencing some degree of mental and emotional crisis. No matter which type of incident or crisis is taking place, your response must be to help patient.</a:t>
            </a:r>
          </a:p>
          <a:p>
            <a:pPr marL="228600" indent="-228600">
              <a:buAutoNum type="alphaUcPeriod"/>
            </a:pPr>
            <a:r>
              <a:rPr lang="en-US" altLang="en-US" dirty="0"/>
              <a:t>Behavioral emergencies are situations in which persons exhibit abnormal, unacceptable behavior that cannot be tolerated by patients themselves or by family, friends, or community.</a:t>
            </a:r>
          </a:p>
          <a:p>
            <a:pPr marL="228600" indent="-228600">
              <a:buAutoNum type="alphaUcPeriod"/>
            </a:pPr>
            <a:endParaRPr lang="en-US" altLang="en-US" dirty="0"/>
          </a:p>
          <a:p>
            <a:pPr eaLnBrk="1" hangingPunct="1"/>
            <a:endParaRPr lang="en-US" altLang="en-US" dirty="0"/>
          </a:p>
        </p:txBody>
      </p:sp>
    </p:spTree>
    <p:extLst>
      <p:ext uri="{BB962C8B-B14F-4D97-AF65-F5344CB8AC3E}">
        <p14:creationId xmlns:p14="http://schemas.microsoft.com/office/powerpoint/2010/main" val="7200964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a:extLst>
              <a:ext uri="{FF2B5EF4-FFF2-40B4-BE49-F238E27FC236}">
                <a16:creationId xmlns:a16="http://schemas.microsoft.com/office/drawing/2014/main" id="{9534A45E-E3D6-8F4A-B5F6-978151C3AF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8" name="Rectangle 3">
            <a:extLst>
              <a:ext uri="{FF2B5EF4-FFF2-40B4-BE49-F238E27FC236}">
                <a16:creationId xmlns:a16="http://schemas.microsoft.com/office/drawing/2014/main" id="{63BDC8E2-C67F-6640-8786-EA433AC2E01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	Five major factors cause behavioral crises: medical conditions, physical trauma conditions, psychiatric illnesses, mind-altering substances, and situational stresses.</a:t>
            </a:r>
          </a:p>
          <a:p>
            <a:r>
              <a:rPr lang="en-US" altLang="en-US" dirty="0"/>
              <a:t>D.	Four emotional phases to crisis are high anxiety or emotional shock, denial, anger, and remorse or grief. Although a person may not experience every phase during a crisis, he or she will certainly experience one or more of phases.</a:t>
            </a:r>
          </a:p>
          <a:p>
            <a:pPr eaLnBrk="1" hangingPunct="1"/>
            <a:endParaRPr lang="en-US" altLang="en-US" dirty="0"/>
          </a:p>
        </p:txBody>
      </p:sp>
    </p:spTree>
    <p:extLst>
      <p:ext uri="{BB962C8B-B14F-4D97-AF65-F5344CB8AC3E}">
        <p14:creationId xmlns:p14="http://schemas.microsoft.com/office/powerpoint/2010/main" val="42789586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a:extLst>
              <a:ext uri="{FF2B5EF4-FFF2-40B4-BE49-F238E27FC236}">
                <a16:creationId xmlns:a16="http://schemas.microsoft.com/office/drawing/2014/main" id="{D6A9C5A8-10BC-5047-85F9-B583466F61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6" name="Rectangle 3">
            <a:extLst>
              <a:ext uri="{FF2B5EF4-FFF2-40B4-BE49-F238E27FC236}">
                <a16:creationId xmlns:a16="http://schemas.microsoft.com/office/drawing/2014/main" id="{C9629548-964A-1F4C-B633-F9FD0CF43B0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E.	Your role as an EMR consists of assessing patient and providing physical and emotional care. Your most important assessment skill may be your ability to communicate with patient.</a:t>
            </a:r>
          </a:p>
          <a:p>
            <a:r>
              <a:rPr lang="en-US" altLang="en-US" dirty="0"/>
              <a:t>F.	You must understand laws of your state and community that relate to caring for emotionally disturbed patients. If an emotionally disturbed patient agrees to be treated, few legal issues should arise. However, if a patient who appears to be disturbed refuses to accept treatment, it may be necessary to provide care against patient’s will. To do so, you must have a reasonable belief that patient would harm self or others. Usually, if patients are a threat to self or to others, it is possible to treat and transport them without their consent.</a:t>
            </a:r>
          </a:p>
          <a:p>
            <a:r>
              <a:rPr lang="en-US" altLang="en-US" dirty="0"/>
              <a:t>G.	Even when you have thoroughly mastered processes and tools for managing behavioral crises, it is important to remember that sometimes the best approach is to ask yourself, “How would I like to be treated if I were in this situation?”</a:t>
            </a:r>
          </a:p>
          <a:p>
            <a:pPr eaLnBrk="1" hangingPunct="1"/>
            <a:endParaRPr lang="en-US" altLang="en-US" dirty="0"/>
          </a:p>
        </p:txBody>
      </p:sp>
    </p:spTree>
    <p:extLst>
      <p:ext uri="{BB962C8B-B14F-4D97-AF65-F5344CB8AC3E}">
        <p14:creationId xmlns:p14="http://schemas.microsoft.com/office/powerpoint/2010/main" val="40266343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Slide Image Placeholder 1">
            <a:extLst>
              <a:ext uri="{FF2B5EF4-FFF2-40B4-BE49-F238E27FC236}">
                <a16:creationId xmlns:a16="http://schemas.microsoft.com/office/drawing/2014/main" id="{60AA61A1-7B03-3045-BB5A-F5F237C871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4" name="Notes Placeholder 2">
            <a:extLst>
              <a:ext uri="{FF2B5EF4-FFF2-40B4-BE49-F238E27FC236}">
                <a16:creationId xmlns:a16="http://schemas.microsoft.com/office/drawing/2014/main" id="{E679133F-ADC8-3042-B77D-04B168EB9B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0835" name="Slide Number Placeholder 3">
            <a:extLst>
              <a:ext uri="{FF2B5EF4-FFF2-40B4-BE49-F238E27FC236}">
                <a16:creationId xmlns:a16="http://schemas.microsoft.com/office/drawing/2014/main" id="{F7368565-123F-F344-B63A-9AB92CD7A5AD}"/>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pPr algn="r" eaLnBrk="1" hangingPunct="1"/>
            <a:fld id="{D567126A-6BC3-C24B-BFCE-E4A80D5A4EAA}" type="slidenum">
              <a:rPr lang="en-US" altLang="en-US" sz="1200">
                <a:latin typeface="Arial" panose="020B0604020202020204" pitchFamily="34" charset="0"/>
              </a:rPr>
              <a:pPr algn="r" eaLnBrk="1" hangingPunct="1"/>
              <a:t>57</a:t>
            </a:fld>
            <a:endParaRPr lang="en-US" altLang="en-US" sz="1200">
              <a:latin typeface="Arial" panose="020B0604020202020204" pitchFamily="34" charset="0"/>
            </a:endParaRPr>
          </a:p>
        </p:txBody>
      </p:sp>
    </p:spTree>
    <p:extLst>
      <p:ext uri="{BB962C8B-B14F-4D97-AF65-F5344CB8AC3E}">
        <p14:creationId xmlns:p14="http://schemas.microsoft.com/office/powerpoint/2010/main" val="185320199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B3791957-7CA2-3E49-A4D3-19292A86428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2" name="Rectangle 3">
            <a:extLst>
              <a:ext uri="{FF2B5EF4-FFF2-40B4-BE49-F238E27FC236}">
                <a16:creationId xmlns:a16="http://schemas.microsoft.com/office/drawing/2014/main" id="{86744561-E880-0D45-A9CB-2042D0A99D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158669685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Slide Image Placeholder 1">
            <a:extLst>
              <a:ext uri="{FF2B5EF4-FFF2-40B4-BE49-F238E27FC236}">
                <a16:creationId xmlns:a16="http://schemas.microsoft.com/office/drawing/2014/main" id="{B68DD15B-1845-5841-ADCB-0DB5B5C8A3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0" name="Notes Placeholder 2">
            <a:extLst>
              <a:ext uri="{FF2B5EF4-FFF2-40B4-BE49-F238E27FC236}">
                <a16:creationId xmlns:a16="http://schemas.microsoft.com/office/drawing/2014/main" id="{6FB3C32B-D55F-1D46-8559-9C73DDBCAC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4931" name="Slide Number Placeholder 3">
            <a:extLst>
              <a:ext uri="{FF2B5EF4-FFF2-40B4-BE49-F238E27FC236}">
                <a16:creationId xmlns:a16="http://schemas.microsoft.com/office/drawing/2014/main" id="{C0D96B33-FEE4-0C41-A52C-39FC1A39CAF5}"/>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pPr algn="r" eaLnBrk="1" hangingPunct="1"/>
            <a:fld id="{4DEEE6DD-3C8C-6B49-A19B-77E38F270FE3}" type="slidenum">
              <a:rPr lang="en-US" altLang="en-US" sz="1200">
                <a:latin typeface="Arial" panose="020B0604020202020204" pitchFamily="34" charset="0"/>
              </a:rPr>
              <a:pPr algn="r" eaLnBrk="1" hangingPunct="1"/>
              <a:t>59</a:t>
            </a:fld>
            <a:endParaRPr lang="en-US" altLang="en-US" sz="1200">
              <a:latin typeface="Arial" panose="020B0604020202020204" pitchFamily="34" charset="0"/>
            </a:endParaRPr>
          </a:p>
        </p:txBody>
      </p:sp>
    </p:spTree>
    <p:extLst>
      <p:ext uri="{BB962C8B-B14F-4D97-AF65-F5344CB8AC3E}">
        <p14:creationId xmlns:p14="http://schemas.microsoft.com/office/powerpoint/2010/main" val="22866645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59670C8B-A0E8-3847-8295-D1B7140034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8" name="Rectangle 3">
            <a:extLst>
              <a:ext uri="{FF2B5EF4-FFF2-40B4-BE49-F238E27FC236}">
                <a16:creationId xmlns:a16="http://schemas.microsoft.com/office/drawing/2014/main" id="{EAD5F543-EBB9-514A-A079-EE7DF2EBD5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34752028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Slide Image Placeholder 1">
            <a:extLst>
              <a:ext uri="{FF2B5EF4-FFF2-40B4-BE49-F238E27FC236}">
                <a16:creationId xmlns:a16="http://schemas.microsoft.com/office/drawing/2014/main" id="{E9AB3237-A42D-D648-A8F3-8739A409617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6" name="Notes Placeholder 2">
            <a:extLst>
              <a:ext uri="{FF2B5EF4-FFF2-40B4-BE49-F238E27FC236}">
                <a16:creationId xmlns:a16="http://schemas.microsoft.com/office/drawing/2014/main" id="{284A47BA-D19F-8548-A6E6-655698B974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9027" name="Slide Number Placeholder 3">
            <a:extLst>
              <a:ext uri="{FF2B5EF4-FFF2-40B4-BE49-F238E27FC236}">
                <a16:creationId xmlns:a16="http://schemas.microsoft.com/office/drawing/2014/main" id="{E3D1E2E0-BCDD-B349-97D9-19AAB12944EE}"/>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pPr algn="r" eaLnBrk="1" hangingPunct="1"/>
            <a:fld id="{5CFED359-60EF-8C44-BA92-196EA9FD3A17}" type="slidenum">
              <a:rPr lang="en-US" altLang="en-US" sz="1200">
                <a:latin typeface="Arial" panose="020B0604020202020204" pitchFamily="34" charset="0"/>
              </a:rPr>
              <a:pPr algn="r" eaLnBrk="1" hangingPunct="1"/>
              <a:t>61</a:t>
            </a:fld>
            <a:endParaRPr lang="en-US" altLang="en-US" sz="1200">
              <a:latin typeface="Arial" panose="020B0604020202020204" pitchFamily="34" charset="0"/>
            </a:endParaRPr>
          </a:p>
        </p:txBody>
      </p:sp>
    </p:spTree>
    <p:extLst>
      <p:ext uri="{BB962C8B-B14F-4D97-AF65-F5344CB8AC3E}">
        <p14:creationId xmlns:p14="http://schemas.microsoft.com/office/powerpoint/2010/main" val="28561834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0707571F-72CB-B546-874E-3E4853BEE0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4" name="Rectangle 3">
            <a:extLst>
              <a:ext uri="{FF2B5EF4-FFF2-40B4-BE49-F238E27FC236}">
                <a16:creationId xmlns:a16="http://schemas.microsoft.com/office/drawing/2014/main" id="{0A2D576B-E7CD-3545-A7F5-8B239D3E2B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1072728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endParaRPr lang="en-US"/>
          </a:p>
        </p:txBody>
      </p:sp>
      <p:sp>
        <p:nvSpPr>
          <p:cNvPr id="17" name="Rectangle 16">
            <a:extLst>
              <a:ext uri="{FF2B5EF4-FFF2-40B4-BE49-F238E27FC236}">
                <a16:creationId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 2022 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endParaRPr lang="en-US"/>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endParaRPr lang="en-US"/>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dirty="0"/>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Rectangle 6">
            <a:extLst>
              <a:ext uri="{FF2B5EF4-FFF2-40B4-BE49-F238E27FC236}">
                <a16:creationId xmlns:a16="http://schemas.microsoft.com/office/drawing/2014/main"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a:t>
            </a:r>
            <a:r>
              <a:rPr lang="en-US" sz="800">
                <a:latin typeface="Arial" panose="020B0604020202020204" pitchFamily="34" charset="0"/>
                <a:cs typeface="Arial" panose="020B0604020202020204" pitchFamily="34" charset="0"/>
              </a:rPr>
              <a:t>© 2022 </a:t>
            </a:r>
            <a:r>
              <a:rPr lang="en-US" sz="800" dirty="0">
                <a:latin typeface="Arial" panose="020B0604020202020204" pitchFamily="34" charset="0"/>
                <a:cs typeface="Arial" panose="020B0604020202020204" pitchFamily="34" charset="0"/>
              </a:rPr>
              <a:t>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CF4F1586-DE6A-1A40-AEF4-23ADA41937E4}"/>
              </a:ext>
            </a:extLst>
          </p:cNvPr>
          <p:cNvSpPr>
            <a:spLocks noGrp="1"/>
          </p:cNvSpPr>
          <p:nvPr>
            <p:ph type="subTitle" idx="1"/>
          </p:nvPr>
        </p:nvSpPr>
        <p:spPr/>
        <p:txBody>
          <a:bodyPr/>
          <a:lstStyle/>
          <a:p>
            <a:r>
              <a:rPr lang="en-US" dirty="0"/>
              <a:t>CHAPTER 12</a:t>
            </a:r>
          </a:p>
        </p:txBody>
      </p:sp>
      <p:sp>
        <p:nvSpPr>
          <p:cNvPr id="19" name="Title 18">
            <a:extLst>
              <a:ext uri="{FF2B5EF4-FFF2-40B4-BE49-F238E27FC236}">
                <a16:creationId xmlns:a16="http://schemas.microsoft.com/office/drawing/2014/main" id="{A58A35F8-EA88-094E-8EAD-88FE6A07C447}"/>
              </a:ext>
            </a:extLst>
          </p:cNvPr>
          <p:cNvSpPr>
            <a:spLocks noGrp="1"/>
          </p:cNvSpPr>
          <p:nvPr>
            <p:ph type="ctrTitle"/>
          </p:nvPr>
        </p:nvSpPr>
        <p:spPr/>
        <p:txBody>
          <a:bodyPr/>
          <a:lstStyle/>
          <a:p>
            <a:r>
              <a:rPr lang="en-US" dirty="0"/>
              <a:t>Behavioral Emergencies</a:t>
            </a:r>
          </a:p>
        </p:txBody>
      </p:sp>
      <p:pic>
        <p:nvPicPr>
          <p:cNvPr id="5" name="Picture 4"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a16="http://schemas.microsoft.com/office/drawing/2014/main" id="{A8280651-A45A-1342-9DDA-D8CFB0746F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2" name="Rectangle 2">
            <a:extLst>
              <a:ext uri="{FF2B5EF4-FFF2-40B4-BE49-F238E27FC236}">
                <a16:creationId xmlns:a16="http://schemas.microsoft.com/office/drawing/2014/main" id="{6466A69C-1209-D542-AFCD-A4DD723C2266}"/>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(1 of 3)</a:t>
            </a:r>
          </a:p>
        </p:txBody>
      </p:sp>
      <p:sp>
        <p:nvSpPr>
          <p:cNvPr id="5123" name="Rectangle 3">
            <a:extLst>
              <a:ext uri="{FF2B5EF4-FFF2-40B4-BE49-F238E27FC236}">
                <a16:creationId xmlns:a16="http://schemas.microsoft.com/office/drawing/2014/main" id="{CDE972E9-65C2-344A-837F-8687B1C1A90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dirty="0">
                <a:latin typeface="Arial Black" panose="020B0604020202020204" pitchFamily="34" charset="0"/>
              </a:rPr>
              <a:t>Medicine:</a:t>
            </a:r>
          </a:p>
          <a:p>
            <a:pPr marL="0" indent="0">
              <a:spcBef>
                <a:spcPct val="35000"/>
              </a:spcBef>
              <a:buNone/>
            </a:pPr>
            <a:r>
              <a:rPr lang="en-US" altLang="en-US" dirty="0"/>
              <a:t>Recognizes and manages life threats based on assessment findings of a patient with a medical emergency while awaiting additional emergency response.</a:t>
            </a:r>
          </a:p>
        </p:txBody>
      </p:sp>
    </p:spTree>
    <p:extLst>
      <p:ext uri="{BB962C8B-B14F-4D97-AF65-F5344CB8AC3E}">
        <p14:creationId xmlns:p14="http://schemas.microsoft.com/office/powerpoint/2010/main" val="889185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6" name="Rectangle 2">
            <a:extLst>
              <a:ext uri="{FF2B5EF4-FFF2-40B4-BE49-F238E27FC236}">
                <a16:creationId xmlns:a16="http://schemas.microsoft.com/office/drawing/2014/main" id="{F84B360E-7BC2-1349-81AE-4902CCC0CC4E}"/>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(2 of 3)</a:t>
            </a:r>
          </a:p>
        </p:txBody>
      </p:sp>
      <p:sp>
        <p:nvSpPr>
          <p:cNvPr id="7171" name="Rectangle 3">
            <a:extLst>
              <a:ext uri="{FF2B5EF4-FFF2-40B4-BE49-F238E27FC236}">
                <a16:creationId xmlns:a16="http://schemas.microsoft.com/office/drawing/2014/main" id="{B1C8C2CB-9545-E844-82FE-0EB7C76C07E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dirty="0">
                <a:latin typeface="Arial Black" panose="020B0604020202020204" pitchFamily="34" charset="0"/>
              </a:rPr>
              <a:t>Psychiatric:</a:t>
            </a:r>
          </a:p>
          <a:p>
            <a:pPr eaLnBrk="1" hangingPunct="1">
              <a:spcBef>
                <a:spcPct val="35000"/>
              </a:spcBef>
              <a:buFontTx/>
              <a:buNone/>
            </a:pPr>
            <a:r>
              <a:rPr lang="en-US" altLang="en-US" dirty="0"/>
              <a:t>Recognition of:</a:t>
            </a:r>
          </a:p>
          <a:p>
            <a:pPr eaLnBrk="1" hangingPunct="1">
              <a:spcBef>
                <a:spcPct val="35000"/>
              </a:spcBef>
            </a:pPr>
            <a:r>
              <a:rPr lang="en-US" altLang="en-US" dirty="0"/>
              <a:t>Behaviors that pose a risk to EMR, patient, or others.</a:t>
            </a:r>
          </a:p>
        </p:txBody>
      </p:sp>
    </p:spTree>
    <p:extLst>
      <p:ext uri="{BB962C8B-B14F-4D97-AF65-F5344CB8AC3E}">
        <p14:creationId xmlns:p14="http://schemas.microsoft.com/office/powerpoint/2010/main" val="35877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890" name="Rectangle 2">
            <a:extLst>
              <a:ext uri="{FF2B5EF4-FFF2-40B4-BE49-F238E27FC236}">
                <a16:creationId xmlns:a16="http://schemas.microsoft.com/office/drawing/2014/main" id="{AEDF78C3-0D76-C243-9D7A-A6F71728898D}"/>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(3 of 3)</a:t>
            </a:r>
          </a:p>
        </p:txBody>
      </p:sp>
      <p:sp>
        <p:nvSpPr>
          <p:cNvPr id="9219" name="Rectangle 3">
            <a:extLst>
              <a:ext uri="{FF2B5EF4-FFF2-40B4-BE49-F238E27FC236}">
                <a16:creationId xmlns:a16="http://schemas.microsoft.com/office/drawing/2014/main" id="{AC2A3FA1-E3B0-614C-B9AF-D8B2CB9949B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buFontTx/>
              <a:buNone/>
            </a:pPr>
            <a:r>
              <a:rPr lang="en-US" altLang="en-US" dirty="0">
                <a:latin typeface="Arial Black" panose="020B0604020202020204" pitchFamily="34" charset="0"/>
              </a:rPr>
              <a:t>Special Patient Populations:</a:t>
            </a:r>
          </a:p>
          <a:p>
            <a:pPr eaLnBrk="1" hangingPunct="1">
              <a:spcBef>
                <a:spcPct val="35000"/>
              </a:spcBef>
              <a:buFontTx/>
              <a:buNone/>
            </a:pPr>
            <a:r>
              <a:rPr lang="en-US" altLang="en-US" dirty="0"/>
              <a:t>Recognizes and manages life threats based on simple assessment findings for a patient with special needs while awaiting additional emergency response.</a:t>
            </a:r>
          </a:p>
          <a:p>
            <a:pPr eaLnBrk="1" hangingPunct="1">
              <a:spcBef>
                <a:spcPct val="100000"/>
              </a:spcBef>
              <a:buFontTx/>
              <a:buNone/>
            </a:pPr>
            <a:r>
              <a:rPr lang="en-US" altLang="en-US" dirty="0">
                <a:latin typeface="Arial Black" panose="020B0604020202020204" pitchFamily="34" charset="0"/>
              </a:rPr>
              <a:t>Patients With Special Challenges:</a:t>
            </a:r>
          </a:p>
          <a:p>
            <a:pPr eaLnBrk="1" hangingPunct="1">
              <a:spcBef>
                <a:spcPct val="35000"/>
              </a:spcBef>
            </a:pPr>
            <a:r>
              <a:rPr lang="en-US" altLang="en-US" dirty="0"/>
              <a:t>Recognizing and reporting abuse and neglect.</a:t>
            </a:r>
          </a:p>
        </p:txBody>
      </p:sp>
    </p:spTree>
    <p:extLst>
      <p:ext uri="{BB962C8B-B14F-4D97-AF65-F5344CB8AC3E}">
        <p14:creationId xmlns:p14="http://schemas.microsoft.com/office/powerpoint/2010/main" val="336961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a:extLst>
              <a:ext uri="{FF2B5EF4-FFF2-40B4-BE49-F238E27FC236}">
                <a16:creationId xmlns:a16="http://schemas.microsoft.com/office/drawing/2014/main" id="{580D3DD7-65E2-6247-97BA-B45A8FF3F654}"/>
              </a:ext>
            </a:extLst>
          </p:cNvPr>
          <p:cNvSpPr>
            <a:spLocks noGrp="1" noChangeArrowheads="1"/>
          </p:cNvSpPr>
          <p:nvPr>
            <p:ph type="title"/>
          </p:nvPr>
        </p:nvSpPr>
        <p:spPr/>
        <p:txBody>
          <a:bodyPr/>
          <a:lstStyle/>
          <a:p>
            <a:pPr eaLnBrk="1" hangingPunct="1">
              <a:lnSpc>
                <a:spcPct val="85000"/>
              </a:lnSpc>
              <a:defRPr/>
            </a:pPr>
            <a:r>
              <a:rPr lang="en-US" dirty="0"/>
              <a:t>Introduction</a:t>
            </a:r>
          </a:p>
        </p:txBody>
      </p:sp>
      <p:sp>
        <p:nvSpPr>
          <p:cNvPr id="11267" name="Rectangle 3">
            <a:extLst>
              <a:ext uri="{FF2B5EF4-FFF2-40B4-BE49-F238E27FC236}">
                <a16:creationId xmlns:a16="http://schemas.microsoft.com/office/drawing/2014/main" id="{EF6F25F9-8CE4-7C41-B854-1D652359C56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EMRs need to give psychological support as well as emergency medical care.</a:t>
            </a:r>
          </a:p>
          <a:p>
            <a:pPr eaLnBrk="1" hangingPunct="1">
              <a:spcBef>
                <a:spcPct val="35000"/>
              </a:spcBef>
            </a:pPr>
            <a:r>
              <a:rPr lang="en-US" altLang="en-US" dirty="0"/>
              <a:t>Factors contributing to behavioral changes:</a:t>
            </a:r>
            <a:endParaRPr lang="en-US" altLang="en-US" dirty="0">
              <a:solidFill>
                <a:srgbClr val="FF0000"/>
              </a:solidFill>
            </a:endParaRPr>
          </a:p>
          <a:p>
            <a:pPr lvl="1" eaLnBrk="1" hangingPunct="1">
              <a:spcBef>
                <a:spcPct val="35000"/>
              </a:spcBef>
            </a:pPr>
            <a:r>
              <a:rPr lang="en-US" altLang="en-US" dirty="0"/>
              <a:t>Medical conditions.</a:t>
            </a:r>
          </a:p>
          <a:p>
            <a:pPr lvl="1" eaLnBrk="1" hangingPunct="1">
              <a:spcBef>
                <a:spcPct val="35000"/>
              </a:spcBef>
            </a:pPr>
            <a:r>
              <a:rPr lang="en-US" altLang="en-US" dirty="0"/>
              <a:t>Physical trauma.</a:t>
            </a:r>
          </a:p>
          <a:p>
            <a:pPr lvl="1" eaLnBrk="1" hangingPunct="1">
              <a:spcBef>
                <a:spcPct val="35000"/>
              </a:spcBef>
            </a:pPr>
            <a:r>
              <a:rPr lang="en-US" altLang="en-US" dirty="0"/>
              <a:t>Psychiatric illnesses.</a:t>
            </a:r>
          </a:p>
          <a:p>
            <a:pPr lvl="1" eaLnBrk="1" hangingPunct="1">
              <a:spcBef>
                <a:spcPct val="35000"/>
              </a:spcBef>
            </a:pPr>
            <a:r>
              <a:rPr lang="en-US" altLang="en-US" dirty="0"/>
              <a:t>Mind-altering substances.</a:t>
            </a:r>
          </a:p>
          <a:p>
            <a:pPr lvl="1" eaLnBrk="1" hangingPunct="1">
              <a:spcBef>
                <a:spcPct val="35000"/>
              </a:spcBef>
            </a:pPr>
            <a:r>
              <a:rPr lang="en-US" altLang="en-US" dirty="0"/>
              <a:t>Situational stresses.</a:t>
            </a:r>
          </a:p>
        </p:txBody>
      </p:sp>
    </p:spTree>
    <p:extLst>
      <p:ext uri="{BB962C8B-B14F-4D97-AF65-F5344CB8AC3E}">
        <p14:creationId xmlns:p14="http://schemas.microsoft.com/office/powerpoint/2010/main" val="2934885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938" name="Rectangle 2">
            <a:extLst>
              <a:ext uri="{FF2B5EF4-FFF2-40B4-BE49-F238E27FC236}">
                <a16:creationId xmlns:a16="http://schemas.microsoft.com/office/drawing/2014/main" id="{502E2396-55F1-4145-89ED-E507E71E7FCD}"/>
              </a:ext>
            </a:extLst>
          </p:cNvPr>
          <p:cNvSpPr>
            <a:spLocks noGrp="1" noChangeArrowheads="1"/>
          </p:cNvSpPr>
          <p:nvPr>
            <p:ph type="title"/>
          </p:nvPr>
        </p:nvSpPr>
        <p:spPr/>
        <p:txBody>
          <a:bodyPr/>
          <a:lstStyle/>
          <a:p>
            <a:pPr eaLnBrk="1" hangingPunct="1">
              <a:lnSpc>
                <a:spcPct val="85000"/>
              </a:lnSpc>
              <a:defRPr/>
            </a:pPr>
            <a:r>
              <a:rPr lang="en-US" dirty="0"/>
              <a:t>Patient Assessment in Behavioral Emergencies </a:t>
            </a:r>
            <a:r>
              <a:rPr lang="en-US" sz="2800" b="0" dirty="0"/>
              <a:t>(1 of 3)</a:t>
            </a:r>
          </a:p>
        </p:txBody>
      </p:sp>
      <p:sp>
        <p:nvSpPr>
          <p:cNvPr id="4" name="Rectangle 3"/>
          <p:cNvSpPr/>
          <p:nvPr/>
        </p:nvSpPr>
        <p:spPr>
          <a:xfrm>
            <a:off x="3956270" y="5854306"/>
            <a:ext cx="10072846"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12-1 </a:t>
            </a:r>
            <a:r>
              <a:rPr lang="en-US" dirty="0"/>
              <a:t>Patient assessment sequence. </a:t>
            </a:r>
          </a:p>
        </p:txBody>
      </p:sp>
      <p:sp>
        <p:nvSpPr>
          <p:cNvPr id="6" name="Rectangle 5"/>
          <p:cNvSpPr/>
          <p:nvPr/>
        </p:nvSpPr>
        <p:spPr>
          <a:xfrm>
            <a:off x="3944196" y="6233847"/>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1026" name="Picture 2" descr="The sequence is as follows: scene size-up; primary assessment; history taking; secondary assessment; reassessment.&#10;" title="A figure denotes the patient assessment sequence in the form of a flowchart, using boxes with arrows leading off from one box to the nex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1233" y="1453524"/>
            <a:ext cx="2549534" cy="4331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2953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Rectangle 2">
            <a:extLst>
              <a:ext uri="{FF2B5EF4-FFF2-40B4-BE49-F238E27FC236}">
                <a16:creationId xmlns:a16="http://schemas.microsoft.com/office/drawing/2014/main" id="{62F2C2BB-9930-F64D-9895-D8E49FF6A875}"/>
              </a:ext>
            </a:extLst>
          </p:cNvPr>
          <p:cNvSpPr>
            <a:spLocks noGrp="1" noChangeArrowheads="1"/>
          </p:cNvSpPr>
          <p:nvPr>
            <p:ph type="title"/>
          </p:nvPr>
        </p:nvSpPr>
        <p:spPr/>
        <p:txBody>
          <a:bodyPr/>
          <a:lstStyle/>
          <a:p>
            <a:pPr eaLnBrk="1" hangingPunct="1">
              <a:lnSpc>
                <a:spcPct val="85000"/>
              </a:lnSpc>
              <a:defRPr/>
            </a:pPr>
            <a:r>
              <a:rPr lang="en-US" dirty="0"/>
              <a:t>Patient Assessment in Behavioral Emergencies </a:t>
            </a:r>
            <a:r>
              <a:rPr lang="en-US" sz="2800" b="0" dirty="0"/>
              <a:t>(2 of 3)</a:t>
            </a:r>
          </a:p>
        </p:txBody>
      </p:sp>
      <p:sp>
        <p:nvSpPr>
          <p:cNvPr id="15363" name="Rectangle 3">
            <a:extLst>
              <a:ext uri="{FF2B5EF4-FFF2-40B4-BE49-F238E27FC236}">
                <a16:creationId xmlns:a16="http://schemas.microsoft.com/office/drawing/2014/main" id="{46A57435-6E4B-924E-9324-0BA0963296A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Complete a scene size-up, being especially careful to make sure that scene is safe.</a:t>
            </a:r>
          </a:p>
          <a:p>
            <a:pPr eaLnBrk="1" hangingPunct="1">
              <a:spcBef>
                <a:spcPct val="35000"/>
              </a:spcBef>
            </a:pPr>
            <a:r>
              <a:rPr lang="en-US" altLang="en-US" dirty="0"/>
              <a:t>If patient is oriented and responsive, complete primary assessment.</a:t>
            </a:r>
          </a:p>
          <a:p>
            <a:pPr lvl="1" eaLnBrk="1" hangingPunct="1">
              <a:spcBef>
                <a:spcPct val="35000"/>
              </a:spcBef>
            </a:pPr>
            <a:r>
              <a:rPr lang="en-US" altLang="en-US" dirty="0"/>
              <a:t>Observe patient’s responsiveness, airway, and breathing, and measure pulse.</a:t>
            </a:r>
          </a:p>
          <a:p>
            <a:pPr eaLnBrk="1" hangingPunct="1">
              <a:spcBef>
                <a:spcPct val="35000"/>
              </a:spcBef>
            </a:pPr>
            <a:r>
              <a:rPr lang="en-US" altLang="en-US" dirty="0"/>
              <a:t>History should follow SAMPLE format.</a:t>
            </a:r>
          </a:p>
        </p:txBody>
      </p:sp>
    </p:spTree>
    <p:extLst>
      <p:ext uri="{BB962C8B-B14F-4D97-AF65-F5344CB8AC3E}">
        <p14:creationId xmlns:p14="http://schemas.microsoft.com/office/powerpoint/2010/main" val="1714477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a:extLst>
              <a:ext uri="{FF2B5EF4-FFF2-40B4-BE49-F238E27FC236}">
                <a16:creationId xmlns:a16="http://schemas.microsoft.com/office/drawing/2014/main" id="{DB6DE2D3-47B1-FD4D-9933-9D632957B137}"/>
              </a:ext>
            </a:extLst>
          </p:cNvPr>
          <p:cNvSpPr>
            <a:spLocks noGrp="1" noChangeArrowheads="1"/>
          </p:cNvSpPr>
          <p:nvPr>
            <p:ph type="title"/>
          </p:nvPr>
        </p:nvSpPr>
        <p:spPr/>
        <p:txBody>
          <a:bodyPr/>
          <a:lstStyle/>
          <a:p>
            <a:pPr eaLnBrk="1" hangingPunct="1">
              <a:lnSpc>
                <a:spcPct val="85000"/>
              </a:lnSpc>
              <a:defRPr/>
            </a:pPr>
            <a:r>
              <a:rPr lang="en-US" dirty="0"/>
              <a:t>Patient Assessment in Behavioral Emergencies </a:t>
            </a:r>
            <a:r>
              <a:rPr lang="en-US" sz="2800" b="0" dirty="0"/>
              <a:t>(3 of 3)</a:t>
            </a:r>
          </a:p>
        </p:txBody>
      </p:sp>
      <p:sp>
        <p:nvSpPr>
          <p:cNvPr id="17411" name="Rectangle 3">
            <a:extLst>
              <a:ext uri="{FF2B5EF4-FFF2-40B4-BE49-F238E27FC236}">
                <a16:creationId xmlns:a16="http://schemas.microsoft.com/office/drawing/2014/main" id="{F97D14C3-3D3B-2840-B14C-22B3D5EEA78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Secondary assessment should rule out any obvious injuries and focus on signs of medical illnesses.</a:t>
            </a:r>
          </a:p>
          <a:p>
            <a:pPr lvl="1" eaLnBrk="1" hangingPunct="1">
              <a:spcBef>
                <a:spcPct val="35000"/>
              </a:spcBef>
            </a:pPr>
            <a:r>
              <a:rPr lang="en-US" altLang="en-US" dirty="0"/>
              <a:t>Take a set of vital signs.</a:t>
            </a:r>
          </a:p>
          <a:p>
            <a:pPr eaLnBrk="1" hangingPunct="1">
              <a:spcBef>
                <a:spcPct val="35000"/>
              </a:spcBef>
            </a:pPr>
            <a:r>
              <a:rPr lang="en-US" altLang="en-US" dirty="0"/>
              <a:t>Reassess stable patients every 15 minutes and unstable patients every 5 minutes.</a:t>
            </a:r>
          </a:p>
          <a:p>
            <a:pPr eaLnBrk="1" hangingPunct="1">
              <a:spcBef>
                <a:spcPct val="35000"/>
              </a:spcBef>
            </a:pPr>
            <a:r>
              <a:rPr lang="en-US" altLang="en-US" dirty="0"/>
              <a:t>If you cannot complete assessment, document reason for not completing it.</a:t>
            </a:r>
          </a:p>
        </p:txBody>
      </p:sp>
    </p:spTree>
    <p:extLst>
      <p:ext uri="{BB962C8B-B14F-4D97-AF65-F5344CB8AC3E}">
        <p14:creationId xmlns:p14="http://schemas.microsoft.com/office/powerpoint/2010/main" val="300450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0" name="Rectangle 2">
            <a:extLst>
              <a:ext uri="{FF2B5EF4-FFF2-40B4-BE49-F238E27FC236}">
                <a16:creationId xmlns:a16="http://schemas.microsoft.com/office/drawing/2014/main" id="{71EB3DD0-BE24-BB4F-B622-F67237A2D359}"/>
              </a:ext>
            </a:extLst>
          </p:cNvPr>
          <p:cNvSpPr>
            <a:spLocks noGrp="1" noChangeArrowheads="1"/>
          </p:cNvSpPr>
          <p:nvPr>
            <p:ph type="title"/>
          </p:nvPr>
        </p:nvSpPr>
        <p:spPr/>
        <p:txBody>
          <a:bodyPr/>
          <a:lstStyle/>
          <a:p>
            <a:pPr eaLnBrk="1" hangingPunct="1">
              <a:lnSpc>
                <a:spcPct val="85000"/>
              </a:lnSpc>
              <a:defRPr/>
            </a:pPr>
            <a:r>
              <a:rPr lang="en-US" dirty="0"/>
              <a:t>Behavioral Crises </a:t>
            </a:r>
            <a:r>
              <a:rPr lang="en-US" sz="2800" b="0" dirty="0"/>
              <a:t>(1 of 4)</a:t>
            </a:r>
          </a:p>
        </p:txBody>
      </p:sp>
      <p:sp>
        <p:nvSpPr>
          <p:cNvPr id="19459" name="Rectangle 3">
            <a:extLst>
              <a:ext uri="{FF2B5EF4-FFF2-40B4-BE49-F238E27FC236}">
                <a16:creationId xmlns:a16="http://schemas.microsoft.com/office/drawing/2014/main" id="{6FDA2D01-D1F5-0746-BDFC-8CF640A2D28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Behavioral emergencies are situations in which persons exhibit abnormal, unacceptable behavior that cannot be tolerated by patients themselves or by family, friends, or community.</a:t>
            </a:r>
          </a:p>
          <a:p>
            <a:pPr lvl="1">
              <a:spcBef>
                <a:spcPct val="35000"/>
              </a:spcBef>
            </a:pPr>
            <a:r>
              <a:rPr lang="en-US" altLang="en-US" dirty="0"/>
              <a:t>Five main factors contribute to behavioral changes.</a:t>
            </a:r>
          </a:p>
          <a:p>
            <a:pPr eaLnBrk="1" hangingPunct="1">
              <a:spcBef>
                <a:spcPct val="35000"/>
              </a:spcBef>
            </a:pPr>
            <a:r>
              <a:rPr lang="en-US" altLang="en-US" dirty="0"/>
              <a:t>Medical conditions:</a:t>
            </a:r>
          </a:p>
          <a:p>
            <a:pPr lvl="1" eaLnBrk="1" hangingPunct="1">
              <a:spcBef>
                <a:spcPct val="35000"/>
              </a:spcBef>
            </a:pPr>
            <a:r>
              <a:rPr lang="en-US" altLang="en-US" dirty="0"/>
              <a:t>Uncontrolled diabetes.</a:t>
            </a:r>
          </a:p>
          <a:p>
            <a:pPr lvl="1" eaLnBrk="1" hangingPunct="1">
              <a:spcBef>
                <a:spcPct val="35000"/>
              </a:spcBef>
            </a:pPr>
            <a:r>
              <a:rPr lang="en-US" altLang="en-US" dirty="0"/>
              <a:t>Respiratory conditions.</a:t>
            </a:r>
            <a:endParaRPr lang="en-US" altLang="en-US" dirty="0">
              <a:solidFill>
                <a:srgbClr val="FF0000"/>
              </a:solidFill>
            </a:endParaRPr>
          </a:p>
          <a:p>
            <a:pPr lvl="1" eaLnBrk="1" hangingPunct="1">
              <a:spcBef>
                <a:spcPct val="35000"/>
              </a:spcBef>
            </a:pPr>
            <a:r>
              <a:rPr lang="en-US" altLang="en-US" dirty="0"/>
              <a:t>Strokes.</a:t>
            </a:r>
          </a:p>
        </p:txBody>
      </p:sp>
    </p:spTree>
    <p:extLst>
      <p:ext uri="{BB962C8B-B14F-4D97-AF65-F5344CB8AC3E}">
        <p14:creationId xmlns:p14="http://schemas.microsoft.com/office/powerpoint/2010/main" val="1906753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4" name="Rectangle 2">
            <a:extLst>
              <a:ext uri="{FF2B5EF4-FFF2-40B4-BE49-F238E27FC236}">
                <a16:creationId xmlns:a16="http://schemas.microsoft.com/office/drawing/2014/main" id="{A33A7358-9234-7A46-837D-B1709A6DF2FD}"/>
              </a:ext>
            </a:extLst>
          </p:cNvPr>
          <p:cNvSpPr>
            <a:spLocks noGrp="1" noChangeArrowheads="1"/>
          </p:cNvSpPr>
          <p:nvPr>
            <p:ph type="title"/>
          </p:nvPr>
        </p:nvSpPr>
        <p:spPr/>
        <p:txBody>
          <a:bodyPr/>
          <a:lstStyle/>
          <a:p>
            <a:pPr eaLnBrk="1" hangingPunct="1">
              <a:lnSpc>
                <a:spcPct val="85000"/>
              </a:lnSpc>
              <a:defRPr/>
            </a:pPr>
            <a:r>
              <a:rPr lang="en-US" dirty="0"/>
              <a:t>Behavioral Crises </a:t>
            </a:r>
            <a:r>
              <a:rPr lang="en-US" sz="2800" b="0" dirty="0"/>
              <a:t>(2 of 4)</a:t>
            </a:r>
          </a:p>
        </p:txBody>
      </p:sp>
      <p:sp>
        <p:nvSpPr>
          <p:cNvPr id="21507" name="Rectangle 3">
            <a:extLst>
              <a:ext uri="{FF2B5EF4-FFF2-40B4-BE49-F238E27FC236}">
                <a16:creationId xmlns:a16="http://schemas.microsoft.com/office/drawing/2014/main" id="{3E4C8AD6-F821-9945-9811-62134AC5D62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Medical conditions (cont'd):</a:t>
            </a:r>
          </a:p>
          <a:p>
            <a:pPr lvl="1" eaLnBrk="1" hangingPunct="1">
              <a:spcBef>
                <a:spcPct val="35000"/>
              </a:spcBef>
            </a:pPr>
            <a:r>
              <a:rPr lang="en-US" altLang="en-US" dirty="0"/>
              <a:t>Head injuries.</a:t>
            </a:r>
          </a:p>
          <a:p>
            <a:pPr lvl="1" eaLnBrk="1" hangingPunct="1">
              <a:spcBef>
                <a:spcPct val="35000"/>
              </a:spcBef>
            </a:pPr>
            <a:r>
              <a:rPr lang="en-US" altLang="en-US" dirty="0"/>
              <a:t>High fevers.</a:t>
            </a:r>
          </a:p>
          <a:p>
            <a:pPr lvl="1" eaLnBrk="1" hangingPunct="1">
              <a:spcBef>
                <a:spcPct val="35000"/>
              </a:spcBef>
            </a:pPr>
            <a:r>
              <a:rPr lang="en-US" altLang="en-US" dirty="0"/>
              <a:t>Infections.</a:t>
            </a:r>
          </a:p>
          <a:p>
            <a:pPr lvl="1" eaLnBrk="1" hangingPunct="1">
              <a:spcBef>
                <a:spcPct val="35000"/>
              </a:spcBef>
            </a:pPr>
            <a:r>
              <a:rPr lang="en-US" altLang="en-US" dirty="0"/>
              <a:t>Excessively low body temperature.</a:t>
            </a:r>
          </a:p>
          <a:p>
            <a:pPr eaLnBrk="1" hangingPunct="1">
              <a:spcBef>
                <a:spcPct val="35000"/>
              </a:spcBef>
            </a:pPr>
            <a:r>
              <a:rPr lang="en-US" altLang="en-US" dirty="0"/>
              <a:t>Physical trauma conditions:</a:t>
            </a:r>
          </a:p>
          <a:p>
            <a:pPr lvl="1" eaLnBrk="1" hangingPunct="1">
              <a:spcBef>
                <a:spcPct val="35000"/>
              </a:spcBef>
            </a:pPr>
            <a:r>
              <a:rPr lang="en-US" altLang="en-US" dirty="0"/>
              <a:t>Head injuries.</a:t>
            </a:r>
          </a:p>
          <a:p>
            <a:pPr lvl="1" eaLnBrk="1" hangingPunct="1">
              <a:spcBef>
                <a:spcPct val="35000"/>
              </a:spcBef>
            </a:pPr>
            <a:r>
              <a:rPr lang="en-US" altLang="en-US" dirty="0"/>
              <a:t>Injuries that result in shock and an inadequate blood supply to brain.</a:t>
            </a:r>
          </a:p>
        </p:txBody>
      </p:sp>
    </p:spTree>
    <p:extLst>
      <p:ext uri="{BB962C8B-B14F-4D97-AF65-F5344CB8AC3E}">
        <p14:creationId xmlns:p14="http://schemas.microsoft.com/office/powerpoint/2010/main" val="3931615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58" name="Rectangle 2">
            <a:extLst>
              <a:ext uri="{FF2B5EF4-FFF2-40B4-BE49-F238E27FC236}">
                <a16:creationId xmlns:a16="http://schemas.microsoft.com/office/drawing/2014/main" id="{A05B8831-EF90-4643-AF5C-D1C597FAB7D1}"/>
              </a:ext>
            </a:extLst>
          </p:cNvPr>
          <p:cNvSpPr>
            <a:spLocks noGrp="1" noChangeArrowheads="1"/>
          </p:cNvSpPr>
          <p:nvPr>
            <p:ph type="title"/>
          </p:nvPr>
        </p:nvSpPr>
        <p:spPr/>
        <p:txBody>
          <a:bodyPr/>
          <a:lstStyle/>
          <a:p>
            <a:pPr eaLnBrk="1" hangingPunct="1">
              <a:lnSpc>
                <a:spcPct val="85000"/>
              </a:lnSpc>
              <a:defRPr/>
            </a:pPr>
            <a:r>
              <a:rPr lang="en-US" dirty="0"/>
              <a:t>Behavioral Crises </a:t>
            </a:r>
            <a:r>
              <a:rPr lang="en-US" sz="2800" b="0" dirty="0"/>
              <a:t>(3 of 4)</a:t>
            </a:r>
          </a:p>
        </p:txBody>
      </p:sp>
      <p:sp>
        <p:nvSpPr>
          <p:cNvPr id="23555" name="Rectangle 3">
            <a:extLst>
              <a:ext uri="{FF2B5EF4-FFF2-40B4-BE49-F238E27FC236}">
                <a16:creationId xmlns:a16="http://schemas.microsoft.com/office/drawing/2014/main" id="{04FE57D8-2141-8C44-B659-B6A18A40B7F2}"/>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Psychiatric illnesses:</a:t>
            </a:r>
          </a:p>
          <a:p>
            <a:pPr lvl="1" eaLnBrk="1" hangingPunct="1">
              <a:spcBef>
                <a:spcPct val="35000"/>
              </a:spcBef>
            </a:pPr>
            <a:r>
              <a:rPr lang="en-US" altLang="en-US" dirty="0"/>
              <a:t>Depression.</a:t>
            </a:r>
          </a:p>
          <a:p>
            <a:pPr lvl="1" eaLnBrk="1" hangingPunct="1">
              <a:spcBef>
                <a:spcPct val="35000"/>
              </a:spcBef>
            </a:pPr>
            <a:r>
              <a:rPr lang="en-US" altLang="en-US" dirty="0"/>
              <a:t>Panic.</a:t>
            </a:r>
          </a:p>
          <a:p>
            <a:pPr lvl="1" eaLnBrk="1" hangingPunct="1">
              <a:spcBef>
                <a:spcPct val="35000"/>
              </a:spcBef>
            </a:pPr>
            <a:r>
              <a:rPr lang="en-US" altLang="en-US" dirty="0"/>
              <a:t>Psychotic behavior.</a:t>
            </a:r>
          </a:p>
          <a:p>
            <a:pPr eaLnBrk="1" hangingPunct="1">
              <a:spcBef>
                <a:spcPct val="35000"/>
              </a:spcBef>
            </a:pPr>
            <a:r>
              <a:rPr lang="en-US" altLang="en-US" dirty="0"/>
              <a:t>Mind-altering substances:</a:t>
            </a:r>
          </a:p>
          <a:p>
            <a:pPr lvl="1" eaLnBrk="1" hangingPunct="1">
              <a:spcBef>
                <a:spcPct val="35000"/>
              </a:spcBef>
            </a:pPr>
            <a:r>
              <a:rPr lang="en-US" altLang="en-US" dirty="0"/>
              <a:t>Alcohol.</a:t>
            </a:r>
          </a:p>
          <a:p>
            <a:pPr lvl="1" eaLnBrk="1" hangingPunct="1">
              <a:spcBef>
                <a:spcPct val="35000"/>
              </a:spcBef>
            </a:pPr>
            <a:r>
              <a:rPr lang="en-US" altLang="en-US" dirty="0"/>
              <a:t>A wide variety of chemical substances.</a:t>
            </a:r>
          </a:p>
        </p:txBody>
      </p:sp>
    </p:spTree>
    <p:extLst>
      <p:ext uri="{BB962C8B-B14F-4D97-AF65-F5344CB8AC3E}">
        <p14:creationId xmlns:p14="http://schemas.microsoft.com/office/powerpoint/2010/main" val="3315001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082" name="Rectangle 2">
            <a:extLst>
              <a:ext uri="{FF2B5EF4-FFF2-40B4-BE49-F238E27FC236}">
                <a16:creationId xmlns:a16="http://schemas.microsoft.com/office/drawing/2014/main" id="{4593B895-BE27-994F-80C4-3FC611424C6C}"/>
              </a:ext>
            </a:extLst>
          </p:cNvPr>
          <p:cNvSpPr>
            <a:spLocks noGrp="1" noChangeArrowheads="1"/>
          </p:cNvSpPr>
          <p:nvPr>
            <p:ph type="title"/>
          </p:nvPr>
        </p:nvSpPr>
        <p:spPr/>
        <p:txBody>
          <a:bodyPr/>
          <a:lstStyle/>
          <a:p>
            <a:pPr eaLnBrk="1" hangingPunct="1">
              <a:lnSpc>
                <a:spcPct val="85000"/>
              </a:lnSpc>
              <a:defRPr/>
            </a:pPr>
            <a:r>
              <a:rPr lang="en-US" dirty="0"/>
              <a:t>Behavioral Crises </a:t>
            </a:r>
            <a:r>
              <a:rPr lang="en-US" sz="2800" b="0" dirty="0"/>
              <a:t>(4 of 4)</a:t>
            </a:r>
          </a:p>
        </p:txBody>
      </p:sp>
      <p:sp>
        <p:nvSpPr>
          <p:cNvPr id="25603" name="Rectangle 3">
            <a:extLst>
              <a:ext uri="{FF2B5EF4-FFF2-40B4-BE49-F238E27FC236}">
                <a16:creationId xmlns:a16="http://schemas.microsoft.com/office/drawing/2014/main" id="{9B95CEF6-394F-A04A-B7D6-78A180FF8EF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Situational stresses:</a:t>
            </a:r>
          </a:p>
          <a:p>
            <a:pPr lvl="1" eaLnBrk="1" hangingPunct="1">
              <a:spcBef>
                <a:spcPct val="35000"/>
              </a:spcBef>
            </a:pPr>
            <a:r>
              <a:rPr lang="en-US" altLang="en-US" dirty="0"/>
              <a:t>Death of a loved one.</a:t>
            </a:r>
          </a:p>
          <a:p>
            <a:pPr lvl="1" eaLnBrk="1" hangingPunct="1">
              <a:spcBef>
                <a:spcPct val="35000"/>
              </a:spcBef>
            </a:pPr>
            <a:r>
              <a:rPr lang="en-US" altLang="en-US" dirty="0"/>
              <a:t>Serious injury to a loved one.</a:t>
            </a:r>
          </a:p>
        </p:txBody>
      </p:sp>
    </p:spTree>
    <p:extLst>
      <p:ext uri="{BB962C8B-B14F-4D97-AF65-F5344CB8AC3E}">
        <p14:creationId xmlns:p14="http://schemas.microsoft.com/office/powerpoint/2010/main" val="834307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6" name="Rectangle 2">
            <a:extLst>
              <a:ext uri="{FF2B5EF4-FFF2-40B4-BE49-F238E27FC236}">
                <a16:creationId xmlns:a16="http://schemas.microsoft.com/office/drawing/2014/main" id="{7E33D9C0-AEEA-9243-86DC-C538C9E92427}"/>
              </a:ext>
            </a:extLst>
          </p:cNvPr>
          <p:cNvSpPr>
            <a:spLocks noGrp="1" noChangeArrowheads="1"/>
          </p:cNvSpPr>
          <p:nvPr>
            <p:ph type="title"/>
          </p:nvPr>
        </p:nvSpPr>
        <p:spPr/>
        <p:txBody>
          <a:bodyPr/>
          <a:lstStyle/>
          <a:p>
            <a:pPr eaLnBrk="1" hangingPunct="1">
              <a:lnSpc>
                <a:spcPct val="85000"/>
              </a:lnSpc>
              <a:defRPr/>
            </a:pPr>
            <a:r>
              <a:rPr lang="en-US" dirty="0"/>
              <a:t>What Is a Situational Crisis?</a:t>
            </a:r>
          </a:p>
        </p:txBody>
      </p:sp>
      <p:sp>
        <p:nvSpPr>
          <p:cNvPr id="27651" name="Rectangle 3">
            <a:extLst>
              <a:ext uri="{FF2B5EF4-FFF2-40B4-BE49-F238E27FC236}">
                <a16:creationId xmlns:a16="http://schemas.microsoft.com/office/drawing/2014/main" id="{EA1121BD-CBAD-E44A-98D2-7B924733F74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State of emotional upset or turmoil.</a:t>
            </a:r>
          </a:p>
          <a:p>
            <a:pPr eaLnBrk="1" hangingPunct="1">
              <a:spcBef>
                <a:spcPct val="35000"/>
              </a:spcBef>
            </a:pPr>
            <a:r>
              <a:rPr lang="en-US" altLang="en-US" dirty="0"/>
              <a:t>Caused by a sudden and disruptive event.</a:t>
            </a:r>
          </a:p>
          <a:p>
            <a:pPr eaLnBrk="1" hangingPunct="1">
              <a:spcBef>
                <a:spcPct val="35000"/>
              </a:spcBef>
            </a:pPr>
            <a:r>
              <a:rPr lang="en-US" altLang="en-US" dirty="0"/>
              <a:t>Most situational crises:</a:t>
            </a:r>
          </a:p>
          <a:p>
            <a:pPr lvl="1" eaLnBrk="1" hangingPunct="1">
              <a:spcBef>
                <a:spcPct val="35000"/>
              </a:spcBef>
            </a:pPr>
            <a:r>
              <a:rPr lang="en-US" altLang="en-US" dirty="0"/>
              <a:t>Are sudden and unexpected.</a:t>
            </a:r>
          </a:p>
          <a:p>
            <a:pPr lvl="1" eaLnBrk="1" hangingPunct="1">
              <a:spcBef>
                <a:spcPct val="35000"/>
              </a:spcBef>
            </a:pPr>
            <a:r>
              <a:rPr lang="en-US" altLang="en-US" dirty="0"/>
              <a:t>Cannot be handled by person’s usual coping mechanisms.</a:t>
            </a:r>
          </a:p>
          <a:p>
            <a:pPr lvl="1" eaLnBrk="1" hangingPunct="1">
              <a:spcBef>
                <a:spcPct val="35000"/>
              </a:spcBef>
            </a:pPr>
            <a:r>
              <a:rPr lang="en-US" altLang="en-US" dirty="0"/>
              <a:t>Last only a short time.</a:t>
            </a:r>
          </a:p>
          <a:p>
            <a:pPr lvl="1" eaLnBrk="1" hangingPunct="1">
              <a:spcBef>
                <a:spcPct val="35000"/>
              </a:spcBef>
            </a:pPr>
            <a:r>
              <a:rPr lang="en-US" altLang="en-US" dirty="0"/>
              <a:t>Can cause socially unacceptable, self-destructive, or dangerous behavior.</a:t>
            </a:r>
          </a:p>
        </p:txBody>
      </p:sp>
    </p:spTree>
    <p:extLst>
      <p:ext uri="{BB962C8B-B14F-4D97-AF65-F5344CB8AC3E}">
        <p14:creationId xmlns:p14="http://schemas.microsoft.com/office/powerpoint/2010/main" val="214134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0" name="Rectangle 2">
            <a:extLst>
              <a:ext uri="{FF2B5EF4-FFF2-40B4-BE49-F238E27FC236}">
                <a16:creationId xmlns:a16="http://schemas.microsoft.com/office/drawing/2014/main" id="{F033427D-9F71-0541-A1C0-E97BF26FE6B8}"/>
              </a:ext>
            </a:extLst>
          </p:cNvPr>
          <p:cNvSpPr>
            <a:spLocks noGrp="1" noChangeArrowheads="1"/>
          </p:cNvSpPr>
          <p:nvPr>
            <p:ph type="title"/>
          </p:nvPr>
        </p:nvSpPr>
        <p:spPr/>
        <p:txBody>
          <a:bodyPr/>
          <a:lstStyle/>
          <a:p>
            <a:pPr eaLnBrk="1" hangingPunct="1">
              <a:lnSpc>
                <a:spcPct val="85000"/>
              </a:lnSpc>
              <a:defRPr/>
            </a:pPr>
            <a:r>
              <a:rPr lang="en-US" dirty="0"/>
              <a:t>Phases of a Situational Crisis</a:t>
            </a:r>
          </a:p>
        </p:txBody>
      </p:sp>
      <p:sp>
        <p:nvSpPr>
          <p:cNvPr id="29699" name="Rectangle 3">
            <a:extLst>
              <a:ext uri="{FF2B5EF4-FFF2-40B4-BE49-F238E27FC236}">
                <a16:creationId xmlns:a16="http://schemas.microsoft.com/office/drawing/2014/main" id="{117B061E-01BC-A347-906A-A892E910947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There are four emotional phases to each situational crisis.</a:t>
            </a:r>
          </a:p>
          <a:p>
            <a:pPr eaLnBrk="1" hangingPunct="1">
              <a:spcBef>
                <a:spcPct val="35000"/>
              </a:spcBef>
            </a:pPr>
            <a:r>
              <a:rPr lang="en-US" altLang="en-US" dirty="0"/>
              <a:t>People may not experience every phase, but they will experience one or more.</a:t>
            </a:r>
          </a:p>
          <a:p>
            <a:pPr eaLnBrk="1" hangingPunct="1">
              <a:spcBef>
                <a:spcPct val="35000"/>
              </a:spcBef>
            </a:pPr>
            <a:r>
              <a:rPr lang="en-US" altLang="en-US" dirty="0"/>
              <a:t>Emotional phases:</a:t>
            </a:r>
          </a:p>
          <a:p>
            <a:pPr lvl="1">
              <a:spcBef>
                <a:spcPct val="35000"/>
              </a:spcBef>
            </a:pPr>
            <a:r>
              <a:rPr lang="en-US" altLang="en-US" dirty="0"/>
              <a:t>High anxiety or emotional shock.</a:t>
            </a:r>
          </a:p>
          <a:p>
            <a:pPr lvl="1">
              <a:spcBef>
                <a:spcPct val="35000"/>
              </a:spcBef>
            </a:pPr>
            <a:r>
              <a:rPr lang="en-US" altLang="en-US" dirty="0"/>
              <a:t>Denial.</a:t>
            </a:r>
          </a:p>
          <a:p>
            <a:pPr lvl="1">
              <a:spcBef>
                <a:spcPct val="35000"/>
              </a:spcBef>
            </a:pPr>
            <a:r>
              <a:rPr lang="en-US" altLang="en-US" dirty="0"/>
              <a:t>Anger.</a:t>
            </a:r>
          </a:p>
          <a:p>
            <a:pPr lvl="1">
              <a:spcBef>
                <a:spcPct val="35000"/>
              </a:spcBef>
            </a:pPr>
            <a:r>
              <a:rPr lang="en-US" altLang="en-US" dirty="0"/>
              <a:t>Remorse and grief.</a:t>
            </a:r>
          </a:p>
        </p:txBody>
      </p:sp>
    </p:spTree>
    <p:extLst>
      <p:ext uri="{BB962C8B-B14F-4D97-AF65-F5344CB8AC3E}">
        <p14:creationId xmlns:p14="http://schemas.microsoft.com/office/powerpoint/2010/main" val="3089849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154" name="Rectangle 2">
            <a:extLst>
              <a:ext uri="{FF2B5EF4-FFF2-40B4-BE49-F238E27FC236}">
                <a16:creationId xmlns:a16="http://schemas.microsoft.com/office/drawing/2014/main" id="{1226F016-5984-694B-B185-863912877AAD}"/>
              </a:ext>
            </a:extLst>
          </p:cNvPr>
          <p:cNvSpPr>
            <a:spLocks noGrp="1" noChangeArrowheads="1"/>
          </p:cNvSpPr>
          <p:nvPr>
            <p:ph type="title"/>
          </p:nvPr>
        </p:nvSpPr>
        <p:spPr/>
        <p:txBody>
          <a:bodyPr/>
          <a:lstStyle/>
          <a:p>
            <a:pPr eaLnBrk="1" hangingPunct="1">
              <a:lnSpc>
                <a:spcPct val="85000"/>
              </a:lnSpc>
              <a:defRPr/>
            </a:pPr>
            <a:r>
              <a:rPr lang="en-US" dirty="0"/>
              <a:t>High Anxiety or Emotional Shock </a:t>
            </a:r>
            <a:r>
              <a:rPr lang="en-US" sz="2800" b="0" dirty="0"/>
              <a:t>(1 of 2)</a:t>
            </a:r>
          </a:p>
        </p:txBody>
      </p:sp>
      <p:sp>
        <p:nvSpPr>
          <p:cNvPr id="31747" name="Rectangle 3">
            <a:extLst>
              <a:ext uri="{FF2B5EF4-FFF2-40B4-BE49-F238E27FC236}">
                <a16:creationId xmlns:a16="http://schemas.microsoft.com/office/drawing/2014/main" id="{8FB525F5-E1D3-984B-9247-73D278BCE5D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High anxiety is characterized by:</a:t>
            </a:r>
          </a:p>
          <a:p>
            <a:pPr lvl="1" eaLnBrk="1" hangingPunct="1">
              <a:spcBef>
                <a:spcPct val="35000"/>
              </a:spcBef>
            </a:pPr>
            <a:r>
              <a:rPr lang="en-US" altLang="en-US" dirty="0"/>
              <a:t>Flushed (red) face.</a:t>
            </a:r>
          </a:p>
          <a:p>
            <a:pPr lvl="1" eaLnBrk="1" hangingPunct="1">
              <a:spcBef>
                <a:spcPct val="35000"/>
              </a:spcBef>
            </a:pPr>
            <a:r>
              <a:rPr lang="en-US" altLang="en-US" dirty="0"/>
              <a:t>Rapid breathing.</a:t>
            </a:r>
          </a:p>
          <a:p>
            <a:pPr lvl="1" eaLnBrk="1" hangingPunct="1">
              <a:spcBef>
                <a:spcPct val="35000"/>
              </a:spcBef>
            </a:pPr>
            <a:r>
              <a:rPr lang="en-US" altLang="en-US" dirty="0"/>
              <a:t>Rapid speech.</a:t>
            </a:r>
          </a:p>
          <a:p>
            <a:pPr lvl="1" eaLnBrk="1" hangingPunct="1">
              <a:spcBef>
                <a:spcPct val="35000"/>
              </a:spcBef>
            </a:pPr>
            <a:r>
              <a:rPr lang="en-US" altLang="en-US" dirty="0"/>
              <a:t>Increased activity.</a:t>
            </a:r>
          </a:p>
          <a:p>
            <a:pPr lvl="1" eaLnBrk="1" hangingPunct="1">
              <a:spcBef>
                <a:spcPct val="35000"/>
              </a:spcBef>
            </a:pPr>
            <a:r>
              <a:rPr lang="en-US" altLang="en-US" dirty="0"/>
              <a:t>Loud or screaming voice.</a:t>
            </a:r>
          </a:p>
          <a:p>
            <a:pPr lvl="1" eaLnBrk="1" hangingPunct="1">
              <a:spcBef>
                <a:spcPct val="35000"/>
              </a:spcBef>
            </a:pPr>
            <a:r>
              <a:rPr lang="en-US" altLang="en-US" dirty="0"/>
              <a:t>General agitation.</a:t>
            </a:r>
          </a:p>
        </p:txBody>
      </p:sp>
    </p:spTree>
    <p:extLst>
      <p:ext uri="{BB962C8B-B14F-4D97-AF65-F5344CB8AC3E}">
        <p14:creationId xmlns:p14="http://schemas.microsoft.com/office/powerpoint/2010/main" val="312974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78" name="Rectangle 2">
            <a:extLst>
              <a:ext uri="{FF2B5EF4-FFF2-40B4-BE49-F238E27FC236}">
                <a16:creationId xmlns:a16="http://schemas.microsoft.com/office/drawing/2014/main" id="{921CFCF4-7F9A-7C49-9E28-37BF42912C03}"/>
              </a:ext>
            </a:extLst>
          </p:cNvPr>
          <p:cNvSpPr>
            <a:spLocks noGrp="1" noChangeArrowheads="1"/>
          </p:cNvSpPr>
          <p:nvPr>
            <p:ph type="title"/>
          </p:nvPr>
        </p:nvSpPr>
        <p:spPr/>
        <p:txBody>
          <a:bodyPr/>
          <a:lstStyle/>
          <a:p>
            <a:pPr eaLnBrk="1" hangingPunct="1">
              <a:lnSpc>
                <a:spcPct val="85000"/>
              </a:lnSpc>
              <a:defRPr/>
            </a:pPr>
            <a:r>
              <a:rPr lang="en-US" dirty="0"/>
              <a:t>High Anxiety or Emotional Shock </a:t>
            </a:r>
            <a:r>
              <a:rPr lang="en-US" sz="2800" b="0" dirty="0"/>
              <a:t>(2 of 2)</a:t>
            </a:r>
          </a:p>
        </p:txBody>
      </p:sp>
      <p:sp>
        <p:nvSpPr>
          <p:cNvPr id="33795" name="Rectangle 3">
            <a:extLst>
              <a:ext uri="{FF2B5EF4-FFF2-40B4-BE49-F238E27FC236}">
                <a16:creationId xmlns:a16="http://schemas.microsoft.com/office/drawing/2014/main" id="{B04A4DD4-45BF-3043-95BA-8595A87760C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Emotional shock is often result of a sudden illness, accident, or sudden death of a loved one.</a:t>
            </a:r>
          </a:p>
          <a:p>
            <a:pPr eaLnBrk="1" hangingPunct="1">
              <a:spcBef>
                <a:spcPct val="35000"/>
              </a:spcBef>
            </a:pPr>
            <a:r>
              <a:rPr lang="en-US" altLang="en-US" dirty="0"/>
              <a:t>Emotional shock is characterized by: </a:t>
            </a:r>
            <a:endParaRPr lang="en-US" altLang="en-US" dirty="0">
              <a:solidFill>
                <a:srgbClr val="FF0000"/>
              </a:solidFill>
            </a:endParaRPr>
          </a:p>
          <a:p>
            <a:pPr lvl="1" eaLnBrk="1" hangingPunct="1">
              <a:spcBef>
                <a:spcPct val="35000"/>
              </a:spcBef>
            </a:pPr>
            <a:r>
              <a:rPr lang="en-US" altLang="en-US" dirty="0"/>
              <a:t>Cool, clammy skin.</a:t>
            </a:r>
          </a:p>
          <a:p>
            <a:pPr lvl="1" eaLnBrk="1" hangingPunct="1">
              <a:spcBef>
                <a:spcPct val="35000"/>
              </a:spcBef>
            </a:pPr>
            <a:r>
              <a:rPr lang="en-US" altLang="en-US" dirty="0"/>
              <a:t>A rapid, weak pulse.</a:t>
            </a:r>
          </a:p>
          <a:p>
            <a:pPr lvl="1" eaLnBrk="1" hangingPunct="1">
              <a:spcBef>
                <a:spcPct val="35000"/>
              </a:spcBef>
            </a:pPr>
            <a:r>
              <a:rPr lang="en-US" altLang="en-US" dirty="0"/>
              <a:t>Vomiting and nausea.</a:t>
            </a:r>
          </a:p>
          <a:p>
            <a:pPr lvl="1" eaLnBrk="1" hangingPunct="1">
              <a:spcBef>
                <a:spcPct val="35000"/>
              </a:spcBef>
            </a:pPr>
            <a:r>
              <a:rPr lang="en-US" altLang="en-US" dirty="0"/>
              <a:t>General inactivity and weakness.</a:t>
            </a:r>
          </a:p>
        </p:txBody>
      </p:sp>
    </p:spTree>
    <p:extLst>
      <p:ext uri="{BB962C8B-B14F-4D97-AF65-F5344CB8AC3E}">
        <p14:creationId xmlns:p14="http://schemas.microsoft.com/office/powerpoint/2010/main" val="767142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02" name="Rectangle 2">
            <a:extLst>
              <a:ext uri="{FF2B5EF4-FFF2-40B4-BE49-F238E27FC236}">
                <a16:creationId xmlns:a16="http://schemas.microsoft.com/office/drawing/2014/main" id="{444C4A20-B970-8F42-B95D-3C0F45B14FE2}"/>
              </a:ext>
            </a:extLst>
          </p:cNvPr>
          <p:cNvSpPr>
            <a:spLocks noGrp="1" noChangeArrowheads="1"/>
          </p:cNvSpPr>
          <p:nvPr>
            <p:ph type="title"/>
          </p:nvPr>
        </p:nvSpPr>
        <p:spPr/>
        <p:txBody>
          <a:bodyPr/>
          <a:lstStyle/>
          <a:p>
            <a:pPr eaLnBrk="1" hangingPunct="1">
              <a:lnSpc>
                <a:spcPct val="85000"/>
              </a:lnSpc>
              <a:defRPr/>
            </a:pPr>
            <a:r>
              <a:rPr lang="en-US" dirty="0"/>
              <a:t>Denial</a:t>
            </a:r>
          </a:p>
        </p:txBody>
      </p:sp>
      <p:sp>
        <p:nvSpPr>
          <p:cNvPr id="35843" name="Rectangle 3">
            <a:extLst>
              <a:ext uri="{FF2B5EF4-FFF2-40B4-BE49-F238E27FC236}">
                <a16:creationId xmlns:a16="http://schemas.microsoft.com/office/drawing/2014/main" id="{17A58120-A70F-A745-A55B-7E020DB6803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Refusal to accept fact that an event has occurred.</a:t>
            </a:r>
          </a:p>
          <a:p>
            <a:pPr eaLnBrk="1" hangingPunct="1">
              <a:spcBef>
                <a:spcPct val="35000"/>
              </a:spcBef>
            </a:pPr>
            <a:r>
              <a:rPr lang="en-US" altLang="en-US" dirty="0"/>
              <a:t>Your response should be as follows:</a:t>
            </a:r>
          </a:p>
          <a:p>
            <a:pPr lvl="1" eaLnBrk="1" hangingPunct="1">
              <a:spcBef>
                <a:spcPct val="35000"/>
              </a:spcBef>
            </a:pPr>
            <a:r>
              <a:rPr lang="en-US" altLang="en-US" dirty="0"/>
              <a:t>Allow patient to express denial.</a:t>
            </a:r>
          </a:p>
          <a:p>
            <a:pPr lvl="1" eaLnBrk="1" hangingPunct="1">
              <a:spcBef>
                <a:spcPct val="35000"/>
              </a:spcBef>
            </a:pPr>
            <a:r>
              <a:rPr lang="en-US" altLang="en-US" dirty="0"/>
              <a:t>Do not argue with patient.</a:t>
            </a:r>
          </a:p>
          <a:p>
            <a:pPr lvl="1" eaLnBrk="1" hangingPunct="1">
              <a:spcBef>
                <a:spcPct val="35000"/>
              </a:spcBef>
            </a:pPr>
            <a:r>
              <a:rPr lang="en-US" altLang="en-US" dirty="0"/>
              <a:t>Try to understand emotional and psychological trauma that patient is experiencing.</a:t>
            </a:r>
          </a:p>
        </p:txBody>
      </p:sp>
    </p:spTree>
    <p:extLst>
      <p:ext uri="{BB962C8B-B14F-4D97-AF65-F5344CB8AC3E}">
        <p14:creationId xmlns:p14="http://schemas.microsoft.com/office/powerpoint/2010/main" val="4113401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6" name="Rectangle 2">
            <a:extLst>
              <a:ext uri="{FF2B5EF4-FFF2-40B4-BE49-F238E27FC236}">
                <a16:creationId xmlns:a16="http://schemas.microsoft.com/office/drawing/2014/main" id="{AB57F45D-ADBB-7747-98E1-00C37B7D619F}"/>
              </a:ext>
            </a:extLst>
          </p:cNvPr>
          <p:cNvSpPr>
            <a:spLocks noGrp="1" noChangeArrowheads="1"/>
          </p:cNvSpPr>
          <p:nvPr>
            <p:ph type="title"/>
          </p:nvPr>
        </p:nvSpPr>
        <p:spPr/>
        <p:txBody>
          <a:bodyPr/>
          <a:lstStyle/>
          <a:p>
            <a:pPr eaLnBrk="1" hangingPunct="1">
              <a:lnSpc>
                <a:spcPct val="85000"/>
              </a:lnSpc>
              <a:defRPr/>
            </a:pPr>
            <a:r>
              <a:rPr lang="en-US" dirty="0"/>
              <a:t>Anger</a:t>
            </a:r>
          </a:p>
        </p:txBody>
      </p:sp>
      <p:sp>
        <p:nvSpPr>
          <p:cNvPr id="37891" name="Rectangle 3">
            <a:extLst>
              <a:ext uri="{FF2B5EF4-FFF2-40B4-BE49-F238E27FC236}">
                <a16:creationId xmlns:a16="http://schemas.microsoft.com/office/drawing/2014/main" id="{A5AD6084-7CF9-5C43-86CD-A282EBE67E0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Normal human response to emotional overload or frustration.</a:t>
            </a:r>
          </a:p>
          <a:p>
            <a:pPr eaLnBrk="1" hangingPunct="1">
              <a:spcBef>
                <a:spcPct val="35000"/>
              </a:spcBef>
            </a:pPr>
            <a:r>
              <a:rPr lang="en-US" altLang="en-US" dirty="0"/>
              <a:t>May follow denial or may replace denial.</a:t>
            </a:r>
          </a:p>
          <a:p>
            <a:pPr eaLnBrk="1" hangingPunct="1">
              <a:spcBef>
                <a:spcPct val="35000"/>
              </a:spcBef>
            </a:pPr>
            <a:r>
              <a:rPr lang="en-US" altLang="en-US" dirty="0"/>
              <a:t>People may vent angry feelings at you.</a:t>
            </a:r>
          </a:p>
          <a:p>
            <a:pPr lvl="1" eaLnBrk="1" hangingPunct="1">
              <a:spcBef>
                <a:spcPct val="35000"/>
              </a:spcBef>
            </a:pPr>
            <a:r>
              <a:rPr lang="en-US" altLang="en-US" dirty="0"/>
              <a:t>Do not take person’s anger personally.</a:t>
            </a:r>
          </a:p>
          <a:p>
            <a:pPr eaLnBrk="1" hangingPunct="1">
              <a:spcBef>
                <a:spcPct val="35000"/>
              </a:spcBef>
            </a:pPr>
            <a:r>
              <a:rPr lang="en-US" altLang="en-US" dirty="0"/>
              <a:t>Frustration and a sense of helplessness can often build to anger.</a:t>
            </a:r>
          </a:p>
          <a:p>
            <a:pPr lvl="1" eaLnBrk="1" hangingPunct="1">
              <a:spcBef>
                <a:spcPct val="35000"/>
              </a:spcBef>
            </a:pPr>
            <a:r>
              <a:rPr lang="en-US" altLang="en-US" dirty="0"/>
              <a:t>Always be professional and remain calm.</a:t>
            </a:r>
          </a:p>
        </p:txBody>
      </p:sp>
    </p:spTree>
    <p:extLst>
      <p:ext uri="{BB962C8B-B14F-4D97-AF65-F5344CB8AC3E}">
        <p14:creationId xmlns:p14="http://schemas.microsoft.com/office/powerpoint/2010/main" val="253300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50" name="Rectangle 2">
            <a:extLst>
              <a:ext uri="{FF2B5EF4-FFF2-40B4-BE49-F238E27FC236}">
                <a16:creationId xmlns:a16="http://schemas.microsoft.com/office/drawing/2014/main" id="{E6405E61-53CB-C646-8C20-78AAE6741F04}"/>
              </a:ext>
            </a:extLst>
          </p:cNvPr>
          <p:cNvSpPr>
            <a:spLocks noGrp="1" noChangeArrowheads="1"/>
          </p:cNvSpPr>
          <p:nvPr>
            <p:ph type="title"/>
          </p:nvPr>
        </p:nvSpPr>
        <p:spPr/>
        <p:txBody>
          <a:bodyPr/>
          <a:lstStyle/>
          <a:p>
            <a:pPr eaLnBrk="1" hangingPunct="1">
              <a:lnSpc>
                <a:spcPct val="85000"/>
              </a:lnSpc>
              <a:defRPr/>
            </a:pPr>
            <a:r>
              <a:rPr lang="en-US" dirty="0"/>
              <a:t>Remorse or Grief</a:t>
            </a:r>
          </a:p>
        </p:txBody>
      </p:sp>
      <p:sp>
        <p:nvSpPr>
          <p:cNvPr id="39939" name="Rectangle 3">
            <a:extLst>
              <a:ext uri="{FF2B5EF4-FFF2-40B4-BE49-F238E27FC236}">
                <a16:creationId xmlns:a16="http://schemas.microsoft.com/office/drawing/2014/main" id="{6E21DE92-F91D-DB46-86E8-96C5BFE46813}"/>
              </a:ext>
            </a:extLst>
          </p:cNvPr>
          <p:cNvSpPr>
            <a:spLocks noGrp="1" noChangeArrowheads="1"/>
          </p:cNvSpPr>
          <p:nvPr>
            <p:ph type="body" idx="1"/>
          </p:nvPr>
        </p:nvSpPr>
        <p:spPr>
          <a:xfrm>
            <a:off x="6172200" y="1464785"/>
            <a:ext cx="4651332"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Acceptance of situation may lead to remorse or grief.</a:t>
            </a:r>
          </a:p>
          <a:p>
            <a:pPr eaLnBrk="1" hangingPunct="1">
              <a:spcBef>
                <a:spcPct val="35000"/>
              </a:spcBef>
            </a:pPr>
            <a:r>
              <a:rPr lang="en-US" altLang="en-US" dirty="0"/>
              <a:t>People may feel guilty or apologetic about their behavior.</a:t>
            </a:r>
          </a:p>
        </p:txBody>
      </p:sp>
      <p:sp>
        <p:nvSpPr>
          <p:cNvPr id="5" name="Rectangle 4"/>
          <p:cNvSpPr/>
          <p:nvPr/>
        </p:nvSpPr>
        <p:spPr>
          <a:xfrm>
            <a:off x="1212333" y="5054206"/>
            <a:ext cx="4462984"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12-2 </a:t>
            </a:r>
            <a:r>
              <a:rPr lang="en-US" dirty="0"/>
              <a:t>An acceptance of the situation may lead to grief. </a:t>
            </a:r>
          </a:p>
        </p:txBody>
      </p:sp>
      <p:sp>
        <p:nvSpPr>
          <p:cNvPr id="7" name="Rectangle 6"/>
          <p:cNvSpPr/>
          <p:nvPr/>
        </p:nvSpPr>
        <p:spPr>
          <a:xfrm>
            <a:off x="1200259" y="5681397"/>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Courtesy of MIEMSS. </a:t>
            </a:r>
          </a:p>
        </p:txBody>
      </p:sp>
      <p:pic>
        <p:nvPicPr>
          <p:cNvPr id="2050" name="Picture 2" descr="A photo shows two women sitting down, one of them grieving and the other trying to comfort her. An emergency responder with a notepad can be seen standing behind the women.&#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309" y="1536944"/>
            <a:ext cx="4456008" cy="3511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052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Rectangle 2">
            <a:extLst>
              <a:ext uri="{FF2B5EF4-FFF2-40B4-BE49-F238E27FC236}">
                <a16:creationId xmlns:a16="http://schemas.microsoft.com/office/drawing/2014/main" id="{5BBFADD7-E1C8-6740-8D3C-57A0D9D2B2A4}"/>
              </a:ext>
            </a:extLst>
          </p:cNvPr>
          <p:cNvSpPr>
            <a:spLocks noGrp="1" noChangeArrowheads="1"/>
          </p:cNvSpPr>
          <p:nvPr>
            <p:ph type="title"/>
          </p:nvPr>
        </p:nvSpPr>
        <p:spPr/>
        <p:txBody>
          <a:bodyPr/>
          <a:lstStyle/>
          <a:p>
            <a:pPr eaLnBrk="1" hangingPunct="1">
              <a:lnSpc>
                <a:spcPct val="85000"/>
              </a:lnSpc>
              <a:defRPr/>
            </a:pPr>
            <a:r>
              <a:rPr lang="en-US" dirty="0"/>
              <a:t>Crisis Management</a:t>
            </a:r>
          </a:p>
        </p:txBody>
      </p:sp>
      <p:sp>
        <p:nvSpPr>
          <p:cNvPr id="41987" name="Rectangle 3">
            <a:extLst>
              <a:ext uri="{FF2B5EF4-FFF2-40B4-BE49-F238E27FC236}">
                <a16:creationId xmlns:a16="http://schemas.microsoft.com/office/drawing/2014/main" id="{EAC9FA70-2B64-A449-93B7-5CD551858713}"/>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Role of EMR:</a:t>
            </a:r>
          </a:p>
          <a:p>
            <a:pPr lvl="1" eaLnBrk="1" hangingPunct="1">
              <a:spcBef>
                <a:spcPct val="35000"/>
              </a:spcBef>
            </a:pPr>
            <a:r>
              <a:rPr lang="en-US" altLang="en-US" dirty="0"/>
              <a:t>Follow steps of patient assessment sequence.</a:t>
            </a:r>
          </a:p>
          <a:p>
            <a:pPr lvl="2">
              <a:spcBef>
                <a:spcPct val="35000"/>
              </a:spcBef>
            </a:pPr>
            <a:r>
              <a:rPr lang="en-US" altLang="en-US" dirty="0"/>
              <a:t>Perform a scene size-up.</a:t>
            </a:r>
          </a:p>
          <a:p>
            <a:pPr lvl="2">
              <a:spcBef>
                <a:spcPct val="35000"/>
              </a:spcBef>
            </a:pPr>
            <a:r>
              <a:rPr lang="en-US" altLang="en-US" dirty="0"/>
              <a:t>Perform a primary assessment.</a:t>
            </a:r>
          </a:p>
          <a:p>
            <a:pPr lvl="2">
              <a:spcBef>
                <a:spcPct val="35000"/>
              </a:spcBef>
            </a:pPr>
            <a:r>
              <a:rPr lang="en-US" altLang="en-US" dirty="0"/>
              <a:t>Obtain patient’s medical history (SAMPLE).</a:t>
            </a:r>
          </a:p>
          <a:p>
            <a:pPr lvl="2">
              <a:spcBef>
                <a:spcPct val="35000"/>
              </a:spcBef>
            </a:pPr>
            <a:r>
              <a:rPr lang="en-US" altLang="en-US" dirty="0"/>
              <a:t>Perform a secondary assessment.</a:t>
            </a:r>
          </a:p>
          <a:p>
            <a:pPr lvl="2">
              <a:spcBef>
                <a:spcPct val="35000"/>
              </a:spcBef>
            </a:pPr>
            <a:r>
              <a:rPr lang="en-US" altLang="en-US" dirty="0"/>
              <a:t>Provide ongoing reassessment.</a:t>
            </a:r>
          </a:p>
          <a:p>
            <a:pPr lvl="1" eaLnBrk="1" hangingPunct="1">
              <a:spcBef>
                <a:spcPct val="35000"/>
              </a:spcBef>
            </a:pPr>
            <a:r>
              <a:rPr lang="en-US" altLang="en-US" dirty="0"/>
              <a:t>Most important assessment skill may be your ability to communicate with patient.</a:t>
            </a:r>
          </a:p>
        </p:txBody>
      </p:sp>
    </p:spTree>
    <p:extLst>
      <p:ext uri="{BB962C8B-B14F-4D97-AF65-F5344CB8AC3E}">
        <p14:creationId xmlns:p14="http://schemas.microsoft.com/office/powerpoint/2010/main" val="138169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a:extLst>
              <a:ext uri="{FF2B5EF4-FFF2-40B4-BE49-F238E27FC236}">
                <a16:creationId xmlns:a16="http://schemas.microsoft.com/office/drawing/2014/main" id="{FD0EA3A1-3A5C-C545-8A3F-4739C7BC8B28}"/>
              </a:ext>
            </a:extLst>
          </p:cNvPr>
          <p:cNvSpPr>
            <a:spLocks noGrp="1" noChangeArrowheads="1"/>
          </p:cNvSpPr>
          <p:nvPr>
            <p:ph type="title"/>
          </p:nvPr>
        </p:nvSpPr>
        <p:spPr/>
        <p:txBody>
          <a:bodyPr/>
          <a:lstStyle/>
          <a:p>
            <a:pPr eaLnBrk="1" hangingPunct="1">
              <a:lnSpc>
                <a:spcPct val="85000"/>
              </a:lnSpc>
              <a:defRPr/>
            </a:pPr>
            <a:r>
              <a:rPr lang="en-US" dirty="0"/>
              <a:t>Communicating With Patient </a:t>
            </a:r>
            <a:r>
              <a:rPr lang="en-US" sz="2800" b="0" dirty="0"/>
              <a:t>(1 of 6)</a:t>
            </a:r>
          </a:p>
        </p:txBody>
      </p:sp>
      <p:sp>
        <p:nvSpPr>
          <p:cNvPr id="44035" name="Rectangle 3">
            <a:extLst>
              <a:ext uri="{FF2B5EF4-FFF2-40B4-BE49-F238E27FC236}">
                <a16:creationId xmlns:a16="http://schemas.microsoft.com/office/drawing/2014/main" id="{B1386FB4-98C3-1647-858D-4E42AA3BB5C6}"/>
              </a:ext>
            </a:extLst>
          </p:cNvPr>
          <p:cNvSpPr>
            <a:spLocks noGrp="1" noChangeArrowheads="1"/>
          </p:cNvSpPr>
          <p:nvPr>
            <p:ph type="body" idx="1"/>
          </p:nvPr>
        </p:nvSpPr>
        <p:spPr>
          <a:xfrm>
            <a:off x="6096000" y="1447800"/>
            <a:ext cx="388620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Talk with person.</a:t>
            </a:r>
          </a:p>
          <a:p>
            <a:pPr lvl="1" eaLnBrk="1" hangingPunct="1">
              <a:spcBef>
                <a:spcPct val="35000"/>
              </a:spcBef>
            </a:pPr>
            <a:r>
              <a:rPr lang="en-US" altLang="en-US" dirty="0"/>
              <a:t>Introduce yourself.</a:t>
            </a:r>
          </a:p>
          <a:p>
            <a:pPr lvl="1" eaLnBrk="1" hangingPunct="1">
              <a:spcBef>
                <a:spcPct val="35000"/>
              </a:spcBef>
            </a:pPr>
            <a:r>
              <a:rPr lang="en-US" altLang="en-US" dirty="0"/>
              <a:t>Ask patient his or her name.</a:t>
            </a:r>
          </a:p>
          <a:p>
            <a:pPr lvl="1" eaLnBrk="1" hangingPunct="1">
              <a:spcBef>
                <a:spcPct val="35000"/>
              </a:spcBef>
            </a:pPr>
            <a:r>
              <a:rPr lang="en-US" altLang="en-US" dirty="0"/>
              <a:t>Ask what you can do to help.</a:t>
            </a:r>
          </a:p>
          <a:p>
            <a:pPr eaLnBrk="1" hangingPunct="1">
              <a:spcBef>
                <a:spcPct val="35000"/>
              </a:spcBef>
            </a:pPr>
            <a:r>
              <a:rPr lang="en-US" altLang="en-US" dirty="0"/>
              <a:t>Be honest, warm, caring, and empathetic.</a:t>
            </a:r>
          </a:p>
          <a:p>
            <a:pPr eaLnBrk="1" hangingPunct="1">
              <a:spcBef>
                <a:spcPct val="35000"/>
              </a:spcBef>
            </a:pPr>
            <a:r>
              <a:rPr lang="en-US" altLang="en-US" dirty="0"/>
              <a:t>Position yourself at patient’s eye level.</a:t>
            </a:r>
          </a:p>
        </p:txBody>
      </p:sp>
      <p:sp>
        <p:nvSpPr>
          <p:cNvPr id="6" name="Rectangle 5"/>
          <p:cNvSpPr/>
          <p:nvPr/>
        </p:nvSpPr>
        <p:spPr>
          <a:xfrm>
            <a:off x="1212333" y="2958706"/>
            <a:ext cx="4235967"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12-3 </a:t>
            </a:r>
            <a:r>
              <a:rPr lang="en-US" dirty="0"/>
              <a:t>Crouch or seat yourself at the same level as the patient. </a:t>
            </a:r>
          </a:p>
        </p:txBody>
      </p:sp>
      <p:sp>
        <p:nvSpPr>
          <p:cNvPr id="7" name="Rectangle 6"/>
          <p:cNvSpPr/>
          <p:nvPr/>
        </p:nvSpPr>
        <p:spPr>
          <a:xfrm>
            <a:off x="1149459" y="3535097"/>
            <a:ext cx="2896413"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sp>
        <p:nvSpPr>
          <p:cNvPr id="10" name="Rectangle 9"/>
          <p:cNvSpPr/>
          <p:nvPr/>
        </p:nvSpPr>
        <p:spPr>
          <a:xfrm>
            <a:off x="1250433" y="5911456"/>
            <a:ext cx="4235967"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12-4 </a:t>
            </a:r>
            <a:r>
              <a:rPr lang="en-US" dirty="0"/>
              <a:t>This body language communicates an uncaring attitude. </a:t>
            </a:r>
          </a:p>
        </p:txBody>
      </p:sp>
      <p:sp>
        <p:nvSpPr>
          <p:cNvPr id="11" name="Rectangle 10"/>
          <p:cNvSpPr/>
          <p:nvPr/>
        </p:nvSpPr>
        <p:spPr>
          <a:xfrm>
            <a:off x="1225659" y="6525947"/>
            <a:ext cx="2896413"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3074" name="Picture 2" descr="A photo shows an emergency responder wearing gloves and a protective mask crouched near a man sitting on the ground on an open street with one leg outstretched.&#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3744" y="1200150"/>
            <a:ext cx="2625130" cy="1754188"/>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A photo shows an emergency responder wearing gloves and a protective mask standing with his arms stretched wide apart, looking at a woman sitting on the ground near a street corner.&#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1437" y="4006850"/>
            <a:ext cx="2895600" cy="1931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686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Rectangle 2">
            <a:extLst>
              <a:ext uri="{FF2B5EF4-FFF2-40B4-BE49-F238E27FC236}">
                <a16:creationId xmlns:a16="http://schemas.microsoft.com/office/drawing/2014/main" id="{813CF878-79AD-974C-99A7-EE9FE7C7405D}"/>
              </a:ext>
            </a:extLst>
          </p:cNvPr>
          <p:cNvSpPr>
            <a:spLocks noGrp="1" noChangeArrowheads="1"/>
          </p:cNvSpPr>
          <p:nvPr>
            <p:ph type="title"/>
          </p:nvPr>
        </p:nvSpPr>
        <p:spPr/>
        <p:txBody>
          <a:bodyPr/>
          <a:lstStyle/>
          <a:p>
            <a:pPr eaLnBrk="1" hangingPunct="1">
              <a:lnSpc>
                <a:spcPct val="85000"/>
              </a:lnSpc>
              <a:defRPr/>
            </a:pPr>
            <a:r>
              <a:rPr lang="en-US" dirty="0"/>
              <a:t>Communicating With Patient </a:t>
            </a:r>
            <a:r>
              <a:rPr lang="en-US" sz="2800" b="0" dirty="0"/>
              <a:t>(2 of 6)</a:t>
            </a:r>
          </a:p>
        </p:txBody>
      </p:sp>
      <p:sp>
        <p:nvSpPr>
          <p:cNvPr id="46083" name="Rectangle 3">
            <a:extLst>
              <a:ext uri="{FF2B5EF4-FFF2-40B4-BE49-F238E27FC236}">
                <a16:creationId xmlns:a16="http://schemas.microsoft.com/office/drawing/2014/main" id="{7EA945F4-A85A-3340-BA9D-1C724B49135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Establish eye contact with patient.</a:t>
            </a:r>
          </a:p>
          <a:p>
            <a:pPr eaLnBrk="1" hangingPunct="1">
              <a:spcBef>
                <a:spcPct val="35000"/>
              </a:spcBef>
            </a:pPr>
            <a:r>
              <a:rPr lang="en-US" altLang="en-US" dirty="0"/>
              <a:t>Use a calm, steady voice and provide honest reassurance.</a:t>
            </a:r>
          </a:p>
          <a:p>
            <a:pPr eaLnBrk="1" hangingPunct="1">
              <a:spcBef>
                <a:spcPct val="35000"/>
              </a:spcBef>
            </a:pPr>
            <a:r>
              <a:rPr lang="en-US" altLang="en-US" dirty="0"/>
              <a:t>Try not to let negative personal feelings interfere with your attempt to provide assistance.</a:t>
            </a:r>
          </a:p>
          <a:p>
            <a:pPr eaLnBrk="1" hangingPunct="1">
              <a:spcBef>
                <a:spcPct val="35000"/>
              </a:spcBef>
            </a:pPr>
            <a:r>
              <a:rPr lang="en-US" altLang="en-US" dirty="0"/>
              <a:t>Simple acts of kindness can provide comfort and reassurance.</a:t>
            </a:r>
          </a:p>
        </p:txBody>
      </p:sp>
    </p:spTree>
    <p:extLst>
      <p:ext uri="{BB962C8B-B14F-4D97-AF65-F5344CB8AC3E}">
        <p14:creationId xmlns:p14="http://schemas.microsoft.com/office/powerpoint/2010/main" val="1969573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a:extLst>
              <a:ext uri="{FF2B5EF4-FFF2-40B4-BE49-F238E27FC236}">
                <a16:creationId xmlns:a16="http://schemas.microsoft.com/office/drawing/2014/main" id="{678DE1D4-F9AB-AD4D-8C2A-8E1142A895B2}"/>
              </a:ext>
            </a:extLst>
          </p:cNvPr>
          <p:cNvSpPr>
            <a:spLocks noGrp="1" noChangeArrowheads="1"/>
          </p:cNvSpPr>
          <p:nvPr>
            <p:ph type="title"/>
          </p:nvPr>
        </p:nvSpPr>
        <p:spPr/>
        <p:txBody>
          <a:bodyPr/>
          <a:lstStyle/>
          <a:p>
            <a:pPr eaLnBrk="1" hangingPunct="1">
              <a:lnSpc>
                <a:spcPct val="85000"/>
              </a:lnSpc>
              <a:defRPr/>
            </a:pPr>
            <a:r>
              <a:rPr lang="en-US" dirty="0"/>
              <a:t>Communicating With Patient </a:t>
            </a:r>
            <a:r>
              <a:rPr lang="en-US" sz="2800" b="0" dirty="0"/>
              <a:t>(3 of 6)</a:t>
            </a:r>
          </a:p>
        </p:txBody>
      </p:sp>
      <p:sp>
        <p:nvSpPr>
          <p:cNvPr id="48131" name="Rectangle 3">
            <a:extLst>
              <a:ext uri="{FF2B5EF4-FFF2-40B4-BE49-F238E27FC236}">
                <a16:creationId xmlns:a16="http://schemas.microsoft.com/office/drawing/2014/main" id="{62C30FF1-2506-1540-B15A-B12435B466D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Restatement:</a:t>
            </a:r>
          </a:p>
          <a:p>
            <a:pPr lvl="1" eaLnBrk="1" hangingPunct="1">
              <a:spcBef>
                <a:spcPct val="35000"/>
              </a:spcBef>
            </a:pPr>
            <a:r>
              <a:rPr lang="en-US" altLang="en-US" dirty="0"/>
              <a:t>Rephrasing a person’s own words and thoughts and repeating them back.</a:t>
            </a:r>
            <a:endParaRPr lang="en-US" altLang="en-US" u="sng" dirty="0"/>
          </a:p>
          <a:p>
            <a:pPr lvl="1" eaLnBrk="1" hangingPunct="1">
              <a:spcBef>
                <a:spcPct val="35000"/>
              </a:spcBef>
            </a:pPr>
            <a:r>
              <a:rPr lang="en-US" altLang="en-US" dirty="0"/>
              <a:t>Be honest and give patient hope, but do not give false hope.</a:t>
            </a:r>
          </a:p>
          <a:p>
            <a:pPr eaLnBrk="1" hangingPunct="1">
              <a:spcBef>
                <a:spcPct val="35000"/>
              </a:spcBef>
            </a:pPr>
            <a:r>
              <a:rPr lang="en-US" altLang="en-US" dirty="0"/>
              <a:t>Redirection:</a:t>
            </a:r>
          </a:p>
          <a:p>
            <a:pPr lvl="1" eaLnBrk="1" hangingPunct="1">
              <a:spcBef>
                <a:spcPct val="35000"/>
              </a:spcBef>
            </a:pPr>
            <a:r>
              <a:rPr lang="en-US" altLang="en-US" dirty="0"/>
              <a:t>Helps focus a patient’s attention on immediate situation or crisis.</a:t>
            </a:r>
          </a:p>
        </p:txBody>
      </p:sp>
    </p:spTree>
    <p:extLst>
      <p:ext uri="{BB962C8B-B14F-4D97-AF65-F5344CB8AC3E}">
        <p14:creationId xmlns:p14="http://schemas.microsoft.com/office/powerpoint/2010/main" val="2535022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a:extLst>
              <a:ext uri="{FF2B5EF4-FFF2-40B4-BE49-F238E27FC236}">
                <a16:creationId xmlns:a16="http://schemas.microsoft.com/office/drawing/2014/main" id="{34061E0C-048A-BD48-BAA0-CB21293FA95D}"/>
              </a:ext>
            </a:extLst>
          </p:cNvPr>
          <p:cNvSpPr>
            <a:spLocks noGrp="1" noChangeArrowheads="1"/>
          </p:cNvSpPr>
          <p:nvPr>
            <p:ph type="title"/>
          </p:nvPr>
        </p:nvSpPr>
        <p:spPr/>
        <p:txBody>
          <a:bodyPr/>
          <a:lstStyle/>
          <a:p>
            <a:pPr eaLnBrk="1" hangingPunct="1">
              <a:lnSpc>
                <a:spcPct val="85000"/>
              </a:lnSpc>
              <a:defRPr/>
            </a:pPr>
            <a:r>
              <a:rPr lang="en-US" dirty="0"/>
              <a:t>Communicating With Patient </a:t>
            </a:r>
            <a:r>
              <a:rPr lang="en-US" sz="2800" b="0" dirty="0"/>
              <a:t>(4 of 6)</a:t>
            </a:r>
          </a:p>
        </p:txBody>
      </p:sp>
      <p:sp>
        <p:nvSpPr>
          <p:cNvPr id="50179" name="Rectangle 3">
            <a:extLst>
              <a:ext uri="{FF2B5EF4-FFF2-40B4-BE49-F238E27FC236}">
                <a16:creationId xmlns:a16="http://schemas.microsoft.com/office/drawing/2014/main" id="{D4B44E9C-83B5-8A48-B9E2-8C3F24B6810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Redirection (cont'd):</a:t>
            </a:r>
          </a:p>
          <a:p>
            <a:pPr lvl="1" eaLnBrk="1" hangingPunct="1">
              <a:spcBef>
                <a:spcPct val="35000"/>
              </a:spcBef>
            </a:pPr>
            <a:r>
              <a:rPr lang="en-US" altLang="en-US" dirty="0"/>
              <a:t>Use redirection to alleviate a patient’s expressed concerns.</a:t>
            </a:r>
          </a:p>
          <a:p>
            <a:pPr lvl="1" eaLnBrk="1" hangingPunct="1">
              <a:spcBef>
                <a:spcPct val="35000"/>
              </a:spcBef>
            </a:pPr>
            <a:r>
              <a:rPr lang="en-US" altLang="en-US" dirty="0"/>
              <a:t>Move patient to a quieter and more private location.</a:t>
            </a:r>
          </a:p>
          <a:p>
            <a:pPr eaLnBrk="1" hangingPunct="1">
              <a:spcBef>
                <a:spcPct val="35000"/>
              </a:spcBef>
            </a:pPr>
            <a:r>
              <a:rPr lang="en-US" altLang="en-US" dirty="0"/>
              <a:t>Empathy:</a:t>
            </a:r>
          </a:p>
          <a:p>
            <a:pPr lvl="1" eaLnBrk="1" hangingPunct="1">
              <a:spcBef>
                <a:spcPct val="35000"/>
              </a:spcBef>
            </a:pPr>
            <a:r>
              <a:rPr lang="en-US" altLang="en-US" dirty="0"/>
              <a:t>Imagining yourself in another person’s situation and sharing his or her feelings or ideas.</a:t>
            </a:r>
          </a:p>
          <a:p>
            <a:pPr lvl="1">
              <a:spcBef>
                <a:spcPct val="35000"/>
              </a:spcBef>
            </a:pPr>
            <a:r>
              <a:rPr lang="en-US" altLang="en-US" dirty="0"/>
              <a:t>Empathy is one of the most helpful concepts you can use.</a:t>
            </a:r>
          </a:p>
          <a:p>
            <a:pPr lvl="1">
              <a:spcBef>
                <a:spcPct val="35000"/>
              </a:spcBef>
            </a:pPr>
            <a:r>
              <a:rPr lang="en-US" altLang="en-US" dirty="0"/>
              <a:t>Use a calm and caring approach.</a:t>
            </a:r>
          </a:p>
          <a:p>
            <a:pPr lvl="1" eaLnBrk="1" hangingPunct="1">
              <a:spcBef>
                <a:spcPct val="35000"/>
              </a:spcBef>
            </a:pPr>
            <a:endParaRPr lang="en-US" altLang="en-US" dirty="0"/>
          </a:p>
        </p:txBody>
      </p:sp>
    </p:spTree>
    <p:extLst>
      <p:ext uri="{BB962C8B-B14F-4D97-AF65-F5344CB8AC3E}">
        <p14:creationId xmlns:p14="http://schemas.microsoft.com/office/powerpoint/2010/main" val="1735082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a:extLst>
              <a:ext uri="{FF2B5EF4-FFF2-40B4-BE49-F238E27FC236}">
                <a16:creationId xmlns:a16="http://schemas.microsoft.com/office/drawing/2014/main" id="{B87F30F7-D9D0-7A45-8D65-D39CC12721E5}"/>
              </a:ext>
            </a:extLst>
          </p:cNvPr>
          <p:cNvSpPr>
            <a:spLocks noGrp="1" noChangeArrowheads="1"/>
          </p:cNvSpPr>
          <p:nvPr>
            <p:ph type="title"/>
          </p:nvPr>
        </p:nvSpPr>
        <p:spPr/>
        <p:txBody>
          <a:bodyPr/>
          <a:lstStyle/>
          <a:p>
            <a:pPr eaLnBrk="1" hangingPunct="1">
              <a:lnSpc>
                <a:spcPct val="85000"/>
              </a:lnSpc>
              <a:defRPr/>
            </a:pPr>
            <a:r>
              <a:rPr lang="en-US" dirty="0"/>
              <a:t>Communicating With Patient </a:t>
            </a:r>
            <a:r>
              <a:rPr lang="en-US" sz="2800" b="0" dirty="0"/>
              <a:t>(5 of 6)</a:t>
            </a:r>
          </a:p>
        </p:txBody>
      </p:sp>
      <p:sp>
        <p:nvSpPr>
          <p:cNvPr id="54275" name="Rectangle 3">
            <a:extLst>
              <a:ext uri="{FF2B5EF4-FFF2-40B4-BE49-F238E27FC236}">
                <a16:creationId xmlns:a16="http://schemas.microsoft.com/office/drawing/2014/main" id="{A8A433A1-0147-8F44-8C0F-3DAAA5E30363}"/>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Principles for assessing patients with behavioral problems:</a:t>
            </a:r>
          </a:p>
          <a:p>
            <a:pPr lvl="1">
              <a:spcBef>
                <a:spcPct val="35000"/>
              </a:spcBef>
            </a:pPr>
            <a:r>
              <a:rPr lang="en-US" altLang="en-US" dirty="0"/>
              <a:t>Identify yourself and let patient know you are there to help.</a:t>
            </a:r>
          </a:p>
          <a:p>
            <a:pPr lvl="1">
              <a:spcBef>
                <a:spcPct val="35000"/>
              </a:spcBef>
            </a:pPr>
            <a:r>
              <a:rPr lang="en-US" altLang="en-US" dirty="0"/>
              <a:t>Inform patient of what you are doing.</a:t>
            </a:r>
          </a:p>
          <a:p>
            <a:pPr lvl="1" eaLnBrk="1" hangingPunct="1">
              <a:spcBef>
                <a:spcPct val="35000"/>
              </a:spcBef>
            </a:pPr>
            <a:r>
              <a:rPr lang="en-US" altLang="en-US" dirty="0"/>
              <a:t>Ask questions in a calm, reassuring voice.</a:t>
            </a:r>
          </a:p>
          <a:p>
            <a:pPr lvl="1" eaLnBrk="1" hangingPunct="1">
              <a:spcBef>
                <a:spcPct val="35000"/>
              </a:spcBef>
            </a:pPr>
            <a:r>
              <a:rPr lang="en-US" altLang="en-US" dirty="0"/>
              <a:t>Allow patient to tell you what happened—do not be judgmental.</a:t>
            </a:r>
          </a:p>
          <a:p>
            <a:pPr lvl="1" eaLnBrk="1" hangingPunct="1">
              <a:spcBef>
                <a:spcPct val="35000"/>
              </a:spcBef>
            </a:pPr>
            <a:r>
              <a:rPr lang="en-US" altLang="en-US" dirty="0"/>
              <a:t>Show you are listening by using restatement and redirection.</a:t>
            </a:r>
          </a:p>
          <a:p>
            <a:pPr lvl="1" eaLnBrk="1" hangingPunct="1">
              <a:spcBef>
                <a:spcPct val="35000"/>
              </a:spcBef>
            </a:pPr>
            <a:r>
              <a:rPr lang="en-US" altLang="en-US" dirty="0"/>
              <a:t>Acknowledge patient’s feelings.</a:t>
            </a:r>
          </a:p>
          <a:p>
            <a:pPr lvl="1" eaLnBrk="1" hangingPunct="1">
              <a:spcBef>
                <a:spcPct val="35000"/>
              </a:spcBef>
            </a:pPr>
            <a:r>
              <a:rPr lang="en-US" altLang="en-US" dirty="0"/>
              <a:t>Assess patient’s mental status.</a:t>
            </a:r>
          </a:p>
        </p:txBody>
      </p:sp>
    </p:spTree>
    <p:extLst>
      <p:ext uri="{BB962C8B-B14F-4D97-AF65-F5344CB8AC3E}">
        <p14:creationId xmlns:p14="http://schemas.microsoft.com/office/powerpoint/2010/main" val="3307966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a:extLst>
              <a:ext uri="{FF2B5EF4-FFF2-40B4-BE49-F238E27FC236}">
                <a16:creationId xmlns:a16="http://schemas.microsoft.com/office/drawing/2014/main" id="{B87F30F7-D9D0-7A45-8D65-D39CC12721E5}"/>
              </a:ext>
            </a:extLst>
          </p:cNvPr>
          <p:cNvSpPr>
            <a:spLocks noGrp="1" noChangeArrowheads="1"/>
          </p:cNvSpPr>
          <p:nvPr>
            <p:ph type="title"/>
          </p:nvPr>
        </p:nvSpPr>
        <p:spPr/>
        <p:txBody>
          <a:bodyPr/>
          <a:lstStyle/>
          <a:p>
            <a:pPr eaLnBrk="1" hangingPunct="1">
              <a:lnSpc>
                <a:spcPct val="85000"/>
              </a:lnSpc>
              <a:defRPr/>
            </a:pPr>
            <a:r>
              <a:rPr lang="en-US" dirty="0"/>
              <a:t>Communicating With Patient </a:t>
            </a:r>
            <a:r>
              <a:rPr lang="en-US" sz="2800" b="0" dirty="0"/>
              <a:t>(6 of 6)</a:t>
            </a:r>
          </a:p>
        </p:txBody>
      </p:sp>
      <p:sp>
        <p:nvSpPr>
          <p:cNvPr id="54275" name="Rectangle 3">
            <a:extLst>
              <a:ext uri="{FF2B5EF4-FFF2-40B4-BE49-F238E27FC236}">
                <a16:creationId xmlns:a16="http://schemas.microsoft.com/office/drawing/2014/main" id="{A8A433A1-0147-8F44-8C0F-3DAAA5E30363}"/>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Communication with patients with developmental disabilities:</a:t>
            </a:r>
          </a:p>
          <a:p>
            <a:pPr lvl="1">
              <a:spcBef>
                <a:spcPct val="35000"/>
              </a:spcBef>
            </a:pPr>
            <a:r>
              <a:rPr lang="en-US" altLang="en-US" dirty="0"/>
              <a:t>CDC data indicates one in six children has a developmental disability.</a:t>
            </a:r>
          </a:p>
          <a:p>
            <a:pPr lvl="1">
              <a:spcBef>
                <a:spcPct val="35000"/>
              </a:spcBef>
            </a:pPr>
            <a:r>
              <a:rPr lang="en-US" altLang="en-US" dirty="0"/>
              <a:t>Developmental disabilities range from learning disabilities and developmental delays to autism spectrum disorder.</a:t>
            </a:r>
          </a:p>
          <a:p>
            <a:pPr lvl="1" eaLnBrk="1" hangingPunct="1">
              <a:spcBef>
                <a:spcPct val="35000"/>
              </a:spcBef>
            </a:pPr>
            <a:r>
              <a:rPr lang="en-US" altLang="en-US" dirty="0"/>
              <a:t>For example, patients with autism might:</a:t>
            </a:r>
          </a:p>
          <a:p>
            <a:pPr lvl="2">
              <a:spcBef>
                <a:spcPct val="35000"/>
              </a:spcBef>
            </a:pPr>
            <a:r>
              <a:rPr lang="en-US" altLang="en-US" dirty="0"/>
              <a:t>Avoid eye contact and want to be alone.</a:t>
            </a:r>
          </a:p>
          <a:p>
            <a:pPr lvl="2">
              <a:spcBef>
                <a:spcPct val="35000"/>
              </a:spcBef>
            </a:pPr>
            <a:r>
              <a:rPr lang="en-US" altLang="en-US" dirty="0"/>
              <a:t>Not look at objects when another person points to them.</a:t>
            </a:r>
          </a:p>
          <a:p>
            <a:pPr lvl="2">
              <a:spcBef>
                <a:spcPct val="35000"/>
              </a:spcBef>
            </a:pPr>
            <a:r>
              <a:rPr lang="en-US" altLang="en-US" dirty="0"/>
              <a:t>Have trouble expressing their needs using typical words or motions.</a:t>
            </a:r>
          </a:p>
          <a:p>
            <a:pPr lvl="2">
              <a:spcBef>
                <a:spcPct val="35000"/>
              </a:spcBef>
            </a:pPr>
            <a:r>
              <a:rPr lang="en-US" altLang="en-US" dirty="0"/>
              <a:t>Appear to be unaware when people talk to them but respond to other sounds.</a:t>
            </a:r>
          </a:p>
          <a:p>
            <a:pPr lvl="2">
              <a:spcBef>
                <a:spcPct val="35000"/>
              </a:spcBef>
            </a:pPr>
            <a:r>
              <a:rPr lang="en-US" altLang="en-US" dirty="0"/>
              <a:t>Have trouble adapting when their routine changes.</a:t>
            </a:r>
          </a:p>
          <a:p>
            <a:pPr lvl="2">
              <a:spcBef>
                <a:spcPct val="35000"/>
              </a:spcBef>
            </a:pPr>
            <a:r>
              <a:rPr lang="en-US" altLang="en-US" dirty="0"/>
              <a:t>Prefer not to be held or touched.</a:t>
            </a:r>
          </a:p>
        </p:txBody>
      </p:sp>
    </p:spTree>
    <p:extLst>
      <p:ext uri="{BB962C8B-B14F-4D97-AF65-F5344CB8AC3E}">
        <p14:creationId xmlns:p14="http://schemas.microsoft.com/office/powerpoint/2010/main" val="96375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a:extLst>
              <a:ext uri="{FF2B5EF4-FFF2-40B4-BE49-F238E27FC236}">
                <a16:creationId xmlns:a16="http://schemas.microsoft.com/office/drawing/2014/main" id="{997278A4-CDEE-4E46-9E40-42CF56E17E88}"/>
              </a:ext>
            </a:extLst>
          </p:cNvPr>
          <p:cNvSpPr>
            <a:spLocks noGrp="1" noChangeArrowheads="1"/>
          </p:cNvSpPr>
          <p:nvPr>
            <p:ph type="title"/>
          </p:nvPr>
        </p:nvSpPr>
        <p:spPr/>
        <p:txBody>
          <a:bodyPr/>
          <a:lstStyle/>
          <a:p>
            <a:pPr eaLnBrk="1" hangingPunct="1">
              <a:lnSpc>
                <a:spcPct val="85000"/>
              </a:lnSpc>
              <a:defRPr/>
            </a:pPr>
            <a:r>
              <a:rPr lang="en-US" dirty="0"/>
              <a:t>Crowd Control</a:t>
            </a:r>
          </a:p>
        </p:txBody>
      </p:sp>
      <p:sp>
        <p:nvSpPr>
          <p:cNvPr id="56323" name="Rectangle 3">
            <a:extLst>
              <a:ext uri="{FF2B5EF4-FFF2-40B4-BE49-F238E27FC236}">
                <a16:creationId xmlns:a16="http://schemas.microsoft.com/office/drawing/2014/main" id="{A794281E-38CA-3D4A-A979-114E62F84D6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Performing crowd control may help reduce a patient’s anxiety when there are too many people around.</a:t>
            </a:r>
          </a:p>
          <a:p>
            <a:pPr eaLnBrk="1" hangingPunct="1">
              <a:spcBef>
                <a:spcPct val="35000"/>
              </a:spcBef>
            </a:pPr>
            <a:r>
              <a:rPr lang="en-US" altLang="en-US"/>
              <a:t>During your size-up of the scene, determine whether</a:t>
            </a:r>
            <a:r>
              <a:rPr lang="en-US" altLang="en-US">
                <a:solidFill>
                  <a:srgbClr val="FF0000"/>
                </a:solidFill>
              </a:rPr>
              <a:t> </a:t>
            </a:r>
            <a:r>
              <a:rPr lang="en-US" altLang="en-US"/>
              <a:t>there is a crowd that might become hostile.</a:t>
            </a:r>
          </a:p>
          <a:p>
            <a:pPr lvl="1" eaLnBrk="1" hangingPunct="1">
              <a:spcBef>
                <a:spcPct val="35000"/>
              </a:spcBef>
            </a:pPr>
            <a:r>
              <a:rPr lang="en-US" altLang="en-US"/>
              <a:t>It is better to ask for help early than to wait.</a:t>
            </a:r>
          </a:p>
        </p:txBody>
      </p:sp>
    </p:spTree>
    <p:extLst>
      <p:ext uri="{BB962C8B-B14F-4D97-AF65-F5344CB8AC3E}">
        <p14:creationId xmlns:p14="http://schemas.microsoft.com/office/powerpoint/2010/main" val="2917732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a:extLst>
              <a:ext uri="{FF2B5EF4-FFF2-40B4-BE49-F238E27FC236}">
                <a16:creationId xmlns:a16="http://schemas.microsoft.com/office/drawing/2014/main" id="{B2304FA5-A894-4E44-9A37-A2A2FFD48A72}"/>
              </a:ext>
            </a:extLst>
          </p:cNvPr>
          <p:cNvSpPr>
            <a:spLocks noGrp="1" noChangeArrowheads="1"/>
          </p:cNvSpPr>
          <p:nvPr>
            <p:ph type="title"/>
          </p:nvPr>
        </p:nvSpPr>
        <p:spPr/>
        <p:txBody>
          <a:bodyPr/>
          <a:lstStyle/>
          <a:p>
            <a:pPr eaLnBrk="1" hangingPunct="1">
              <a:lnSpc>
                <a:spcPct val="85000"/>
              </a:lnSpc>
              <a:defRPr/>
            </a:pPr>
            <a:r>
              <a:rPr lang="en-US" dirty="0"/>
              <a:t>Domestic Violence </a:t>
            </a:r>
            <a:r>
              <a:rPr lang="en-US" sz="2800" b="0" dirty="0"/>
              <a:t>(1 of 6)</a:t>
            </a:r>
          </a:p>
        </p:txBody>
      </p:sp>
      <p:sp>
        <p:nvSpPr>
          <p:cNvPr id="58371" name="Rectangle 3">
            <a:extLst>
              <a:ext uri="{FF2B5EF4-FFF2-40B4-BE49-F238E27FC236}">
                <a16:creationId xmlns:a16="http://schemas.microsoft.com/office/drawing/2014/main" id="{3C95B6EE-AFF7-774F-9122-CA6CD7B4815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Common occurrence in today’s society.</a:t>
            </a:r>
          </a:p>
          <a:p>
            <a:pPr eaLnBrk="1" hangingPunct="1">
              <a:spcBef>
                <a:spcPct val="35000"/>
              </a:spcBef>
            </a:pPr>
            <a:r>
              <a:rPr lang="en-US" altLang="en-US" dirty="0"/>
              <a:t>It takes several different forms:</a:t>
            </a:r>
          </a:p>
          <a:p>
            <a:pPr lvl="1" eaLnBrk="1" hangingPunct="1">
              <a:spcBef>
                <a:spcPct val="35000"/>
              </a:spcBef>
            </a:pPr>
            <a:r>
              <a:rPr lang="en-US" altLang="en-US" dirty="0"/>
              <a:t>Elder abuse.</a:t>
            </a:r>
          </a:p>
          <a:p>
            <a:pPr lvl="1" eaLnBrk="1" hangingPunct="1">
              <a:spcBef>
                <a:spcPct val="35000"/>
              </a:spcBef>
            </a:pPr>
            <a:r>
              <a:rPr lang="en-US" altLang="en-US" dirty="0"/>
              <a:t>Child abuse.</a:t>
            </a:r>
          </a:p>
          <a:p>
            <a:pPr lvl="1" eaLnBrk="1" hangingPunct="1">
              <a:spcBef>
                <a:spcPct val="35000"/>
              </a:spcBef>
            </a:pPr>
            <a:r>
              <a:rPr lang="en-US" altLang="en-US" dirty="0"/>
              <a:t>Spouse and domestic partner abuse.</a:t>
            </a:r>
          </a:p>
          <a:p>
            <a:pPr eaLnBrk="1" hangingPunct="1">
              <a:spcBef>
                <a:spcPct val="35000"/>
              </a:spcBef>
            </a:pPr>
            <a:r>
              <a:rPr lang="en-US" altLang="en-US" dirty="0"/>
              <a:t>When responding to a domestic call: </a:t>
            </a:r>
            <a:r>
              <a:rPr lang="en-US" altLang="en-US" dirty="0">
                <a:solidFill>
                  <a:srgbClr val="FFFFFF"/>
                </a:solidFill>
              </a:rPr>
              <a:t>call</a:t>
            </a:r>
          </a:p>
          <a:p>
            <a:pPr lvl="1" eaLnBrk="1" hangingPunct="1">
              <a:spcBef>
                <a:spcPct val="35000"/>
              </a:spcBef>
            </a:pPr>
            <a:r>
              <a:rPr lang="en-US" altLang="en-US" dirty="0"/>
              <a:t>Maintain safety for all rescuers as well as for patient.</a:t>
            </a:r>
          </a:p>
        </p:txBody>
      </p:sp>
    </p:spTree>
    <p:extLst>
      <p:ext uri="{BB962C8B-B14F-4D97-AF65-F5344CB8AC3E}">
        <p14:creationId xmlns:p14="http://schemas.microsoft.com/office/powerpoint/2010/main" val="3279844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a:extLst>
              <a:ext uri="{FF2B5EF4-FFF2-40B4-BE49-F238E27FC236}">
                <a16:creationId xmlns:a16="http://schemas.microsoft.com/office/drawing/2014/main" id="{0B52A626-FA59-3648-92CA-168D44BDB35A}"/>
              </a:ext>
            </a:extLst>
          </p:cNvPr>
          <p:cNvSpPr>
            <a:spLocks noGrp="1" noChangeArrowheads="1"/>
          </p:cNvSpPr>
          <p:nvPr>
            <p:ph type="title"/>
          </p:nvPr>
        </p:nvSpPr>
        <p:spPr/>
        <p:txBody>
          <a:bodyPr/>
          <a:lstStyle/>
          <a:p>
            <a:pPr eaLnBrk="1" hangingPunct="1">
              <a:lnSpc>
                <a:spcPct val="85000"/>
              </a:lnSpc>
              <a:defRPr/>
            </a:pPr>
            <a:r>
              <a:rPr lang="en-US" dirty="0"/>
              <a:t>Domestic Violence </a:t>
            </a:r>
            <a:r>
              <a:rPr lang="en-US" sz="2800" b="0" dirty="0"/>
              <a:t>(2 of 6)</a:t>
            </a:r>
          </a:p>
        </p:txBody>
      </p:sp>
      <p:sp>
        <p:nvSpPr>
          <p:cNvPr id="60419" name="Rectangle 3">
            <a:extLst>
              <a:ext uri="{FF2B5EF4-FFF2-40B4-BE49-F238E27FC236}">
                <a16:creationId xmlns:a16="http://schemas.microsoft.com/office/drawing/2014/main" id="{A536584B-25CD-3843-B93E-CFB745CD7C3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When responding to a domestic call (cont'd):</a:t>
            </a:r>
            <a:endParaRPr lang="en-US" altLang="en-US" u="sng" dirty="0"/>
          </a:p>
          <a:p>
            <a:pPr lvl="1" eaLnBrk="1" hangingPunct="1">
              <a:spcBef>
                <a:spcPct val="35000"/>
              </a:spcBef>
            </a:pPr>
            <a:r>
              <a:rPr lang="en-US" altLang="en-US" dirty="0"/>
              <a:t>Conduct an effective assessment and treatment.</a:t>
            </a:r>
          </a:p>
          <a:p>
            <a:pPr lvl="1" eaLnBrk="1" hangingPunct="1">
              <a:spcBef>
                <a:spcPct val="35000"/>
              </a:spcBef>
            </a:pPr>
            <a:r>
              <a:rPr lang="en-US" altLang="en-US" dirty="0"/>
              <a:t>Understand requirements for reporting abuse in your state.</a:t>
            </a:r>
          </a:p>
          <a:p>
            <a:pPr eaLnBrk="1" hangingPunct="1">
              <a:spcBef>
                <a:spcPct val="35000"/>
              </a:spcBef>
            </a:pPr>
            <a:r>
              <a:rPr lang="en-US" altLang="en-US" dirty="0"/>
              <a:t>Physical signs and symptoms:</a:t>
            </a:r>
          </a:p>
          <a:p>
            <a:pPr lvl="1" eaLnBrk="1" hangingPunct="1">
              <a:spcBef>
                <a:spcPct val="35000"/>
              </a:spcBef>
            </a:pPr>
            <a:r>
              <a:rPr lang="en-US" altLang="en-US" dirty="0"/>
              <a:t>Broken bones.</a:t>
            </a:r>
          </a:p>
          <a:p>
            <a:pPr lvl="1" eaLnBrk="1" hangingPunct="1">
              <a:spcBef>
                <a:spcPct val="35000"/>
              </a:spcBef>
            </a:pPr>
            <a:r>
              <a:rPr lang="en-US" altLang="en-US" dirty="0"/>
              <a:t>Cuts.</a:t>
            </a:r>
          </a:p>
        </p:txBody>
      </p:sp>
    </p:spTree>
    <p:extLst>
      <p:ext uri="{BB962C8B-B14F-4D97-AF65-F5344CB8AC3E}">
        <p14:creationId xmlns:p14="http://schemas.microsoft.com/office/powerpoint/2010/main" val="2075806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a:extLst>
              <a:ext uri="{FF2B5EF4-FFF2-40B4-BE49-F238E27FC236}">
                <a16:creationId xmlns:a16="http://schemas.microsoft.com/office/drawing/2014/main" id="{E512A586-F2D7-2A4A-9C70-C11DFD9EADCA}"/>
              </a:ext>
            </a:extLst>
          </p:cNvPr>
          <p:cNvSpPr>
            <a:spLocks noGrp="1" noChangeArrowheads="1"/>
          </p:cNvSpPr>
          <p:nvPr>
            <p:ph type="title"/>
          </p:nvPr>
        </p:nvSpPr>
        <p:spPr/>
        <p:txBody>
          <a:bodyPr/>
          <a:lstStyle/>
          <a:p>
            <a:pPr eaLnBrk="1" hangingPunct="1">
              <a:lnSpc>
                <a:spcPct val="85000"/>
              </a:lnSpc>
              <a:defRPr/>
            </a:pPr>
            <a:r>
              <a:rPr lang="en-US" dirty="0"/>
              <a:t>Domestic Violence </a:t>
            </a:r>
            <a:r>
              <a:rPr lang="en-US" sz="2800" b="0" dirty="0"/>
              <a:t>(3 of 6)</a:t>
            </a:r>
          </a:p>
        </p:txBody>
      </p:sp>
      <p:sp>
        <p:nvSpPr>
          <p:cNvPr id="62467" name="Rectangle 3">
            <a:extLst>
              <a:ext uri="{FF2B5EF4-FFF2-40B4-BE49-F238E27FC236}">
                <a16:creationId xmlns:a16="http://schemas.microsoft.com/office/drawing/2014/main" id="{F2ED2208-93B6-4242-A136-34F996528C6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Physical signs and symptoms (cont'd):</a:t>
            </a:r>
          </a:p>
          <a:p>
            <a:pPr lvl="1" eaLnBrk="1" hangingPunct="1">
              <a:spcBef>
                <a:spcPct val="35000"/>
              </a:spcBef>
            </a:pPr>
            <a:r>
              <a:rPr lang="en-US" altLang="en-US" dirty="0"/>
              <a:t>Head injuries.</a:t>
            </a:r>
          </a:p>
          <a:p>
            <a:pPr lvl="1" eaLnBrk="1" hangingPunct="1">
              <a:spcBef>
                <a:spcPct val="35000"/>
              </a:spcBef>
            </a:pPr>
            <a:r>
              <a:rPr lang="en-US" altLang="en-US" dirty="0"/>
              <a:t>Bruises.</a:t>
            </a:r>
          </a:p>
          <a:p>
            <a:pPr lvl="1" eaLnBrk="1" hangingPunct="1">
              <a:spcBef>
                <a:spcPct val="35000"/>
              </a:spcBef>
            </a:pPr>
            <a:r>
              <a:rPr lang="en-US" altLang="en-US" dirty="0"/>
              <a:t>Burns.</a:t>
            </a:r>
          </a:p>
          <a:p>
            <a:pPr lvl="1" eaLnBrk="1" hangingPunct="1">
              <a:spcBef>
                <a:spcPct val="35000"/>
              </a:spcBef>
            </a:pPr>
            <a:r>
              <a:rPr lang="en-US" altLang="en-US" dirty="0"/>
              <a:t>Scars from old injuries.</a:t>
            </a:r>
          </a:p>
          <a:p>
            <a:pPr lvl="1" eaLnBrk="1" hangingPunct="1">
              <a:spcBef>
                <a:spcPct val="35000"/>
              </a:spcBef>
            </a:pPr>
            <a:r>
              <a:rPr lang="en-US" altLang="en-US" dirty="0"/>
              <a:t>Injuries in various stages of healing.</a:t>
            </a:r>
          </a:p>
          <a:p>
            <a:pPr lvl="1" eaLnBrk="1" hangingPunct="1">
              <a:spcBef>
                <a:spcPct val="35000"/>
              </a:spcBef>
            </a:pPr>
            <a:r>
              <a:rPr lang="en-US" altLang="en-US" dirty="0"/>
              <a:t>Internal injuries.</a:t>
            </a:r>
          </a:p>
        </p:txBody>
      </p:sp>
    </p:spTree>
    <p:extLst>
      <p:ext uri="{BB962C8B-B14F-4D97-AF65-F5344CB8AC3E}">
        <p14:creationId xmlns:p14="http://schemas.microsoft.com/office/powerpoint/2010/main" val="1482250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8" name="Rectangle 2">
            <a:extLst>
              <a:ext uri="{FF2B5EF4-FFF2-40B4-BE49-F238E27FC236}">
                <a16:creationId xmlns:a16="http://schemas.microsoft.com/office/drawing/2014/main" id="{16F7675C-F65D-1F49-8D78-647E6F1ABCC0}"/>
              </a:ext>
            </a:extLst>
          </p:cNvPr>
          <p:cNvSpPr>
            <a:spLocks noGrp="1" noChangeArrowheads="1"/>
          </p:cNvSpPr>
          <p:nvPr>
            <p:ph type="title"/>
          </p:nvPr>
        </p:nvSpPr>
        <p:spPr/>
        <p:txBody>
          <a:bodyPr/>
          <a:lstStyle/>
          <a:p>
            <a:pPr eaLnBrk="1" hangingPunct="1">
              <a:lnSpc>
                <a:spcPct val="85000"/>
              </a:lnSpc>
              <a:defRPr/>
            </a:pPr>
            <a:r>
              <a:rPr lang="en-US" dirty="0"/>
              <a:t>Domestic Violence </a:t>
            </a:r>
            <a:r>
              <a:rPr lang="en-US" sz="2800" b="0" dirty="0"/>
              <a:t>(4 of 6)</a:t>
            </a:r>
          </a:p>
        </p:txBody>
      </p:sp>
      <p:sp>
        <p:nvSpPr>
          <p:cNvPr id="64515" name="Rectangle 3">
            <a:extLst>
              <a:ext uri="{FF2B5EF4-FFF2-40B4-BE49-F238E27FC236}">
                <a16:creationId xmlns:a16="http://schemas.microsoft.com/office/drawing/2014/main" id="{97BD6630-0BE7-8847-8A38-FC220ACC6B2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Emotional symptoms:</a:t>
            </a:r>
          </a:p>
          <a:p>
            <a:pPr lvl="1" eaLnBrk="1" hangingPunct="1">
              <a:spcBef>
                <a:spcPct val="35000"/>
              </a:spcBef>
            </a:pPr>
            <a:r>
              <a:rPr lang="en-US" altLang="en-US" dirty="0"/>
              <a:t>Depression.</a:t>
            </a:r>
          </a:p>
          <a:p>
            <a:pPr lvl="1" eaLnBrk="1" hangingPunct="1">
              <a:spcBef>
                <a:spcPct val="35000"/>
              </a:spcBef>
            </a:pPr>
            <a:r>
              <a:rPr lang="en-US" altLang="en-US" dirty="0"/>
              <a:t>Suicide attempts.</a:t>
            </a:r>
          </a:p>
          <a:p>
            <a:pPr lvl="1" eaLnBrk="1" hangingPunct="1">
              <a:spcBef>
                <a:spcPct val="35000"/>
              </a:spcBef>
            </a:pPr>
            <a:r>
              <a:rPr lang="en-US" altLang="en-US" dirty="0"/>
              <a:t>Abuse of alcohol or drugs.</a:t>
            </a:r>
          </a:p>
          <a:p>
            <a:pPr lvl="1" eaLnBrk="1" hangingPunct="1">
              <a:spcBef>
                <a:spcPct val="35000"/>
              </a:spcBef>
            </a:pPr>
            <a:r>
              <a:rPr lang="en-US" altLang="en-US" dirty="0"/>
              <a:t>Feelings of anxiety, distress, and hopelessness.</a:t>
            </a:r>
          </a:p>
          <a:p>
            <a:pPr eaLnBrk="1" hangingPunct="1">
              <a:spcBef>
                <a:spcPct val="35000"/>
              </a:spcBef>
            </a:pPr>
            <a:r>
              <a:rPr lang="en-US" altLang="en-US" dirty="0"/>
              <a:t>Abusers may be paranoid, overly sensitive, obsessive, or threatening.</a:t>
            </a:r>
          </a:p>
        </p:txBody>
      </p:sp>
    </p:spTree>
    <p:extLst>
      <p:ext uri="{BB962C8B-B14F-4D97-AF65-F5344CB8AC3E}">
        <p14:creationId xmlns:p14="http://schemas.microsoft.com/office/powerpoint/2010/main" val="909584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2" name="Rectangle 2">
            <a:extLst>
              <a:ext uri="{FF2B5EF4-FFF2-40B4-BE49-F238E27FC236}">
                <a16:creationId xmlns:a16="http://schemas.microsoft.com/office/drawing/2014/main" id="{9945C678-8DAB-3643-B6A6-2BA98170509B}"/>
              </a:ext>
            </a:extLst>
          </p:cNvPr>
          <p:cNvSpPr>
            <a:spLocks noGrp="1" noChangeArrowheads="1"/>
          </p:cNvSpPr>
          <p:nvPr>
            <p:ph type="title"/>
          </p:nvPr>
        </p:nvSpPr>
        <p:spPr/>
        <p:txBody>
          <a:bodyPr/>
          <a:lstStyle/>
          <a:p>
            <a:pPr eaLnBrk="1" hangingPunct="1">
              <a:lnSpc>
                <a:spcPct val="85000"/>
              </a:lnSpc>
              <a:defRPr/>
            </a:pPr>
            <a:r>
              <a:rPr lang="en-US" dirty="0"/>
              <a:t>Domestic Violence </a:t>
            </a:r>
            <a:r>
              <a:rPr lang="en-US" sz="2800" b="0" dirty="0"/>
              <a:t>(5 of 6)</a:t>
            </a:r>
          </a:p>
        </p:txBody>
      </p:sp>
      <p:sp>
        <p:nvSpPr>
          <p:cNvPr id="66563" name="Rectangle 3">
            <a:extLst>
              <a:ext uri="{FF2B5EF4-FFF2-40B4-BE49-F238E27FC236}">
                <a16:creationId xmlns:a16="http://schemas.microsoft.com/office/drawing/2014/main" id="{05733DF1-BD6F-3F47-A510-EBDE7135060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If you suspect abuse, your responsibility is to maintain safety for yourself and for patient.</a:t>
            </a:r>
          </a:p>
          <a:p>
            <a:pPr lvl="1" eaLnBrk="1" hangingPunct="1">
              <a:spcBef>
                <a:spcPct val="35000"/>
              </a:spcBef>
            </a:pPr>
            <a:r>
              <a:rPr lang="en-US" altLang="en-US" dirty="0"/>
              <a:t>Try to separate patient from abuser.</a:t>
            </a:r>
          </a:p>
          <a:p>
            <a:pPr lvl="1" eaLnBrk="1" hangingPunct="1">
              <a:spcBef>
                <a:spcPct val="35000"/>
              </a:spcBef>
            </a:pPr>
            <a:r>
              <a:rPr lang="en-US" altLang="en-US" dirty="0"/>
              <a:t>Try to keep from judging the patient.</a:t>
            </a:r>
          </a:p>
          <a:p>
            <a:pPr lvl="1" eaLnBrk="1" hangingPunct="1">
              <a:spcBef>
                <a:spcPct val="35000"/>
              </a:spcBef>
            </a:pPr>
            <a:r>
              <a:rPr lang="en-US" altLang="en-US" dirty="0"/>
              <a:t>Presence of law enforcement personnel may be helpful.</a:t>
            </a:r>
          </a:p>
          <a:p>
            <a:pPr lvl="1" eaLnBrk="1" hangingPunct="1">
              <a:spcBef>
                <a:spcPct val="35000"/>
              </a:spcBef>
            </a:pPr>
            <a:r>
              <a:rPr lang="en-US" altLang="en-US" dirty="0"/>
              <a:t>Learn requirements for reporting abuse in your state.</a:t>
            </a:r>
          </a:p>
        </p:txBody>
      </p:sp>
    </p:spTree>
    <p:extLst>
      <p:ext uri="{BB962C8B-B14F-4D97-AF65-F5344CB8AC3E}">
        <p14:creationId xmlns:p14="http://schemas.microsoft.com/office/powerpoint/2010/main" val="1327264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6" name="Rectangle 2">
            <a:extLst>
              <a:ext uri="{FF2B5EF4-FFF2-40B4-BE49-F238E27FC236}">
                <a16:creationId xmlns:a16="http://schemas.microsoft.com/office/drawing/2014/main" id="{DC0ECF30-616A-F443-8F71-B62210B75D1A}"/>
              </a:ext>
            </a:extLst>
          </p:cNvPr>
          <p:cNvSpPr>
            <a:spLocks noGrp="1" noChangeArrowheads="1"/>
          </p:cNvSpPr>
          <p:nvPr>
            <p:ph type="title"/>
          </p:nvPr>
        </p:nvSpPr>
        <p:spPr/>
        <p:txBody>
          <a:bodyPr/>
          <a:lstStyle/>
          <a:p>
            <a:pPr eaLnBrk="1" hangingPunct="1">
              <a:lnSpc>
                <a:spcPct val="85000"/>
              </a:lnSpc>
              <a:defRPr/>
            </a:pPr>
            <a:r>
              <a:rPr lang="en-US" dirty="0"/>
              <a:t>Domestic Violence </a:t>
            </a:r>
            <a:r>
              <a:rPr lang="en-US" sz="2800" b="0" dirty="0"/>
              <a:t>(6 of 6)</a:t>
            </a:r>
          </a:p>
        </p:txBody>
      </p:sp>
      <p:sp>
        <p:nvSpPr>
          <p:cNvPr id="68611" name="Rectangle 3">
            <a:extLst>
              <a:ext uri="{FF2B5EF4-FFF2-40B4-BE49-F238E27FC236}">
                <a16:creationId xmlns:a16="http://schemas.microsoft.com/office/drawing/2014/main" id="{6E1C86FE-54ED-2B43-BD94-E8C32E34BE5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Cycles of abuse:</a:t>
            </a:r>
          </a:p>
          <a:p>
            <a:pPr lvl="1" eaLnBrk="1" hangingPunct="1">
              <a:spcBef>
                <a:spcPct val="35000"/>
              </a:spcBef>
            </a:pPr>
            <a:r>
              <a:rPr lang="en-US" altLang="en-US" dirty="0"/>
              <a:t>Tension phase: Abuser becomes angry and often blames victim.</a:t>
            </a:r>
          </a:p>
          <a:p>
            <a:pPr lvl="1" eaLnBrk="1" hangingPunct="1">
              <a:spcBef>
                <a:spcPct val="35000"/>
              </a:spcBef>
            </a:pPr>
            <a:r>
              <a:rPr lang="en-US" altLang="en-US" dirty="0"/>
              <a:t>Explosive phase: Abuser becomes enraged and loses control as well as ability to think clearly.</a:t>
            </a:r>
          </a:p>
          <a:p>
            <a:pPr lvl="1" eaLnBrk="1" hangingPunct="1">
              <a:spcBef>
                <a:spcPct val="35000"/>
              </a:spcBef>
            </a:pPr>
            <a:r>
              <a:rPr lang="en-US" altLang="en-US" dirty="0"/>
              <a:t>Make-up phase: Abuser makes promises, which are seldom kept.</a:t>
            </a:r>
          </a:p>
        </p:txBody>
      </p:sp>
    </p:spTree>
    <p:extLst>
      <p:ext uri="{BB962C8B-B14F-4D97-AF65-F5344CB8AC3E}">
        <p14:creationId xmlns:p14="http://schemas.microsoft.com/office/powerpoint/2010/main" val="749940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Rectangle 2">
            <a:extLst>
              <a:ext uri="{FF2B5EF4-FFF2-40B4-BE49-F238E27FC236}">
                <a16:creationId xmlns:a16="http://schemas.microsoft.com/office/drawing/2014/main" id="{D5E0FC3F-27DB-AB47-A10E-6C3123B79EAB}"/>
              </a:ext>
            </a:extLst>
          </p:cNvPr>
          <p:cNvSpPr>
            <a:spLocks noGrp="1" noChangeArrowheads="1"/>
          </p:cNvSpPr>
          <p:nvPr>
            <p:ph type="title"/>
          </p:nvPr>
        </p:nvSpPr>
        <p:spPr/>
        <p:txBody>
          <a:bodyPr/>
          <a:lstStyle/>
          <a:p>
            <a:pPr eaLnBrk="1" hangingPunct="1">
              <a:lnSpc>
                <a:spcPct val="85000"/>
              </a:lnSpc>
              <a:defRPr/>
            </a:pPr>
            <a:r>
              <a:rPr lang="en-US" dirty="0"/>
              <a:t>Violent Patients </a:t>
            </a:r>
            <a:r>
              <a:rPr lang="en-US" sz="2800" b="0" dirty="0"/>
              <a:t>(1 of 3)</a:t>
            </a:r>
          </a:p>
        </p:txBody>
      </p:sp>
      <p:sp>
        <p:nvSpPr>
          <p:cNvPr id="70659" name="Rectangle 3">
            <a:extLst>
              <a:ext uri="{FF2B5EF4-FFF2-40B4-BE49-F238E27FC236}">
                <a16:creationId xmlns:a16="http://schemas.microsoft.com/office/drawing/2014/main" id="{647E7473-C226-014F-81FB-720F4CE3A893}"/>
              </a:ext>
            </a:extLst>
          </p:cNvPr>
          <p:cNvSpPr>
            <a:spLocks noGrp="1" noChangeArrowheads="1"/>
          </p:cNvSpPr>
          <p:nvPr>
            <p:ph type="body" idx="1"/>
          </p:nvPr>
        </p:nvSpPr>
        <p:spPr>
          <a:xfrm>
            <a:off x="5638800" y="1447800"/>
            <a:ext cx="5559468"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Immediately attempt to establish verbal and eye contact with patient.</a:t>
            </a:r>
          </a:p>
          <a:p>
            <a:pPr eaLnBrk="1" hangingPunct="1">
              <a:spcBef>
                <a:spcPct val="35000"/>
              </a:spcBef>
            </a:pPr>
            <a:r>
              <a:rPr lang="en-US" altLang="en-US" dirty="0"/>
              <a:t>Check with family and friends about patient’s past history of violence.</a:t>
            </a:r>
          </a:p>
          <a:p>
            <a:pPr eaLnBrk="1" hangingPunct="1">
              <a:spcBef>
                <a:spcPct val="35000"/>
              </a:spcBef>
            </a:pPr>
            <a:r>
              <a:rPr lang="en-US" altLang="en-US" dirty="0"/>
              <a:t>Signs of potential violence:</a:t>
            </a:r>
          </a:p>
          <a:p>
            <a:pPr lvl="1" eaLnBrk="1" hangingPunct="1">
              <a:spcBef>
                <a:spcPct val="35000"/>
              </a:spcBef>
            </a:pPr>
            <a:r>
              <a:rPr lang="en-US" altLang="en-US" dirty="0"/>
              <a:t>History of violence.</a:t>
            </a:r>
          </a:p>
          <a:p>
            <a:pPr lvl="1" eaLnBrk="1" hangingPunct="1">
              <a:spcBef>
                <a:spcPct val="35000"/>
              </a:spcBef>
            </a:pPr>
            <a:r>
              <a:rPr lang="en-US" altLang="en-US" dirty="0"/>
              <a:t>Yelling or verbal threatening.</a:t>
            </a:r>
          </a:p>
        </p:txBody>
      </p:sp>
      <p:sp>
        <p:nvSpPr>
          <p:cNvPr id="5" name="Rectangle 4"/>
          <p:cNvSpPr/>
          <p:nvPr/>
        </p:nvSpPr>
        <p:spPr>
          <a:xfrm>
            <a:off x="1193283" y="4247756"/>
            <a:ext cx="4235967"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12-5 </a:t>
            </a:r>
            <a:r>
              <a:rPr lang="en-US" dirty="0"/>
              <a:t>A patient’s posture will indicate the potential for violent behavior. </a:t>
            </a:r>
          </a:p>
        </p:txBody>
      </p:sp>
      <p:sp>
        <p:nvSpPr>
          <p:cNvPr id="7" name="Rectangle 6"/>
          <p:cNvSpPr/>
          <p:nvPr/>
        </p:nvSpPr>
        <p:spPr>
          <a:xfrm>
            <a:off x="1225659" y="4919397"/>
            <a:ext cx="2896413"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4098" name="Picture 2" descr="A photo shows a man standing in a kitchen, with his outstretched hand pointing a finger at an emergency responder. A woman can be seen crouched near the drawers below the kitchen counter near the aggressive-looking man.&#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2333" y="1572499"/>
            <a:ext cx="3962400" cy="2647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928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a:extLst>
              <a:ext uri="{FF2B5EF4-FFF2-40B4-BE49-F238E27FC236}">
                <a16:creationId xmlns:a16="http://schemas.microsoft.com/office/drawing/2014/main" id="{95FAB7F0-330B-8D4E-B4DE-EA13FFDB3C4D}"/>
              </a:ext>
            </a:extLst>
          </p:cNvPr>
          <p:cNvSpPr>
            <a:spLocks noGrp="1" noChangeArrowheads="1"/>
          </p:cNvSpPr>
          <p:nvPr>
            <p:ph type="title"/>
          </p:nvPr>
        </p:nvSpPr>
        <p:spPr/>
        <p:txBody>
          <a:bodyPr/>
          <a:lstStyle/>
          <a:p>
            <a:pPr eaLnBrk="1" hangingPunct="1">
              <a:lnSpc>
                <a:spcPct val="85000"/>
              </a:lnSpc>
              <a:defRPr/>
            </a:pPr>
            <a:r>
              <a:rPr lang="en-US" dirty="0"/>
              <a:t>Violent Patients </a:t>
            </a:r>
            <a:r>
              <a:rPr lang="en-US" sz="2800" b="0" dirty="0"/>
              <a:t>(2 of 3)</a:t>
            </a:r>
          </a:p>
        </p:txBody>
      </p:sp>
      <p:sp>
        <p:nvSpPr>
          <p:cNvPr id="72707" name="Rectangle 3">
            <a:extLst>
              <a:ext uri="{FF2B5EF4-FFF2-40B4-BE49-F238E27FC236}">
                <a16:creationId xmlns:a16="http://schemas.microsoft.com/office/drawing/2014/main" id="{D3B849FE-0964-D541-B56C-B383F27EEED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Signs of potential violence (cont'd):</a:t>
            </a:r>
          </a:p>
          <a:p>
            <a:pPr lvl="1" eaLnBrk="1" hangingPunct="1">
              <a:spcBef>
                <a:spcPct val="35000"/>
              </a:spcBef>
            </a:pPr>
            <a:r>
              <a:rPr lang="en-US" altLang="en-US" dirty="0"/>
              <a:t>Loud, obscene, or bizarre speech.</a:t>
            </a:r>
          </a:p>
          <a:p>
            <a:pPr lvl="1" eaLnBrk="1" hangingPunct="1">
              <a:spcBef>
                <a:spcPct val="35000"/>
              </a:spcBef>
            </a:pPr>
            <a:r>
              <a:rPr lang="en-US" altLang="en-US" dirty="0"/>
              <a:t>Pacing, inability to sit still, and protection of personal space.</a:t>
            </a:r>
          </a:p>
          <a:p>
            <a:pPr lvl="1" eaLnBrk="1" hangingPunct="1">
              <a:spcBef>
                <a:spcPct val="35000"/>
              </a:spcBef>
            </a:pPr>
            <a:r>
              <a:rPr lang="en-US" altLang="en-US" dirty="0"/>
              <a:t>Abuse of drugs or alcohol.</a:t>
            </a:r>
          </a:p>
          <a:p>
            <a:pPr eaLnBrk="1" hangingPunct="1">
              <a:spcBef>
                <a:spcPct val="35000"/>
              </a:spcBef>
            </a:pPr>
            <a:r>
              <a:rPr lang="en-US" altLang="en-US" dirty="0"/>
              <a:t>Never force a potentially violent patient into a corner, and do not allow yourself to be cut off from a route of retreat.</a:t>
            </a:r>
          </a:p>
        </p:txBody>
      </p:sp>
    </p:spTree>
    <p:extLst>
      <p:ext uri="{BB962C8B-B14F-4D97-AF65-F5344CB8AC3E}">
        <p14:creationId xmlns:p14="http://schemas.microsoft.com/office/powerpoint/2010/main" val="1336982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58" name="Rectangle 2">
            <a:extLst>
              <a:ext uri="{FF2B5EF4-FFF2-40B4-BE49-F238E27FC236}">
                <a16:creationId xmlns:a16="http://schemas.microsoft.com/office/drawing/2014/main" id="{D52D932E-CACE-5844-BA40-4082BC5DDE6A}"/>
              </a:ext>
            </a:extLst>
          </p:cNvPr>
          <p:cNvSpPr>
            <a:spLocks noGrp="1" noChangeArrowheads="1"/>
          </p:cNvSpPr>
          <p:nvPr>
            <p:ph type="title"/>
          </p:nvPr>
        </p:nvSpPr>
        <p:spPr/>
        <p:txBody>
          <a:bodyPr/>
          <a:lstStyle/>
          <a:p>
            <a:pPr eaLnBrk="1" hangingPunct="1">
              <a:lnSpc>
                <a:spcPct val="85000"/>
              </a:lnSpc>
              <a:defRPr/>
            </a:pPr>
            <a:r>
              <a:rPr lang="en-US" dirty="0"/>
              <a:t>Violent Patients </a:t>
            </a:r>
            <a:r>
              <a:rPr lang="en-US" sz="2800" b="0" dirty="0"/>
              <a:t>(3 of 3)</a:t>
            </a:r>
          </a:p>
        </p:txBody>
      </p:sp>
      <p:sp>
        <p:nvSpPr>
          <p:cNvPr id="74755" name="Rectangle 3">
            <a:extLst>
              <a:ext uri="{FF2B5EF4-FFF2-40B4-BE49-F238E27FC236}">
                <a16:creationId xmlns:a16="http://schemas.microsoft.com/office/drawing/2014/main" id="{F79CC8EA-D0DD-D84A-AD47-22B0FFFD633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Have only one person talk with patient.</a:t>
            </a:r>
          </a:p>
          <a:p>
            <a:pPr lvl="1" eaLnBrk="1" hangingPunct="1">
              <a:spcBef>
                <a:spcPct val="35000"/>
              </a:spcBef>
            </a:pPr>
            <a:r>
              <a:rPr lang="en-US" altLang="en-US" dirty="0"/>
              <a:t>Communicator should be rescuer with whom patient seems to have best initial rapport.</a:t>
            </a:r>
          </a:p>
          <a:p>
            <a:pPr eaLnBrk="1" hangingPunct="1">
              <a:spcBef>
                <a:spcPct val="35000"/>
              </a:spcBef>
            </a:pPr>
            <a:r>
              <a:rPr lang="en-US" altLang="en-US" dirty="0"/>
              <a:t>Anticipate need to summon law enforcement personnel if all else fails.</a:t>
            </a:r>
          </a:p>
        </p:txBody>
      </p:sp>
    </p:spTree>
    <p:extLst>
      <p:ext uri="{BB962C8B-B14F-4D97-AF65-F5344CB8AC3E}">
        <p14:creationId xmlns:p14="http://schemas.microsoft.com/office/powerpoint/2010/main" val="752127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2" name="Rectangle 2">
            <a:extLst>
              <a:ext uri="{FF2B5EF4-FFF2-40B4-BE49-F238E27FC236}">
                <a16:creationId xmlns:a16="http://schemas.microsoft.com/office/drawing/2014/main" id="{29B678A5-AAFB-294F-B746-DDDF23F4FF7D}"/>
              </a:ext>
            </a:extLst>
          </p:cNvPr>
          <p:cNvSpPr>
            <a:spLocks noGrp="1" noChangeArrowheads="1"/>
          </p:cNvSpPr>
          <p:nvPr>
            <p:ph type="title"/>
          </p:nvPr>
        </p:nvSpPr>
        <p:spPr/>
        <p:txBody>
          <a:bodyPr/>
          <a:lstStyle/>
          <a:p>
            <a:pPr eaLnBrk="1" hangingPunct="1">
              <a:lnSpc>
                <a:spcPct val="85000"/>
              </a:lnSpc>
              <a:defRPr/>
            </a:pPr>
            <a:r>
              <a:rPr lang="en-US" dirty="0"/>
              <a:t>Violence Against EMRs </a:t>
            </a:r>
            <a:r>
              <a:rPr lang="en-US" sz="2800" b="0" dirty="0"/>
              <a:t>(1 of 3)</a:t>
            </a:r>
          </a:p>
        </p:txBody>
      </p:sp>
      <p:sp>
        <p:nvSpPr>
          <p:cNvPr id="76803" name="Rectangle 3">
            <a:extLst>
              <a:ext uri="{FF2B5EF4-FFF2-40B4-BE49-F238E27FC236}">
                <a16:creationId xmlns:a16="http://schemas.microsoft.com/office/drawing/2014/main" id="{20BB7735-03CA-4C49-8D5C-7C9CB7F90B1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Factors that increase risk of violence in workplace:</a:t>
            </a:r>
            <a:endParaRPr lang="en-US" altLang="en-US" u="sng" dirty="0">
              <a:solidFill>
                <a:srgbClr val="FF0000"/>
              </a:solidFill>
            </a:endParaRPr>
          </a:p>
          <a:p>
            <a:pPr lvl="1" eaLnBrk="1" hangingPunct="1">
              <a:spcBef>
                <a:spcPct val="35000"/>
              </a:spcBef>
            </a:pPr>
            <a:r>
              <a:rPr lang="en-US" altLang="en-US" dirty="0"/>
              <a:t>Working alone or in small numbers.</a:t>
            </a:r>
          </a:p>
          <a:p>
            <a:pPr lvl="1" eaLnBrk="1" hangingPunct="1">
              <a:spcBef>
                <a:spcPct val="35000"/>
              </a:spcBef>
            </a:pPr>
            <a:r>
              <a:rPr lang="en-US" altLang="en-US" dirty="0"/>
              <a:t>Working late at night or early in morning.</a:t>
            </a:r>
          </a:p>
          <a:p>
            <a:pPr lvl="1" eaLnBrk="1" hangingPunct="1">
              <a:spcBef>
                <a:spcPct val="35000"/>
              </a:spcBef>
            </a:pPr>
            <a:r>
              <a:rPr lang="en-US" altLang="en-US" dirty="0"/>
              <a:t>Working in high-crime areas.</a:t>
            </a:r>
          </a:p>
          <a:p>
            <a:pPr lvl="1" eaLnBrk="1" hangingPunct="1">
              <a:spcBef>
                <a:spcPct val="35000"/>
              </a:spcBef>
            </a:pPr>
            <a:r>
              <a:rPr lang="en-US" altLang="en-US" dirty="0"/>
              <a:t>Working in community settings.</a:t>
            </a:r>
          </a:p>
        </p:txBody>
      </p:sp>
    </p:spTree>
    <p:extLst>
      <p:ext uri="{BB962C8B-B14F-4D97-AF65-F5344CB8AC3E}">
        <p14:creationId xmlns:p14="http://schemas.microsoft.com/office/powerpoint/2010/main" val="307889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6" name="Rectangle 2">
            <a:extLst>
              <a:ext uri="{FF2B5EF4-FFF2-40B4-BE49-F238E27FC236}">
                <a16:creationId xmlns:a16="http://schemas.microsoft.com/office/drawing/2014/main" id="{18A2DD38-A17B-2549-83A2-142CEA7BE220}"/>
              </a:ext>
            </a:extLst>
          </p:cNvPr>
          <p:cNvSpPr>
            <a:spLocks noGrp="1" noChangeArrowheads="1"/>
          </p:cNvSpPr>
          <p:nvPr>
            <p:ph type="title"/>
          </p:nvPr>
        </p:nvSpPr>
        <p:spPr/>
        <p:txBody>
          <a:bodyPr/>
          <a:lstStyle/>
          <a:p>
            <a:pPr eaLnBrk="1" hangingPunct="1">
              <a:lnSpc>
                <a:spcPct val="85000"/>
              </a:lnSpc>
              <a:defRPr/>
            </a:pPr>
            <a:r>
              <a:rPr lang="en-US" dirty="0"/>
              <a:t>Violence Against EMRs </a:t>
            </a:r>
            <a:r>
              <a:rPr lang="en-US" sz="2800" b="0" dirty="0"/>
              <a:t>(2 of 3)</a:t>
            </a:r>
          </a:p>
        </p:txBody>
      </p:sp>
      <p:sp>
        <p:nvSpPr>
          <p:cNvPr id="78851" name="Rectangle 3">
            <a:extLst>
              <a:ext uri="{FF2B5EF4-FFF2-40B4-BE49-F238E27FC236}">
                <a16:creationId xmlns:a16="http://schemas.microsoft.com/office/drawing/2014/main" id="{F7EB6210-79E7-1B40-8CEC-80AA19E05EA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Be alert when you respond to a call that has an increased chance for violence, including following situations:</a:t>
            </a:r>
          </a:p>
          <a:p>
            <a:pPr lvl="1" eaLnBrk="1" hangingPunct="1">
              <a:spcBef>
                <a:spcPct val="35000"/>
              </a:spcBef>
            </a:pPr>
            <a:r>
              <a:rPr lang="en-US" altLang="en-US" dirty="0"/>
              <a:t>Crime scenes.</a:t>
            </a:r>
          </a:p>
          <a:p>
            <a:pPr lvl="1" eaLnBrk="1" hangingPunct="1">
              <a:spcBef>
                <a:spcPct val="35000"/>
              </a:spcBef>
            </a:pPr>
            <a:r>
              <a:rPr lang="en-US" altLang="en-US" dirty="0"/>
              <a:t>Incidents involving gangs.</a:t>
            </a:r>
          </a:p>
          <a:p>
            <a:pPr lvl="1" eaLnBrk="1" hangingPunct="1">
              <a:spcBef>
                <a:spcPct val="35000"/>
              </a:spcBef>
            </a:pPr>
            <a:r>
              <a:rPr lang="en-US" altLang="en-US" dirty="0"/>
              <a:t>Large gatherings of hostile or potentially hostile people.</a:t>
            </a:r>
          </a:p>
          <a:p>
            <a:pPr lvl="1" eaLnBrk="1" hangingPunct="1">
              <a:spcBef>
                <a:spcPct val="35000"/>
              </a:spcBef>
            </a:pPr>
            <a:r>
              <a:rPr lang="en-US" altLang="en-US" dirty="0"/>
              <a:t>Domestic disputes.</a:t>
            </a:r>
          </a:p>
        </p:txBody>
      </p:sp>
    </p:spTree>
    <p:extLst>
      <p:ext uri="{BB962C8B-B14F-4D97-AF65-F5344CB8AC3E}">
        <p14:creationId xmlns:p14="http://schemas.microsoft.com/office/powerpoint/2010/main" val="405431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0" name="Rectangle 2">
            <a:extLst>
              <a:ext uri="{FF2B5EF4-FFF2-40B4-BE49-F238E27FC236}">
                <a16:creationId xmlns:a16="http://schemas.microsoft.com/office/drawing/2014/main" id="{9AB6CEE7-1FFE-654B-94E5-2C93CFC74BE5}"/>
              </a:ext>
            </a:extLst>
          </p:cNvPr>
          <p:cNvSpPr>
            <a:spLocks noGrp="1" noChangeArrowheads="1"/>
          </p:cNvSpPr>
          <p:nvPr>
            <p:ph type="title"/>
          </p:nvPr>
        </p:nvSpPr>
        <p:spPr/>
        <p:txBody>
          <a:bodyPr/>
          <a:lstStyle/>
          <a:p>
            <a:pPr eaLnBrk="1" hangingPunct="1">
              <a:lnSpc>
                <a:spcPct val="85000"/>
              </a:lnSpc>
              <a:defRPr/>
            </a:pPr>
            <a:r>
              <a:rPr lang="en-US" dirty="0"/>
              <a:t>Violence Against EMRs </a:t>
            </a:r>
            <a:r>
              <a:rPr lang="en-US" sz="2800" b="0" dirty="0"/>
              <a:t>(3 of 3)</a:t>
            </a:r>
          </a:p>
        </p:txBody>
      </p:sp>
      <p:sp>
        <p:nvSpPr>
          <p:cNvPr id="80899" name="Rectangle 3">
            <a:extLst>
              <a:ext uri="{FF2B5EF4-FFF2-40B4-BE49-F238E27FC236}">
                <a16:creationId xmlns:a16="http://schemas.microsoft.com/office/drawing/2014/main" id="{BA375049-0146-D542-870A-86F47F72ECE3}"/>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Ways to minimize risk of injury:</a:t>
            </a:r>
          </a:p>
          <a:p>
            <a:pPr lvl="1" eaLnBrk="1" hangingPunct="1">
              <a:spcBef>
                <a:spcPct val="35000"/>
              </a:spcBef>
            </a:pPr>
            <a:r>
              <a:rPr lang="en-US" altLang="en-US" dirty="0"/>
              <a:t>Take steps to keep yourself and other rescuers safe at these scenes.</a:t>
            </a:r>
          </a:p>
          <a:p>
            <a:pPr lvl="1" eaLnBrk="1" hangingPunct="1">
              <a:spcBef>
                <a:spcPct val="35000"/>
              </a:spcBef>
            </a:pPr>
            <a:r>
              <a:rPr lang="en-US" altLang="en-US" dirty="0"/>
              <a:t>Always keep an escape route open between you and patient.</a:t>
            </a:r>
          </a:p>
          <a:p>
            <a:pPr eaLnBrk="1" hangingPunct="1">
              <a:spcBef>
                <a:spcPct val="35000"/>
              </a:spcBef>
            </a:pPr>
            <a:r>
              <a:rPr lang="en-US" altLang="en-US" dirty="0"/>
              <a:t>Prevention:</a:t>
            </a:r>
          </a:p>
          <a:p>
            <a:pPr lvl="1" eaLnBrk="1" hangingPunct="1">
              <a:spcBef>
                <a:spcPct val="35000"/>
              </a:spcBef>
            </a:pPr>
            <a:r>
              <a:rPr lang="en-US" altLang="en-US" dirty="0"/>
              <a:t>Best way to avoid violence.</a:t>
            </a:r>
          </a:p>
          <a:p>
            <a:pPr lvl="1" eaLnBrk="1" hangingPunct="1">
              <a:spcBef>
                <a:spcPct val="35000"/>
              </a:spcBef>
            </a:pPr>
            <a:r>
              <a:rPr lang="en-US" altLang="en-US" dirty="0"/>
              <a:t>Make sure you have an escape route in mind.</a:t>
            </a:r>
          </a:p>
        </p:txBody>
      </p:sp>
    </p:spTree>
    <p:extLst>
      <p:ext uri="{BB962C8B-B14F-4D97-AF65-F5344CB8AC3E}">
        <p14:creationId xmlns:p14="http://schemas.microsoft.com/office/powerpoint/2010/main" val="287007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4" name="Rectangle 2">
            <a:extLst>
              <a:ext uri="{FF2B5EF4-FFF2-40B4-BE49-F238E27FC236}">
                <a16:creationId xmlns:a16="http://schemas.microsoft.com/office/drawing/2014/main" id="{CB2CDE05-A667-E14D-94A0-F3BCD47B7BFA}"/>
              </a:ext>
            </a:extLst>
          </p:cNvPr>
          <p:cNvSpPr>
            <a:spLocks noGrp="1" noChangeArrowheads="1"/>
          </p:cNvSpPr>
          <p:nvPr>
            <p:ph type="title"/>
          </p:nvPr>
        </p:nvSpPr>
        <p:spPr/>
        <p:txBody>
          <a:bodyPr/>
          <a:lstStyle/>
          <a:p>
            <a:pPr eaLnBrk="1" hangingPunct="1">
              <a:lnSpc>
                <a:spcPct val="85000"/>
              </a:lnSpc>
              <a:defRPr/>
            </a:pPr>
            <a:r>
              <a:rPr lang="en-US" dirty="0"/>
              <a:t>Armed Patient</a:t>
            </a:r>
          </a:p>
        </p:txBody>
      </p:sp>
      <p:sp>
        <p:nvSpPr>
          <p:cNvPr id="82947" name="Rectangle 3">
            <a:extLst>
              <a:ext uri="{FF2B5EF4-FFF2-40B4-BE49-F238E27FC236}">
                <a16:creationId xmlns:a16="http://schemas.microsoft.com/office/drawing/2014/main" id="{DE643CAB-9F4C-B749-AEB3-83BF29E648FB}"/>
              </a:ext>
            </a:extLst>
          </p:cNvPr>
          <p:cNvSpPr>
            <a:spLocks noGrp="1" noChangeArrowheads="1"/>
          </p:cNvSpPr>
          <p:nvPr>
            <p:ph type="body" idx="1"/>
          </p:nvPr>
        </p:nvSpPr>
        <p:spPr>
          <a:xfrm>
            <a:off x="925830" y="1490870"/>
            <a:ext cx="8649244" cy="4699047"/>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It is not your role to handle an armed patient unless you are a law enforcement officer.</a:t>
            </a:r>
          </a:p>
          <a:p>
            <a:pPr eaLnBrk="1" hangingPunct="1">
              <a:spcBef>
                <a:spcPct val="35000"/>
              </a:spcBef>
            </a:pPr>
            <a:r>
              <a:rPr lang="en-US" altLang="en-US" dirty="0"/>
              <a:t>Be alert and summon assistance.</a:t>
            </a:r>
          </a:p>
          <a:p>
            <a:pPr eaLnBrk="1" hangingPunct="1">
              <a:spcBef>
                <a:spcPct val="35000"/>
              </a:spcBef>
            </a:pPr>
            <a:r>
              <a:rPr lang="en-US" altLang="en-US" dirty="0"/>
              <a:t>Stay in your vehicle if you must wait for a law enforcement officer.</a:t>
            </a:r>
          </a:p>
          <a:p>
            <a:pPr eaLnBrk="1" hangingPunct="1">
              <a:spcBef>
                <a:spcPct val="35000"/>
              </a:spcBef>
            </a:pPr>
            <a:r>
              <a:rPr lang="en-US" altLang="en-US" dirty="0"/>
              <a:t>If you are confronted by an armed person, immediately attempt to withdraw.</a:t>
            </a:r>
          </a:p>
        </p:txBody>
      </p:sp>
    </p:spTree>
    <p:extLst>
      <p:ext uri="{BB962C8B-B14F-4D97-AF65-F5344CB8AC3E}">
        <p14:creationId xmlns:p14="http://schemas.microsoft.com/office/powerpoint/2010/main" val="2115286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Rectangle 2">
            <a:extLst>
              <a:ext uri="{FF2B5EF4-FFF2-40B4-BE49-F238E27FC236}">
                <a16:creationId xmlns:a16="http://schemas.microsoft.com/office/drawing/2014/main" id="{3CF43188-929C-1844-BB1D-C212A0AD68C7}"/>
              </a:ext>
            </a:extLst>
          </p:cNvPr>
          <p:cNvSpPr>
            <a:spLocks noGrp="1" noChangeArrowheads="1"/>
          </p:cNvSpPr>
          <p:nvPr>
            <p:ph type="title"/>
          </p:nvPr>
        </p:nvSpPr>
        <p:spPr/>
        <p:txBody>
          <a:bodyPr/>
          <a:lstStyle/>
          <a:p>
            <a:pPr eaLnBrk="1" hangingPunct="1">
              <a:lnSpc>
                <a:spcPct val="85000"/>
              </a:lnSpc>
              <a:defRPr/>
            </a:pPr>
            <a:r>
              <a:rPr lang="en-US" dirty="0"/>
              <a:t>Medical and Legal Considerations </a:t>
            </a:r>
            <a:r>
              <a:rPr lang="en-US" sz="2800" b="0" dirty="0"/>
              <a:t>(1 of 3)</a:t>
            </a:r>
          </a:p>
        </p:txBody>
      </p:sp>
      <p:sp>
        <p:nvSpPr>
          <p:cNvPr id="84995" name="Rectangle 3">
            <a:extLst>
              <a:ext uri="{FF2B5EF4-FFF2-40B4-BE49-F238E27FC236}">
                <a16:creationId xmlns:a16="http://schemas.microsoft.com/office/drawing/2014/main" id="{8F9B3A6C-BF80-4646-9C33-6791DD41671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If an emotionally disturbed patient agrees to be treated, few legal issues should arise.</a:t>
            </a:r>
          </a:p>
          <a:p>
            <a:pPr eaLnBrk="1" hangingPunct="1">
              <a:spcBef>
                <a:spcPct val="35000"/>
              </a:spcBef>
            </a:pPr>
            <a:r>
              <a:rPr lang="en-US" altLang="en-US" dirty="0"/>
              <a:t>If a patient who appears to be disturbed refuses treatment, you may have to provide care against patient’s will.</a:t>
            </a:r>
          </a:p>
          <a:p>
            <a:pPr lvl="1" eaLnBrk="1" hangingPunct="1">
              <a:spcBef>
                <a:spcPct val="35000"/>
              </a:spcBef>
            </a:pPr>
            <a:r>
              <a:rPr lang="en-US" altLang="en-US" dirty="0"/>
              <a:t>You must have a reasonable belief that patient would harm self or others.</a:t>
            </a:r>
          </a:p>
        </p:txBody>
      </p:sp>
    </p:spTree>
    <p:extLst>
      <p:ext uri="{BB962C8B-B14F-4D97-AF65-F5344CB8AC3E}">
        <p14:creationId xmlns:p14="http://schemas.microsoft.com/office/powerpoint/2010/main" val="1967696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Rectangle 2">
            <a:extLst>
              <a:ext uri="{FF2B5EF4-FFF2-40B4-BE49-F238E27FC236}">
                <a16:creationId xmlns:a16="http://schemas.microsoft.com/office/drawing/2014/main" id="{CF4798F0-ECA2-434D-A200-8BA7845BA23A}"/>
              </a:ext>
            </a:extLst>
          </p:cNvPr>
          <p:cNvSpPr>
            <a:spLocks noGrp="1" noChangeArrowheads="1"/>
          </p:cNvSpPr>
          <p:nvPr>
            <p:ph type="title"/>
          </p:nvPr>
        </p:nvSpPr>
        <p:spPr/>
        <p:txBody>
          <a:bodyPr/>
          <a:lstStyle/>
          <a:p>
            <a:pPr eaLnBrk="1" hangingPunct="1">
              <a:lnSpc>
                <a:spcPct val="85000"/>
              </a:lnSpc>
              <a:defRPr/>
            </a:pPr>
            <a:r>
              <a:rPr lang="en-US" dirty="0"/>
              <a:t>Medical and Legal Considerations </a:t>
            </a:r>
            <a:r>
              <a:rPr lang="en-US" sz="2800" b="0" dirty="0"/>
              <a:t>(2 of 3)</a:t>
            </a:r>
          </a:p>
        </p:txBody>
      </p:sp>
      <p:sp>
        <p:nvSpPr>
          <p:cNvPr id="87043" name="Rectangle 3">
            <a:extLst>
              <a:ext uri="{FF2B5EF4-FFF2-40B4-BE49-F238E27FC236}">
                <a16:creationId xmlns:a16="http://schemas.microsoft.com/office/drawing/2014/main" id="{CD9978E4-5E1A-BC4E-B8E5-53FE2D72F3C8}"/>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If you are required to restrain a patient, consider these factors:</a:t>
            </a:r>
          </a:p>
          <a:p>
            <a:pPr lvl="1" eaLnBrk="1" hangingPunct="1">
              <a:spcBef>
                <a:spcPct val="35000"/>
              </a:spcBef>
            </a:pPr>
            <a:r>
              <a:rPr lang="en-US" altLang="en-US" dirty="0"/>
              <a:t>Patient’s size and apparent strength.</a:t>
            </a:r>
          </a:p>
          <a:p>
            <a:pPr lvl="1" eaLnBrk="1" hangingPunct="1">
              <a:spcBef>
                <a:spcPct val="35000"/>
              </a:spcBef>
            </a:pPr>
            <a:r>
              <a:rPr lang="en-US" altLang="en-US" dirty="0"/>
              <a:t>Patient’s gender.</a:t>
            </a:r>
            <a:endParaRPr lang="en-US" altLang="en-US" u="sng" dirty="0"/>
          </a:p>
          <a:p>
            <a:pPr lvl="1" eaLnBrk="1" hangingPunct="1">
              <a:spcBef>
                <a:spcPct val="35000"/>
              </a:spcBef>
            </a:pPr>
            <a:r>
              <a:rPr lang="en-US" altLang="en-US" dirty="0"/>
              <a:t>Type of abnormal behavior.</a:t>
            </a:r>
          </a:p>
          <a:p>
            <a:pPr lvl="1" eaLnBrk="1" hangingPunct="1">
              <a:spcBef>
                <a:spcPct val="35000"/>
              </a:spcBef>
            </a:pPr>
            <a:r>
              <a:rPr lang="en-US" altLang="en-US" dirty="0"/>
              <a:t>Patient’s mental state.</a:t>
            </a:r>
            <a:endParaRPr lang="en-US" altLang="en-US" u="sng" dirty="0"/>
          </a:p>
          <a:p>
            <a:pPr lvl="1" eaLnBrk="1" hangingPunct="1">
              <a:spcBef>
                <a:spcPct val="35000"/>
              </a:spcBef>
            </a:pPr>
            <a:r>
              <a:rPr lang="en-US" altLang="en-US" dirty="0"/>
              <a:t>Method of restraint.</a:t>
            </a:r>
          </a:p>
        </p:txBody>
      </p:sp>
    </p:spTree>
    <p:extLst>
      <p:ext uri="{BB962C8B-B14F-4D97-AF65-F5344CB8AC3E}">
        <p14:creationId xmlns:p14="http://schemas.microsoft.com/office/powerpoint/2010/main" val="1639661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2">
            <a:extLst>
              <a:ext uri="{FF2B5EF4-FFF2-40B4-BE49-F238E27FC236}">
                <a16:creationId xmlns:a16="http://schemas.microsoft.com/office/drawing/2014/main" id="{E06A2B96-F8DC-1F47-959A-3F8FDDC47DB5}"/>
              </a:ext>
            </a:extLst>
          </p:cNvPr>
          <p:cNvSpPr>
            <a:spLocks noGrp="1" noChangeArrowheads="1"/>
          </p:cNvSpPr>
          <p:nvPr>
            <p:ph type="title"/>
          </p:nvPr>
        </p:nvSpPr>
        <p:spPr/>
        <p:txBody>
          <a:bodyPr/>
          <a:lstStyle/>
          <a:p>
            <a:pPr eaLnBrk="1" hangingPunct="1">
              <a:lnSpc>
                <a:spcPct val="85000"/>
              </a:lnSpc>
              <a:defRPr/>
            </a:pPr>
            <a:r>
              <a:rPr lang="en-US" dirty="0"/>
              <a:t>Medical and Legal Considerations </a:t>
            </a:r>
            <a:r>
              <a:rPr lang="en-US" sz="2800" b="0" dirty="0"/>
              <a:t>(3 of 3)</a:t>
            </a:r>
          </a:p>
        </p:txBody>
      </p:sp>
      <p:sp>
        <p:nvSpPr>
          <p:cNvPr id="89091" name="Rectangle 3">
            <a:extLst>
              <a:ext uri="{FF2B5EF4-FFF2-40B4-BE49-F238E27FC236}">
                <a16:creationId xmlns:a16="http://schemas.microsoft.com/office/drawing/2014/main" id="{11F58875-B389-4B4C-BB63-817AD8F094D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 may use reasonable force to defend yourself against an attack.</a:t>
            </a:r>
          </a:p>
          <a:p>
            <a:pPr eaLnBrk="1" hangingPunct="1">
              <a:spcBef>
                <a:spcPct val="35000"/>
              </a:spcBef>
            </a:pPr>
            <a:r>
              <a:rPr lang="en-US" altLang="en-US" dirty="0"/>
              <a:t>Seek assistance from law enforcement officials or from your medical director.</a:t>
            </a:r>
          </a:p>
          <a:p>
            <a:pPr eaLnBrk="1" hangingPunct="1">
              <a:spcBef>
                <a:spcPct val="35000"/>
              </a:spcBef>
            </a:pPr>
            <a:r>
              <a:rPr lang="en-US" altLang="en-US" dirty="0"/>
              <a:t>Document conditions present.</a:t>
            </a:r>
          </a:p>
          <a:p>
            <a:pPr eaLnBrk="1" hangingPunct="1">
              <a:spcBef>
                <a:spcPct val="35000"/>
              </a:spcBef>
            </a:pPr>
            <a:r>
              <a:rPr lang="en-US" altLang="en-US" dirty="0"/>
              <a:t>Whenever possible, a caregiver of same sex should take primary responsibility for care of patient.</a:t>
            </a:r>
          </a:p>
        </p:txBody>
      </p:sp>
    </p:spTree>
    <p:extLst>
      <p:ext uri="{BB962C8B-B14F-4D97-AF65-F5344CB8AC3E}">
        <p14:creationId xmlns:p14="http://schemas.microsoft.com/office/powerpoint/2010/main" val="1889810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Rectangle 2">
            <a:extLst>
              <a:ext uri="{FF2B5EF4-FFF2-40B4-BE49-F238E27FC236}">
                <a16:creationId xmlns:a16="http://schemas.microsoft.com/office/drawing/2014/main" id="{46F68432-E255-C44C-ABCC-9C392F022A88}"/>
              </a:ext>
            </a:extLst>
          </p:cNvPr>
          <p:cNvSpPr>
            <a:spLocks noGrp="1" noChangeArrowheads="1"/>
          </p:cNvSpPr>
          <p:nvPr>
            <p:ph type="title"/>
          </p:nvPr>
        </p:nvSpPr>
        <p:spPr/>
        <p:txBody>
          <a:bodyPr/>
          <a:lstStyle/>
          <a:p>
            <a:pPr eaLnBrk="1" hangingPunct="1">
              <a:lnSpc>
                <a:spcPct val="85000"/>
              </a:lnSpc>
              <a:defRPr/>
            </a:pPr>
            <a:r>
              <a:rPr lang="en-US" dirty="0"/>
              <a:t>Attempted Suicide </a:t>
            </a:r>
            <a:r>
              <a:rPr lang="en-US" sz="2800" b="0" dirty="0"/>
              <a:t>(1 of 2)</a:t>
            </a:r>
          </a:p>
        </p:txBody>
      </p:sp>
      <p:sp>
        <p:nvSpPr>
          <p:cNvPr id="91139" name="Rectangle 3">
            <a:extLst>
              <a:ext uri="{FF2B5EF4-FFF2-40B4-BE49-F238E27FC236}">
                <a16:creationId xmlns:a16="http://schemas.microsoft.com/office/drawing/2014/main" id="{33BBEF12-1571-1F40-B664-18B7572EE97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Many patients who fail at their first attempt will try to commit suicide again.</a:t>
            </a:r>
          </a:p>
          <a:p>
            <a:pPr eaLnBrk="1" hangingPunct="1">
              <a:spcBef>
                <a:spcPct val="35000"/>
              </a:spcBef>
            </a:pPr>
            <a:r>
              <a:rPr lang="en-US" altLang="en-US" dirty="0"/>
              <a:t>Underlying psychiatric disease is usually treatable.</a:t>
            </a:r>
          </a:p>
          <a:p>
            <a:pPr>
              <a:spcBef>
                <a:spcPct val="35000"/>
              </a:spcBef>
            </a:pPr>
            <a:r>
              <a:rPr lang="en-US" altLang="en-US" dirty="0"/>
              <a:t>Review the risk factors that make it more likely that someone will consider or attempt suicide (Table 12-1).</a:t>
            </a:r>
          </a:p>
          <a:p>
            <a:pPr eaLnBrk="1" hangingPunct="1">
              <a:spcBef>
                <a:spcPct val="35000"/>
              </a:spcBef>
            </a:pPr>
            <a:r>
              <a:rPr lang="en-US" altLang="en-US" dirty="0"/>
              <a:t>Management:</a:t>
            </a:r>
          </a:p>
          <a:p>
            <a:pPr lvl="1" eaLnBrk="1" hangingPunct="1">
              <a:spcBef>
                <a:spcPct val="35000"/>
              </a:spcBef>
            </a:pPr>
            <a:r>
              <a:rPr lang="en-US" altLang="en-US" dirty="0"/>
              <a:t>Protect yourself and patient from further harm. </a:t>
            </a:r>
          </a:p>
          <a:p>
            <a:pPr lvl="1" eaLnBrk="1" hangingPunct="1">
              <a:spcBef>
                <a:spcPct val="35000"/>
              </a:spcBef>
            </a:pPr>
            <a:r>
              <a:rPr lang="en-US" altLang="en-US" dirty="0"/>
              <a:t>Obtain a complete history of incident.</a:t>
            </a:r>
          </a:p>
          <a:p>
            <a:pPr lvl="1" eaLnBrk="1" hangingPunct="1">
              <a:spcBef>
                <a:spcPct val="35000"/>
              </a:spcBef>
            </a:pPr>
            <a:r>
              <a:rPr lang="en-US" altLang="en-US" dirty="0"/>
              <a:t>Determine whether patient still has a weapon or drugs on him or her.</a:t>
            </a:r>
          </a:p>
        </p:txBody>
      </p:sp>
    </p:spTree>
    <p:extLst>
      <p:ext uri="{BB962C8B-B14F-4D97-AF65-F5344CB8AC3E}">
        <p14:creationId xmlns:p14="http://schemas.microsoft.com/office/powerpoint/2010/main" val="2454768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a:extLst>
              <a:ext uri="{FF2B5EF4-FFF2-40B4-BE49-F238E27FC236}">
                <a16:creationId xmlns:a16="http://schemas.microsoft.com/office/drawing/2014/main" id="{FE4F2E77-5C0D-CA48-BA50-72DD02DAE8D3}"/>
              </a:ext>
            </a:extLst>
          </p:cNvPr>
          <p:cNvSpPr>
            <a:spLocks noGrp="1" noChangeArrowheads="1"/>
          </p:cNvSpPr>
          <p:nvPr>
            <p:ph type="title"/>
          </p:nvPr>
        </p:nvSpPr>
        <p:spPr/>
        <p:txBody>
          <a:bodyPr/>
          <a:lstStyle/>
          <a:p>
            <a:pPr eaLnBrk="1" hangingPunct="1">
              <a:lnSpc>
                <a:spcPct val="85000"/>
              </a:lnSpc>
              <a:defRPr/>
            </a:pPr>
            <a:r>
              <a:rPr lang="en-US" dirty="0"/>
              <a:t>Attempted Suicide </a:t>
            </a:r>
            <a:r>
              <a:rPr lang="en-US" sz="2800" b="0" dirty="0"/>
              <a:t>(2 of 2)</a:t>
            </a:r>
          </a:p>
        </p:txBody>
      </p:sp>
      <p:sp>
        <p:nvSpPr>
          <p:cNvPr id="93187" name="Rectangle 3">
            <a:extLst>
              <a:ext uri="{FF2B5EF4-FFF2-40B4-BE49-F238E27FC236}">
                <a16:creationId xmlns:a16="http://schemas.microsoft.com/office/drawing/2014/main" id="{DD2A0AEB-4B08-2942-A7C2-ED7E4BC52A7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Management (cont'd):</a:t>
            </a:r>
          </a:p>
          <a:p>
            <a:pPr lvl="1" eaLnBrk="1" hangingPunct="1">
              <a:spcBef>
                <a:spcPct val="35000"/>
              </a:spcBef>
            </a:pPr>
            <a:r>
              <a:rPr lang="en-US" altLang="en-US" dirty="0"/>
              <a:t>Support patient’s ABCs.</a:t>
            </a:r>
          </a:p>
          <a:p>
            <a:pPr lvl="1" eaLnBrk="1" hangingPunct="1">
              <a:spcBef>
                <a:spcPct val="35000"/>
              </a:spcBef>
            </a:pPr>
            <a:r>
              <a:rPr lang="en-US" altLang="en-US" dirty="0"/>
              <a:t>Dress any open wounds.</a:t>
            </a:r>
          </a:p>
          <a:p>
            <a:pPr lvl="1" eaLnBrk="1" hangingPunct="1">
              <a:spcBef>
                <a:spcPct val="35000"/>
              </a:spcBef>
            </a:pPr>
            <a:r>
              <a:rPr lang="en-US" altLang="en-US" dirty="0"/>
              <a:t>Treat patient for spinal injuries.</a:t>
            </a:r>
          </a:p>
          <a:p>
            <a:pPr lvl="1" eaLnBrk="1" hangingPunct="1">
              <a:spcBef>
                <a:spcPct val="35000"/>
              </a:spcBef>
            </a:pPr>
            <a:r>
              <a:rPr lang="en-US" altLang="en-US" dirty="0"/>
              <a:t>Do not judge patient.</a:t>
            </a:r>
          </a:p>
          <a:p>
            <a:pPr lvl="1" eaLnBrk="1" hangingPunct="1">
              <a:spcBef>
                <a:spcPct val="35000"/>
              </a:spcBef>
            </a:pPr>
            <a:r>
              <a:rPr lang="en-US" altLang="en-US" dirty="0"/>
              <a:t>Treat patient for injuries or conditions you discover.</a:t>
            </a:r>
          </a:p>
          <a:p>
            <a:pPr lvl="1" eaLnBrk="1" hangingPunct="1">
              <a:spcBef>
                <a:spcPct val="35000"/>
              </a:spcBef>
            </a:pPr>
            <a:r>
              <a:rPr lang="en-US" altLang="en-US" dirty="0"/>
              <a:t>Provide emotional support.</a:t>
            </a:r>
          </a:p>
        </p:txBody>
      </p:sp>
    </p:spTree>
    <p:extLst>
      <p:ext uri="{BB962C8B-B14F-4D97-AF65-F5344CB8AC3E}">
        <p14:creationId xmlns:p14="http://schemas.microsoft.com/office/powerpoint/2010/main" val="3037386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Rectangle 2">
            <a:extLst>
              <a:ext uri="{FF2B5EF4-FFF2-40B4-BE49-F238E27FC236}">
                <a16:creationId xmlns:a16="http://schemas.microsoft.com/office/drawing/2014/main" id="{927F1450-FC73-3645-9E24-1EB4B532696E}"/>
              </a:ext>
            </a:extLst>
          </p:cNvPr>
          <p:cNvSpPr>
            <a:spLocks noGrp="1" noChangeArrowheads="1"/>
          </p:cNvSpPr>
          <p:nvPr>
            <p:ph type="title"/>
          </p:nvPr>
        </p:nvSpPr>
        <p:spPr/>
        <p:txBody>
          <a:bodyPr/>
          <a:lstStyle/>
          <a:p>
            <a:pPr eaLnBrk="1" hangingPunct="1">
              <a:lnSpc>
                <a:spcPct val="85000"/>
              </a:lnSpc>
              <a:defRPr/>
            </a:pPr>
            <a:r>
              <a:rPr lang="en-US" dirty="0"/>
              <a:t>Posttraumatic Stress Disorder </a:t>
            </a:r>
            <a:r>
              <a:rPr lang="en-US" sz="2800" b="0" dirty="0"/>
              <a:t>(1 of 2)</a:t>
            </a:r>
          </a:p>
        </p:txBody>
      </p:sp>
      <p:sp>
        <p:nvSpPr>
          <p:cNvPr id="95235" name="Rectangle 3">
            <a:extLst>
              <a:ext uri="{FF2B5EF4-FFF2-40B4-BE49-F238E27FC236}">
                <a16:creationId xmlns:a16="http://schemas.microsoft.com/office/drawing/2014/main" id="{8DC07918-8DD9-384E-A302-D2FECE77F47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 mental health or behavioral condition triggered by experiencing or witnessing a terrifying event. </a:t>
            </a:r>
          </a:p>
          <a:p>
            <a:pPr eaLnBrk="1" hangingPunct="1">
              <a:spcBef>
                <a:spcPct val="35000"/>
              </a:spcBef>
            </a:pPr>
            <a:r>
              <a:rPr lang="en-US" altLang="en-US" dirty="0"/>
              <a:t>Symptoms include:</a:t>
            </a:r>
          </a:p>
          <a:p>
            <a:pPr lvl="1" eaLnBrk="1" hangingPunct="1">
              <a:spcBef>
                <a:spcPct val="35000"/>
              </a:spcBef>
            </a:pPr>
            <a:r>
              <a:rPr lang="en-US" altLang="en-US" dirty="0"/>
              <a:t>Intrusive memories of traumatic event.</a:t>
            </a:r>
          </a:p>
          <a:p>
            <a:pPr lvl="1" eaLnBrk="1" hangingPunct="1">
              <a:spcBef>
                <a:spcPct val="35000"/>
              </a:spcBef>
            </a:pPr>
            <a:r>
              <a:rPr lang="en-US" altLang="en-US" dirty="0"/>
              <a:t>Avoidance of places, activities, or people that remind them of traumatic event.</a:t>
            </a:r>
          </a:p>
          <a:p>
            <a:pPr lvl="1" eaLnBrk="1" hangingPunct="1">
              <a:spcBef>
                <a:spcPct val="35000"/>
              </a:spcBef>
            </a:pPr>
            <a:r>
              <a:rPr lang="en-US" altLang="en-US" dirty="0"/>
              <a:t>Negative feelings.</a:t>
            </a:r>
          </a:p>
          <a:p>
            <a:pPr lvl="1" eaLnBrk="1" hangingPunct="1">
              <a:spcBef>
                <a:spcPct val="35000"/>
              </a:spcBef>
            </a:pPr>
            <a:r>
              <a:rPr lang="en-US" altLang="en-US" dirty="0"/>
              <a:t>Emotional reactions.</a:t>
            </a:r>
          </a:p>
        </p:txBody>
      </p:sp>
    </p:spTree>
    <p:extLst>
      <p:ext uri="{BB962C8B-B14F-4D97-AF65-F5344CB8AC3E}">
        <p14:creationId xmlns:p14="http://schemas.microsoft.com/office/powerpoint/2010/main" val="71187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2" name="Rectangle 2">
            <a:extLst>
              <a:ext uri="{FF2B5EF4-FFF2-40B4-BE49-F238E27FC236}">
                <a16:creationId xmlns:a16="http://schemas.microsoft.com/office/drawing/2014/main" id="{6DF716E1-5F0A-5340-AA52-BDBDA9C97645}"/>
              </a:ext>
            </a:extLst>
          </p:cNvPr>
          <p:cNvSpPr>
            <a:spLocks noGrp="1" noChangeArrowheads="1"/>
          </p:cNvSpPr>
          <p:nvPr>
            <p:ph type="title"/>
          </p:nvPr>
        </p:nvSpPr>
        <p:spPr/>
        <p:txBody>
          <a:bodyPr/>
          <a:lstStyle/>
          <a:p>
            <a:pPr eaLnBrk="1" hangingPunct="1">
              <a:lnSpc>
                <a:spcPct val="85000"/>
              </a:lnSpc>
              <a:defRPr/>
            </a:pPr>
            <a:r>
              <a:rPr lang="en-US" dirty="0"/>
              <a:t>Posttraumatic Stress Disorder </a:t>
            </a:r>
            <a:r>
              <a:rPr lang="en-US" sz="2800" b="0" dirty="0"/>
              <a:t>(2 of 2)</a:t>
            </a:r>
          </a:p>
        </p:txBody>
      </p:sp>
      <p:sp>
        <p:nvSpPr>
          <p:cNvPr id="97283" name="Rectangle 3">
            <a:extLst>
              <a:ext uri="{FF2B5EF4-FFF2-40B4-BE49-F238E27FC236}">
                <a16:creationId xmlns:a16="http://schemas.microsoft.com/office/drawing/2014/main" id="{2D476284-FBC1-AA48-AC3F-4234F2C6B36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 an EMR, your job is to:</a:t>
            </a:r>
          </a:p>
          <a:p>
            <a:pPr lvl="1" eaLnBrk="1" hangingPunct="1">
              <a:spcBef>
                <a:spcPct val="35000"/>
              </a:spcBef>
            </a:pPr>
            <a:r>
              <a:rPr lang="en-US" altLang="en-US" dirty="0"/>
              <a:t>Protect patient from harm.</a:t>
            </a:r>
          </a:p>
          <a:p>
            <a:pPr lvl="1" eaLnBrk="1" hangingPunct="1">
              <a:spcBef>
                <a:spcPct val="35000"/>
              </a:spcBef>
            </a:pPr>
            <a:r>
              <a:rPr lang="en-US" altLang="en-US" dirty="0"/>
              <a:t>Speak with patient in a positive and supportive way.</a:t>
            </a:r>
          </a:p>
          <a:p>
            <a:pPr lvl="1" eaLnBrk="1" hangingPunct="1">
              <a:spcBef>
                <a:spcPct val="35000"/>
              </a:spcBef>
            </a:pPr>
            <a:r>
              <a:rPr lang="en-US" altLang="en-US" dirty="0"/>
              <a:t>Arrange for patient to be transported to an appropriate medical facility.</a:t>
            </a:r>
          </a:p>
        </p:txBody>
      </p:sp>
    </p:spTree>
    <p:extLst>
      <p:ext uri="{BB962C8B-B14F-4D97-AF65-F5344CB8AC3E}">
        <p14:creationId xmlns:p14="http://schemas.microsoft.com/office/powerpoint/2010/main" val="320907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Rectangle 2">
            <a:extLst>
              <a:ext uri="{FF2B5EF4-FFF2-40B4-BE49-F238E27FC236}">
                <a16:creationId xmlns:a16="http://schemas.microsoft.com/office/drawing/2014/main" id="{0758ABFF-EF71-044E-991D-93FCC07199AA}"/>
              </a:ext>
            </a:extLst>
          </p:cNvPr>
          <p:cNvSpPr>
            <a:spLocks noGrp="1" noChangeArrowheads="1"/>
          </p:cNvSpPr>
          <p:nvPr>
            <p:ph type="title"/>
          </p:nvPr>
        </p:nvSpPr>
        <p:spPr/>
        <p:txBody>
          <a:bodyPr/>
          <a:lstStyle/>
          <a:p>
            <a:pPr eaLnBrk="1" hangingPunct="1">
              <a:lnSpc>
                <a:spcPct val="85000"/>
              </a:lnSpc>
              <a:defRPr/>
            </a:pPr>
            <a:r>
              <a:rPr lang="en-US" dirty="0"/>
              <a:t>Sexual Assault </a:t>
            </a:r>
            <a:r>
              <a:rPr lang="en-US" sz="2800" b="0" dirty="0"/>
              <a:t>(1 of 2)</a:t>
            </a:r>
          </a:p>
        </p:txBody>
      </p:sp>
      <p:sp>
        <p:nvSpPr>
          <p:cNvPr id="99331" name="Rectangle 3">
            <a:extLst>
              <a:ext uri="{FF2B5EF4-FFF2-40B4-BE49-F238E27FC236}">
                <a16:creationId xmlns:a16="http://schemas.microsoft.com/office/drawing/2014/main" id="{9C9CCAC2-612C-D34E-82FD-C613221316C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Psychological aspects of treatment are important.</a:t>
            </a:r>
          </a:p>
          <a:p>
            <a:pPr eaLnBrk="1" hangingPunct="1">
              <a:spcBef>
                <a:spcPct val="35000"/>
              </a:spcBef>
            </a:pPr>
            <a:r>
              <a:rPr lang="en-US" altLang="en-US" dirty="0"/>
              <a:t>You may have to delay all but most essential treatment until a responder of same sex as patient arrives.</a:t>
            </a:r>
          </a:p>
          <a:p>
            <a:pPr eaLnBrk="1" hangingPunct="1">
              <a:spcBef>
                <a:spcPct val="35000"/>
              </a:spcBef>
            </a:pPr>
            <a:r>
              <a:rPr lang="en-US" altLang="en-US" dirty="0"/>
              <a:t>Your first priority is medical well-being of patient.</a:t>
            </a:r>
          </a:p>
          <a:p>
            <a:pPr lvl="1" eaLnBrk="1" hangingPunct="1">
              <a:spcBef>
                <a:spcPct val="35000"/>
              </a:spcBef>
            </a:pPr>
            <a:r>
              <a:rPr lang="en-US" altLang="en-US" dirty="0"/>
              <a:t>Treat any injuries person may have.</a:t>
            </a:r>
          </a:p>
        </p:txBody>
      </p:sp>
    </p:spTree>
    <p:extLst>
      <p:ext uri="{BB962C8B-B14F-4D97-AF65-F5344CB8AC3E}">
        <p14:creationId xmlns:p14="http://schemas.microsoft.com/office/powerpoint/2010/main" val="166931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Rectangle 2">
            <a:extLst>
              <a:ext uri="{FF2B5EF4-FFF2-40B4-BE49-F238E27FC236}">
                <a16:creationId xmlns:a16="http://schemas.microsoft.com/office/drawing/2014/main" id="{623BAB7B-D198-464C-B6F2-D7AD5F921032}"/>
              </a:ext>
            </a:extLst>
          </p:cNvPr>
          <p:cNvSpPr>
            <a:spLocks noGrp="1" noChangeArrowheads="1"/>
          </p:cNvSpPr>
          <p:nvPr>
            <p:ph type="title"/>
          </p:nvPr>
        </p:nvSpPr>
        <p:spPr/>
        <p:txBody>
          <a:bodyPr/>
          <a:lstStyle/>
          <a:p>
            <a:pPr eaLnBrk="1" hangingPunct="1">
              <a:lnSpc>
                <a:spcPct val="85000"/>
              </a:lnSpc>
              <a:defRPr/>
            </a:pPr>
            <a:r>
              <a:rPr lang="en-US" dirty="0"/>
              <a:t>Sexual Assault </a:t>
            </a:r>
            <a:r>
              <a:rPr lang="en-US" sz="2800" b="0" dirty="0"/>
              <a:t>(2 of 2)</a:t>
            </a:r>
          </a:p>
        </p:txBody>
      </p:sp>
      <p:sp>
        <p:nvSpPr>
          <p:cNvPr id="101379" name="Rectangle 3">
            <a:extLst>
              <a:ext uri="{FF2B5EF4-FFF2-40B4-BE49-F238E27FC236}">
                <a16:creationId xmlns:a16="http://schemas.microsoft.com/office/drawing/2014/main" id="{274CAF33-CDF3-EE44-867B-E580706E322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Sexual assault is a crime.</a:t>
            </a:r>
          </a:p>
          <a:p>
            <a:pPr lvl="1" eaLnBrk="1" hangingPunct="1">
              <a:spcBef>
                <a:spcPct val="35000"/>
              </a:spcBef>
            </a:pPr>
            <a:r>
              <a:rPr lang="en-US" altLang="en-US" dirty="0"/>
              <a:t>Do not remove clothing except to give medical care.</a:t>
            </a:r>
          </a:p>
          <a:p>
            <a:pPr lvl="1" eaLnBrk="1" hangingPunct="1">
              <a:spcBef>
                <a:spcPct val="35000"/>
              </a:spcBef>
            </a:pPr>
            <a:r>
              <a:rPr lang="en-US" altLang="en-US" dirty="0"/>
              <a:t>Try to convince patient not to bathe or use toilet.</a:t>
            </a:r>
          </a:p>
          <a:p>
            <a:pPr lvl="1" eaLnBrk="1" hangingPunct="1">
              <a:spcBef>
                <a:spcPct val="35000"/>
              </a:spcBef>
            </a:pPr>
            <a:r>
              <a:rPr lang="en-US" altLang="en-US" dirty="0"/>
              <a:t>Keep scene and any evidence as undisturbed and intact as possible.</a:t>
            </a:r>
          </a:p>
          <a:p>
            <a:pPr lvl="1" eaLnBrk="1" hangingPunct="1">
              <a:spcBef>
                <a:spcPct val="35000"/>
              </a:spcBef>
            </a:pPr>
            <a:r>
              <a:rPr lang="en-US" altLang="en-US" dirty="0"/>
              <a:t>Avoid aggressively questioning patient.</a:t>
            </a:r>
          </a:p>
          <a:p>
            <a:pPr lvl="1" eaLnBrk="1" hangingPunct="1">
              <a:spcBef>
                <a:spcPct val="35000"/>
              </a:spcBef>
            </a:pPr>
            <a:r>
              <a:rPr lang="en-US" altLang="en-US" dirty="0"/>
              <a:t>Treat patient with empathy.</a:t>
            </a:r>
          </a:p>
        </p:txBody>
      </p:sp>
    </p:spTree>
    <p:extLst>
      <p:ext uri="{BB962C8B-B14F-4D97-AF65-F5344CB8AC3E}">
        <p14:creationId xmlns:p14="http://schemas.microsoft.com/office/powerpoint/2010/main" val="331666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4" name="Rectangle 2">
            <a:extLst>
              <a:ext uri="{FF2B5EF4-FFF2-40B4-BE49-F238E27FC236}">
                <a16:creationId xmlns:a16="http://schemas.microsoft.com/office/drawing/2014/main" id="{87D3A46C-2606-894F-8275-FDA1D879F7C5}"/>
              </a:ext>
            </a:extLst>
          </p:cNvPr>
          <p:cNvSpPr>
            <a:spLocks noGrp="1" noChangeArrowheads="1"/>
          </p:cNvSpPr>
          <p:nvPr>
            <p:ph type="title"/>
          </p:nvPr>
        </p:nvSpPr>
        <p:spPr/>
        <p:txBody>
          <a:bodyPr/>
          <a:lstStyle/>
          <a:p>
            <a:pPr eaLnBrk="1" hangingPunct="1">
              <a:lnSpc>
                <a:spcPct val="85000"/>
              </a:lnSpc>
              <a:defRPr/>
            </a:pPr>
            <a:r>
              <a:rPr lang="en-US" dirty="0"/>
              <a:t>Death and Dying </a:t>
            </a:r>
            <a:r>
              <a:rPr lang="en-US" sz="2800" b="0" dirty="0"/>
              <a:t>(1 of 2)</a:t>
            </a:r>
          </a:p>
        </p:txBody>
      </p:sp>
      <p:sp>
        <p:nvSpPr>
          <p:cNvPr id="103427" name="Rectangle 3">
            <a:extLst>
              <a:ext uri="{FF2B5EF4-FFF2-40B4-BE49-F238E27FC236}">
                <a16:creationId xmlns:a16="http://schemas.microsoft.com/office/drawing/2014/main" id="{ED23A446-F97D-8A4E-9342-5A21326F960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 will encounter death and dying from natural, accidental, and intentional causes.</a:t>
            </a:r>
          </a:p>
          <a:p>
            <a:pPr eaLnBrk="1" hangingPunct="1">
              <a:spcBef>
                <a:spcPct val="35000"/>
              </a:spcBef>
            </a:pPr>
            <a:r>
              <a:rPr lang="en-US" altLang="en-US" dirty="0"/>
              <a:t>Do whatever you can to meet patient’s medical needs.</a:t>
            </a:r>
          </a:p>
          <a:p>
            <a:pPr eaLnBrk="1" hangingPunct="1">
              <a:spcBef>
                <a:spcPct val="35000"/>
              </a:spcBef>
            </a:pPr>
            <a:r>
              <a:rPr lang="en-US" altLang="en-US" dirty="0"/>
              <a:t>Most people are afraid of dying.</a:t>
            </a:r>
          </a:p>
          <a:p>
            <a:pPr lvl="1" eaLnBrk="1" hangingPunct="1">
              <a:spcBef>
                <a:spcPct val="35000"/>
              </a:spcBef>
            </a:pPr>
            <a:r>
              <a:rPr lang="en-US" altLang="en-US" dirty="0"/>
              <a:t>Work through your personal feelings about death.</a:t>
            </a:r>
          </a:p>
        </p:txBody>
      </p:sp>
    </p:spTree>
    <p:extLst>
      <p:ext uri="{BB962C8B-B14F-4D97-AF65-F5344CB8AC3E}">
        <p14:creationId xmlns:p14="http://schemas.microsoft.com/office/powerpoint/2010/main" val="3462106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a:extLst>
              <a:ext uri="{FF2B5EF4-FFF2-40B4-BE49-F238E27FC236}">
                <a16:creationId xmlns:a16="http://schemas.microsoft.com/office/drawing/2014/main" id="{CF71C7CB-D94C-0548-8ED5-934E57FC4E7E}"/>
              </a:ext>
            </a:extLst>
          </p:cNvPr>
          <p:cNvSpPr>
            <a:spLocks noGrp="1" noChangeArrowheads="1"/>
          </p:cNvSpPr>
          <p:nvPr>
            <p:ph type="title"/>
          </p:nvPr>
        </p:nvSpPr>
        <p:spPr/>
        <p:txBody>
          <a:bodyPr/>
          <a:lstStyle/>
          <a:p>
            <a:pPr eaLnBrk="1" hangingPunct="1">
              <a:lnSpc>
                <a:spcPct val="85000"/>
              </a:lnSpc>
              <a:defRPr/>
            </a:pPr>
            <a:r>
              <a:rPr lang="en-US" dirty="0"/>
              <a:t>Death and Dying </a:t>
            </a:r>
            <a:r>
              <a:rPr lang="en-US" sz="2800" b="0" dirty="0"/>
              <a:t>(2 of 2)</a:t>
            </a:r>
          </a:p>
        </p:txBody>
      </p:sp>
      <p:sp>
        <p:nvSpPr>
          <p:cNvPr id="105475" name="Rectangle 3">
            <a:extLst>
              <a:ext uri="{FF2B5EF4-FFF2-40B4-BE49-F238E27FC236}">
                <a16:creationId xmlns:a16="http://schemas.microsoft.com/office/drawing/2014/main" id="{BB3A960E-7646-E34F-BE65-5E8900F0ADB9}"/>
              </a:ext>
            </a:extLst>
          </p:cNvPr>
          <p:cNvSpPr>
            <a:spLocks noGrp="1" noChangeArrowheads="1"/>
          </p:cNvSpPr>
          <p:nvPr>
            <p:ph type="body" idx="1"/>
          </p:nvPr>
        </p:nvSpPr>
        <p:spPr>
          <a:xfrm>
            <a:off x="5943599" y="1447800"/>
            <a:ext cx="4690997"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Consider psychological needs of patient and his or her family.</a:t>
            </a:r>
          </a:p>
          <a:p>
            <a:pPr lvl="1" eaLnBrk="1" hangingPunct="1">
              <a:lnSpc>
                <a:spcPct val="95000"/>
              </a:lnSpc>
            </a:pPr>
            <a:r>
              <a:rPr lang="en-US" altLang="en-US" dirty="0"/>
              <a:t>Do not be afraid to touch.</a:t>
            </a:r>
          </a:p>
          <a:p>
            <a:pPr lvl="1" eaLnBrk="1" hangingPunct="1">
              <a:lnSpc>
                <a:spcPct val="95000"/>
              </a:lnSpc>
            </a:pPr>
            <a:r>
              <a:rPr lang="en-US" altLang="en-US" dirty="0"/>
              <a:t>Make positive statements, but do not give false hope.</a:t>
            </a:r>
          </a:p>
          <a:p>
            <a:pPr lvl="1" eaLnBrk="1" hangingPunct="1">
              <a:lnSpc>
                <a:spcPct val="95000"/>
              </a:lnSpc>
            </a:pPr>
            <a:r>
              <a:rPr lang="en-US" altLang="en-US" dirty="0"/>
              <a:t>Provide comfort in any way you can.</a:t>
            </a:r>
          </a:p>
        </p:txBody>
      </p:sp>
      <p:sp>
        <p:nvSpPr>
          <p:cNvPr id="5" name="Rectangle 4"/>
          <p:cNvSpPr/>
          <p:nvPr/>
        </p:nvSpPr>
        <p:spPr>
          <a:xfrm>
            <a:off x="1212333" y="4495406"/>
            <a:ext cx="4235967"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12-6 </a:t>
            </a:r>
            <a:r>
              <a:rPr lang="en-US" dirty="0"/>
              <a:t>Do not be afraid to show empathy to patients and family members. </a:t>
            </a:r>
          </a:p>
        </p:txBody>
      </p:sp>
      <p:sp>
        <p:nvSpPr>
          <p:cNvPr id="7" name="Rectangle 6"/>
          <p:cNvSpPr/>
          <p:nvPr/>
        </p:nvSpPr>
        <p:spPr>
          <a:xfrm>
            <a:off x="1225659" y="5128947"/>
            <a:ext cx="2896413"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John Moore/Getty Images News /Getty Images </a:t>
            </a:r>
          </a:p>
        </p:txBody>
      </p:sp>
      <p:pic>
        <p:nvPicPr>
          <p:cNvPr id="5122" name="Picture 2" descr="A photo shows a male emergency responder interacting with a patient, whose one hand and one leg is shown, lying down on a bed. Behind the male responder is a female emergency responder going through some papers on a table. Both emergency responders are wearing protective masks and gloves.&#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2333" y="1593198"/>
            <a:ext cx="4229100" cy="2826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6721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Rectangle 2">
            <a:extLst>
              <a:ext uri="{FF2B5EF4-FFF2-40B4-BE49-F238E27FC236}">
                <a16:creationId xmlns:a16="http://schemas.microsoft.com/office/drawing/2014/main" id="{8A1334FC-7A32-8040-B672-7C1358870BBC}"/>
              </a:ext>
            </a:extLst>
          </p:cNvPr>
          <p:cNvSpPr>
            <a:spLocks noGrp="1" noChangeArrowheads="1"/>
          </p:cNvSpPr>
          <p:nvPr>
            <p:ph type="title"/>
          </p:nvPr>
        </p:nvSpPr>
        <p:spPr/>
        <p:txBody>
          <a:bodyPr/>
          <a:lstStyle/>
          <a:p>
            <a:pPr eaLnBrk="1" hangingPunct="1">
              <a:lnSpc>
                <a:spcPct val="85000"/>
              </a:lnSpc>
              <a:defRPr/>
            </a:pPr>
            <a:r>
              <a:rPr lang="en-US" dirty="0"/>
              <a:t>Coping with Work-Related Stress</a:t>
            </a:r>
            <a:endParaRPr lang="en-US" sz="2800" b="0" dirty="0"/>
          </a:p>
        </p:txBody>
      </p:sp>
      <p:sp>
        <p:nvSpPr>
          <p:cNvPr id="107523" name="Rectangle 3">
            <a:extLst>
              <a:ext uri="{FF2B5EF4-FFF2-40B4-BE49-F238E27FC236}">
                <a16:creationId xmlns:a16="http://schemas.microsoft.com/office/drawing/2014/main" id="{799AFBB6-9623-5346-87A5-10BF2430A28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Providing emergency care is stressful for EMRs.</a:t>
            </a:r>
          </a:p>
          <a:p>
            <a:pPr eaLnBrk="1" hangingPunct="1">
              <a:spcBef>
                <a:spcPct val="35000"/>
              </a:spcBef>
            </a:pPr>
            <a:r>
              <a:rPr lang="en-US" altLang="en-US" dirty="0"/>
              <a:t>If you let stress build up without releasing it in healthy ways, it can begin to have negative effects on you and your performance.</a:t>
            </a:r>
          </a:p>
          <a:p>
            <a:pPr eaLnBrk="1" hangingPunct="1">
              <a:spcBef>
                <a:spcPct val="35000"/>
              </a:spcBef>
            </a:pPr>
            <a:r>
              <a:rPr lang="en-US" altLang="en-US" dirty="0"/>
              <a:t>Signs and symptoms of extreme stress:</a:t>
            </a:r>
          </a:p>
          <a:p>
            <a:pPr lvl="1" eaLnBrk="1" hangingPunct="1">
              <a:spcBef>
                <a:spcPct val="35000"/>
              </a:spcBef>
            </a:pPr>
            <a:r>
              <a:rPr lang="en-US" altLang="en-US" dirty="0"/>
              <a:t>Depression.</a:t>
            </a:r>
          </a:p>
          <a:p>
            <a:pPr lvl="1" eaLnBrk="1" hangingPunct="1">
              <a:spcBef>
                <a:spcPct val="35000"/>
              </a:spcBef>
            </a:pPr>
            <a:r>
              <a:rPr lang="en-US" altLang="en-US" dirty="0"/>
              <a:t>Inability to sleep.</a:t>
            </a:r>
          </a:p>
          <a:p>
            <a:pPr lvl="1" eaLnBrk="1" hangingPunct="1">
              <a:spcBef>
                <a:spcPct val="35000"/>
              </a:spcBef>
            </a:pPr>
            <a:r>
              <a:rPr lang="en-US" altLang="en-US" dirty="0"/>
              <a:t>Weight changes.</a:t>
            </a:r>
          </a:p>
          <a:p>
            <a:pPr lvl="1" eaLnBrk="1" hangingPunct="1">
              <a:spcBef>
                <a:spcPct val="35000"/>
              </a:spcBef>
            </a:pPr>
            <a:r>
              <a:rPr lang="en-US" altLang="en-US" dirty="0"/>
              <a:t>Increased alcohol consumption or drug abuse.</a:t>
            </a:r>
          </a:p>
          <a:p>
            <a:pPr lvl="1" eaLnBrk="1" hangingPunct="1">
              <a:spcBef>
                <a:spcPct val="35000"/>
              </a:spcBef>
            </a:pPr>
            <a:r>
              <a:rPr lang="en-US" altLang="en-US" dirty="0"/>
              <a:t>Inability to get along with family and coworkers.</a:t>
            </a:r>
          </a:p>
          <a:p>
            <a:pPr lvl="1" eaLnBrk="1" hangingPunct="1">
              <a:spcBef>
                <a:spcPct val="35000"/>
              </a:spcBef>
            </a:pPr>
            <a:r>
              <a:rPr lang="en-US" altLang="en-US" dirty="0"/>
              <a:t>Lack of interest in food or sex.</a:t>
            </a:r>
          </a:p>
        </p:txBody>
      </p:sp>
    </p:spTree>
    <p:extLst>
      <p:ext uri="{BB962C8B-B14F-4D97-AF65-F5344CB8AC3E}">
        <p14:creationId xmlns:p14="http://schemas.microsoft.com/office/powerpoint/2010/main" val="537926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Rectangle 2">
            <a:extLst>
              <a:ext uri="{FF2B5EF4-FFF2-40B4-BE49-F238E27FC236}">
                <a16:creationId xmlns:a16="http://schemas.microsoft.com/office/drawing/2014/main" id="{8A1334FC-7A32-8040-B672-7C1358870BBC}"/>
              </a:ext>
            </a:extLst>
          </p:cNvPr>
          <p:cNvSpPr>
            <a:spLocks noGrp="1" noChangeArrowheads="1"/>
          </p:cNvSpPr>
          <p:nvPr>
            <p:ph type="title"/>
          </p:nvPr>
        </p:nvSpPr>
        <p:spPr/>
        <p:txBody>
          <a:bodyPr/>
          <a:lstStyle/>
          <a:p>
            <a:pPr eaLnBrk="1" hangingPunct="1">
              <a:lnSpc>
                <a:spcPct val="85000"/>
              </a:lnSpc>
              <a:defRPr/>
            </a:pPr>
            <a:r>
              <a:rPr lang="en-US" dirty="0"/>
              <a:t>Critical Incident Stress Debriefing and Peer Support </a:t>
            </a:r>
            <a:endParaRPr lang="en-US" sz="2800" b="0" dirty="0"/>
          </a:p>
        </p:txBody>
      </p:sp>
      <p:sp>
        <p:nvSpPr>
          <p:cNvPr id="107523" name="Rectangle 3">
            <a:extLst>
              <a:ext uri="{FF2B5EF4-FFF2-40B4-BE49-F238E27FC236}">
                <a16:creationId xmlns:a16="http://schemas.microsoft.com/office/drawing/2014/main" id="{799AFBB6-9623-5346-87A5-10BF2430A28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To help prevent excess stress and relieve stress caused by critical incidents, psychologists have developed a critical incident stress debriefing (CISD) process.</a:t>
            </a:r>
          </a:p>
          <a:p>
            <a:pPr lvl="1">
              <a:spcBef>
                <a:spcPct val="35000"/>
              </a:spcBef>
            </a:pPr>
            <a:r>
              <a:rPr lang="en-US" altLang="en-US" dirty="0"/>
              <a:t>CISD brings rescuers and a trained person together to talk about the rescuer’s feelings.</a:t>
            </a:r>
          </a:p>
          <a:p>
            <a:pPr lvl="1">
              <a:spcBef>
                <a:spcPct val="35000"/>
              </a:spcBef>
            </a:pPr>
            <a:r>
              <a:rPr lang="en-US" altLang="en-US" dirty="0"/>
              <a:t>CISD may help rescuers understand the signs and symptoms of stress and receive reassurance from the group leader.</a:t>
            </a:r>
          </a:p>
          <a:p>
            <a:pPr lvl="1">
              <a:spcBef>
                <a:spcPct val="35000"/>
              </a:spcBef>
            </a:pPr>
            <a:r>
              <a:rPr lang="en-US" altLang="en-US" dirty="0"/>
              <a:t>CISD allows people to obtain more help from trained professionals, if needed.</a:t>
            </a:r>
          </a:p>
          <a:p>
            <a:pPr eaLnBrk="1" hangingPunct="1">
              <a:spcBef>
                <a:spcPct val="35000"/>
              </a:spcBef>
            </a:pPr>
            <a:r>
              <a:rPr lang="en-US" altLang="en-US" dirty="0"/>
              <a:t>Peer support is a process involving properly trained member of your department to provide confidential support to another member who is experiencing personal, emotional, or work-related problems. </a:t>
            </a:r>
          </a:p>
          <a:p>
            <a:pPr eaLnBrk="1" hangingPunct="1">
              <a:spcBef>
                <a:spcPct val="35000"/>
              </a:spcBef>
            </a:pPr>
            <a:endParaRPr lang="en-US" altLang="en-US" dirty="0"/>
          </a:p>
        </p:txBody>
      </p:sp>
    </p:spTree>
    <p:extLst>
      <p:ext uri="{BB962C8B-B14F-4D97-AF65-F5344CB8AC3E}">
        <p14:creationId xmlns:p14="http://schemas.microsoft.com/office/powerpoint/2010/main" val="180146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090" name="Rectangle 2">
            <a:extLst>
              <a:ext uri="{FF2B5EF4-FFF2-40B4-BE49-F238E27FC236}">
                <a16:creationId xmlns:a16="http://schemas.microsoft.com/office/drawing/2014/main" id="{3C9174AA-34ED-9F49-AE31-BAEB790FA84D}"/>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(1 of 3)</a:t>
            </a:r>
          </a:p>
        </p:txBody>
      </p:sp>
      <p:sp>
        <p:nvSpPr>
          <p:cNvPr id="111619" name="Rectangle 3">
            <a:extLst>
              <a:ext uri="{FF2B5EF4-FFF2-40B4-BE49-F238E27FC236}">
                <a16:creationId xmlns:a16="http://schemas.microsoft.com/office/drawing/2014/main" id="{FABEA6F9-8812-9841-96D1-AE18F635C822}"/>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Only a small percentage of patients you treat will be severely mentally disturbed, but almost every patient you care for will be experiencing some degree of mental and emotional crisis.</a:t>
            </a:r>
          </a:p>
          <a:p>
            <a:pPr>
              <a:spcBef>
                <a:spcPct val="35000"/>
              </a:spcBef>
            </a:pPr>
            <a:r>
              <a:rPr lang="en-US" altLang="en-US" dirty="0"/>
              <a:t>Behavioral emergencies are situations in which persons exhibit abnormal, unacceptable behavior that cannot be tolerated by patients themselves or by family, friends, or community.</a:t>
            </a:r>
          </a:p>
          <a:p>
            <a:pPr eaLnBrk="1" hangingPunct="1">
              <a:spcBef>
                <a:spcPct val="35000"/>
              </a:spcBef>
            </a:pPr>
            <a:endParaRPr lang="en-US" altLang="en-US" dirty="0"/>
          </a:p>
        </p:txBody>
      </p:sp>
    </p:spTree>
    <p:extLst>
      <p:ext uri="{BB962C8B-B14F-4D97-AF65-F5344CB8AC3E}">
        <p14:creationId xmlns:p14="http://schemas.microsoft.com/office/powerpoint/2010/main" val="3411069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38" name="Rectangle 2">
            <a:extLst>
              <a:ext uri="{FF2B5EF4-FFF2-40B4-BE49-F238E27FC236}">
                <a16:creationId xmlns:a16="http://schemas.microsoft.com/office/drawing/2014/main" id="{ECF83A98-AFB7-0842-B0BF-4BE2EA375BAA}"/>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(2 of 3)</a:t>
            </a:r>
          </a:p>
        </p:txBody>
      </p:sp>
      <p:sp>
        <p:nvSpPr>
          <p:cNvPr id="115715" name="Rectangle 3">
            <a:extLst>
              <a:ext uri="{FF2B5EF4-FFF2-40B4-BE49-F238E27FC236}">
                <a16:creationId xmlns:a16="http://schemas.microsoft.com/office/drawing/2014/main" id="{9C38F6F4-7A7E-014E-ABEA-6E5F42A0AB3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Five major factors cause behavioral crises: medical conditions, physical trauma conditions, psychiatric illnesses, mind-altering substances, and situational stresses.</a:t>
            </a:r>
          </a:p>
          <a:p>
            <a:pPr eaLnBrk="1" hangingPunct="1">
              <a:spcBef>
                <a:spcPct val="35000"/>
              </a:spcBef>
            </a:pPr>
            <a:r>
              <a:rPr lang="en-US" altLang="en-US" dirty="0"/>
              <a:t>Four emotional phases to each crisis are high anxiety or emotional shock, denial, anger, and remorse or grief. </a:t>
            </a:r>
          </a:p>
        </p:txBody>
      </p:sp>
    </p:spTree>
    <p:extLst>
      <p:ext uri="{BB962C8B-B14F-4D97-AF65-F5344CB8AC3E}">
        <p14:creationId xmlns:p14="http://schemas.microsoft.com/office/powerpoint/2010/main" val="4123099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a:extLst>
              <a:ext uri="{FF2B5EF4-FFF2-40B4-BE49-F238E27FC236}">
                <a16:creationId xmlns:a16="http://schemas.microsoft.com/office/drawing/2014/main" id="{3EC4AEDA-1E44-0D4F-9600-A27A7EF4ED8B}"/>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(3 of 3)</a:t>
            </a:r>
          </a:p>
        </p:txBody>
      </p:sp>
      <p:sp>
        <p:nvSpPr>
          <p:cNvPr id="117763" name="Rectangle 3">
            <a:extLst>
              <a:ext uri="{FF2B5EF4-FFF2-40B4-BE49-F238E27FC236}">
                <a16:creationId xmlns:a16="http://schemas.microsoft.com/office/drawing/2014/main" id="{60C10147-66E9-7442-8047-9231119B301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Your role as an EMR consists of assessing patient and providing physical and emotional care. Your most important assessment skill may be your ability to communicate with patient.</a:t>
            </a:r>
          </a:p>
          <a:p>
            <a:pPr eaLnBrk="1" hangingPunct="1">
              <a:spcBef>
                <a:spcPct val="35000"/>
              </a:spcBef>
            </a:pPr>
            <a:r>
              <a:rPr lang="en-US" altLang="en-US" dirty="0"/>
              <a:t>If a patient who appears to be disturbed refuses to accept treatment, you may have to provide care against patient’s will. </a:t>
            </a:r>
          </a:p>
        </p:txBody>
      </p:sp>
    </p:spTree>
    <p:extLst>
      <p:ext uri="{BB962C8B-B14F-4D97-AF65-F5344CB8AC3E}">
        <p14:creationId xmlns:p14="http://schemas.microsoft.com/office/powerpoint/2010/main" val="114892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Rectangle 2">
            <a:extLst>
              <a:ext uri="{FF2B5EF4-FFF2-40B4-BE49-F238E27FC236}">
                <a16:creationId xmlns:a16="http://schemas.microsoft.com/office/drawing/2014/main" id="{8E5A1CE6-A094-A34A-A104-30F29C44FA40}"/>
              </a:ext>
            </a:extLst>
          </p:cNvPr>
          <p:cNvSpPr>
            <a:spLocks noGrp="1" noChangeArrowheads="1"/>
          </p:cNvSpPr>
          <p:nvPr>
            <p:ph type="title"/>
          </p:nvPr>
        </p:nvSpPr>
        <p:spPr/>
        <p:txBody>
          <a:bodyPr/>
          <a:lstStyle/>
          <a:p>
            <a:pPr eaLnBrk="1" hangingPunct="1">
              <a:lnSpc>
                <a:spcPct val="85000"/>
              </a:lnSpc>
              <a:defRPr/>
            </a:pPr>
            <a:r>
              <a:rPr lang="en-US" dirty="0"/>
              <a:t>Review </a:t>
            </a:r>
          </a:p>
        </p:txBody>
      </p:sp>
      <p:sp>
        <p:nvSpPr>
          <p:cNvPr id="119811" name="Rectangle 3">
            <a:extLst>
              <a:ext uri="{FF2B5EF4-FFF2-40B4-BE49-F238E27FC236}">
                <a16:creationId xmlns:a16="http://schemas.microsoft.com/office/drawing/2014/main" id="{4A31C5AC-8452-3E42-9E78-B011A5E2FC7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a:pPr>
            <a:r>
              <a:rPr lang="en-US" altLang="en-US" dirty="0"/>
              <a:t>Behavioral emergencies are situations in which a person exhibits: </a:t>
            </a:r>
          </a:p>
          <a:p>
            <a:pPr marL="1028700" lvl="1" indent="-457200">
              <a:spcBef>
                <a:spcPct val="35000"/>
              </a:spcBef>
              <a:buFontTx/>
              <a:buAutoNum type="alphaUcPeriod"/>
            </a:pPr>
            <a:r>
              <a:rPr lang="en-US" altLang="en-US" dirty="0"/>
              <a:t>abnormal behavior that is deemed unacceptable by others. </a:t>
            </a:r>
          </a:p>
          <a:p>
            <a:pPr marL="1028700" lvl="1" indent="-457200">
              <a:spcBef>
                <a:spcPct val="35000"/>
              </a:spcBef>
              <a:buFontTx/>
              <a:buAutoNum type="alphaUcPeriod"/>
            </a:pPr>
            <a:r>
              <a:rPr lang="en-US" altLang="en-US" dirty="0"/>
              <a:t>mild to moderate depression over a long period of time. </a:t>
            </a:r>
          </a:p>
          <a:p>
            <a:pPr marL="1028700" lvl="1" indent="-457200">
              <a:spcBef>
                <a:spcPct val="35000"/>
              </a:spcBef>
              <a:buFontTx/>
              <a:buAutoNum type="alphaUcPeriod"/>
            </a:pPr>
            <a:r>
              <a:rPr lang="en-US" altLang="en-US" dirty="0"/>
              <a:t>anger that is justified by the situation.</a:t>
            </a:r>
          </a:p>
          <a:p>
            <a:pPr marL="1028700" lvl="1" indent="-457200">
              <a:spcBef>
                <a:spcPct val="35000"/>
              </a:spcBef>
              <a:buFontTx/>
              <a:buAutoNum type="alphaUcPeriod"/>
            </a:pPr>
            <a:r>
              <a:rPr lang="en-US" altLang="en-US" dirty="0"/>
              <a:t>strange behavior, but is otherwise mentally stable.</a:t>
            </a:r>
          </a:p>
        </p:txBody>
      </p:sp>
    </p:spTree>
    <p:extLst>
      <p:ext uri="{BB962C8B-B14F-4D97-AF65-F5344CB8AC3E}">
        <p14:creationId xmlns:p14="http://schemas.microsoft.com/office/powerpoint/2010/main" val="3916412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Rectangle 2">
            <a:extLst>
              <a:ext uri="{FF2B5EF4-FFF2-40B4-BE49-F238E27FC236}">
                <a16:creationId xmlns:a16="http://schemas.microsoft.com/office/drawing/2014/main" id="{9F28F04A-443B-4C45-8961-12A6B3331B84}"/>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61443" name="Rectangle 3">
            <a:extLst>
              <a:ext uri="{FF2B5EF4-FFF2-40B4-BE49-F238E27FC236}">
                <a16:creationId xmlns:a16="http://schemas.microsoft.com/office/drawing/2014/main" id="{32F70D91-9B6A-D348-9201-DC9599CCCB33}"/>
              </a:ext>
            </a:extLst>
          </p:cNvPr>
          <p:cNvSpPr>
            <a:spLocks noGrp="1" noChangeArrowheads="1"/>
          </p:cNvSpPr>
          <p:nvPr>
            <p:ph type="body" idx="1"/>
          </p:nvPr>
        </p:nvSpPr>
        <p:spPr/>
        <p:txBody>
          <a:bodyPr vert="horz" lIns="91440" tIns="45720" rIns="228600" bIns="45720" rtlCol="0">
            <a:noAutofit/>
          </a:bodyPr>
          <a:lstStyle/>
          <a:p>
            <a:pPr marL="457200" indent="-457200">
              <a:buNone/>
              <a:tabLst>
                <a:tab pos="457200" algn="l"/>
              </a:tabLst>
              <a:defRPr/>
            </a:pPr>
            <a:r>
              <a:rPr lang="en-US" altLang="en-US" b="1" dirty="0"/>
              <a:t>Answer: </a:t>
            </a:r>
          </a:p>
          <a:p>
            <a:pPr marL="457200" indent="-457200">
              <a:spcBef>
                <a:spcPct val="35000"/>
              </a:spcBef>
              <a:buNone/>
              <a:tabLst>
                <a:tab pos="457200" algn="l"/>
              </a:tabLst>
              <a:defRPr/>
            </a:pPr>
            <a:r>
              <a:rPr lang="en-US" altLang="en-US" b="1" dirty="0">
                <a:solidFill>
                  <a:schemeClr val="accent3"/>
                </a:solidFill>
              </a:rPr>
              <a:t>A.	abnormal behavior that is deemed unacceptable by others.</a:t>
            </a:r>
          </a:p>
        </p:txBody>
      </p:sp>
    </p:spTree>
    <p:extLst>
      <p:ext uri="{BB962C8B-B14F-4D97-AF65-F5344CB8AC3E}">
        <p14:creationId xmlns:p14="http://schemas.microsoft.com/office/powerpoint/2010/main" val="3687013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a:extLst>
              <a:ext uri="{FF2B5EF4-FFF2-40B4-BE49-F238E27FC236}">
                <a16:creationId xmlns:a16="http://schemas.microsoft.com/office/drawing/2014/main" id="{D0CAB6A5-FEA2-424B-8E8F-88F2320DF7C7}"/>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123907" name="Rectangle 3">
            <a:extLst>
              <a:ext uri="{FF2B5EF4-FFF2-40B4-BE49-F238E27FC236}">
                <a16:creationId xmlns:a16="http://schemas.microsoft.com/office/drawing/2014/main" id="{4153EE58-3019-7748-9D46-7F23424167B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2"/>
            </a:pPr>
            <a:r>
              <a:rPr lang="en-US" altLang="en-US" dirty="0"/>
              <a:t>Which of the following is </a:t>
            </a:r>
            <a:r>
              <a:rPr lang="en-US" altLang="en-US" i="1" dirty="0"/>
              <a:t>not</a:t>
            </a:r>
            <a:r>
              <a:rPr lang="en-US" altLang="en-US" dirty="0"/>
              <a:t> considered an emotional phase in a situational crisis?</a:t>
            </a:r>
          </a:p>
          <a:p>
            <a:pPr marL="1028700" lvl="1" indent="-457200">
              <a:spcBef>
                <a:spcPct val="35000"/>
              </a:spcBef>
              <a:buFontTx/>
              <a:buAutoNum type="alphaUcPeriod"/>
            </a:pPr>
            <a:r>
              <a:rPr lang="en-US" altLang="en-US" dirty="0"/>
              <a:t>Anger </a:t>
            </a:r>
          </a:p>
          <a:p>
            <a:pPr marL="1028700" lvl="1" indent="-457200">
              <a:spcBef>
                <a:spcPct val="35000"/>
              </a:spcBef>
              <a:buFontTx/>
              <a:buAutoNum type="alphaUcPeriod"/>
            </a:pPr>
            <a:r>
              <a:rPr lang="en-US" altLang="en-US" dirty="0"/>
              <a:t>Denial </a:t>
            </a:r>
          </a:p>
          <a:p>
            <a:pPr marL="1028700" lvl="1" indent="-457200">
              <a:spcBef>
                <a:spcPct val="35000"/>
              </a:spcBef>
              <a:buFontTx/>
              <a:buAutoNum type="alphaUcPeriod"/>
            </a:pPr>
            <a:r>
              <a:rPr lang="en-US" altLang="en-US" dirty="0"/>
              <a:t>Grief </a:t>
            </a:r>
          </a:p>
          <a:p>
            <a:pPr marL="1028700" lvl="1" indent="-457200">
              <a:spcBef>
                <a:spcPct val="35000"/>
              </a:spcBef>
              <a:buFontTx/>
              <a:buAutoNum type="alphaUcPeriod"/>
            </a:pPr>
            <a:r>
              <a:rPr lang="en-US" altLang="en-US" dirty="0"/>
              <a:t>Violence</a:t>
            </a:r>
          </a:p>
        </p:txBody>
      </p:sp>
    </p:spTree>
    <p:extLst>
      <p:ext uri="{BB962C8B-B14F-4D97-AF65-F5344CB8AC3E}">
        <p14:creationId xmlns:p14="http://schemas.microsoft.com/office/powerpoint/2010/main" val="3157805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a:extLst>
              <a:ext uri="{FF2B5EF4-FFF2-40B4-BE49-F238E27FC236}">
                <a16:creationId xmlns:a16="http://schemas.microsoft.com/office/drawing/2014/main" id="{C38705FB-8E9F-8943-BBD9-D32608031964}"/>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63491" name="Rectangle 3">
            <a:extLst>
              <a:ext uri="{FF2B5EF4-FFF2-40B4-BE49-F238E27FC236}">
                <a16:creationId xmlns:a16="http://schemas.microsoft.com/office/drawing/2014/main" id="{E8C9C539-91ED-5B40-B8C8-E656B0533F6F}"/>
              </a:ext>
            </a:extLst>
          </p:cNvPr>
          <p:cNvSpPr>
            <a:spLocks noGrp="1" noChangeArrowheads="1"/>
          </p:cNvSpPr>
          <p:nvPr>
            <p:ph type="body" idx="1"/>
          </p:nvPr>
        </p:nvSpPr>
        <p:spPr/>
        <p:txBody>
          <a:bodyPr vert="horz" lIns="91440" tIns="45720" rIns="228600" bIns="45720" rtlCol="0">
            <a:noAutofit/>
          </a:bodyPr>
          <a:lstStyle/>
          <a:p>
            <a:pPr eaLnBrk="1" hangingPunct="1">
              <a:buFontTx/>
              <a:buNone/>
              <a:defRPr/>
            </a:pPr>
            <a:r>
              <a:rPr lang="en-US" altLang="en-US" b="1" dirty="0"/>
              <a:t>Answer: </a:t>
            </a:r>
          </a:p>
          <a:p>
            <a:pPr eaLnBrk="1" hangingPunct="1">
              <a:spcBef>
                <a:spcPct val="35000"/>
              </a:spcBef>
              <a:buFontTx/>
              <a:buNone/>
              <a:defRPr/>
            </a:pPr>
            <a:r>
              <a:rPr lang="en-US" altLang="en-US" b="1" dirty="0">
                <a:solidFill>
                  <a:schemeClr val="accent3"/>
                </a:solidFill>
              </a:rPr>
              <a:t>D.</a:t>
            </a:r>
            <a:r>
              <a:rPr lang="en-US" altLang="en-US" b="1" dirty="0">
                <a:solidFill>
                  <a:srgbClr val="8C2F01"/>
                </a:solidFill>
              </a:rPr>
              <a:t> </a:t>
            </a:r>
            <a:r>
              <a:rPr lang="en-US" altLang="en-US" b="1" dirty="0"/>
              <a:t>Vi</a:t>
            </a:r>
            <a:r>
              <a:rPr lang="en-US" altLang="en-US" b="1" dirty="0">
                <a:solidFill>
                  <a:schemeClr val="accent3"/>
                </a:solidFill>
              </a:rPr>
              <a:t>olence</a:t>
            </a:r>
          </a:p>
        </p:txBody>
      </p:sp>
    </p:spTree>
    <p:extLst>
      <p:ext uri="{BB962C8B-B14F-4D97-AF65-F5344CB8AC3E}">
        <p14:creationId xmlns:p14="http://schemas.microsoft.com/office/powerpoint/2010/main" val="2979486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Rectangle 2">
            <a:extLst>
              <a:ext uri="{FF2B5EF4-FFF2-40B4-BE49-F238E27FC236}">
                <a16:creationId xmlns:a16="http://schemas.microsoft.com/office/drawing/2014/main" id="{3E07E3C8-FD44-CB42-8B99-77A31FF552FF}"/>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128003" name="Rectangle 3">
            <a:extLst>
              <a:ext uri="{FF2B5EF4-FFF2-40B4-BE49-F238E27FC236}">
                <a16:creationId xmlns:a16="http://schemas.microsoft.com/office/drawing/2014/main" id="{3B93ADF3-59DD-8B40-8123-B37534299D7E}"/>
              </a:ext>
            </a:extLst>
          </p:cNvPr>
          <p:cNvSpPr>
            <a:spLocks noGrp="1" noChangeArrowheads="1"/>
          </p:cNvSpPr>
          <p:nvPr>
            <p:ph type="body" idx="1"/>
          </p:nvPr>
        </p:nvSpPr>
        <p:spPr>
          <a:xfrm>
            <a:off x="2209800" y="1600200"/>
            <a:ext cx="777240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65138" indent="-465138">
              <a:spcBef>
                <a:spcPct val="35000"/>
              </a:spcBef>
              <a:buFontTx/>
              <a:buAutoNum type="arabicPeriod" startAt="3"/>
            </a:pPr>
            <a:r>
              <a:rPr lang="en-US" altLang="en-US" dirty="0"/>
              <a:t>When treating a patient with PSTD, one of your responsibilities is to:</a:t>
            </a:r>
          </a:p>
          <a:p>
            <a:pPr marL="1036638" lvl="1" indent="-457200">
              <a:spcBef>
                <a:spcPct val="35000"/>
              </a:spcBef>
              <a:buFontTx/>
              <a:buAutoNum type="alphaUcPeriod"/>
            </a:pPr>
            <a:r>
              <a:rPr lang="en-US" altLang="en-US" dirty="0"/>
              <a:t>protect the patient from harm.</a:t>
            </a:r>
          </a:p>
          <a:p>
            <a:pPr marL="1036638" lvl="1" indent="-457200">
              <a:spcBef>
                <a:spcPct val="35000"/>
              </a:spcBef>
              <a:buFontTx/>
              <a:buAutoNum type="alphaUcPeriod"/>
            </a:pPr>
            <a:r>
              <a:rPr lang="en-US" altLang="en-US" dirty="0"/>
              <a:t>speak with the patient in an authoritative, forceful way. </a:t>
            </a:r>
          </a:p>
          <a:p>
            <a:pPr marL="1036638" lvl="1" indent="-457200">
              <a:spcBef>
                <a:spcPct val="35000"/>
              </a:spcBef>
              <a:buFontTx/>
              <a:buAutoNum type="alphaUcPeriod"/>
            </a:pPr>
            <a:r>
              <a:rPr lang="en-US" altLang="en-US" dirty="0"/>
              <a:t>convince the patient to take care of the problem himself or herself. </a:t>
            </a:r>
          </a:p>
          <a:p>
            <a:pPr marL="1036638" lvl="1" indent="-457200">
              <a:spcBef>
                <a:spcPct val="35000"/>
              </a:spcBef>
              <a:buFontTx/>
              <a:buAutoNum type="alphaUcPeriod"/>
            </a:pPr>
            <a:r>
              <a:rPr lang="en-US" altLang="en-US" dirty="0"/>
              <a:t>contact law enforcement immediately.</a:t>
            </a:r>
            <a:endParaRPr lang="en-US" altLang="en-US" sz="2800" dirty="0"/>
          </a:p>
        </p:txBody>
      </p:sp>
    </p:spTree>
    <p:extLst>
      <p:ext uri="{BB962C8B-B14F-4D97-AF65-F5344CB8AC3E}">
        <p14:creationId xmlns:p14="http://schemas.microsoft.com/office/powerpoint/2010/main" val="125104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8" name="Rectangle 2">
            <a:extLst>
              <a:ext uri="{FF2B5EF4-FFF2-40B4-BE49-F238E27FC236}">
                <a16:creationId xmlns:a16="http://schemas.microsoft.com/office/drawing/2014/main" id="{11C1F414-2FFE-E74F-8CE7-FB8F6492CB03}"/>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65539" name="Rectangle 3">
            <a:extLst>
              <a:ext uri="{FF2B5EF4-FFF2-40B4-BE49-F238E27FC236}">
                <a16:creationId xmlns:a16="http://schemas.microsoft.com/office/drawing/2014/main" id="{087469C1-CCAF-BB47-B22E-1F33DA227053}"/>
              </a:ext>
            </a:extLst>
          </p:cNvPr>
          <p:cNvSpPr>
            <a:spLocks noGrp="1" noChangeArrowheads="1"/>
          </p:cNvSpPr>
          <p:nvPr>
            <p:ph type="body" idx="1"/>
          </p:nvPr>
        </p:nvSpPr>
        <p:spPr/>
        <p:txBody>
          <a:bodyPr vert="horz" lIns="91440" tIns="45720" rIns="228600" bIns="45720" rtlCol="0">
            <a:noAutofit/>
          </a:bodyPr>
          <a:lstStyle/>
          <a:p>
            <a:pPr eaLnBrk="1" hangingPunct="1">
              <a:buFontTx/>
              <a:buNone/>
              <a:defRPr/>
            </a:pPr>
            <a:r>
              <a:rPr lang="en-US" altLang="en-US" b="1" dirty="0"/>
              <a:t>Answer: </a:t>
            </a:r>
          </a:p>
          <a:p>
            <a:pPr eaLnBrk="1" hangingPunct="1">
              <a:spcBef>
                <a:spcPct val="35000"/>
              </a:spcBef>
              <a:buFontTx/>
              <a:buNone/>
              <a:defRPr/>
            </a:pPr>
            <a:r>
              <a:rPr lang="en-US" altLang="en-US" b="1" dirty="0">
                <a:solidFill>
                  <a:schemeClr val="accent3"/>
                </a:solidFill>
              </a:rPr>
              <a:t>A. protect the patient from harm.</a:t>
            </a:r>
          </a:p>
        </p:txBody>
      </p:sp>
    </p:spTree>
    <p:extLst>
      <p:ext uri="{BB962C8B-B14F-4D97-AF65-F5344CB8AC3E}">
        <p14:creationId xmlns:p14="http://schemas.microsoft.com/office/powerpoint/2010/main" val="3148023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554</TotalTime>
  <Words>8207</Words>
  <Application>Microsoft Macintosh PowerPoint</Application>
  <PresentationFormat>Widescreen</PresentationFormat>
  <Paragraphs>731</Paragraphs>
  <Slides>62</Slides>
  <Notes>61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Arial Black</vt:lpstr>
      <vt:lpstr>Calibri</vt:lpstr>
      <vt:lpstr>Wingdings</vt:lpstr>
      <vt:lpstr>Educational subjects 16x9</vt:lpstr>
      <vt:lpstr>Behavioral Emergencies</vt:lpstr>
      <vt:lpstr>National EMS Education Standard Competencies (1 of 3)</vt:lpstr>
      <vt:lpstr>National EMS Education Standard Competencies (2 of 3)</vt:lpstr>
      <vt:lpstr>National EMS Education Standard Competencies (3 of 3)</vt:lpstr>
      <vt:lpstr>Introduction</vt:lpstr>
      <vt:lpstr>Patient Assessment in Behavioral Emergencies (1 of 3)</vt:lpstr>
      <vt:lpstr>Patient Assessment in Behavioral Emergencies (2 of 3)</vt:lpstr>
      <vt:lpstr>Patient Assessment in Behavioral Emergencies (3 of 3)</vt:lpstr>
      <vt:lpstr>Behavioral Crises (1 of 4)</vt:lpstr>
      <vt:lpstr>Behavioral Crises (2 of 4)</vt:lpstr>
      <vt:lpstr>Behavioral Crises (3 of 4)</vt:lpstr>
      <vt:lpstr>Behavioral Crises (4 of 4)</vt:lpstr>
      <vt:lpstr>What Is a Situational Crisis?</vt:lpstr>
      <vt:lpstr>Phases of a Situational Crisis</vt:lpstr>
      <vt:lpstr>High Anxiety or Emotional Shock (1 of 2)</vt:lpstr>
      <vt:lpstr>High Anxiety or Emotional Shock (2 of 2)</vt:lpstr>
      <vt:lpstr>Denial</vt:lpstr>
      <vt:lpstr>Anger</vt:lpstr>
      <vt:lpstr>Remorse or Grief</vt:lpstr>
      <vt:lpstr>Crisis Management</vt:lpstr>
      <vt:lpstr>Communicating With Patient (1 of 6)</vt:lpstr>
      <vt:lpstr>Communicating With Patient (2 of 6)</vt:lpstr>
      <vt:lpstr>Communicating With Patient (3 of 6)</vt:lpstr>
      <vt:lpstr>Communicating With Patient (4 of 6)</vt:lpstr>
      <vt:lpstr>Communicating With Patient (5 of 6)</vt:lpstr>
      <vt:lpstr>Communicating With Patient (6 of 6)</vt:lpstr>
      <vt:lpstr>Crowd Control</vt:lpstr>
      <vt:lpstr>Domestic Violence (1 of 6)</vt:lpstr>
      <vt:lpstr>Domestic Violence (2 of 6)</vt:lpstr>
      <vt:lpstr>Domestic Violence (3 of 6)</vt:lpstr>
      <vt:lpstr>Domestic Violence (4 of 6)</vt:lpstr>
      <vt:lpstr>Domestic Violence (5 of 6)</vt:lpstr>
      <vt:lpstr>Domestic Violence (6 of 6)</vt:lpstr>
      <vt:lpstr>Violent Patients (1 of 3)</vt:lpstr>
      <vt:lpstr>Violent Patients (2 of 3)</vt:lpstr>
      <vt:lpstr>Violent Patients (3 of 3)</vt:lpstr>
      <vt:lpstr>Violence Against EMRs (1 of 3)</vt:lpstr>
      <vt:lpstr>Violence Against EMRs (2 of 3)</vt:lpstr>
      <vt:lpstr>Violence Against EMRs (3 of 3)</vt:lpstr>
      <vt:lpstr>Armed Patient</vt:lpstr>
      <vt:lpstr>Medical and Legal Considerations (1 of 3)</vt:lpstr>
      <vt:lpstr>Medical and Legal Considerations (2 of 3)</vt:lpstr>
      <vt:lpstr>Medical and Legal Considerations (3 of 3)</vt:lpstr>
      <vt:lpstr>Attempted Suicide (1 of 2)</vt:lpstr>
      <vt:lpstr>Attempted Suicide (2 of 2)</vt:lpstr>
      <vt:lpstr>Posttraumatic Stress Disorder (1 of 2)</vt:lpstr>
      <vt:lpstr>Posttraumatic Stress Disorder (2 of 2)</vt:lpstr>
      <vt:lpstr>Sexual Assault (1 of 2)</vt:lpstr>
      <vt:lpstr>Sexual Assault (2 of 2)</vt:lpstr>
      <vt:lpstr>Death and Dying (1 of 2)</vt:lpstr>
      <vt:lpstr>Death and Dying (2 of 2)</vt:lpstr>
      <vt:lpstr>Coping with Work-Related Stress</vt:lpstr>
      <vt:lpstr>Critical Incident Stress Debriefing and Peer Support </vt:lpstr>
      <vt:lpstr>Summary (1 of 3)</vt:lpstr>
      <vt:lpstr>Summary (2 of 3)</vt:lpstr>
      <vt:lpstr>Summary (3 of 3)</vt:lpstr>
      <vt:lpstr>Review </vt:lpstr>
      <vt:lpstr>Review</vt:lpstr>
      <vt:lpstr>Review</vt:lpstr>
      <vt:lpstr>Review</vt:lpstr>
      <vt:lpstr>Review</vt:lpstr>
      <vt:lpstr>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Kristin Parker</dc:creator>
  <cp:lastModifiedBy>Kelly Sylvester</cp:lastModifiedBy>
  <cp:revision>60</cp:revision>
  <dcterms:created xsi:type="dcterms:W3CDTF">2019-03-08T18:11:57Z</dcterms:created>
  <dcterms:modified xsi:type="dcterms:W3CDTF">2020-11-30T21:50:25Z</dcterms:modified>
</cp:coreProperties>
</file>