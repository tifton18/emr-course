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3"/>
  </p:notesMasterIdLst>
  <p:handoutMasterIdLst>
    <p:handoutMasterId r:id="rId64"/>
  </p:handoutMasterIdLst>
  <p:sldIdLst>
    <p:sldId id="258" r:id="rId2"/>
    <p:sldId id="461" r:id="rId3"/>
    <p:sldId id="462" r:id="rId4"/>
    <p:sldId id="463" r:id="rId5"/>
    <p:sldId id="464" r:id="rId6"/>
    <p:sldId id="466" r:id="rId7"/>
    <p:sldId id="467" r:id="rId8"/>
    <p:sldId id="468" r:id="rId9"/>
    <p:sldId id="469" r:id="rId10"/>
    <p:sldId id="470" r:id="rId11"/>
    <p:sldId id="471" r:id="rId12"/>
    <p:sldId id="472" r:id="rId13"/>
    <p:sldId id="473" r:id="rId14"/>
    <p:sldId id="474" r:id="rId15"/>
    <p:sldId id="475" r:id="rId16"/>
    <p:sldId id="476" r:id="rId17"/>
    <p:sldId id="477" r:id="rId18"/>
    <p:sldId id="478" r:id="rId19"/>
    <p:sldId id="479" r:id="rId20"/>
    <p:sldId id="481" r:id="rId21"/>
    <p:sldId id="482" r:id="rId22"/>
    <p:sldId id="483" r:id="rId23"/>
    <p:sldId id="484" r:id="rId24"/>
    <p:sldId id="485" r:id="rId25"/>
    <p:sldId id="486" r:id="rId26"/>
    <p:sldId id="487" r:id="rId27"/>
    <p:sldId id="488" r:id="rId28"/>
    <p:sldId id="489" r:id="rId29"/>
    <p:sldId id="490" r:id="rId30"/>
    <p:sldId id="491" r:id="rId31"/>
    <p:sldId id="492" r:id="rId32"/>
    <p:sldId id="493" r:id="rId33"/>
    <p:sldId id="494" r:id="rId34"/>
    <p:sldId id="495" r:id="rId35"/>
    <p:sldId id="496" r:id="rId36"/>
    <p:sldId id="497" r:id="rId37"/>
    <p:sldId id="498" r:id="rId38"/>
    <p:sldId id="499" r:id="rId39"/>
    <p:sldId id="500" r:id="rId40"/>
    <p:sldId id="501" r:id="rId41"/>
    <p:sldId id="502" r:id="rId42"/>
    <p:sldId id="503" r:id="rId43"/>
    <p:sldId id="504" r:id="rId44"/>
    <p:sldId id="505" r:id="rId45"/>
    <p:sldId id="506" r:id="rId46"/>
    <p:sldId id="507" r:id="rId47"/>
    <p:sldId id="508" r:id="rId48"/>
    <p:sldId id="509" r:id="rId49"/>
    <p:sldId id="510" r:id="rId50"/>
    <p:sldId id="511" r:id="rId51"/>
    <p:sldId id="512" r:id="rId52"/>
    <p:sldId id="513" r:id="rId53"/>
    <p:sldId id="514" r:id="rId54"/>
    <p:sldId id="515" r:id="rId55"/>
    <p:sldId id="516" r:id="rId56"/>
    <p:sldId id="517" r:id="rId57"/>
    <p:sldId id="518" r:id="rId58"/>
    <p:sldId id="519" r:id="rId59"/>
    <p:sldId id="520" r:id="rId60"/>
    <p:sldId id="521" r:id="rId61"/>
    <p:sldId id="522"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E27206-E27B-4A54-8714-37833A848455}" v="23" dt="2020-08-10T18:01:08.672"/>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82177"/>
  </p:normalViewPr>
  <p:slideViewPr>
    <p:cSldViewPr snapToGrid="0">
      <p:cViewPr>
        <p:scale>
          <a:sx n="100" d="100"/>
          <a:sy n="100" d="100"/>
        </p:scale>
        <p:origin x="1864" y="256"/>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6EE27206-E27B-4A54-8714-37833A848455}"/>
    <pc:docChg chg="custSel modSld modMainMaster">
      <pc:chgData name="Paula-Yuan Gregory" userId="8839d734-a022-4f7a-aa1a-7ded42ea4e8b" providerId="ADAL" clId="{6EE27206-E27B-4A54-8714-37833A848455}" dt="2020-08-11T14:30:37.762" v="179" actId="20577"/>
      <pc:docMkLst>
        <pc:docMk/>
      </pc:docMkLst>
      <pc:sldChg chg="addSp delSp modSp">
        <pc:chgData name="Paula-Yuan Gregory" userId="8839d734-a022-4f7a-aa1a-7ded42ea4e8b" providerId="ADAL" clId="{6EE27206-E27B-4A54-8714-37833A848455}" dt="2020-08-10T17:57:05.071" v="29" actId="20577"/>
        <pc:sldMkLst>
          <pc:docMk/>
          <pc:sldMk cId="895103973" sldId="470"/>
        </pc:sldMkLst>
        <pc:spChg chg="add mod">
          <ac:chgData name="Paula-Yuan Gregory" userId="8839d734-a022-4f7a-aa1a-7ded42ea4e8b" providerId="ADAL" clId="{6EE27206-E27B-4A54-8714-37833A848455}" dt="2020-08-10T17:57:05.071" v="29" actId="20577"/>
          <ac:spMkLst>
            <pc:docMk/>
            <pc:sldMk cId="895103973" sldId="470"/>
            <ac:spMk id="8" creationId="{AFA6017C-47FF-4F32-95FF-EE340E43139A}"/>
          </ac:spMkLst>
        </pc:spChg>
        <pc:grpChg chg="del">
          <ac:chgData name="Paula-Yuan Gregory" userId="8839d734-a022-4f7a-aa1a-7ded42ea4e8b" providerId="ADAL" clId="{6EE27206-E27B-4A54-8714-37833A848455}" dt="2020-08-10T17:57:01.181" v="10" actId="478"/>
          <ac:grpSpMkLst>
            <pc:docMk/>
            <pc:sldMk cId="895103973" sldId="470"/>
            <ac:grpSpMk id="23555" creationId="{6819EB8D-DE61-E148-BEE9-39558797FD39}"/>
          </ac:grpSpMkLst>
        </pc:grpChg>
      </pc:sldChg>
      <pc:sldChg chg="addSp delSp modSp">
        <pc:chgData name="Paula-Yuan Gregory" userId="8839d734-a022-4f7a-aa1a-7ded42ea4e8b" providerId="ADAL" clId="{6EE27206-E27B-4A54-8714-37833A848455}" dt="2020-08-10T17:57:44.823" v="72" actId="1076"/>
        <pc:sldMkLst>
          <pc:docMk/>
          <pc:sldMk cId="2990390036" sldId="473"/>
        </pc:sldMkLst>
        <pc:spChg chg="add mod">
          <ac:chgData name="Paula-Yuan Gregory" userId="8839d734-a022-4f7a-aa1a-7ded42ea4e8b" providerId="ADAL" clId="{6EE27206-E27B-4A54-8714-37833A848455}" dt="2020-08-10T17:57:31.571" v="50" actId="20577"/>
          <ac:spMkLst>
            <pc:docMk/>
            <pc:sldMk cId="2990390036" sldId="473"/>
            <ac:spMk id="11" creationId="{AFA6017C-47FF-4F32-95FF-EE340E43139A}"/>
          </ac:spMkLst>
        </pc:spChg>
        <pc:spChg chg="add mod">
          <ac:chgData name="Paula-Yuan Gregory" userId="8839d734-a022-4f7a-aa1a-7ded42ea4e8b" providerId="ADAL" clId="{6EE27206-E27B-4A54-8714-37833A848455}" dt="2020-08-10T17:57:44.823" v="72" actId="1076"/>
          <ac:spMkLst>
            <pc:docMk/>
            <pc:sldMk cId="2990390036" sldId="473"/>
            <ac:spMk id="12" creationId="{AFA6017C-47FF-4F32-95FF-EE340E43139A}"/>
          </ac:spMkLst>
        </pc:spChg>
        <pc:picChg chg="del">
          <ac:chgData name="Paula-Yuan Gregory" userId="8839d734-a022-4f7a-aa1a-7ded42ea4e8b" providerId="ADAL" clId="{6EE27206-E27B-4A54-8714-37833A848455}" dt="2020-08-10T17:57:26.754" v="30" actId="478"/>
          <ac:picMkLst>
            <pc:docMk/>
            <pc:sldMk cId="2990390036" sldId="473"/>
            <ac:picMk id="29699" creationId="{1B4997DC-902D-C440-AB37-27EB5080276C}"/>
          </ac:picMkLst>
        </pc:picChg>
        <pc:picChg chg="del">
          <ac:chgData name="Paula-Yuan Gregory" userId="8839d734-a022-4f7a-aa1a-7ded42ea4e8b" providerId="ADAL" clId="{6EE27206-E27B-4A54-8714-37833A848455}" dt="2020-08-10T17:57:28.280" v="31" actId="478"/>
          <ac:picMkLst>
            <pc:docMk/>
            <pc:sldMk cId="2990390036" sldId="473"/>
            <ac:picMk id="29700" creationId="{051F6DEA-C754-A343-B1FE-9C598843E6D9}"/>
          </ac:picMkLst>
        </pc:picChg>
        <pc:picChg chg="del">
          <ac:chgData name="Paula-Yuan Gregory" userId="8839d734-a022-4f7a-aa1a-7ded42ea4e8b" providerId="ADAL" clId="{6EE27206-E27B-4A54-8714-37833A848455}" dt="2020-08-10T17:57:33.690" v="51" actId="478"/>
          <ac:picMkLst>
            <pc:docMk/>
            <pc:sldMk cId="2990390036" sldId="473"/>
            <ac:picMk id="29701" creationId="{E9C68A7D-FC36-7A4F-940E-09B0FE1672C3}"/>
          </ac:picMkLst>
        </pc:picChg>
        <pc:picChg chg="del">
          <ac:chgData name="Paula-Yuan Gregory" userId="8839d734-a022-4f7a-aa1a-7ded42ea4e8b" providerId="ADAL" clId="{6EE27206-E27B-4A54-8714-37833A848455}" dt="2020-08-10T17:57:34.923" v="52" actId="478"/>
          <ac:picMkLst>
            <pc:docMk/>
            <pc:sldMk cId="2990390036" sldId="473"/>
            <ac:picMk id="29702" creationId="{492EFD2F-2847-9B45-95DC-9C1C2927EF18}"/>
          </ac:picMkLst>
        </pc:picChg>
      </pc:sldChg>
      <pc:sldChg chg="addSp delSp modSp">
        <pc:chgData name="Paula-Yuan Gregory" userId="8839d734-a022-4f7a-aa1a-7ded42ea4e8b" providerId="ADAL" clId="{6EE27206-E27B-4A54-8714-37833A848455}" dt="2020-08-10T17:57:57.332" v="85" actId="20577"/>
        <pc:sldMkLst>
          <pc:docMk/>
          <pc:sldMk cId="841109536" sldId="475"/>
        </pc:sldMkLst>
        <pc:spChg chg="add mod">
          <ac:chgData name="Paula-Yuan Gregory" userId="8839d734-a022-4f7a-aa1a-7ded42ea4e8b" providerId="ADAL" clId="{6EE27206-E27B-4A54-8714-37833A848455}" dt="2020-08-10T17:57:57.332" v="85" actId="20577"/>
          <ac:spMkLst>
            <pc:docMk/>
            <pc:sldMk cId="841109536" sldId="475"/>
            <ac:spMk id="5" creationId="{AFA6017C-47FF-4F32-95FF-EE340E43139A}"/>
          </ac:spMkLst>
        </pc:spChg>
        <pc:picChg chg="del">
          <ac:chgData name="Paula-Yuan Gregory" userId="8839d734-a022-4f7a-aa1a-7ded42ea4e8b" providerId="ADAL" clId="{6EE27206-E27B-4A54-8714-37833A848455}" dt="2020-08-10T17:57:53.068" v="73" actId="478"/>
          <ac:picMkLst>
            <pc:docMk/>
            <pc:sldMk cId="841109536" sldId="475"/>
            <ac:picMk id="33795" creationId="{960DC101-5982-884B-896D-732FEEA2C45B}"/>
          </ac:picMkLst>
        </pc:picChg>
      </pc:sldChg>
      <pc:sldChg chg="addSp delSp modSp">
        <pc:chgData name="Paula-Yuan Gregory" userId="8839d734-a022-4f7a-aa1a-7ded42ea4e8b" providerId="ADAL" clId="{6EE27206-E27B-4A54-8714-37833A848455}" dt="2020-08-10T17:58:24.829" v="98" actId="20577"/>
        <pc:sldMkLst>
          <pc:docMk/>
          <pc:sldMk cId="2718910921" sldId="484"/>
        </pc:sldMkLst>
        <pc:spChg chg="add mod">
          <ac:chgData name="Paula-Yuan Gregory" userId="8839d734-a022-4f7a-aa1a-7ded42ea4e8b" providerId="ADAL" clId="{6EE27206-E27B-4A54-8714-37833A848455}" dt="2020-08-10T17:58:24.829" v="98" actId="20577"/>
          <ac:spMkLst>
            <pc:docMk/>
            <pc:sldMk cId="2718910921" sldId="484"/>
            <ac:spMk id="5" creationId="{AFA6017C-47FF-4F32-95FF-EE340E43139A}"/>
          </ac:spMkLst>
        </pc:spChg>
        <pc:picChg chg="del">
          <ac:chgData name="Paula-Yuan Gregory" userId="8839d734-a022-4f7a-aa1a-7ded42ea4e8b" providerId="ADAL" clId="{6EE27206-E27B-4A54-8714-37833A848455}" dt="2020-08-10T17:58:22.261" v="86" actId="478"/>
          <ac:picMkLst>
            <pc:docMk/>
            <pc:sldMk cId="2718910921" sldId="484"/>
            <ac:picMk id="50179" creationId="{17BC1776-3D2D-C345-B40C-C2C8BE4D69AD}"/>
          </ac:picMkLst>
        </pc:picChg>
      </pc:sldChg>
      <pc:sldChg chg="addSp delSp modSp">
        <pc:chgData name="Paula-Yuan Gregory" userId="8839d734-a022-4f7a-aa1a-7ded42ea4e8b" providerId="ADAL" clId="{6EE27206-E27B-4A54-8714-37833A848455}" dt="2020-08-10T17:59:57.452" v="114" actId="1076"/>
        <pc:sldMkLst>
          <pc:docMk/>
          <pc:sldMk cId="504254789" sldId="490"/>
        </pc:sldMkLst>
        <pc:spChg chg="add mod">
          <ac:chgData name="Paula-Yuan Gregory" userId="8839d734-a022-4f7a-aa1a-7ded42ea4e8b" providerId="ADAL" clId="{6EE27206-E27B-4A54-8714-37833A848455}" dt="2020-08-10T17:59:56.852" v="113" actId="1076"/>
          <ac:spMkLst>
            <pc:docMk/>
            <pc:sldMk cId="504254789" sldId="490"/>
            <ac:spMk id="6" creationId="{AFA6017C-47FF-4F32-95FF-EE340E43139A}"/>
          </ac:spMkLst>
        </pc:spChg>
        <pc:spChg chg="mod">
          <ac:chgData name="Paula-Yuan Gregory" userId="8839d734-a022-4f7a-aa1a-7ded42ea4e8b" providerId="ADAL" clId="{6EE27206-E27B-4A54-8714-37833A848455}" dt="2020-08-10T17:59:57.452" v="114" actId="1076"/>
          <ac:spMkLst>
            <pc:docMk/>
            <pc:sldMk cId="504254789" sldId="490"/>
            <ac:spMk id="62468" creationId="{E4BD4343-E890-144F-987D-F4E0B585C4D7}"/>
          </ac:spMkLst>
        </pc:spChg>
        <pc:picChg chg="del">
          <ac:chgData name="Paula-Yuan Gregory" userId="8839d734-a022-4f7a-aa1a-7ded42ea4e8b" providerId="ADAL" clId="{6EE27206-E27B-4A54-8714-37833A848455}" dt="2020-08-10T17:59:50.185" v="99" actId="478"/>
          <ac:picMkLst>
            <pc:docMk/>
            <pc:sldMk cId="504254789" sldId="490"/>
            <ac:picMk id="62467" creationId="{25528498-13B5-044E-A9A5-1E8949DDB6F4}"/>
          </ac:picMkLst>
        </pc:picChg>
      </pc:sldChg>
      <pc:sldChg chg="addSp delSp modSp">
        <pc:chgData name="Paula-Yuan Gregory" userId="8839d734-a022-4f7a-aa1a-7ded42ea4e8b" providerId="ADAL" clId="{6EE27206-E27B-4A54-8714-37833A848455}" dt="2020-08-10T18:00:09.127" v="128" actId="1076"/>
        <pc:sldMkLst>
          <pc:docMk/>
          <pc:sldMk cId="3194913210" sldId="491"/>
        </pc:sldMkLst>
        <pc:spChg chg="add mod">
          <ac:chgData name="Paula-Yuan Gregory" userId="8839d734-a022-4f7a-aa1a-7ded42ea4e8b" providerId="ADAL" clId="{6EE27206-E27B-4A54-8714-37833A848455}" dt="2020-08-10T18:00:09.127" v="128" actId="1076"/>
          <ac:spMkLst>
            <pc:docMk/>
            <pc:sldMk cId="3194913210" sldId="491"/>
            <ac:spMk id="6" creationId="{AFA6017C-47FF-4F32-95FF-EE340E43139A}"/>
          </ac:spMkLst>
        </pc:spChg>
        <pc:picChg chg="del">
          <ac:chgData name="Paula-Yuan Gregory" userId="8839d734-a022-4f7a-aa1a-7ded42ea4e8b" providerId="ADAL" clId="{6EE27206-E27B-4A54-8714-37833A848455}" dt="2020-08-10T18:00:04.439" v="115" actId="478"/>
          <ac:picMkLst>
            <pc:docMk/>
            <pc:sldMk cId="3194913210" sldId="491"/>
            <ac:picMk id="64515" creationId="{93E8E4E1-7E3C-0C48-BD08-4D49E807E1C6}"/>
          </ac:picMkLst>
        </pc:picChg>
      </pc:sldChg>
      <pc:sldChg chg="addSp delSp modSp">
        <pc:chgData name="Paula-Yuan Gregory" userId="8839d734-a022-4f7a-aa1a-7ded42ea4e8b" providerId="ADAL" clId="{6EE27206-E27B-4A54-8714-37833A848455}" dt="2020-08-10T18:00:54.830" v="143" actId="1076"/>
        <pc:sldMkLst>
          <pc:docMk/>
          <pc:sldMk cId="1093998578" sldId="506"/>
        </pc:sldMkLst>
        <pc:spChg chg="add mod">
          <ac:chgData name="Paula-Yuan Gregory" userId="8839d734-a022-4f7a-aa1a-7ded42ea4e8b" providerId="ADAL" clId="{6EE27206-E27B-4A54-8714-37833A848455}" dt="2020-08-10T18:00:54.830" v="143" actId="1076"/>
          <ac:spMkLst>
            <pc:docMk/>
            <pc:sldMk cId="1093998578" sldId="506"/>
            <ac:spMk id="6" creationId="{AFA6017C-47FF-4F32-95FF-EE340E43139A}"/>
          </ac:spMkLst>
        </pc:spChg>
        <pc:picChg chg="del">
          <ac:chgData name="Paula-Yuan Gregory" userId="8839d734-a022-4f7a-aa1a-7ded42ea4e8b" providerId="ADAL" clId="{6EE27206-E27B-4A54-8714-37833A848455}" dt="2020-08-10T18:00:49.547" v="129" actId="478"/>
          <ac:picMkLst>
            <pc:docMk/>
            <pc:sldMk cId="1093998578" sldId="506"/>
            <ac:picMk id="95235" creationId="{F258990F-88DF-0143-B062-7F2DFBE2BEB4}"/>
          </ac:picMkLst>
        </pc:picChg>
      </pc:sldChg>
      <pc:sldChg chg="addSp delSp modSp">
        <pc:chgData name="Paula-Yuan Gregory" userId="8839d734-a022-4f7a-aa1a-7ded42ea4e8b" providerId="ADAL" clId="{6EE27206-E27B-4A54-8714-37833A848455}" dt="2020-08-10T18:01:18.689" v="175" actId="1076"/>
        <pc:sldMkLst>
          <pc:docMk/>
          <pc:sldMk cId="1057095826" sldId="508"/>
        </pc:sldMkLst>
        <pc:spChg chg="add mod">
          <ac:chgData name="Paula-Yuan Gregory" userId="8839d734-a022-4f7a-aa1a-7ded42ea4e8b" providerId="ADAL" clId="{6EE27206-E27B-4A54-8714-37833A848455}" dt="2020-08-10T18:01:18.689" v="175" actId="1076"/>
          <ac:spMkLst>
            <pc:docMk/>
            <pc:sldMk cId="1057095826" sldId="508"/>
            <ac:spMk id="8" creationId="{AFA6017C-47FF-4F32-95FF-EE340E43139A}"/>
          </ac:spMkLst>
        </pc:spChg>
        <pc:spChg chg="add mod">
          <ac:chgData name="Paula-Yuan Gregory" userId="8839d734-a022-4f7a-aa1a-7ded42ea4e8b" providerId="ADAL" clId="{6EE27206-E27B-4A54-8714-37833A848455}" dt="2020-08-10T18:01:14.190" v="174" actId="1076"/>
          <ac:spMkLst>
            <pc:docMk/>
            <pc:sldMk cId="1057095826" sldId="508"/>
            <ac:spMk id="9" creationId="{AFA6017C-47FF-4F32-95FF-EE340E43139A}"/>
          </ac:spMkLst>
        </pc:spChg>
        <pc:picChg chg="del">
          <ac:chgData name="Paula-Yuan Gregory" userId="8839d734-a022-4f7a-aa1a-7ded42ea4e8b" providerId="ADAL" clId="{6EE27206-E27B-4A54-8714-37833A848455}" dt="2020-08-10T18:01:04.065" v="144" actId="478"/>
          <ac:picMkLst>
            <pc:docMk/>
            <pc:sldMk cId="1057095826" sldId="508"/>
            <ac:picMk id="99331" creationId="{731E2D36-8D27-9B4A-B44B-3152F625EB41}"/>
          </ac:picMkLst>
        </pc:picChg>
        <pc:picChg chg="del">
          <ac:chgData name="Paula-Yuan Gregory" userId="8839d734-a022-4f7a-aa1a-7ded42ea4e8b" providerId="ADAL" clId="{6EE27206-E27B-4A54-8714-37833A848455}" dt="2020-08-10T18:01:08.316" v="159" actId="478"/>
          <ac:picMkLst>
            <pc:docMk/>
            <pc:sldMk cId="1057095826" sldId="508"/>
            <ac:picMk id="99332" creationId="{2075035A-D756-B64E-A263-EAD78BF803DC}"/>
          </ac:picMkLst>
        </pc:picChg>
      </pc:sldChg>
      <pc:sldMasterChg chg="modSp modSldLayout">
        <pc:chgData name="Paula-Yuan Gregory" userId="8839d734-a022-4f7a-aa1a-7ded42ea4e8b" providerId="ADAL" clId="{6EE27206-E27B-4A54-8714-37833A848455}" dt="2020-08-11T14:30:37.762" v="179" actId="20577"/>
        <pc:sldMasterMkLst>
          <pc:docMk/>
          <pc:sldMasterMk cId="2871921020" sldId="2147483648"/>
        </pc:sldMasterMkLst>
        <pc:spChg chg="mod">
          <ac:chgData name="Paula-Yuan Gregory" userId="8839d734-a022-4f7a-aa1a-7ded42ea4e8b" providerId="ADAL" clId="{6EE27206-E27B-4A54-8714-37833A848455}" dt="2020-08-11T14:30:37.762" v="179" actId="20577"/>
          <ac:spMkLst>
            <pc:docMk/>
            <pc:sldMasterMk cId="2871921020" sldId="2147483648"/>
            <ac:spMk id="7" creationId="{21F38BD8-3F75-CE4C-AFEF-0C6B45F77F8C}"/>
          </ac:spMkLst>
        </pc:spChg>
        <pc:sldLayoutChg chg="modSp">
          <pc:chgData name="Paula-Yuan Gregory" userId="8839d734-a022-4f7a-aa1a-7ded42ea4e8b" providerId="ADAL" clId="{6EE27206-E27B-4A54-8714-37833A848455}" dt="2020-08-11T14:30:30.709" v="177" actId="20577"/>
          <pc:sldLayoutMkLst>
            <pc:docMk/>
            <pc:sldMasterMk cId="2871921020" sldId="2147483648"/>
            <pc:sldLayoutMk cId="3047549913" sldId="2147483649"/>
          </pc:sldLayoutMkLst>
          <pc:spChg chg="mod">
            <ac:chgData name="Paula-Yuan Gregory" userId="8839d734-a022-4f7a-aa1a-7ded42ea4e8b" providerId="ADAL" clId="{6EE27206-E27B-4A54-8714-37833A848455}" dt="2020-08-11T14:30:30.709" v="177"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ED491D0-8E1B-49C7-849B-A28568D94497}" type="slidenum">
              <a:rPr lang="en-US" smtClean="0"/>
              <a:pPr/>
              <a:t>1</a:t>
            </a:fld>
            <a:endParaRPr lang="en-US" dirty="0"/>
          </a:p>
        </p:txBody>
      </p:sp>
    </p:spTree>
    <p:extLst>
      <p:ext uri="{BB962C8B-B14F-4D97-AF65-F5344CB8AC3E}">
        <p14:creationId xmlns:p14="http://schemas.microsoft.com/office/powerpoint/2010/main" val="2208501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6C45082-B752-8642-BB2F-B806053BB3B9}"/>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CA7949BE-2919-7E43-87DA-4EF85EE7035C}"/>
              </a:ext>
            </a:extLst>
          </p:cNvPr>
          <p:cNvSpPr>
            <a:spLocks noGrp="1" noChangeArrowheads="1"/>
          </p:cNvSpPr>
          <p:nvPr>
            <p:ph type="body" idx="1"/>
          </p:nvPr>
        </p:nvSpPr>
        <p:spPr/>
        <p:txBody>
          <a:bodyPr/>
          <a:lstStyle/>
          <a:p>
            <a:pPr>
              <a:defRPr/>
            </a:pPr>
            <a:r>
              <a:rPr lang="en-US" b="1" dirty="0">
                <a:ea typeface="ＭＳ Ｐゴシック" charset="0"/>
              </a:rPr>
              <a:t>Shock and Resuscitation</a:t>
            </a:r>
          </a:p>
          <a:p>
            <a:pPr>
              <a:defRPr/>
            </a:pPr>
            <a:r>
              <a:rPr lang="en-US" dirty="0">
                <a:ea typeface="ＭＳ Ｐゴシック" charset="0"/>
              </a:rPr>
              <a:t>Uses assessment information to recognize shock, respiratory failure or arrest, and cardiac arrest based on assessment findings and manages emergency while awaiting additional emergency response.</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482169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21D3B5B8-757A-094A-A4D8-0F44121B623E}"/>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8E56F74E-461F-3F49-A775-8E4841A5CB33}"/>
              </a:ext>
            </a:extLst>
          </p:cNvPr>
          <p:cNvSpPr>
            <a:spLocks noGrp="1" noChangeArrowheads="1"/>
          </p:cNvSpPr>
          <p:nvPr>
            <p:ph type="body" idx="1"/>
          </p:nvPr>
        </p:nvSpPr>
        <p:spPr/>
        <p:txBody>
          <a:bodyPr/>
          <a:lstStyle/>
          <a:p>
            <a:pPr>
              <a:defRPr/>
            </a:pPr>
            <a:r>
              <a:rPr lang="en-US" b="1" dirty="0">
                <a:ea typeface="ＭＳ Ｐゴシック" charset="0"/>
              </a:rPr>
              <a:t>Assessment</a:t>
            </a:r>
            <a:endParaRPr lang="en-US" dirty="0">
              <a:ea typeface="ＭＳ Ｐゴシック" charset="0"/>
            </a:endParaRPr>
          </a:p>
          <a:p>
            <a:pPr>
              <a:defRPr/>
            </a:pPr>
            <a:r>
              <a:rPr lang="en-US" dirty="0">
                <a:ea typeface="ＭＳ Ｐゴシック" charset="0"/>
              </a:rPr>
              <a:t>Uses scene information and simple patient assessment findings to identify and manage immediate life threats and injuries within scope of practice of the EMR.</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095598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AFFE3E13-5FFF-7D45-BE5A-42FB060EB3C4}"/>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B0CBABFA-3E6E-3743-A644-3FAD726933F7}"/>
              </a:ext>
            </a:extLst>
          </p:cNvPr>
          <p:cNvSpPr>
            <a:spLocks noGrp="1" noChangeArrowheads="1"/>
          </p:cNvSpPr>
          <p:nvPr>
            <p:ph type="body" idx="1"/>
          </p:nvPr>
        </p:nvSpPr>
        <p:spPr/>
        <p:txBody>
          <a:bodyPr/>
          <a:lstStyle/>
          <a:p>
            <a:pPr>
              <a:defRPr/>
            </a:pPr>
            <a:r>
              <a:rPr lang="en-US" altLang="en-US" b="1" i="1" dirty="0">
                <a:latin typeface="Calibri" pitchFamily="34" charset="0"/>
              </a:rPr>
              <a:t>Primary Assessment</a:t>
            </a:r>
            <a:endParaRPr lang="en-US" altLang="en-US" dirty="0">
              <a:latin typeface="Calibri" pitchFamily="34" charset="0"/>
            </a:endParaRPr>
          </a:p>
          <a:p>
            <a:pPr>
              <a:defRPr/>
            </a:pPr>
            <a:r>
              <a:rPr lang="en-US" altLang="en-US" dirty="0">
                <a:latin typeface="Calibri" pitchFamily="34" charset="0"/>
              </a:rPr>
              <a:t>• Primary assessment for all patient situations. (p 144)</a:t>
            </a:r>
          </a:p>
          <a:p>
            <a:pPr>
              <a:defRPr/>
            </a:pPr>
            <a:r>
              <a:rPr lang="en-US" altLang="en-US" dirty="0">
                <a:latin typeface="Calibri" pitchFamily="34" charset="0"/>
              </a:rPr>
              <a:t>• Level of consciousness. (p 146; p 149)</a:t>
            </a:r>
          </a:p>
          <a:p>
            <a:pPr>
              <a:defRPr/>
            </a:pPr>
            <a:r>
              <a:rPr lang="en-US" altLang="en-US" dirty="0">
                <a:latin typeface="Calibri" pitchFamily="34" charset="0"/>
              </a:rPr>
              <a:t>• Airway, breathing, and circulation ABCs. (pp 144-145)</a:t>
            </a:r>
          </a:p>
          <a:p>
            <a:pPr>
              <a:defRPr/>
            </a:pPr>
            <a:r>
              <a:rPr lang="en-US" altLang="en-US" dirty="0">
                <a:latin typeface="Calibri" pitchFamily="34" charset="0"/>
              </a:rPr>
              <a:t>• Identifying life threats. (p 144)</a:t>
            </a:r>
          </a:p>
          <a:p>
            <a:pPr>
              <a:defRPr/>
            </a:pPr>
            <a:r>
              <a:rPr lang="en-US" altLang="en-US" dirty="0">
                <a:latin typeface="Calibri" pitchFamily="34" charset="0"/>
              </a:rPr>
              <a:t>• Assessment of vital functions. (pp 144-145)</a:t>
            </a:r>
          </a:p>
          <a:p>
            <a:pPr>
              <a:defRPr/>
            </a:pPr>
            <a:r>
              <a:rPr lang="en-US" altLang="en-US" dirty="0">
                <a:latin typeface="Calibri" pitchFamily="34" charset="0"/>
              </a:rPr>
              <a:t>• Begin interventions needed to preserve life. (p 144)</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142178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9673B6F4-5D0D-5848-AAEC-E1F624DD6A5F}"/>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EF1F0E71-0C28-4148-B160-43B11AFA0CB6}"/>
              </a:ext>
            </a:extLst>
          </p:cNvPr>
          <p:cNvSpPr>
            <a:spLocks noGrp="1" noChangeArrowheads="1"/>
          </p:cNvSpPr>
          <p:nvPr>
            <p:ph type="body" idx="1"/>
          </p:nvPr>
        </p:nvSpPr>
        <p:spPr/>
        <p:txBody>
          <a:bodyPr/>
          <a:lstStyle/>
          <a:p>
            <a:pPr>
              <a:defRPr/>
            </a:pPr>
            <a:r>
              <a:rPr lang="en-US" b="1" dirty="0">
                <a:ea typeface="ＭＳ Ｐゴシック" charset="0"/>
              </a:rPr>
              <a:t>Anatomy and Physiology</a:t>
            </a:r>
            <a:endParaRPr lang="en-US" dirty="0">
              <a:ea typeface="ＭＳ Ｐゴシック" charset="0"/>
            </a:endParaRPr>
          </a:p>
          <a:p>
            <a:pPr>
              <a:defRPr/>
            </a:pPr>
            <a:r>
              <a:rPr lang="en-US" dirty="0">
                <a:ea typeface="ＭＳ Ｐゴシック" charset="0"/>
              </a:rPr>
              <a:t>Uses simple knowledge of anatomy and function of upper airway, heart, vessels, blood, lungs, skin, muscles, and bones as foundation of emergency care.</a:t>
            </a:r>
          </a:p>
          <a:p>
            <a:pPr>
              <a:defRPr/>
            </a:pPr>
            <a:r>
              <a:rPr lang="en-US" b="1" i="0" dirty="0">
                <a:ea typeface="ＭＳ Ｐゴシック" charset="0"/>
              </a:rPr>
              <a:t>Pathophysiology</a:t>
            </a:r>
            <a:endParaRPr lang="en-US" i="0" dirty="0">
              <a:ea typeface="ＭＳ Ｐゴシック" charset="0"/>
            </a:endParaRPr>
          </a:p>
          <a:p>
            <a:pPr>
              <a:defRPr/>
            </a:pPr>
            <a:r>
              <a:rPr lang="en-US" dirty="0">
                <a:ea typeface="ＭＳ Ｐゴシック" charset="0"/>
              </a:rPr>
              <a:t>Uses simple knowledge of shock and respiratory compromise to respond to life threats.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23741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80141AA6-C7D6-C94B-BB85-EBA9513213DA}"/>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EF024D2A-6D46-4141-B060-3ADB684968ED}"/>
              </a:ext>
            </a:extLst>
          </p:cNvPr>
          <p:cNvSpPr>
            <a:spLocks noGrp="1" noChangeArrowheads="1"/>
          </p:cNvSpPr>
          <p:nvPr>
            <p:ph type="body" idx="1"/>
          </p:nvPr>
        </p:nvSpPr>
        <p:spPr/>
        <p:txBody>
          <a:bodyPr/>
          <a:lstStyle/>
          <a:p>
            <a:pPr>
              <a:defRPr/>
            </a:pPr>
            <a:r>
              <a:rPr lang="en-US" altLang="en-US" dirty="0">
                <a:latin typeface="Calibri" pitchFamily="34" charset="0"/>
              </a:rPr>
              <a:t>I. Introduction</a:t>
            </a:r>
          </a:p>
          <a:p>
            <a:pPr>
              <a:defRPr/>
            </a:pPr>
            <a:r>
              <a:rPr lang="en-US" altLang="en-US" dirty="0">
                <a:latin typeface="Calibri" pitchFamily="34" charset="0"/>
              </a:rPr>
              <a:t>A.	Cardiopulmonary resuscitation (CPR) consists of three major skills.</a:t>
            </a:r>
          </a:p>
          <a:p>
            <a:pPr>
              <a:defRPr/>
            </a:pPr>
            <a:r>
              <a:rPr lang="en-US" altLang="en-US" dirty="0">
                <a:latin typeface="Calibri" pitchFamily="34" charset="0"/>
              </a:rPr>
              <a:t>	1.	Circulation (C)</a:t>
            </a:r>
          </a:p>
          <a:p>
            <a:pPr>
              <a:defRPr/>
            </a:pPr>
            <a:r>
              <a:rPr lang="en-US" altLang="en-US" dirty="0">
                <a:latin typeface="Calibri" pitchFamily="34" charset="0"/>
              </a:rPr>
              <a:t>	2.	Airway (A)</a:t>
            </a:r>
          </a:p>
          <a:p>
            <a:pPr>
              <a:defRPr/>
            </a:pPr>
            <a:r>
              <a:rPr lang="en-US" altLang="en-US" dirty="0">
                <a:latin typeface="Calibri" pitchFamily="34" charset="0"/>
              </a:rPr>
              <a:t>	3.	Breathing (B)</a:t>
            </a:r>
          </a:p>
          <a:p>
            <a:pPr>
              <a:defRPr/>
            </a:pPr>
            <a:r>
              <a:rPr lang="en-US" altLang="en-US" dirty="0">
                <a:latin typeface="Calibri" pitchFamily="34" charset="0"/>
              </a:rPr>
              <a:t>B.	Airway and breathing skills may be lifesaving for a patient whose heart is still beating. </a:t>
            </a:r>
          </a:p>
          <a:p>
            <a:pPr>
              <a:defRPr/>
            </a:pPr>
            <a:r>
              <a:rPr lang="en-US" altLang="en-US" dirty="0">
                <a:latin typeface="Calibri" pitchFamily="34" charset="0"/>
              </a:rPr>
              <a:t>	1.	In most cases, the patient’s heart has also stopped beating. </a:t>
            </a:r>
          </a:p>
          <a:p>
            <a:pPr>
              <a:defRPr/>
            </a:pPr>
            <a:r>
              <a:rPr lang="en-US" altLang="en-US" dirty="0">
                <a:latin typeface="Calibri" pitchFamily="34" charset="0"/>
              </a:rPr>
              <a:t>	2.	Rescue breathing alone will not save these patients. </a:t>
            </a:r>
          </a:p>
          <a:p>
            <a:pPr>
              <a:defRPr/>
            </a:pPr>
            <a:r>
              <a:rPr lang="en-US" altLang="en-US" dirty="0">
                <a:latin typeface="Calibri" pitchFamily="34" charset="0"/>
              </a:rPr>
              <a:t>	3.	The circulatory system must be functional to carry oxygen to the body. </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343107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9A60C49C-C2AE-2F49-A752-C121B0FAA6FD}"/>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AC67BB7D-9090-4E41-823A-ECBFEDDD1DDB}"/>
              </a:ext>
            </a:extLst>
          </p:cNvPr>
          <p:cNvSpPr>
            <a:spLocks noGrp="1" noChangeArrowheads="1"/>
          </p:cNvSpPr>
          <p:nvPr>
            <p:ph type="body" idx="1"/>
          </p:nvPr>
        </p:nvSpPr>
        <p:spPr/>
        <p:txBody>
          <a:bodyPr/>
          <a:lstStyle/>
          <a:p>
            <a:pPr>
              <a:defRPr/>
            </a:pPr>
            <a:r>
              <a:rPr lang="en-US" altLang="en-US" dirty="0">
                <a:latin typeface="Calibri" pitchFamily="34" charset="0"/>
              </a:rPr>
              <a:t>C.	To maintain or restore circulation manually, perform cardiac compressions (closed-chest cardiac massage). </a:t>
            </a:r>
          </a:p>
          <a:p>
            <a:pPr>
              <a:defRPr/>
            </a:pPr>
            <a:r>
              <a:rPr lang="en-US" altLang="en-US" dirty="0">
                <a:latin typeface="Calibri" pitchFamily="34" charset="0"/>
              </a:rPr>
              <a:t>D.	To maintain both breathing and a heartbeat, rescue breathing and chest compressions must be done together. </a:t>
            </a:r>
          </a:p>
          <a:p>
            <a:pPr>
              <a:defRPr/>
            </a:pPr>
            <a:r>
              <a:rPr lang="en-US" altLang="en-US" dirty="0">
                <a:latin typeface="Calibri" pitchFamily="34" charset="0"/>
              </a:rPr>
              <a:t>E.	Approximately 70% of patients who experience cardiac arrest are in a state of ventricular fibrillation.</a:t>
            </a:r>
          </a:p>
          <a:p>
            <a:pPr>
              <a:defRPr/>
            </a:pPr>
            <a:r>
              <a:rPr lang="en-US" altLang="en-US" dirty="0">
                <a:latin typeface="Calibri" pitchFamily="34" charset="0"/>
              </a:rPr>
              <a:t>	1.	In this condition, the heart muscle is “quivering” and not effectively pumping blood.</a:t>
            </a:r>
          </a:p>
          <a:p>
            <a:pPr>
              <a:defRPr/>
            </a:pPr>
            <a:r>
              <a:rPr lang="en-US" altLang="en-US" dirty="0">
                <a:latin typeface="Calibri" pitchFamily="34" charset="0"/>
              </a:rPr>
              <a:t>	2.	An automated external defibrillator can help these patients.</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811331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171FF1C-BA83-E448-BA21-A0EC7029BC22}"/>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1E2033EF-DC4B-7F4C-8F4D-28C9E97CAABC}"/>
              </a:ext>
            </a:extLst>
          </p:cNvPr>
          <p:cNvSpPr>
            <a:spLocks noGrp="1" noChangeArrowheads="1"/>
          </p:cNvSpPr>
          <p:nvPr>
            <p:ph type="body" idx="1"/>
          </p:nvPr>
        </p:nvSpPr>
        <p:spPr/>
        <p:txBody>
          <a:bodyPr/>
          <a:lstStyle/>
          <a:p>
            <a:pPr>
              <a:defRPr/>
            </a:pPr>
            <a:r>
              <a:rPr lang="en-US" dirty="0">
                <a:ea typeface="ＭＳ Ｐゴシック" charset="0"/>
              </a:rPr>
              <a:t>II. Anatomy and Function of Circulatory System</a:t>
            </a:r>
          </a:p>
          <a:p>
            <a:pPr>
              <a:defRPr/>
            </a:pPr>
            <a:r>
              <a:rPr lang="en-US" dirty="0">
                <a:ea typeface="ＭＳ Ｐゴシック" charset="0"/>
              </a:rPr>
              <a:t>A.	Circulatory system consists of three components: </a:t>
            </a:r>
          </a:p>
          <a:p>
            <a:pPr>
              <a:defRPr/>
            </a:pPr>
            <a:r>
              <a:rPr lang="en-US" dirty="0">
                <a:ea typeface="ＭＳ Ｐゴシック" charset="0"/>
              </a:rPr>
              <a:t>	1.	A pump (the heart).</a:t>
            </a:r>
          </a:p>
          <a:p>
            <a:pPr>
              <a:defRPr/>
            </a:pPr>
            <a:r>
              <a:rPr lang="en-US" dirty="0">
                <a:ea typeface="ＭＳ Ｐゴシック" charset="0"/>
              </a:rPr>
              <a:t>	2.	A network of pipes (blood vessels).</a:t>
            </a:r>
          </a:p>
          <a:p>
            <a:pPr>
              <a:defRPr/>
            </a:pPr>
            <a:r>
              <a:rPr lang="en-US" dirty="0">
                <a:ea typeface="ＭＳ Ｐゴシック" charset="0"/>
              </a:rPr>
              <a:t>	3.	Fluid (blood).</a:t>
            </a:r>
          </a:p>
          <a:p>
            <a:pPr>
              <a:defRPr/>
            </a:pPr>
            <a:r>
              <a:rPr lang="en-US" dirty="0">
                <a:ea typeface="ＭＳ Ｐゴシック" charset="0"/>
              </a:rPr>
              <a:t>B.	Heart, which is about size of your fist, is located in chest between lungs.</a:t>
            </a:r>
          </a:p>
          <a:p>
            <a:pPr>
              <a:defRPr/>
            </a:pPr>
            <a:r>
              <a:rPr lang="en-US" dirty="0">
                <a:ea typeface="ＭＳ Ｐゴシック" charset="0"/>
              </a:rPr>
              <a:t>	1.	Heart consists of four chambers, two on right side and two on left side.</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514087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8B285F7D-A14B-ED47-910E-F4BD18849077}"/>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77425B5E-DD67-2E4D-9432-4B10A208248F}"/>
              </a:ext>
            </a:extLst>
          </p:cNvPr>
          <p:cNvSpPr>
            <a:spLocks noGrp="1" noChangeArrowheads="1"/>
          </p:cNvSpPr>
          <p:nvPr>
            <p:ph type="body" idx="1"/>
          </p:nvPr>
        </p:nvSpPr>
        <p:spPr/>
        <p:txBody>
          <a:bodyPr/>
          <a:lstStyle/>
          <a:p>
            <a:pPr>
              <a:defRPr/>
            </a:pPr>
            <a:r>
              <a:rPr lang="en-US" dirty="0">
                <a:ea typeface="ＭＳ Ｐゴシック" charset="0"/>
              </a:rPr>
              <a:t>	2.	Each upper chamber is called an atrium.</a:t>
            </a:r>
          </a:p>
          <a:p>
            <a:pPr>
              <a:defRPr/>
            </a:pPr>
            <a:r>
              <a:rPr lang="en-US" dirty="0">
                <a:ea typeface="ＭＳ Ｐゴシック" charset="0"/>
              </a:rPr>
              <a:t>		a.	Right atrium receives blood from the veins of body.</a:t>
            </a:r>
          </a:p>
          <a:p>
            <a:pPr>
              <a:defRPr/>
            </a:pPr>
            <a:r>
              <a:rPr lang="en-US" dirty="0">
                <a:ea typeface="ＭＳ Ｐゴシック" charset="0"/>
              </a:rPr>
              <a:t>		b.	Left atrium receives highly oxygenated blood from lungs.</a:t>
            </a:r>
          </a:p>
          <a:p>
            <a:pPr>
              <a:defRPr/>
            </a:pPr>
            <a:r>
              <a:rPr lang="en-US" dirty="0">
                <a:ea typeface="ＭＳ Ｐゴシック" charset="0"/>
              </a:rPr>
              <a:t>	3.	Each lower chamber is called a ventricle.</a:t>
            </a:r>
          </a:p>
          <a:p>
            <a:pPr>
              <a:defRPr/>
            </a:pPr>
            <a:r>
              <a:rPr lang="en-US" dirty="0">
                <a:ea typeface="ＭＳ Ｐゴシック" charset="0"/>
              </a:rPr>
              <a:t>		a.	Right ventricle pumps deoxygenated blood to lungs.</a:t>
            </a:r>
          </a:p>
          <a:p>
            <a:pPr>
              <a:defRPr/>
            </a:pPr>
            <a:r>
              <a:rPr lang="en-US" dirty="0">
                <a:ea typeface="ＭＳ Ｐゴシック" charset="0"/>
              </a:rPr>
              <a:t>		b.	Left ventricle pumps highly oxygenated blood throughout body.</a:t>
            </a:r>
          </a:p>
          <a:p>
            <a:pPr>
              <a:defRPr/>
            </a:pPr>
            <a:r>
              <a:rPr lang="en-US" dirty="0">
                <a:ea typeface="ＭＳ Ｐゴシック" charset="0"/>
              </a:rPr>
              <a:t>	4.	Four chambers of heart work in a well-ordered sequence to pump blood to lungs and to rest of body. </a:t>
            </a:r>
          </a:p>
          <a:p>
            <a:pPr eaLnBrk="1" hangingPunct="1">
              <a:defRPr/>
            </a:pPr>
            <a:r>
              <a:rPr lang="en-US" dirty="0">
                <a:ea typeface="ＭＳ Ｐゴシック" charset="0"/>
              </a:rPr>
              <a:t>	5.	One-way valves in heart and veins allow blood to flow in only one direction through circulatory system.</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4272206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F5064CB2-8953-C441-84A2-4160624566DC}"/>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BE1EB174-0C8F-994F-B9FB-41AB6A19508A}"/>
              </a:ext>
            </a:extLst>
          </p:cNvPr>
          <p:cNvSpPr>
            <a:spLocks noGrp="1" noChangeArrowheads="1"/>
          </p:cNvSpPr>
          <p:nvPr>
            <p:ph type="body" idx="1"/>
          </p:nvPr>
        </p:nvSpPr>
        <p:spPr/>
        <p:txBody>
          <a:bodyPr/>
          <a:lstStyle/>
          <a:p>
            <a:pPr eaLnBrk="1" hangingPunct="1">
              <a:defRPr/>
            </a:pPr>
            <a:r>
              <a:rPr lang="en-US" dirty="0">
                <a:ea typeface="ＭＳ Ｐゴシック" charset="0"/>
              </a:rPr>
              <a:t>Figure: Heart functions as the pump of human circulatory system. </a:t>
            </a:r>
            <a:r>
              <a:rPr lang="en-US" b="1" dirty="0">
                <a:ea typeface="ＭＳ Ｐゴシック" charset="0"/>
              </a:rPr>
              <a:t>(Left) </a:t>
            </a:r>
            <a:r>
              <a:rPr lang="en-US" dirty="0">
                <a:ea typeface="ＭＳ Ｐゴシック" charset="0"/>
              </a:rPr>
              <a:t>External view. </a:t>
            </a:r>
            <a:r>
              <a:rPr lang="en-US" b="1" dirty="0">
                <a:ea typeface="ＭＳ Ｐゴシック" charset="0"/>
              </a:rPr>
              <a:t>(Right) </a:t>
            </a:r>
            <a:r>
              <a:rPr lang="en-US" dirty="0">
                <a:ea typeface="ＭＳ Ｐゴシック" charset="0"/>
              </a:rPr>
              <a:t>Cross-sectional view.</a:t>
            </a:r>
          </a:p>
        </p:txBody>
      </p:sp>
    </p:spTree>
    <p:extLst>
      <p:ext uri="{BB962C8B-B14F-4D97-AF65-F5344CB8AC3E}">
        <p14:creationId xmlns:p14="http://schemas.microsoft.com/office/powerpoint/2010/main" val="2412081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8D10C064-9C61-4F48-83B1-AC67211F1C26}"/>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E7505D05-8CAF-2142-8FB1-B645C53610C5}"/>
              </a:ext>
            </a:extLst>
          </p:cNvPr>
          <p:cNvSpPr>
            <a:spLocks noGrp="1" noChangeArrowheads="1"/>
          </p:cNvSpPr>
          <p:nvPr>
            <p:ph type="body" idx="1"/>
          </p:nvPr>
        </p:nvSpPr>
        <p:spPr/>
        <p:txBody>
          <a:bodyPr/>
          <a:lstStyle/>
          <a:p>
            <a:pPr>
              <a:defRPr/>
            </a:pPr>
            <a:r>
              <a:rPr lang="en-US" dirty="0">
                <a:ea typeface="ＭＳ Ｐゴシック" charset="0"/>
              </a:rPr>
              <a:t>	6.	Arteries carry blood away from heart at high pressure; therefore, walls of arteries are thick.</a:t>
            </a:r>
          </a:p>
          <a:p>
            <a:pPr>
              <a:defRPr/>
            </a:pPr>
            <a:r>
              <a:rPr lang="en-US" dirty="0">
                <a:ea typeface="ＭＳ Ｐゴシック" charset="0"/>
              </a:rPr>
              <a:t>	7.	Smaller arteries eventually branch into capillaries, smallest pipes in circulatory system.</a:t>
            </a:r>
          </a:p>
          <a:p>
            <a:pPr>
              <a:defRPr/>
            </a:pPr>
            <a:r>
              <a:rPr lang="en-US" dirty="0">
                <a:ea typeface="ＭＳ Ｐゴシック" charset="0"/>
              </a:rPr>
              <a:t>	8.	Veins are thin-walled pipes of circulatory system that carry blood back to heart.</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742898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DA413CD9-E487-7A4F-832E-D95641EA09C3}"/>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60DD7EE8-4B68-9948-BDFC-9F542D02ABB0}"/>
              </a:ext>
            </a:extLst>
          </p:cNvPr>
          <p:cNvSpPr>
            <a:spLocks noGrp="1" noChangeArrowheads="1"/>
          </p:cNvSpPr>
          <p:nvPr>
            <p:ph type="body" idx="1"/>
          </p:nvPr>
        </p:nvSpPr>
        <p:spPr/>
        <p:txBody>
          <a:bodyPr/>
          <a:lstStyle/>
          <a:p>
            <a:pPr>
              <a:defRPr/>
            </a:pPr>
            <a:r>
              <a:rPr lang="en-US" altLang="en-US" dirty="0">
                <a:latin typeface="Calibri" pitchFamily="34" charset="0"/>
              </a:rPr>
              <a:t>C.	There are four major artery locations.</a:t>
            </a:r>
          </a:p>
          <a:p>
            <a:pPr>
              <a:defRPr/>
            </a:pPr>
            <a:r>
              <a:rPr lang="en-US" altLang="en-US" dirty="0">
                <a:latin typeface="Calibri" pitchFamily="34" charset="0"/>
              </a:rPr>
              <a:t>	1.	Neck (carotid arteries)</a:t>
            </a:r>
          </a:p>
          <a:p>
            <a:pPr>
              <a:defRPr/>
            </a:pPr>
            <a:r>
              <a:rPr lang="en-US" altLang="en-US" dirty="0">
                <a:latin typeface="Calibri" pitchFamily="34" charset="0"/>
              </a:rPr>
              <a:t>	2.	Wrist (radial arteries)</a:t>
            </a:r>
          </a:p>
          <a:p>
            <a:pPr>
              <a:defRPr/>
            </a:pPr>
            <a:r>
              <a:rPr lang="en-US" altLang="en-US" dirty="0">
                <a:latin typeface="Calibri" pitchFamily="34" charset="0"/>
              </a:rPr>
              <a:t>	3.	Arm (brachial arteries)</a:t>
            </a:r>
          </a:p>
          <a:p>
            <a:pPr>
              <a:defRPr/>
            </a:pPr>
            <a:r>
              <a:rPr lang="en-US" altLang="en-US" dirty="0">
                <a:latin typeface="Calibri" pitchFamily="34" charset="0"/>
              </a:rPr>
              <a:t>	4.	Groin (femoral arteries) </a:t>
            </a:r>
          </a:p>
          <a:p>
            <a:pPr>
              <a:defRPr/>
            </a:pPr>
            <a:r>
              <a:rPr lang="en-US" altLang="en-US" dirty="0">
                <a:latin typeface="Calibri" pitchFamily="34" charset="0"/>
              </a:rPr>
              <a:t>	5.	Because these arteries lie between a bony structure and skin, you can use them to measure patient’s pulse.</a:t>
            </a:r>
          </a:p>
          <a:p>
            <a:pPr>
              <a:defRPr/>
            </a:pPr>
            <a:r>
              <a:rPr lang="en-US" altLang="en-US" dirty="0">
                <a:latin typeface="Calibri" pitchFamily="34" charset="0"/>
              </a:rPr>
              <a:t>		a.	A pulse is generated when heart contracts and sends a pressure wave through artery.</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447690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7E300C1D-BAF4-2645-8FED-6E27BD32B30D}"/>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0A1492C6-A3B0-C947-B3F1-8B621FE32FEF}"/>
              </a:ext>
            </a:extLst>
          </p:cNvPr>
          <p:cNvSpPr>
            <a:spLocks noGrp="1" noChangeArrowheads="1"/>
          </p:cNvSpPr>
          <p:nvPr>
            <p:ph type="body" idx="1"/>
          </p:nvPr>
        </p:nvSpPr>
        <p:spPr/>
        <p:txBody>
          <a:bodyPr/>
          <a:lstStyle/>
          <a:p>
            <a:pPr>
              <a:defRPr/>
            </a:pPr>
            <a:r>
              <a:rPr lang="en-US" altLang="en-US" dirty="0">
                <a:latin typeface="Calibri" pitchFamily="34" charset="0"/>
              </a:rPr>
              <a:t>Figure: Locations for assessing patient’s pulse. </a:t>
            </a:r>
            <a:r>
              <a:rPr lang="en-US" altLang="en-US" b="1" dirty="0">
                <a:latin typeface="Calibri" pitchFamily="34" charset="0"/>
              </a:rPr>
              <a:t>(Top left) </a:t>
            </a:r>
            <a:r>
              <a:rPr lang="en-US" altLang="en-US" dirty="0">
                <a:latin typeface="Calibri" pitchFamily="34" charset="0"/>
              </a:rPr>
              <a:t>Neck (carotid pulse). </a:t>
            </a:r>
            <a:r>
              <a:rPr lang="en-US" altLang="en-US" b="1" dirty="0">
                <a:latin typeface="Calibri" pitchFamily="34" charset="0"/>
              </a:rPr>
              <a:t>(Top right) </a:t>
            </a:r>
            <a:r>
              <a:rPr lang="en-US" altLang="en-US" dirty="0">
                <a:latin typeface="Calibri" pitchFamily="34" charset="0"/>
              </a:rPr>
              <a:t>Wrist (radial pulse). </a:t>
            </a:r>
            <a:r>
              <a:rPr lang="en-US" altLang="en-US" b="1" dirty="0">
                <a:latin typeface="Calibri" pitchFamily="34" charset="0"/>
              </a:rPr>
              <a:t>(Bottom left) </a:t>
            </a:r>
            <a:r>
              <a:rPr lang="en-US" altLang="en-US" dirty="0">
                <a:latin typeface="Calibri" pitchFamily="34" charset="0"/>
              </a:rPr>
              <a:t>Arm (brachial pulse). </a:t>
            </a:r>
            <a:r>
              <a:rPr lang="en-US" altLang="en-US" b="1" dirty="0">
                <a:latin typeface="Calibri" pitchFamily="34" charset="0"/>
              </a:rPr>
              <a:t>(Bottom right) </a:t>
            </a:r>
            <a:r>
              <a:rPr lang="en-US" altLang="en-US" dirty="0">
                <a:latin typeface="Calibri" pitchFamily="34" charset="0"/>
              </a:rPr>
              <a:t>Groin (femoral pulse).</a:t>
            </a:r>
          </a:p>
        </p:txBody>
      </p:sp>
    </p:spTree>
    <p:extLst>
      <p:ext uri="{BB962C8B-B14F-4D97-AF65-F5344CB8AC3E}">
        <p14:creationId xmlns:p14="http://schemas.microsoft.com/office/powerpoint/2010/main" val="1004205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53FBA8C6-399C-AC48-AB6C-81D11E4C6D18}"/>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69C098CB-6393-D94C-9A90-EEE37FCC7FF0}"/>
              </a:ext>
            </a:extLst>
          </p:cNvPr>
          <p:cNvSpPr>
            <a:spLocks noGrp="1" noChangeArrowheads="1"/>
          </p:cNvSpPr>
          <p:nvPr>
            <p:ph type="body" idx="1"/>
          </p:nvPr>
        </p:nvSpPr>
        <p:spPr/>
        <p:txBody>
          <a:bodyPr/>
          <a:lstStyle/>
          <a:p>
            <a:pPr>
              <a:defRPr/>
            </a:pPr>
            <a:r>
              <a:rPr lang="en-US" dirty="0">
                <a:ea typeface="ＭＳ Ｐゴシック" charset="0"/>
              </a:rPr>
              <a:t>D.	Blood has several components.</a:t>
            </a:r>
          </a:p>
          <a:p>
            <a:pPr>
              <a:defRPr/>
            </a:pPr>
            <a:r>
              <a:rPr lang="en-US" dirty="0">
                <a:ea typeface="ＭＳ Ｐゴシック" charset="0"/>
              </a:rPr>
              <a:t>	1.	Plasma</a:t>
            </a:r>
          </a:p>
          <a:p>
            <a:pPr>
              <a:defRPr/>
            </a:pPr>
            <a:r>
              <a:rPr lang="en-US" dirty="0">
                <a:ea typeface="ＭＳ Ｐゴシック" charset="0"/>
              </a:rPr>
              <a:t>	2.	Red blood cells</a:t>
            </a:r>
          </a:p>
          <a:p>
            <a:pPr>
              <a:defRPr/>
            </a:pPr>
            <a:r>
              <a:rPr lang="en-US" dirty="0">
                <a:ea typeface="ＭＳ Ｐゴシック" charset="0"/>
              </a:rPr>
              <a:t>		a.	Red blood cells carry oxygen from lungs to the body and bring carbon dioxide back to lungs.</a:t>
            </a:r>
          </a:p>
          <a:p>
            <a:pPr>
              <a:defRPr/>
            </a:pPr>
            <a:r>
              <a:rPr lang="en-US" dirty="0">
                <a:ea typeface="ＭＳ Ｐゴシック" charset="0"/>
              </a:rPr>
              <a:t>	3.	White blood cells</a:t>
            </a:r>
          </a:p>
          <a:p>
            <a:pPr>
              <a:defRPr/>
            </a:pPr>
            <a:r>
              <a:rPr lang="en-US" dirty="0">
                <a:ea typeface="ＭＳ Ｐゴシック" charset="0"/>
              </a:rPr>
              <a:t>		a.	White blood cells are called infection fighters because they devour bacteria and other disease-causing organisms.</a:t>
            </a:r>
          </a:p>
          <a:p>
            <a:pPr>
              <a:defRPr/>
            </a:pPr>
            <a:r>
              <a:rPr lang="en-US" dirty="0">
                <a:ea typeface="ＭＳ Ｐゴシック" charset="0"/>
              </a:rPr>
              <a:t>	4.	Platelets</a:t>
            </a:r>
          </a:p>
          <a:p>
            <a:pPr>
              <a:defRPr/>
            </a:pPr>
            <a:r>
              <a:rPr lang="en-US" dirty="0">
                <a:ea typeface="ＭＳ Ｐゴシック" charset="0"/>
              </a:rPr>
              <a:t>		a.	Platelets start blood-clotting process.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479291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18BB4B09-4374-9E4B-A1BC-2813F645DC78}"/>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CD973875-8382-6940-BCD8-3662B401E885}"/>
              </a:ext>
            </a:extLst>
          </p:cNvPr>
          <p:cNvSpPr>
            <a:spLocks noGrp="1" noChangeArrowheads="1"/>
          </p:cNvSpPr>
          <p:nvPr>
            <p:ph type="body" idx="1"/>
          </p:nvPr>
        </p:nvSpPr>
        <p:spPr/>
        <p:txBody>
          <a:bodyPr/>
          <a:lstStyle/>
          <a:p>
            <a:pPr eaLnBrk="1" hangingPunct="1">
              <a:defRPr/>
            </a:pPr>
            <a:r>
              <a:rPr lang="en-US" dirty="0">
                <a:ea typeface="ＭＳ Ｐゴシック" charset="0"/>
              </a:rPr>
              <a:t>Figure: Components of blood.</a:t>
            </a:r>
          </a:p>
        </p:txBody>
      </p:sp>
    </p:spTree>
    <p:extLst>
      <p:ext uri="{BB962C8B-B14F-4D97-AF65-F5344CB8AC3E}">
        <p14:creationId xmlns:p14="http://schemas.microsoft.com/office/powerpoint/2010/main" val="2653337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B3C0BD8-A0DD-7F4E-9889-62A43F9145A6}"/>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15851A9-9825-4A4B-99B8-79DD67BA8972}"/>
              </a:ext>
            </a:extLst>
          </p:cNvPr>
          <p:cNvSpPr>
            <a:spLocks noGrp="1" noChangeArrowheads="1"/>
          </p:cNvSpPr>
          <p:nvPr>
            <p:ph type="body" idx="1"/>
          </p:nvPr>
        </p:nvSpPr>
        <p:spPr/>
        <p:txBody>
          <a:bodyPr/>
          <a:lstStyle/>
          <a:p>
            <a:pPr>
              <a:defRPr/>
            </a:pPr>
            <a:r>
              <a:rPr lang="en-US" dirty="0">
                <a:ea typeface="ＭＳ Ｐゴシック" charset="0"/>
              </a:rPr>
              <a:t>III. Cardiac Arrest</a:t>
            </a:r>
          </a:p>
          <a:p>
            <a:pPr>
              <a:defRPr/>
            </a:pPr>
            <a:r>
              <a:rPr lang="en-US" dirty="0">
                <a:ea typeface="ＭＳ Ｐゴシック" charset="0"/>
              </a:rPr>
              <a:t>A.	Cardiac arrest occurs when heart stops contracting and no blood is pumped through blood vessels.</a:t>
            </a:r>
          </a:p>
          <a:p>
            <a:pPr>
              <a:defRPr/>
            </a:pPr>
            <a:r>
              <a:rPr lang="en-US" dirty="0">
                <a:ea typeface="ＭＳ Ｐゴシック" charset="0"/>
              </a:rPr>
              <a:t>B.	Without a supply of blood, the cells of the body will die because they cannot get oxygen and nutrients and they cannot eliminate waste products.</a:t>
            </a:r>
          </a:p>
          <a:p>
            <a:pPr>
              <a:defRPr/>
            </a:pPr>
            <a:r>
              <a:rPr lang="en-US" dirty="0">
                <a:ea typeface="ＭＳ Ｐゴシック" charset="0"/>
              </a:rPr>
              <a:t>	1.	Some organs are more sensitive to low oxygen levels than others. </a:t>
            </a:r>
            <a:endParaRPr lang="en-US" b="1" dirty="0">
              <a:ea typeface="ＭＳ Ｐゴシック" charset="0"/>
            </a:endParaRPr>
          </a:p>
          <a:p>
            <a:pPr>
              <a:defRPr/>
            </a:pPr>
            <a:r>
              <a:rPr lang="en-US" dirty="0">
                <a:ea typeface="ＭＳ Ｐゴシック" charset="0"/>
              </a:rPr>
              <a:t>	2.	Brain damage begins within 4 to 6 minutes after cardiac arrest.</a:t>
            </a:r>
          </a:p>
          <a:p>
            <a:pPr>
              <a:defRPr/>
            </a:pPr>
            <a:r>
              <a:rPr lang="en-US" dirty="0">
                <a:ea typeface="ＭＳ Ｐゴシック" charset="0"/>
              </a:rPr>
              <a:t>	3.	Within 8 to 10 minutes, damage to brain may become irreversible.</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663132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4D90363-CFD4-0C4B-98C5-A38A0023411C}"/>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20D9E453-BD30-4141-9983-3DBCF2851F60}"/>
              </a:ext>
            </a:extLst>
          </p:cNvPr>
          <p:cNvSpPr>
            <a:spLocks noGrp="1" noChangeArrowheads="1"/>
          </p:cNvSpPr>
          <p:nvPr>
            <p:ph type="body" idx="1"/>
          </p:nvPr>
        </p:nvSpPr>
        <p:spPr/>
        <p:txBody>
          <a:bodyPr/>
          <a:lstStyle/>
          <a:p>
            <a:pPr>
              <a:defRPr/>
            </a:pPr>
            <a:r>
              <a:rPr lang="en-US" dirty="0">
                <a:ea typeface="ＭＳ Ｐゴシック" charset="0"/>
              </a:rPr>
              <a:t>C.	Cardiac arrest may have many different causes: </a:t>
            </a:r>
          </a:p>
          <a:p>
            <a:pPr>
              <a:defRPr/>
            </a:pPr>
            <a:r>
              <a:rPr lang="en-US" dirty="0">
                <a:ea typeface="ＭＳ Ｐゴシック" charset="0"/>
              </a:rPr>
              <a:t>	1.	Heart and blood vessel diseases such as heart attack and stroke.</a:t>
            </a:r>
          </a:p>
          <a:p>
            <a:pPr>
              <a:defRPr/>
            </a:pPr>
            <a:r>
              <a:rPr lang="en-US" dirty="0">
                <a:ea typeface="ＭＳ Ｐゴシック" charset="0"/>
              </a:rPr>
              <a:t>	2.	Respiratory arrest, if untreated.</a:t>
            </a:r>
          </a:p>
          <a:p>
            <a:pPr>
              <a:defRPr/>
            </a:pPr>
            <a:r>
              <a:rPr lang="en-US" dirty="0">
                <a:ea typeface="ＭＳ Ｐゴシック" charset="0"/>
              </a:rPr>
              <a:t>	3.	Medical emergencies such as epilepsy, diabetes, allergic reactions, electrical shock, and poisoning.</a:t>
            </a:r>
          </a:p>
          <a:p>
            <a:pPr>
              <a:defRPr/>
            </a:pPr>
            <a:r>
              <a:rPr lang="en-US" dirty="0">
                <a:ea typeface="ＭＳ Ｐゴシック" charset="0"/>
              </a:rPr>
              <a:t>	4.	Drug overdose.</a:t>
            </a:r>
          </a:p>
          <a:p>
            <a:pPr>
              <a:defRPr/>
            </a:pPr>
            <a:r>
              <a:rPr lang="en-US" dirty="0">
                <a:ea typeface="ＭＳ Ｐゴシック" charset="0"/>
              </a:rPr>
              <a:t>	5.	Drowning.</a:t>
            </a:r>
          </a:p>
          <a:p>
            <a:pPr>
              <a:defRPr/>
            </a:pPr>
            <a:r>
              <a:rPr lang="en-US" dirty="0">
                <a:ea typeface="ＭＳ Ｐゴシック" charset="0"/>
              </a:rPr>
              <a:t>	6.	Suffocation.</a:t>
            </a:r>
          </a:p>
          <a:p>
            <a:pPr>
              <a:defRPr/>
            </a:pPr>
            <a:r>
              <a:rPr lang="en-US" dirty="0">
                <a:ea typeface="ＭＳ Ｐゴシック" charset="0"/>
              </a:rPr>
              <a:t>	7.	Trauma and shock caused by massive blood loss.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175089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007D86EA-84AA-674E-96AE-55504EDCF944}"/>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D04DEF31-E7F6-5540-A832-332F9BB4507D}"/>
              </a:ext>
            </a:extLst>
          </p:cNvPr>
          <p:cNvSpPr>
            <a:spLocks noGrp="1" noChangeArrowheads="1"/>
          </p:cNvSpPr>
          <p:nvPr>
            <p:ph type="body" idx="1"/>
          </p:nvPr>
        </p:nvSpPr>
        <p:spPr/>
        <p:txBody>
          <a:bodyPr/>
          <a:lstStyle/>
          <a:p>
            <a:pPr lvl="1">
              <a:defRPr/>
            </a:pPr>
            <a:r>
              <a:rPr lang="en-US" dirty="0">
                <a:ea typeface="ＭＳ Ｐゴシック" charset="0"/>
              </a:rPr>
              <a:t>	a.	Patient who has experienced cardiac arrest is unconscious and is not breathing.</a:t>
            </a:r>
          </a:p>
          <a:p>
            <a:pPr lvl="1">
              <a:defRPr/>
            </a:pPr>
            <a:r>
              <a:rPr lang="en-US" dirty="0">
                <a:ea typeface="ＭＳ Ｐゴシック" charset="0"/>
              </a:rPr>
              <a:t>	b.	You cannot feel a pulse and patient looks dead.</a:t>
            </a:r>
          </a:p>
          <a:p>
            <a:pPr lvl="1">
              <a:defRPr/>
            </a:pPr>
            <a:r>
              <a:rPr lang="en-US" dirty="0">
                <a:ea typeface="ＭＳ Ｐゴシック" charset="0"/>
              </a:rPr>
              <a:t>	c.	Regardless of cause, initial treatment is same: providing CPR.</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1601718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8BC8EE37-7F8F-2D44-835E-FE7D4301B584}"/>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24C93933-D3BF-7E42-A848-D4678A5EFAF9}"/>
              </a:ext>
            </a:extLst>
          </p:cNvPr>
          <p:cNvSpPr>
            <a:spLocks noGrp="1" noChangeArrowheads="1"/>
          </p:cNvSpPr>
          <p:nvPr>
            <p:ph type="body" idx="1"/>
          </p:nvPr>
        </p:nvSpPr>
        <p:spPr/>
        <p:txBody>
          <a:bodyPr/>
          <a:lstStyle/>
          <a:p>
            <a:pPr>
              <a:defRPr/>
            </a:pPr>
            <a:r>
              <a:rPr lang="en-US" altLang="en-US" dirty="0">
                <a:latin typeface="Calibri" pitchFamily="34" charset="0"/>
              </a:rPr>
              <a:t>IV. Components of CPR</a:t>
            </a:r>
          </a:p>
          <a:p>
            <a:pPr>
              <a:defRPr/>
            </a:pPr>
            <a:r>
              <a:rPr lang="en-US" altLang="en-US" dirty="0">
                <a:latin typeface="Calibri" pitchFamily="34" charset="0"/>
              </a:rPr>
              <a:t>A.	Technique of CPR requires three types of skills:</a:t>
            </a:r>
          </a:p>
          <a:p>
            <a:pPr>
              <a:defRPr/>
            </a:pPr>
            <a:r>
              <a:rPr lang="en-US" altLang="en-US" dirty="0">
                <a:latin typeface="Calibri" pitchFamily="34" charset="0"/>
              </a:rPr>
              <a:t>	1.	C (circulation). </a:t>
            </a:r>
          </a:p>
          <a:p>
            <a:pPr>
              <a:defRPr/>
            </a:pPr>
            <a:r>
              <a:rPr lang="en-US" altLang="en-US" dirty="0">
                <a:latin typeface="Calibri" pitchFamily="34" charset="0"/>
              </a:rPr>
              <a:t>	2.	A (airway) skills.</a:t>
            </a:r>
          </a:p>
          <a:p>
            <a:pPr>
              <a:defRPr/>
            </a:pPr>
            <a:r>
              <a:rPr lang="en-US" altLang="en-US" dirty="0">
                <a:latin typeface="Calibri" pitchFamily="34" charset="0"/>
              </a:rPr>
              <a:t>	3.	B (breathing) skills.</a:t>
            </a:r>
          </a:p>
          <a:p>
            <a:pPr>
              <a:defRPr/>
            </a:pPr>
            <a:r>
              <a:rPr lang="en-US" altLang="en-US" dirty="0">
                <a:latin typeface="Calibri" pitchFamily="34" charset="0"/>
              </a:rPr>
              <a:t>B.	Airway and breathing skills:</a:t>
            </a:r>
          </a:p>
          <a:p>
            <a:pPr>
              <a:defRPr/>
            </a:pPr>
            <a:r>
              <a:rPr lang="en-US" altLang="en-US" dirty="0">
                <a:latin typeface="Calibri" pitchFamily="34" charset="0"/>
              </a:rPr>
              <a:t>	1.	</a:t>
            </a:r>
            <a:r>
              <a:rPr lang="en-US" altLang="en-US" i="1" dirty="0">
                <a:latin typeface="Calibri" pitchFamily="34" charset="0"/>
              </a:rPr>
              <a:t>Airway Management</a:t>
            </a:r>
            <a:r>
              <a:rPr lang="en-US" altLang="en-US" dirty="0">
                <a:latin typeface="Calibri" pitchFamily="34" charset="0"/>
              </a:rPr>
              <a:t> chapter addressed how to determine if airway is open, how to correct a blocked airway by using head tilt–chin lift or jaw-thrust maneuver, and how to correct absence of breathing by performing rescue breathing.</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410381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02A127BF-E60F-554F-8DDD-BC7573B323DB}"/>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9A8EB744-8332-8B48-978C-47390AE3D19F}"/>
              </a:ext>
            </a:extLst>
          </p:cNvPr>
          <p:cNvSpPr>
            <a:spLocks noGrp="1" noChangeArrowheads="1"/>
          </p:cNvSpPr>
          <p:nvPr>
            <p:ph type="body" idx="1"/>
          </p:nvPr>
        </p:nvSpPr>
        <p:spPr/>
        <p:txBody>
          <a:bodyPr/>
          <a:lstStyle/>
          <a:p>
            <a:pPr>
              <a:defRPr/>
            </a:pPr>
            <a:r>
              <a:rPr lang="en-US" altLang="en-US" dirty="0">
                <a:latin typeface="Calibri" pitchFamily="34" charset="0"/>
              </a:rPr>
              <a:t>C.	To perform CPR, you must combine airway and breathing skills with circulation skills.</a:t>
            </a:r>
          </a:p>
          <a:p>
            <a:pPr>
              <a:defRPr/>
            </a:pPr>
            <a:r>
              <a:rPr lang="en-US" altLang="en-US" dirty="0">
                <a:latin typeface="Calibri" pitchFamily="34" charset="0"/>
              </a:rPr>
              <a:t>	1.	Check patient for a pulse.</a:t>
            </a:r>
          </a:p>
          <a:p>
            <a:pPr>
              <a:defRPr/>
            </a:pPr>
            <a:r>
              <a:rPr lang="en-US" altLang="en-US" dirty="0">
                <a:latin typeface="Calibri" pitchFamily="34" charset="0"/>
              </a:rPr>
              <a:t>	2.	If there is no pulse, correct patient’s circulation by performing external chest compressions.</a:t>
            </a:r>
            <a:endParaRPr lang="en-US" altLang="en-US" b="1" dirty="0">
              <a:latin typeface="Calibri" pitchFamily="34" charset="0"/>
            </a:endParaRPr>
          </a:p>
          <a:p>
            <a:pPr>
              <a:defRPr/>
            </a:pPr>
            <a:r>
              <a:rPr lang="en-US" altLang="en-US" dirty="0">
                <a:latin typeface="Calibri" pitchFamily="34" charset="0"/>
              </a:rPr>
              <a:t>		a.	By compressing patient’s sternum, you change pressure in patient’s chest and force enough blood through system to sustain life for a short period of time.</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0458628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A472C1E3-FD14-C44F-A021-145C474E9C41}"/>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3448006E-ADFA-9E49-B0E4-394D178C78AA}"/>
              </a:ext>
            </a:extLst>
          </p:cNvPr>
          <p:cNvSpPr>
            <a:spLocks noGrp="1" noChangeArrowheads="1"/>
          </p:cNvSpPr>
          <p:nvPr>
            <p:ph type="body" idx="1"/>
          </p:nvPr>
        </p:nvSpPr>
        <p:spPr/>
        <p:txBody>
          <a:bodyPr/>
          <a:lstStyle/>
          <a:p>
            <a:pPr>
              <a:defRPr/>
            </a:pPr>
            <a:r>
              <a:rPr lang="en-US" dirty="0">
                <a:ea typeface="ＭＳ Ｐゴシック" charset="0"/>
              </a:rPr>
              <a:t>D.	CPR by itself cannot sustain life indefinitely.</a:t>
            </a:r>
          </a:p>
          <a:p>
            <a:pPr>
              <a:defRPr/>
            </a:pPr>
            <a:r>
              <a:rPr lang="en-US" dirty="0">
                <a:ea typeface="ＭＳ Ｐゴシック" charset="0"/>
              </a:rPr>
              <a:t>	1.	Once it is recognized that patient is pulseless and not breathing, CPR should be started as soon as possible to give patient the best chance for survival.</a:t>
            </a:r>
            <a:endParaRPr lang="en-US" b="1" dirty="0">
              <a:ea typeface="ＭＳ Ｐゴシック" charset="0"/>
            </a:endParaRPr>
          </a:p>
          <a:p>
            <a:pPr>
              <a:defRPr/>
            </a:pPr>
            <a:r>
              <a:rPr lang="en-US" dirty="0">
                <a:ea typeface="ＭＳ Ｐゴシック" charset="0"/>
              </a:rPr>
              <a:t>	2.	Many patients will need defibrillation and medication to be successfully resuscitated from cardiac arrest.</a:t>
            </a:r>
            <a:endParaRPr lang="en-US" b="1" dirty="0">
              <a:ea typeface="ＭＳ Ｐゴシック" charset="0"/>
            </a:endParaRPr>
          </a:p>
        </p:txBody>
      </p:sp>
    </p:spTree>
    <p:extLst>
      <p:ext uri="{BB962C8B-B14F-4D97-AF65-F5344CB8AC3E}">
        <p14:creationId xmlns:p14="http://schemas.microsoft.com/office/powerpoint/2010/main" val="4075685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23688858-287D-904C-B0D7-9EF4343EC792}"/>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18AEBB09-FED9-2F4E-8684-0F9CAAA5F182}"/>
              </a:ext>
            </a:extLst>
          </p:cNvPr>
          <p:cNvSpPr>
            <a:spLocks noGrp="1" noChangeArrowheads="1"/>
          </p:cNvSpPr>
          <p:nvPr>
            <p:ph type="body" idx="1"/>
          </p:nvPr>
        </p:nvSpPr>
        <p:spPr/>
        <p:txBody>
          <a:bodyPr/>
          <a:lstStyle/>
          <a:p>
            <a:pPr>
              <a:defRPr/>
            </a:pPr>
            <a:r>
              <a:rPr lang="en-US" altLang="en-US" dirty="0">
                <a:latin typeface="Calibri" pitchFamily="34" charset="0"/>
              </a:rPr>
              <a:t>V. The Cardiac Chain of Survival</a:t>
            </a:r>
          </a:p>
          <a:p>
            <a:pPr>
              <a:defRPr/>
            </a:pPr>
            <a:r>
              <a:rPr lang="en-US" altLang="en-US" dirty="0">
                <a:latin typeface="Calibri" pitchFamily="34" charset="0"/>
              </a:rPr>
              <a:t>A.	CPR alone is not sufficient to save lives, but it is first treatment in American Heart Association’s Chain of Survival. </a:t>
            </a:r>
          </a:p>
          <a:p>
            <a:pPr>
              <a:defRPr/>
            </a:pPr>
            <a:r>
              <a:rPr lang="en-US" altLang="en-US" dirty="0">
                <a:latin typeface="Calibri" pitchFamily="34" charset="0"/>
              </a:rPr>
              <a:t>B.	Links of Chain of Survival include:</a:t>
            </a:r>
          </a:p>
          <a:p>
            <a:pPr>
              <a:defRPr/>
            </a:pPr>
            <a:r>
              <a:rPr lang="en-US" altLang="en-US" dirty="0">
                <a:latin typeface="Calibri" pitchFamily="34" charset="0"/>
              </a:rPr>
              <a:t>	1.	Recognition of cardiac arrest and activation of emergency response system</a:t>
            </a:r>
          </a:p>
          <a:p>
            <a:pPr>
              <a:defRPr/>
            </a:pPr>
            <a:r>
              <a:rPr lang="en-US" altLang="en-US" dirty="0">
                <a:latin typeface="Calibri" pitchFamily="34" charset="0"/>
              </a:rPr>
              <a:t>	2.	Immediate CPR with emphasis on high-quality chest compressions</a:t>
            </a:r>
          </a:p>
          <a:p>
            <a:pPr marL="1143000" lvl="2" indent="-228600">
              <a:buFontTx/>
              <a:buAutoNum type="arabicPeriod" startAt="3"/>
              <a:defRPr/>
            </a:pPr>
            <a:r>
              <a:rPr lang="en-US" altLang="en-US" dirty="0">
                <a:latin typeface="Calibri" pitchFamily="34" charset="0"/>
              </a:rPr>
              <a:t>   Rapid defibrillation</a:t>
            </a:r>
          </a:p>
          <a:p>
            <a:pPr marL="1143000" lvl="2" indent="-228600">
              <a:buFontTx/>
              <a:buAutoNum type="arabicPeriod" startAt="3"/>
              <a:defRPr/>
            </a:pPr>
            <a:r>
              <a:rPr lang="en-US" altLang="en-US" dirty="0">
                <a:latin typeface="Calibri" pitchFamily="34" charset="0"/>
              </a:rPr>
              <a:t>   Basic and advanced emergency medical services care</a:t>
            </a:r>
          </a:p>
          <a:p>
            <a:pPr>
              <a:defRPr/>
            </a:pPr>
            <a:r>
              <a:rPr lang="en-US" altLang="en-US" dirty="0">
                <a:latin typeface="Calibri" pitchFamily="34" charset="0"/>
              </a:rPr>
              <a:t>	5. 	Advanced life support and </a:t>
            </a:r>
            <a:r>
              <a:rPr lang="en-US" altLang="en-US" dirty="0" err="1">
                <a:latin typeface="Calibri" pitchFamily="34" charset="0"/>
              </a:rPr>
              <a:t>postarrest</a:t>
            </a:r>
            <a:r>
              <a:rPr lang="en-US" altLang="en-US" dirty="0">
                <a:latin typeface="Calibri" pitchFamily="34" charset="0"/>
              </a:rPr>
              <a:t> care</a:t>
            </a:r>
          </a:p>
          <a:p>
            <a:pPr>
              <a:defRPr/>
            </a:pPr>
            <a:r>
              <a:rPr lang="en-US" altLang="en-US" dirty="0">
                <a:latin typeface="Calibri" pitchFamily="34" charset="0"/>
              </a:rPr>
              <a:t>C.	As an EMR, you can help patient by providing early CPR with an emphasis on high-quality chest compressions and by making sure that EMS system has been activated.</a:t>
            </a:r>
          </a:p>
          <a:p>
            <a:pPr>
              <a:defRPr/>
            </a:pPr>
            <a:r>
              <a:rPr lang="en-US" altLang="en-US" dirty="0">
                <a:latin typeface="Calibri" pitchFamily="34" charset="0"/>
              </a:rPr>
              <a:t>	1.	Chain of Survival is only as good as its weakest link.</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64266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8C89AEB0-AF31-8D43-9E58-535C56242E61}"/>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36AA53D4-9584-2547-87C4-BFC9648A1221}"/>
              </a:ext>
            </a:extLst>
          </p:cNvPr>
          <p:cNvSpPr>
            <a:spLocks noGrp="1" noChangeArrowheads="1"/>
          </p:cNvSpPr>
          <p:nvPr>
            <p:ph type="body" idx="1"/>
          </p:nvPr>
        </p:nvSpPr>
        <p:spPr/>
        <p:txBody>
          <a:bodyPr/>
          <a:lstStyle/>
          <a:p>
            <a:pPr eaLnBrk="1" hangingPunct="1">
              <a:defRPr/>
            </a:pPr>
            <a:r>
              <a:rPr lang="en-US">
                <a:ea typeface="ＭＳ Ｐゴシック" charset="0"/>
              </a:rPr>
              <a:t>Figure: The five links of the cardiac chain of survival.</a:t>
            </a:r>
          </a:p>
        </p:txBody>
      </p:sp>
    </p:spTree>
    <p:extLst>
      <p:ext uri="{BB962C8B-B14F-4D97-AF65-F5344CB8AC3E}">
        <p14:creationId xmlns:p14="http://schemas.microsoft.com/office/powerpoint/2010/main" val="3729227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957C11A1-D5C1-424C-AE3D-19FF3FD4C962}"/>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C4839E4-F88F-F54F-9784-F0FF097BAF90}"/>
              </a:ext>
            </a:extLst>
          </p:cNvPr>
          <p:cNvSpPr>
            <a:spLocks noGrp="1" noChangeArrowheads="1"/>
          </p:cNvSpPr>
          <p:nvPr>
            <p:ph type="body" idx="1"/>
          </p:nvPr>
        </p:nvSpPr>
        <p:spPr/>
        <p:txBody>
          <a:bodyPr/>
          <a:lstStyle/>
          <a:p>
            <a:pPr>
              <a:defRPr/>
            </a:pPr>
            <a:r>
              <a:rPr lang="en-US" dirty="0">
                <a:ea typeface="ＭＳ Ｐゴシック" charset="0"/>
              </a:rPr>
              <a:t>VI. When to Start CPR</a:t>
            </a:r>
          </a:p>
          <a:p>
            <a:pPr>
              <a:defRPr/>
            </a:pPr>
            <a:r>
              <a:rPr lang="en-US" dirty="0">
                <a:ea typeface="ＭＳ Ｐゴシック" charset="0"/>
              </a:rPr>
              <a:t>A.	CPR should be started on all nonbreathing, pulseless patients, unless they are obviously dead or they have a do-not-resuscitate (DNR) order that is valid in your jurisdiction.</a:t>
            </a:r>
          </a:p>
          <a:p>
            <a:pPr>
              <a:defRPr/>
            </a:pPr>
            <a:r>
              <a:rPr lang="en-US" dirty="0">
                <a:ea typeface="ＭＳ Ｐゴシック" charset="0"/>
              </a:rPr>
              <a:t>B.	Following criteria are reliable signs of death and indicate that CPR should not be started.</a:t>
            </a:r>
          </a:p>
          <a:p>
            <a:pPr>
              <a:defRPr/>
            </a:pPr>
            <a:r>
              <a:rPr lang="en-US" dirty="0">
                <a:ea typeface="ＭＳ Ｐゴシック" charset="0"/>
              </a:rPr>
              <a:t>	1.	Decapitation</a:t>
            </a:r>
          </a:p>
          <a:p>
            <a:pPr>
              <a:defRPr/>
            </a:pPr>
            <a:r>
              <a:rPr lang="en-US" dirty="0">
                <a:ea typeface="ＭＳ Ｐゴシック" charset="0"/>
              </a:rPr>
              <a:t>		a.	Occurs when the head is separated from the rest of body.</a:t>
            </a:r>
          </a:p>
          <a:p>
            <a:pPr>
              <a:defRPr/>
            </a:pPr>
            <a:r>
              <a:rPr lang="en-US" dirty="0">
                <a:ea typeface="ＭＳ Ｐゴシック" charset="0"/>
              </a:rPr>
              <a:t>		b.	There is obviously no chance of saving patient.</a:t>
            </a:r>
          </a:p>
          <a:p>
            <a:pPr>
              <a:defRPr/>
            </a:pPr>
            <a:r>
              <a:rPr lang="en-US" dirty="0">
                <a:ea typeface="ＭＳ Ｐゴシック" charset="0"/>
              </a:rPr>
              <a:t>	2.	Rigor mortis</a:t>
            </a:r>
          </a:p>
          <a:p>
            <a:pPr>
              <a:defRPr/>
            </a:pPr>
            <a:r>
              <a:rPr lang="en-US" dirty="0">
                <a:ea typeface="ＭＳ Ｐゴシック" charset="0"/>
              </a:rPr>
              <a:t>		a.	Temporary stiffening of muscles that occurs several hours after death</a:t>
            </a:r>
          </a:p>
          <a:p>
            <a:pPr>
              <a:defRPr/>
            </a:pPr>
            <a:r>
              <a:rPr lang="en-US" dirty="0">
                <a:ea typeface="ＭＳ Ｐゴシック" charset="0"/>
              </a:rPr>
              <a:t>		b.	Indicates patient has been dead for a prolonged period of time and cannot be resuscitated</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8373518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FD5EE25B-02FC-2542-93FF-18E04E9FC15B}"/>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B077D4A4-B1DB-2645-AF69-4F5D6756F252}"/>
              </a:ext>
            </a:extLst>
          </p:cNvPr>
          <p:cNvSpPr>
            <a:spLocks noGrp="1" noChangeArrowheads="1"/>
          </p:cNvSpPr>
          <p:nvPr>
            <p:ph type="body" idx="1"/>
          </p:nvPr>
        </p:nvSpPr>
        <p:spPr/>
        <p:txBody>
          <a:bodyPr/>
          <a:lstStyle/>
          <a:p>
            <a:pPr>
              <a:defRPr/>
            </a:pPr>
            <a:r>
              <a:rPr lang="en-US" altLang="en-US" dirty="0">
                <a:latin typeface="Calibri" pitchFamily="34" charset="0"/>
              </a:rPr>
              <a:t>	3.	Evidence of tissue decomposition</a:t>
            </a:r>
          </a:p>
          <a:p>
            <a:pPr>
              <a:defRPr/>
            </a:pPr>
            <a:r>
              <a:rPr lang="en-US" altLang="en-US" dirty="0">
                <a:latin typeface="Calibri" pitchFamily="34" charset="0"/>
              </a:rPr>
              <a:t>		a.	Actual flesh decay occurs only after a person has been dead for more than a day.</a:t>
            </a:r>
          </a:p>
          <a:p>
            <a:pPr>
              <a:defRPr/>
            </a:pPr>
            <a:r>
              <a:rPr lang="en-US" altLang="en-US" dirty="0">
                <a:latin typeface="Calibri" pitchFamily="34" charset="0"/>
              </a:rPr>
              <a:t>	4.	Dependent </a:t>
            </a:r>
            <a:r>
              <a:rPr lang="en-US" altLang="en-US" dirty="0" err="1">
                <a:latin typeface="Calibri" pitchFamily="34" charset="0"/>
              </a:rPr>
              <a:t>lividity</a:t>
            </a:r>
            <a:endParaRPr lang="en-US" altLang="en-US" dirty="0">
              <a:latin typeface="Calibri" pitchFamily="34" charset="0"/>
            </a:endParaRPr>
          </a:p>
          <a:p>
            <a:pPr>
              <a:defRPr/>
            </a:pPr>
            <a:r>
              <a:rPr lang="en-US" altLang="en-US" dirty="0">
                <a:latin typeface="Calibri" pitchFamily="34" charset="0"/>
              </a:rPr>
              <a:t>		a.	Red or purple color that occurs on parts of patient’s body that are closest to ground.</a:t>
            </a:r>
          </a:p>
          <a:p>
            <a:pPr>
              <a:defRPr/>
            </a:pPr>
            <a:r>
              <a:rPr lang="en-US" altLang="en-US" dirty="0">
                <a:latin typeface="Calibri" pitchFamily="34" charset="0"/>
              </a:rPr>
              <a:t>		b.	Caused by blood seeping into tissues on dependent, or lower, part of person’s body.</a:t>
            </a:r>
          </a:p>
          <a:p>
            <a:pPr>
              <a:defRPr/>
            </a:pPr>
            <a:r>
              <a:rPr lang="en-US" altLang="en-US" dirty="0">
                <a:latin typeface="Calibri" pitchFamily="34" charset="0"/>
              </a:rPr>
              <a:t>		c.	Occurs after a person has been dead for several hours.</a:t>
            </a:r>
          </a:p>
          <a:p>
            <a:pPr>
              <a:defRPr/>
            </a:pPr>
            <a:r>
              <a:rPr lang="en-US" altLang="en-US" dirty="0">
                <a:latin typeface="Calibri" pitchFamily="34" charset="0"/>
              </a:rPr>
              <a:t>C.	It is better to start CPR on a patient who is later declared dead than to withhold CPR from a patient whose life might have been saved.</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8889547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B1E16A01-2F61-0F4F-9D06-87BB0E43D5FD}"/>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9507C399-99EC-6847-92B1-872DC69C7058}"/>
              </a:ext>
            </a:extLst>
          </p:cNvPr>
          <p:cNvSpPr>
            <a:spLocks noGrp="1" noChangeArrowheads="1"/>
          </p:cNvSpPr>
          <p:nvPr>
            <p:ph type="body" idx="1"/>
          </p:nvPr>
        </p:nvSpPr>
        <p:spPr/>
        <p:txBody>
          <a:bodyPr/>
          <a:lstStyle/>
          <a:p>
            <a:pPr>
              <a:defRPr/>
            </a:pPr>
            <a:r>
              <a:rPr lang="en-US" dirty="0">
                <a:ea typeface="ＭＳ Ｐゴシック" charset="0"/>
              </a:rPr>
              <a:t>VII. When to Stop CPR</a:t>
            </a:r>
          </a:p>
          <a:p>
            <a:pPr>
              <a:defRPr/>
            </a:pPr>
            <a:r>
              <a:rPr lang="en-US" dirty="0">
                <a:ea typeface="ＭＳ Ｐゴシック" charset="0"/>
              </a:rPr>
              <a:t>A.	You should discontinue CPR only when</a:t>
            </a:r>
          </a:p>
          <a:p>
            <a:pPr>
              <a:defRPr/>
            </a:pPr>
            <a:r>
              <a:rPr lang="en-US" dirty="0">
                <a:ea typeface="ＭＳ Ｐゴシック" charset="0"/>
              </a:rPr>
              <a:t>	1.	Effective spontaneous circulation and ventilation are restored or the patient begins to move.</a:t>
            </a:r>
          </a:p>
          <a:p>
            <a:pPr>
              <a:defRPr/>
            </a:pPr>
            <a:r>
              <a:rPr lang="en-US" dirty="0">
                <a:ea typeface="ＭＳ Ｐゴシック" charset="0"/>
              </a:rPr>
              <a:t>	2.	Resuscitation efforts are transferred to another person with an equal or higher level of training who continues CPR.</a:t>
            </a:r>
          </a:p>
          <a:p>
            <a:pPr>
              <a:defRPr/>
            </a:pPr>
            <a:r>
              <a:rPr lang="en-US" dirty="0">
                <a:ea typeface="ＭＳ Ｐゴシック" charset="0"/>
              </a:rPr>
              <a:t>	3.	A physician orders you to stop.</a:t>
            </a:r>
          </a:p>
          <a:p>
            <a:pPr>
              <a:defRPr/>
            </a:pPr>
            <a:r>
              <a:rPr lang="en-US" dirty="0">
                <a:ea typeface="ＭＳ Ｐゴシック" charset="0"/>
              </a:rPr>
              <a:t>	4.	Patient is transferred to properly trained EMS personnel.</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576980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30C43F0E-95E5-774C-8A4A-AB9D1E83C9AA}"/>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32CE9E76-13D7-154D-9A7D-FD72FD2445D3}"/>
              </a:ext>
            </a:extLst>
          </p:cNvPr>
          <p:cNvSpPr>
            <a:spLocks noGrp="1" noChangeArrowheads="1"/>
          </p:cNvSpPr>
          <p:nvPr>
            <p:ph type="body" idx="1"/>
          </p:nvPr>
        </p:nvSpPr>
        <p:spPr/>
        <p:txBody>
          <a:bodyPr/>
          <a:lstStyle/>
          <a:p>
            <a:pPr>
              <a:defRPr/>
            </a:pPr>
            <a:r>
              <a:rPr lang="en-US">
                <a:ea typeface="ＭＳ Ｐゴシック" charset="0"/>
              </a:rPr>
              <a:t>	5.	Reliable criteria for death (as previously listed) are recognized.</a:t>
            </a:r>
          </a:p>
          <a:p>
            <a:pPr>
              <a:defRPr/>
            </a:pPr>
            <a:r>
              <a:rPr lang="en-US">
                <a:ea typeface="ＭＳ Ｐゴシック" charset="0"/>
              </a:rPr>
              <a:t>	6.	You are too exhausted to continue resuscitation, environmental hazards endanger your safety, or continued resuscitation would place the lives of others at risk.</a:t>
            </a:r>
            <a:endParaRPr lang="en-US" b="1">
              <a:ea typeface="ＭＳ Ｐゴシック" charset="0"/>
            </a:endParaRPr>
          </a:p>
          <a:p>
            <a:pPr eaLnBrk="1" hangingPunct="1">
              <a:defRPr/>
            </a:pPr>
            <a:endParaRPr lang="en-US">
              <a:ea typeface="ＭＳ Ｐゴシック" charset="0"/>
            </a:endParaRPr>
          </a:p>
        </p:txBody>
      </p:sp>
    </p:spTree>
    <p:extLst>
      <p:ext uri="{BB962C8B-B14F-4D97-AF65-F5344CB8AC3E}">
        <p14:creationId xmlns:p14="http://schemas.microsoft.com/office/powerpoint/2010/main" val="636507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51BB5914-6D25-9E40-A6B0-DE44F83EDAC5}"/>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6A41B74D-0BC9-1C4B-8FB7-10C8F4D5CAD1}"/>
              </a:ext>
            </a:extLst>
          </p:cNvPr>
          <p:cNvSpPr>
            <a:spLocks noGrp="1" noChangeArrowheads="1"/>
          </p:cNvSpPr>
          <p:nvPr>
            <p:ph type="body" idx="1"/>
          </p:nvPr>
        </p:nvSpPr>
        <p:spPr/>
        <p:txBody>
          <a:bodyPr/>
          <a:lstStyle/>
          <a:p>
            <a:pPr>
              <a:defRPr/>
            </a:pPr>
            <a:r>
              <a:rPr lang="en-US" altLang="en-US" dirty="0">
                <a:latin typeface="Calibri" pitchFamily="34" charset="0"/>
              </a:rPr>
              <a:t>VIII. External Cardiac Compression</a:t>
            </a:r>
          </a:p>
          <a:p>
            <a:pPr>
              <a:defRPr/>
            </a:pPr>
            <a:r>
              <a:rPr lang="en-US" altLang="en-US" dirty="0">
                <a:latin typeface="Calibri" pitchFamily="34" charset="0"/>
              </a:rPr>
              <a:t>A.	An adult patient in cardiac arrest is unconscious, has no carotid pulse and is not breathing or only gasping. </a:t>
            </a:r>
          </a:p>
          <a:p>
            <a:pPr>
              <a:defRPr/>
            </a:pPr>
            <a:r>
              <a:rPr lang="en-US" altLang="en-US" dirty="0">
                <a:latin typeface="Calibri" pitchFamily="34" charset="0"/>
              </a:rPr>
              <a:t>	1.	Check for circulation by feeling carotid pulse and look for no breathing or only gasping. </a:t>
            </a:r>
            <a:endParaRPr lang="en-US" altLang="en-US" b="1" dirty="0">
              <a:latin typeface="Calibri" pitchFamily="34" charset="0"/>
            </a:endParaRPr>
          </a:p>
          <a:p>
            <a:pPr>
              <a:defRPr/>
            </a:pPr>
            <a:r>
              <a:rPr lang="en-US" altLang="en-US" dirty="0">
                <a:latin typeface="Calibri" pitchFamily="34" charset="0"/>
              </a:rPr>
              <a:t>		a.	To check the carotid pulse, place your index and middle fingers on larynx.</a:t>
            </a:r>
            <a:endParaRPr lang="en-US" altLang="en-US" b="1" dirty="0">
              <a:latin typeface="Calibri" pitchFamily="34" charset="0"/>
            </a:endParaRPr>
          </a:p>
          <a:p>
            <a:pPr>
              <a:defRPr/>
            </a:pPr>
            <a:r>
              <a:rPr lang="en-US" altLang="en-US" dirty="0">
                <a:latin typeface="Calibri" pitchFamily="34" charset="0"/>
              </a:rPr>
              <a:t>		b.	Now slide your fingers into groove between the larynx and muscles at side of neck.</a:t>
            </a:r>
            <a:endParaRPr lang="en-US" altLang="en-US" b="1" dirty="0">
              <a:latin typeface="Calibri" pitchFamily="34" charset="0"/>
            </a:endParaRPr>
          </a:p>
          <a:p>
            <a:pPr>
              <a:defRPr/>
            </a:pPr>
            <a:r>
              <a:rPr lang="en-US" altLang="en-US" dirty="0">
                <a:latin typeface="Calibri" pitchFamily="34" charset="0"/>
              </a:rPr>
              <a:t>		c.	Keep your fingers there for at least 5 seconds but no more than 10 seconds to be sure pulse is absent and not just slow.</a:t>
            </a:r>
            <a:endParaRPr lang="en-US" altLang="en-US" b="1" dirty="0">
              <a:latin typeface="Calibri" pitchFamily="34" charset="0"/>
            </a:endParaRPr>
          </a:p>
          <a:p>
            <a:pPr>
              <a:defRPr/>
            </a:pPr>
            <a:r>
              <a:rPr lang="en-US" altLang="en-US" dirty="0">
                <a:latin typeface="Calibri" pitchFamily="34" charset="0"/>
              </a:rPr>
              <a:t>	2.	If there is no carotid pulse in an unresponsive patient, begin chest compressions. </a:t>
            </a:r>
            <a:endParaRPr lang="en-US" altLang="en-US" b="1" dirty="0">
              <a:latin typeface="Calibri" pitchFamily="34" charset="0"/>
            </a:endParaRPr>
          </a:p>
          <a:p>
            <a:pPr>
              <a:defRPr/>
            </a:pPr>
            <a:r>
              <a:rPr lang="en-US" altLang="en-US" dirty="0">
                <a:latin typeface="Calibri" pitchFamily="34" charset="0"/>
              </a:rPr>
              <a:t>		a.	Patient must be placed on a firm, horizontal surface.</a:t>
            </a:r>
            <a:endParaRPr lang="en-US" altLang="en-US" b="1" dirty="0">
              <a:latin typeface="Calibri" pitchFamily="34" charset="0"/>
            </a:endParaRPr>
          </a:p>
          <a:p>
            <a:pPr>
              <a:defRPr/>
            </a:pPr>
            <a:r>
              <a:rPr lang="en-US" altLang="en-US" dirty="0">
                <a:latin typeface="Calibri" pitchFamily="34" charset="0"/>
              </a:rPr>
              <a:t>		b.	Stand or kneel beside the patient’s chest and face the patient.</a:t>
            </a:r>
            <a:endParaRPr lang="en-US" altLang="en-US" b="1" dirty="0">
              <a:latin typeface="Calibri" pitchFamily="34" charset="0"/>
            </a:endParaRPr>
          </a:p>
          <a:p>
            <a:pPr>
              <a:defRPr/>
            </a:pPr>
            <a:r>
              <a:rPr lang="en-US" altLang="en-US" dirty="0">
                <a:latin typeface="Calibri" pitchFamily="34" charset="0"/>
              </a:rPr>
              <a:t>		c.	Place the heel of one hand in the center of the patient’s chest, on the lower half of the sternum, and place the heel of the other hand on top and interlock your fingers.</a:t>
            </a:r>
            <a:endParaRPr lang="en-US" altLang="en-US" b="1" dirty="0">
              <a:latin typeface="Calibri" pitchFamily="34" charset="0"/>
            </a:endParaRPr>
          </a:p>
          <a:p>
            <a:pPr>
              <a:defRPr/>
            </a:pPr>
            <a:r>
              <a:rPr lang="en-US" altLang="en-US" dirty="0">
                <a:latin typeface="Calibri" pitchFamily="34" charset="0"/>
              </a:rPr>
              <a:t>		d.	For steps on how to perform adult chest compressions, see [Skill Drill 8-1.]</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9886360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4E1DA134-E989-BB48-88C2-CA2F265D36D0}"/>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DE633D32-1425-4E41-A1D2-231D613C4222}"/>
              </a:ext>
            </a:extLst>
          </p:cNvPr>
          <p:cNvSpPr>
            <a:spLocks noGrp="1" noChangeArrowheads="1"/>
          </p:cNvSpPr>
          <p:nvPr>
            <p:ph type="body" idx="1"/>
          </p:nvPr>
        </p:nvSpPr>
        <p:spPr/>
        <p:txBody>
          <a:bodyPr/>
          <a:lstStyle/>
          <a:p>
            <a:pPr>
              <a:defRPr/>
            </a:pPr>
            <a:r>
              <a:rPr lang="en-US" altLang="en-US" dirty="0">
                <a:latin typeface="Calibri" pitchFamily="34" charset="0"/>
              </a:rPr>
              <a:t>B.	External chest compressions on an infant:</a:t>
            </a:r>
          </a:p>
          <a:p>
            <a:pPr>
              <a:defRPr/>
            </a:pPr>
            <a:r>
              <a:rPr lang="en-US" altLang="en-US" dirty="0">
                <a:latin typeface="Calibri" pitchFamily="34" charset="0"/>
              </a:rPr>
              <a:t>	1.	Infants (children younger than 1 year) who have experienced cardiac arrest will be unconscious, will not be breathing or only gasping, and will have no brachial pulse.</a:t>
            </a:r>
          </a:p>
          <a:p>
            <a:pPr eaLnBrk="1" hangingPunct="1">
              <a:defRPr/>
            </a:pPr>
            <a:endParaRPr lang="en-US" altLang="en-US" dirty="0">
              <a:latin typeface="Calibri" pitchFamily="34" charset="0"/>
            </a:endParaRPr>
          </a:p>
          <a:p>
            <a:pPr>
              <a:defRPr/>
            </a:pPr>
            <a:r>
              <a:rPr lang="en-US" altLang="en-US" dirty="0">
                <a:latin typeface="Calibri" pitchFamily="34" charset="0"/>
              </a:rPr>
              <a:t>Figure: Check brachial pulse on inside of infant’s arm.</a:t>
            </a:r>
          </a:p>
        </p:txBody>
      </p:sp>
    </p:spTree>
    <p:extLst>
      <p:ext uri="{BB962C8B-B14F-4D97-AF65-F5344CB8AC3E}">
        <p14:creationId xmlns:p14="http://schemas.microsoft.com/office/powerpoint/2010/main" val="11913030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737594C-DE9E-FF4A-955D-8AD4345BFBBB}"/>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7EEA49CE-9EFF-A848-BC4F-1E3039D27815}"/>
              </a:ext>
            </a:extLst>
          </p:cNvPr>
          <p:cNvSpPr>
            <a:spLocks noGrp="1" noChangeArrowheads="1"/>
          </p:cNvSpPr>
          <p:nvPr>
            <p:ph type="body" idx="1"/>
          </p:nvPr>
        </p:nvSpPr>
        <p:spPr/>
        <p:txBody>
          <a:bodyPr/>
          <a:lstStyle/>
          <a:p>
            <a:pPr>
              <a:defRPr/>
            </a:pPr>
            <a:r>
              <a:rPr lang="en-US" altLang="en-US" dirty="0">
                <a:latin typeface="Calibri" pitchFamily="34" charset="0"/>
              </a:rPr>
              <a:t>	2.	You must begin chest compressions.</a:t>
            </a:r>
          </a:p>
          <a:p>
            <a:pPr>
              <a:defRPr/>
            </a:pPr>
            <a:r>
              <a:rPr lang="en-US" altLang="en-US" dirty="0">
                <a:latin typeface="Calibri" pitchFamily="34" charset="0"/>
              </a:rPr>
              <a:t>		a.	Use your two middle fingers to compress sternum.</a:t>
            </a:r>
          </a:p>
          <a:p>
            <a:pPr>
              <a:defRPr/>
            </a:pPr>
            <a:r>
              <a:rPr lang="en-US" altLang="en-US" dirty="0">
                <a:latin typeface="Calibri" pitchFamily="34" charset="0"/>
              </a:rPr>
              <a:t>		b.	Compress sternum at least one third the depth of chest. </a:t>
            </a:r>
          </a:p>
          <a:p>
            <a:pPr>
              <a:defRPr/>
            </a:pPr>
            <a:r>
              <a:rPr lang="en-US" altLang="en-US" dirty="0">
                <a:latin typeface="Calibri" pitchFamily="34" charset="0"/>
              </a:rPr>
              <a:t>		c.	Compress at a rate of 100-120 times per minute.</a:t>
            </a:r>
          </a:p>
          <a:p>
            <a:pPr>
              <a:defRPr/>
            </a:pPr>
            <a:r>
              <a:rPr lang="en-US" altLang="en-US" dirty="0">
                <a:latin typeface="Calibri" pitchFamily="34" charset="0"/>
              </a:rPr>
              <a:t>		d.	If you are only rescuer, give two rescue breaths after every 30 chest compressions.</a:t>
            </a:r>
          </a:p>
          <a:p>
            <a:pPr>
              <a:defRPr/>
            </a:pPr>
            <a:r>
              <a:rPr lang="en-US" altLang="en-US" dirty="0">
                <a:latin typeface="Calibri" pitchFamily="34" charset="0"/>
              </a:rPr>
              <a:t>		e.	If two rescuers are present, give two rescue breaths after every 15 chest compressions.</a:t>
            </a:r>
          </a:p>
          <a:p>
            <a:pPr>
              <a:defRPr/>
            </a:pPr>
            <a:r>
              <a:rPr lang="en-US" altLang="en-US" dirty="0">
                <a:latin typeface="Calibri" pitchFamily="34" charset="0"/>
              </a:rPr>
              <a:t>	6.	Place infant on a solid surface or cradle infant in your arm when doing chest compressions.</a:t>
            </a:r>
          </a:p>
          <a:p>
            <a:pPr>
              <a:defRPr/>
            </a:pPr>
            <a:r>
              <a:rPr lang="en-US" altLang="en-US" dirty="0">
                <a:latin typeface="Calibri" pitchFamily="34" charset="0"/>
              </a:rPr>
              <a:t>	7.	You will not need to use much force because infants are so small and their chests are so pliable.</a:t>
            </a:r>
          </a:p>
          <a:p>
            <a:pPr eaLnBrk="1" hangingPunct="1">
              <a:defRPr/>
            </a:pPr>
            <a:endParaRPr lang="en-US" altLang="en-US" dirty="0">
              <a:latin typeface="Calibri" pitchFamily="34" charset="0"/>
            </a:endParaRPr>
          </a:p>
          <a:p>
            <a:pPr eaLnBrk="1" hangingPunct="1">
              <a:defRPr/>
            </a:pPr>
            <a:r>
              <a:rPr lang="en-US" altLang="en-US" dirty="0">
                <a:latin typeface="Calibri" pitchFamily="34" charset="0"/>
              </a:rPr>
              <a:t>Figure: Positioning the infant patient for proper CPR.</a:t>
            </a:r>
          </a:p>
        </p:txBody>
      </p:sp>
    </p:spTree>
    <p:extLst>
      <p:ext uri="{BB962C8B-B14F-4D97-AF65-F5344CB8AC3E}">
        <p14:creationId xmlns:p14="http://schemas.microsoft.com/office/powerpoint/2010/main" val="863483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26A9C521-F129-C442-AC0C-916F07D89251}"/>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9BDF4DE0-00E5-EE47-B456-0972910B9569}"/>
              </a:ext>
            </a:extLst>
          </p:cNvPr>
          <p:cNvSpPr>
            <a:spLocks noGrp="1" noChangeArrowheads="1"/>
          </p:cNvSpPr>
          <p:nvPr>
            <p:ph type="body" idx="1"/>
          </p:nvPr>
        </p:nvSpPr>
        <p:spPr/>
        <p:txBody>
          <a:bodyPr/>
          <a:lstStyle/>
          <a:p>
            <a:pPr>
              <a:defRPr/>
            </a:pPr>
            <a:r>
              <a:rPr lang="en-US" dirty="0">
                <a:ea typeface="ＭＳ Ｐゴシック" charset="-128"/>
                <a:cs typeface="+mn-cs"/>
              </a:rPr>
              <a:t>C.	External chest compressions on a child:</a:t>
            </a:r>
          </a:p>
          <a:p>
            <a:pPr>
              <a:defRPr/>
            </a:pPr>
            <a:r>
              <a:rPr lang="en-US" dirty="0">
                <a:ea typeface="ＭＳ Ｐゴシック" charset="-128"/>
                <a:cs typeface="+mn-cs"/>
              </a:rPr>
              <a:t>	1.	Signs of cardiac arrest in a child (from age 1 year to the onset of puberty [12 to 14 years]) are same as those for an adult. </a:t>
            </a:r>
            <a:endParaRPr lang="en-US" sz="1000" dirty="0">
              <a:ea typeface="ＭＳ Ｐゴシック" charset="-128"/>
              <a:cs typeface="+mn-cs"/>
            </a:endParaRPr>
          </a:p>
          <a:p>
            <a:pPr>
              <a:defRPr/>
            </a:pPr>
            <a:r>
              <a:rPr lang="en-US" dirty="0">
                <a:ea typeface="ＭＳ Ｐゴシック" charset="-128"/>
                <a:cs typeface="+mn-cs"/>
              </a:rPr>
              <a:t>	2.	Check carotid pulse.</a:t>
            </a:r>
            <a:endParaRPr lang="en-US" sz="1000" dirty="0">
              <a:ea typeface="ＭＳ Ｐゴシック" charset="-128"/>
              <a:cs typeface="+mn-cs"/>
            </a:endParaRPr>
          </a:p>
          <a:p>
            <a:pPr>
              <a:defRPr/>
            </a:pPr>
            <a:r>
              <a:rPr lang="en-US" dirty="0">
                <a:ea typeface="ＭＳ Ｐゴシック" charset="-128"/>
                <a:cs typeface="+mn-cs"/>
              </a:rPr>
              <a:t>	3.	To perform chest compressions:</a:t>
            </a:r>
            <a:endParaRPr lang="en-US" sz="1000" dirty="0">
              <a:ea typeface="ＭＳ Ｐゴシック" charset="-128"/>
              <a:cs typeface="+mn-cs"/>
            </a:endParaRPr>
          </a:p>
          <a:p>
            <a:pPr>
              <a:defRPr/>
            </a:pPr>
            <a:r>
              <a:rPr lang="en-US" dirty="0">
                <a:ea typeface="ＭＳ Ｐゴシック" charset="-128"/>
                <a:cs typeface="+mn-cs"/>
              </a:rPr>
              <a:t>		a.	In smaller children, place the heel of one hand in center of chest, on the lower half of the sternum. </a:t>
            </a:r>
            <a:endParaRPr lang="en-US" sz="1050" dirty="0">
              <a:ea typeface="ＭＳ Ｐゴシック" charset="-128"/>
              <a:cs typeface="+mn-cs"/>
            </a:endParaRPr>
          </a:p>
          <a:p>
            <a:pPr>
              <a:defRPr/>
            </a:pPr>
            <a:r>
              <a:rPr lang="en-US" dirty="0">
                <a:ea typeface="ＭＳ Ｐゴシック" charset="-128"/>
                <a:cs typeface="+mn-cs"/>
              </a:rPr>
              <a:t>		b.	In larger children, perform chest compressions with two hands, as with the adult. </a:t>
            </a:r>
            <a:endParaRPr lang="en-US" sz="1050" dirty="0">
              <a:ea typeface="ＭＳ Ｐゴシック" charset="-128"/>
              <a:cs typeface="+mn-cs"/>
            </a:endParaRPr>
          </a:p>
          <a:p>
            <a:pPr lvl="1">
              <a:defRPr/>
            </a:pPr>
            <a:r>
              <a:rPr lang="en-US" dirty="0">
                <a:ea typeface="ＭＳ Ｐゴシック" charset="-128"/>
              </a:rPr>
              <a:t>	c.	Compress sternum at least one third depth of chest.</a:t>
            </a:r>
          </a:p>
          <a:p>
            <a:pPr lvl="1">
              <a:defRPr/>
            </a:pPr>
            <a:r>
              <a:rPr lang="en-US" dirty="0">
                <a:ea typeface="ＭＳ Ｐゴシック" charset="-128"/>
              </a:rPr>
              <a:t>	d.	Compress chest at a rate of at least 100 times per minute.</a:t>
            </a:r>
          </a:p>
          <a:p>
            <a:pPr>
              <a:defRPr/>
            </a:pPr>
            <a:r>
              <a:rPr lang="en-US" dirty="0">
                <a:ea typeface="ＭＳ Ｐゴシック" charset="-128"/>
                <a:cs typeface="+mn-cs"/>
              </a:rPr>
              <a:t>		e.	If you are the only rescuer, give two rescue breaths after every 30 chest compressions.</a:t>
            </a:r>
            <a:endParaRPr lang="en-US" sz="1050" dirty="0">
              <a:ea typeface="ＭＳ Ｐゴシック" charset="-128"/>
              <a:cs typeface="+mn-cs"/>
            </a:endParaRPr>
          </a:p>
          <a:p>
            <a:pPr>
              <a:defRPr/>
            </a:pPr>
            <a:r>
              <a:rPr lang="en-US" dirty="0">
                <a:ea typeface="ＭＳ Ｐゴシック" charset="-128"/>
                <a:cs typeface="+mn-cs"/>
              </a:rPr>
              <a:t>		f.	If two rescuers are present, give two rescue breaths after every 15 chest compressions.</a:t>
            </a:r>
            <a:endParaRPr lang="en-US" sz="1050" dirty="0">
              <a:ea typeface="ＭＳ Ｐゴシック" charset="-128"/>
              <a:cs typeface="+mn-cs"/>
            </a:endParaRPr>
          </a:p>
          <a:p>
            <a:pPr eaLnBrk="1" hangingPunct="1">
              <a:defRPr/>
            </a:pPr>
            <a:endParaRPr lang="en-US" altLang="en-US" dirty="0">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1779067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4FFB9265-6C84-2E4E-9C82-15F7CE2C70F2}"/>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1E226CA6-63EE-4548-BEC4-5FE106F3D83D}"/>
              </a:ext>
            </a:extLst>
          </p:cNvPr>
          <p:cNvSpPr>
            <a:spLocks noGrp="1" noChangeArrowheads="1"/>
          </p:cNvSpPr>
          <p:nvPr>
            <p:ph type="body" idx="1"/>
          </p:nvPr>
        </p:nvSpPr>
        <p:spPr/>
        <p:txBody>
          <a:bodyPr/>
          <a:lstStyle/>
          <a:p>
            <a:pPr>
              <a:defRPr/>
            </a:pPr>
            <a:r>
              <a:rPr lang="en-US" dirty="0">
                <a:ea typeface="ＭＳ Ｐゴシック" charset="0"/>
              </a:rPr>
              <a:t>IX. Adult CPR</a:t>
            </a:r>
          </a:p>
          <a:p>
            <a:pPr>
              <a:defRPr/>
            </a:pPr>
            <a:r>
              <a:rPr lang="en-US" dirty="0">
                <a:ea typeface="ＭＳ Ｐゴシック" charset="0"/>
              </a:rPr>
              <a:t>A.	One-rescuer adult CPR:</a:t>
            </a:r>
          </a:p>
          <a:p>
            <a:pPr>
              <a:defRPr/>
            </a:pPr>
            <a:r>
              <a:rPr lang="en-US" dirty="0">
                <a:ea typeface="ＭＳ Ｐゴシック" charset="0"/>
              </a:rPr>
              <a:t>	1.	CPR consists of three skill sets. </a:t>
            </a:r>
            <a:endParaRPr lang="en-US" b="1" dirty="0">
              <a:ea typeface="ＭＳ Ｐゴシック" charset="0"/>
            </a:endParaRPr>
          </a:p>
          <a:p>
            <a:pPr>
              <a:defRPr/>
            </a:pPr>
            <a:r>
              <a:rPr lang="en-US" dirty="0">
                <a:ea typeface="ＭＳ Ｐゴシック" charset="0"/>
              </a:rPr>
              <a:t>		a.	Providing chest compressions. </a:t>
            </a:r>
          </a:p>
          <a:p>
            <a:pPr>
              <a:defRPr/>
            </a:pPr>
            <a:r>
              <a:rPr lang="en-US" dirty="0">
                <a:ea typeface="ＭＳ Ｐゴシック" charset="0"/>
              </a:rPr>
              <a:t>		b.	Opening the airway. </a:t>
            </a:r>
          </a:p>
          <a:p>
            <a:pPr>
              <a:defRPr/>
            </a:pPr>
            <a:r>
              <a:rPr lang="en-US" dirty="0">
                <a:ea typeface="ＭＳ Ｐゴシック" charset="0"/>
              </a:rPr>
              <a:t>		c.	Providing rescue breaths. </a:t>
            </a:r>
          </a:p>
          <a:p>
            <a:pPr>
              <a:defRPr/>
            </a:pPr>
            <a:r>
              <a:rPr lang="en-US" dirty="0">
                <a:ea typeface="ＭＳ Ｐゴシック" charset="0"/>
              </a:rPr>
              <a:t>	2.	If you are the only trained person at scene, you must perform one-rescuer CPR. </a:t>
            </a:r>
            <a:endParaRPr lang="en-US" b="1" dirty="0">
              <a:ea typeface="ＭＳ Ｐゴシック" charset="0"/>
            </a:endParaRPr>
          </a:p>
          <a:p>
            <a:pPr>
              <a:defRPr/>
            </a:pPr>
            <a:r>
              <a:rPr lang="en-US" dirty="0">
                <a:ea typeface="ＭＳ Ｐゴシック" charset="0"/>
              </a:rPr>
              <a:t>		a.	Follow the steps in Skill Drill 8-2.</a:t>
            </a:r>
          </a:p>
          <a:p>
            <a:pPr>
              <a:defRPr/>
            </a:pPr>
            <a:r>
              <a:rPr lang="en-US" dirty="0">
                <a:ea typeface="ＭＳ Ｐゴシック" charset="0"/>
              </a:rPr>
              <a:t>	3.	When performing one-rescuer CPR, you must deliver chest compressions and rescue breathing at a ratio of 30 compressions to two breaths.</a:t>
            </a:r>
          </a:p>
        </p:txBody>
      </p:sp>
    </p:spTree>
    <p:extLst>
      <p:ext uri="{BB962C8B-B14F-4D97-AF65-F5344CB8AC3E}">
        <p14:creationId xmlns:p14="http://schemas.microsoft.com/office/powerpoint/2010/main" val="17945041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5D3E1EF9-A74A-E44E-8E80-F4BA3DD7947C}"/>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12E61000-7F99-1B4E-998B-3AFD67BF9C23}"/>
              </a:ext>
            </a:extLst>
          </p:cNvPr>
          <p:cNvSpPr>
            <a:spLocks noGrp="1" noChangeArrowheads="1"/>
          </p:cNvSpPr>
          <p:nvPr>
            <p:ph type="body" idx="1"/>
          </p:nvPr>
        </p:nvSpPr>
        <p:spPr/>
        <p:txBody>
          <a:bodyPr/>
          <a:lstStyle/>
          <a:p>
            <a:pPr>
              <a:defRPr/>
            </a:pPr>
            <a:r>
              <a:rPr lang="en-US" altLang="en-US" dirty="0">
                <a:latin typeface="Calibri" pitchFamily="34" charset="0"/>
              </a:rPr>
              <a:t>B.	Two-rescuer adult CPR</a:t>
            </a:r>
          </a:p>
          <a:p>
            <a:pPr>
              <a:defRPr/>
            </a:pPr>
            <a:r>
              <a:rPr lang="en-US" altLang="en-US" dirty="0">
                <a:latin typeface="Calibri" pitchFamily="34" charset="0"/>
              </a:rPr>
              <a:t>	1.	Two-rescuer CPR is more effective than one-rescuer CPR.</a:t>
            </a:r>
            <a:endParaRPr lang="en-US" altLang="en-US" b="1" dirty="0">
              <a:latin typeface="Calibri" pitchFamily="34" charset="0"/>
            </a:endParaRPr>
          </a:p>
          <a:p>
            <a:pPr>
              <a:defRPr/>
            </a:pPr>
            <a:r>
              <a:rPr lang="en-US" altLang="en-US" dirty="0">
                <a:latin typeface="Calibri" pitchFamily="34" charset="0"/>
              </a:rPr>
              <a:t>		a.	One rescuer can deliver chest compressions while the other performs rescue breathing.</a:t>
            </a:r>
            <a:endParaRPr lang="en-US" altLang="en-US" b="1" dirty="0">
              <a:latin typeface="Calibri" pitchFamily="34" charset="0"/>
            </a:endParaRPr>
          </a:p>
          <a:p>
            <a:pPr>
              <a:defRPr/>
            </a:pPr>
            <a:r>
              <a:rPr lang="en-US" altLang="en-US" dirty="0">
                <a:latin typeface="Calibri" pitchFamily="34" charset="0"/>
              </a:rPr>
              <a:t>		b.	Chest compressions and ventilations can be given more regularly and without interruption.</a:t>
            </a:r>
            <a:endParaRPr lang="en-US" altLang="en-US" b="1" dirty="0">
              <a:latin typeface="Calibri" pitchFamily="34" charset="0"/>
            </a:endParaRPr>
          </a:p>
          <a:p>
            <a:pPr>
              <a:defRPr/>
            </a:pPr>
            <a:r>
              <a:rPr lang="en-US" altLang="en-US" dirty="0">
                <a:latin typeface="Calibri" pitchFamily="34" charset="0"/>
              </a:rPr>
              <a:t>	2.	To avoid rescuer fatigue, two rescuers should switch roles after every five cycles of CPR.</a:t>
            </a:r>
          </a:p>
          <a:p>
            <a:pPr>
              <a:defRPr/>
            </a:pPr>
            <a:r>
              <a:rPr lang="en-US" altLang="en-US" dirty="0">
                <a:latin typeface="Calibri" pitchFamily="34" charset="0"/>
              </a:rPr>
              <a:t>	3.	CPR should not be interrupted for longer than 10 seconds.</a:t>
            </a:r>
          </a:p>
          <a:p>
            <a:pPr>
              <a:defRPr/>
            </a:pPr>
            <a:r>
              <a:rPr lang="en-US" altLang="en-US" dirty="0">
                <a:latin typeface="Calibri" pitchFamily="34" charset="0"/>
              </a:rPr>
              <a:t>	4.	If possible, position yourselves on opposite sides of patient—one near the head and the other near chest.</a:t>
            </a:r>
          </a:p>
          <a:p>
            <a:pPr>
              <a:defRPr/>
            </a:pPr>
            <a:r>
              <a:rPr lang="en-US" altLang="en-US" dirty="0">
                <a:latin typeface="Calibri" pitchFamily="34" charset="0"/>
              </a:rPr>
              <a:t>	5.	Follow steps in Skill Drill 8-3.</a:t>
            </a:r>
          </a:p>
          <a:p>
            <a:pPr>
              <a:defRPr/>
            </a:pPr>
            <a:r>
              <a:rPr lang="en-US" altLang="en-US" dirty="0">
                <a:latin typeface="Calibri" pitchFamily="34" charset="0"/>
              </a:rPr>
              <a:t>	6.	Switching CPR positions</a:t>
            </a:r>
          </a:p>
          <a:p>
            <a:pPr>
              <a:defRPr/>
            </a:pPr>
            <a:r>
              <a:rPr lang="en-US" altLang="en-US" dirty="0">
                <a:latin typeface="Calibri" pitchFamily="34" charset="0"/>
              </a:rPr>
              <a:t>		a.	A switch allows the person giving compressions to rest his or her arms.</a:t>
            </a:r>
          </a:p>
          <a:p>
            <a:pPr>
              <a:defRPr/>
            </a:pPr>
            <a:r>
              <a:rPr lang="en-US" altLang="en-US" dirty="0">
                <a:latin typeface="Calibri" pitchFamily="34" charset="0"/>
              </a:rPr>
              <a:t>		b.	Switching positions should be accomplished as smoothly and quickly as possible to minimize the break in rate and regularity of compressions and ventilations.</a:t>
            </a:r>
          </a:p>
          <a:p>
            <a:pPr>
              <a:defRPr/>
            </a:pPr>
            <a:r>
              <a:rPr lang="en-US" altLang="en-US" dirty="0">
                <a:latin typeface="Calibri" pitchFamily="34" charset="0"/>
              </a:rPr>
              <a:t>		c.	One method of switching positions is as follows:</a:t>
            </a:r>
          </a:p>
          <a:p>
            <a:pPr>
              <a:defRPr/>
            </a:pPr>
            <a:r>
              <a:rPr lang="en-US" altLang="en-US" dirty="0">
                <a:latin typeface="Calibri" pitchFamily="34" charset="0"/>
              </a:rPr>
              <a:t>			</a:t>
            </a:r>
            <a:r>
              <a:rPr lang="en-US" altLang="en-US" dirty="0" err="1">
                <a:latin typeface="Calibri" pitchFamily="34" charset="0"/>
              </a:rPr>
              <a:t>i</a:t>
            </a:r>
            <a:r>
              <a:rPr lang="en-US" altLang="en-US" dirty="0">
                <a:latin typeface="Calibri" pitchFamily="34" charset="0"/>
              </a:rPr>
              <a:t>.	As Rescuer Two tires, he or she says out loud (instead of counting): “We—will—switch—this—time.”</a:t>
            </a:r>
          </a:p>
          <a:p>
            <a:pPr>
              <a:defRPr/>
            </a:pPr>
            <a:r>
              <a:rPr lang="en-US" altLang="en-US" dirty="0">
                <a:latin typeface="Calibri" pitchFamily="34" charset="0"/>
              </a:rPr>
              <a:t>			ii.	After 25 more chest compressions, Rescuer One completes two ventilations and moves to the chest to perform compressions.</a:t>
            </a:r>
          </a:p>
          <a:p>
            <a:pPr>
              <a:defRPr/>
            </a:pPr>
            <a:r>
              <a:rPr lang="en-US" altLang="en-US" dirty="0">
                <a:latin typeface="Calibri" pitchFamily="34" charset="0"/>
              </a:rPr>
              <a:t>			iii.	Rescuer Two moves to the head of the patient to maintain the airway and ventilation.</a:t>
            </a:r>
          </a:p>
          <a:p>
            <a:pPr>
              <a:defRPr/>
            </a:pPr>
            <a:r>
              <a:rPr lang="en-US" altLang="en-US" dirty="0">
                <a:latin typeface="Calibri" pitchFamily="34" charset="0"/>
              </a:rPr>
              <a:t>			iv.	Rescuer One then begins chest compressions.</a:t>
            </a:r>
          </a:p>
          <a:p>
            <a:pPr>
              <a:defRPr/>
            </a:pPr>
            <a:r>
              <a:rPr lang="en-US" altLang="en-US" dirty="0">
                <a:latin typeface="Calibri" pitchFamily="34" charset="0"/>
              </a:rPr>
              <a:t>		d.	Switching is much easier if the rescuers work on opposite sides of the patient.</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8690661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A06AB55-C56E-5E47-9EF0-59A042D6549E}"/>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4A610474-1416-F64B-A157-647E6FF638AE}"/>
              </a:ext>
            </a:extLst>
          </p:cNvPr>
          <p:cNvSpPr>
            <a:spLocks noGrp="1" noChangeArrowheads="1"/>
          </p:cNvSpPr>
          <p:nvPr>
            <p:ph type="body" idx="1"/>
          </p:nvPr>
        </p:nvSpPr>
        <p:spPr/>
        <p:txBody>
          <a:bodyPr/>
          <a:lstStyle/>
          <a:p>
            <a:pPr>
              <a:defRPr/>
            </a:pPr>
            <a:r>
              <a:rPr lang="fr-FR" altLang="en-US" dirty="0">
                <a:latin typeface="Calibri" pitchFamily="34" charset="0"/>
              </a:rPr>
              <a:t>X. Infant CPR</a:t>
            </a:r>
            <a:endParaRPr lang="en-US" altLang="en-US" dirty="0">
              <a:latin typeface="Calibri" pitchFamily="34" charset="0"/>
            </a:endParaRPr>
          </a:p>
          <a:p>
            <a:pPr>
              <a:defRPr/>
            </a:pPr>
            <a:r>
              <a:rPr lang="fr-FR" altLang="en-US" dirty="0">
                <a:latin typeface="Calibri" pitchFamily="34" charset="0"/>
              </a:rPr>
              <a:t>A.	One-</a:t>
            </a:r>
            <a:r>
              <a:rPr lang="fr-FR" altLang="en-US" dirty="0" err="1">
                <a:latin typeface="Calibri" pitchFamily="34" charset="0"/>
              </a:rPr>
              <a:t>rescuer</a:t>
            </a:r>
            <a:r>
              <a:rPr lang="fr-FR" altLang="en-US" dirty="0">
                <a:latin typeface="Calibri" pitchFamily="34" charset="0"/>
              </a:rPr>
              <a:t> infant CPR</a:t>
            </a:r>
            <a:endParaRPr lang="en-US" altLang="en-US" dirty="0">
              <a:latin typeface="Calibri" pitchFamily="34" charset="0"/>
            </a:endParaRPr>
          </a:p>
          <a:p>
            <a:pPr>
              <a:defRPr/>
            </a:pPr>
            <a:r>
              <a:rPr lang="en-US" altLang="en-US" dirty="0">
                <a:latin typeface="Calibri" pitchFamily="34" charset="0"/>
              </a:rPr>
              <a:t>	1.	Principles of CPR are the same for adults and infants, but slightly different techniques must be used. </a:t>
            </a:r>
            <a:endParaRPr lang="en-US" altLang="en-US" b="1" dirty="0">
              <a:latin typeface="Calibri" pitchFamily="34" charset="0"/>
            </a:endParaRPr>
          </a:p>
          <a:p>
            <a:pPr>
              <a:defRPr/>
            </a:pPr>
            <a:r>
              <a:rPr lang="en-US" altLang="en-US" dirty="0">
                <a:latin typeface="Calibri" pitchFamily="34" charset="0"/>
              </a:rPr>
              <a:t>	2.	Follow steps in</a:t>
            </a:r>
            <a:r>
              <a:rPr lang="en-US" altLang="en-US" i="1" dirty="0">
                <a:latin typeface="Calibri" pitchFamily="34" charset="0"/>
              </a:rPr>
              <a:t> </a:t>
            </a:r>
            <a:r>
              <a:rPr lang="en-US" altLang="en-US" dirty="0">
                <a:latin typeface="Calibri" pitchFamily="34" charset="0"/>
              </a:rPr>
              <a:t>Skill Drill Performing One-Rescuer Infant CPR.</a:t>
            </a:r>
            <a:endParaRPr lang="en-US" altLang="en-US" b="1" dirty="0">
              <a:latin typeface="Calibri" pitchFamily="34" charset="0"/>
            </a:endParaRPr>
          </a:p>
          <a:p>
            <a:pPr>
              <a:defRPr/>
            </a:pPr>
            <a:r>
              <a:rPr lang="en-US" altLang="en-US" dirty="0">
                <a:latin typeface="Calibri" pitchFamily="34" charset="0"/>
              </a:rPr>
              <a:t>			a.	Position the infant face up on a firm, flat surface.</a:t>
            </a:r>
            <a:endParaRPr lang="en-US" altLang="en-US" b="1" dirty="0">
              <a:latin typeface="Calibri" pitchFamily="34" charset="0"/>
            </a:endParaRPr>
          </a:p>
          <a:p>
            <a:pPr>
              <a:defRPr/>
            </a:pPr>
            <a:r>
              <a:rPr lang="en-US" altLang="en-US" dirty="0">
                <a:latin typeface="Calibri" pitchFamily="34" charset="0"/>
              </a:rPr>
              <a:t>			b.	Establish level of responsiveness. Call for additional help if patient is unconscious.</a:t>
            </a:r>
            <a:endParaRPr lang="en-US" altLang="en-US" b="1" dirty="0">
              <a:latin typeface="Calibri" pitchFamily="34" charset="0"/>
            </a:endParaRPr>
          </a:p>
          <a:p>
            <a:pPr>
              <a:defRPr/>
            </a:pPr>
            <a:r>
              <a:rPr lang="en-US" altLang="en-US" dirty="0">
                <a:latin typeface="Calibri" pitchFamily="34" charset="0"/>
              </a:rPr>
              <a:t>			c.	Check brachial pulse and check for signs of no breathing or only gasping.</a:t>
            </a:r>
            <a:endParaRPr lang="en-US" altLang="en-US" b="1" dirty="0">
              <a:latin typeface="Calibri" pitchFamily="34" charset="0"/>
            </a:endParaRPr>
          </a:p>
          <a:p>
            <a:pPr>
              <a:defRPr/>
            </a:pPr>
            <a:r>
              <a:rPr lang="en-US" altLang="en-US" dirty="0">
                <a:latin typeface="Calibri" pitchFamily="34" charset="0"/>
              </a:rPr>
              <a:t>			d.	If the infant has no pulse and is not breathing or only gasping, begin chest compressions.</a:t>
            </a:r>
            <a:endParaRPr lang="en-US" altLang="en-US" b="1" dirty="0">
              <a:latin typeface="Calibri" pitchFamily="34" charset="0"/>
            </a:endParaRPr>
          </a:p>
          <a:p>
            <a:pPr>
              <a:defRPr/>
            </a:pPr>
            <a:r>
              <a:rPr lang="en-US" altLang="en-US" dirty="0">
                <a:latin typeface="Calibri" pitchFamily="34" charset="0"/>
              </a:rPr>
              <a:t>			e.	Compress the chest 30 times with the pads of your fingertips at a rate of 100-120 compressions per minute.</a:t>
            </a:r>
            <a:endParaRPr lang="en-US" altLang="en-US" b="1" dirty="0">
              <a:latin typeface="Calibri" pitchFamily="34" charset="0"/>
            </a:endParaRPr>
          </a:p>
          <a:p>
            <a:pPr>
              <a:defRPr/>
            </a:pPr>
            <a:r>
              <a:rPr lang="en-US" altLang="en-US" dirty="0">
                <a:latin typeface="Calibri" pitchFamily="34" charset="0"/>
              </a:rPr>
              <a:t>			f.	Give two breaths.</a:t>
            </a:r>
            <a:endParaRPr lang="en-US" altLang="en-US" b="1" dirty="0">
              <a:latin typeface="Calibri" pitchFamily="34" charset="0"/>
            </a:endParaRPr>
          </a:p>
          <a:p>
            <a:pPr>
              <a:defRPr/>
            </a:pPr>
            <a:r>
              <a:rPr lang="en-US" altLang="en-US" dirty="0">
                <a:latin typeface="Calibri" pitchFamily="34" charset="0"/>
              </a:rPr>
              <a:t>			g.	If you are alone, continue to give 30 compressions followed by two rescue breaths until other providers arrive or until the infant begins to move. </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8713723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718B52C1-8FC1-7C46-AA3D-89E8F3A01E38}"/>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6D7B0AB5-FFAA-104D-AD63-541449D568D9}"/>
              </a:ext>
            </a:extLst>
          </p:cNvPr>
          <p:cNvSpPr>
            <a:spLocks noGrp="1" noChangeArrowheads="1"/>
          </p:cNvSpPr>
          <p:nvPr>
            <p:ph type="body" idx="1"/>
          </p:nvPr>
        </p:nvSpPr>
        <p:spPr/>
        <p:txBody>
          <a:bodyPr/>
          <a:lstStyle/>
          <a:p>
            <a:pPr>
              <a:defRPr/>
            </a:pPr>
            <a:r>
              <a:rPr lang="en-US" altLang="en-US" dirty="0">
                <a:latin typeface="Calibri" pitchFamily="34" charset="0"/>
              </a:rPr>
              <a:t>B.	Two-rescuer infant CPR:</a:t>
            </a:r>
          </a:p>
          <a:p>
            <a:pPr>
              <a:defRPr/>
            </a:pPr>
            <a:r>
              <a:rPr lang="en-US" altLang="en-US" dirty="0">
                <a:latin typeface="Calibri" pitchFamily="34" charset="0"/>
              </a:rPr>
              <a:t>	1.	Use two-thumb/encircling hands technique for chest compressions.</a:t>
            </a:r>
            <a:endParaRPr lang="en-US" altLang="en-US" b="1" dirty="0">
              <a:latin typeface="Calibri" pitchFamily="34" charset="0"/>
            </a:endParaRPr>
          </a:p>
          <a:p>
            <a:pPr>
              <a:defRPr/>
            </a:pPr>
            <a:r>
              <a:rPr lang="en-US" altLang="en-US" dirty="0">
                <a:latin typeface="Calibri" pitchFamily="34" charset="0"/>
              </a:rPr>
              <a:t>		a.	Place both thumbs side-by-side over lower half of infant’s sternum and encircle infant’s chest with your hands.</a:t>
            </a:r>
            <a:endParaRPr lang="en-US" altLang="en-US" b="1" dirty="0">
              <a:latin typeface="Calibri" pitchFamily="34" charset="0"/>
            </a:endParaRPr>
          </a:p>
          <a:p>
            <a:pPr>
              <a:defRPr/>
            </a:pPr>
            <a:r>
              <a:rPr lang="en-US" altLang="en-US" dirty="0">
                <a:latin typeface="Calibri" pitchFamily="34" charset="0"/>
              </a:rPr>
              <a:t>	2.	Compress sternum at a rate of 100-120 compressions per minute.</a:t>
            </a:r>
            <a:endParaRPr lang="en-US" altLang="en-US" b="1" dirty="0">
              <a:latin typeface="Calibri" pitchFamily="34" charset="0"/>
            </a:endParaRPr>
          </a:p>
          <a:p>
            <a:pPr>
              <a:defRPr/>
            </a:pPr>
            <a:r>
              <a:rPr lang="en-US" altLang="en-US" dirty="0">
                <a:latin typeface="Calibri" pitchFamily="34" charset="0"/>
              </a:rPr>
              <a:t>	3.	Use a compression-to-ventilation ratio of 15:2.</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986765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82BCF3DB-6835-EB4E-ABC5-67024D479B24}"/>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6B581B98-08F1-E346-AF27-99179E797BFF}"/>
              </a:ext>
            </a:extLst>
          </p:cNvPr>
          <p:cNvSpPr>
            <a:spLocks noGrp="1" noChangeArrowheads="1"/>
          </p:cNvSpPr>
          <p:nvPr>
            <p:ph type="body" idx="1"/>
          </p:nvPr>
        </p:nvSpPr>
        <p:spPr/>
        <p:txBody>
          <a:bodyPr/>
          <a:lstStyle/>
          <a:p>
            <a:pPr>
              <a:defRPr/>
            </a:pPr>
            <a:r>
              <a:rPr lang="en-US" altLang="en-US" dirty="0">
                <a:latin typeface="Calibri" pitchFamily="34" charset="0"/>
              </a:rPr>
              <a:t>XI. Child CPR</a:t>
            </a:r>
          </a:p>
          <a:p>
            <a:pPr>
              <a:defRPr/>
            </a:pPr>
            <a:r>
              <a:rPr lang="en-US" altLang="en-US" dirty="0">
                <a:latin typeface="Calibri" pitchFamily="34" charset="0"/>
              </a:rPr>
              <a:t>A.	One-rescuer and two-rescuer child CPR</a:t>
            </a:r>
          </a:p>
          <a:p>
            <a:pPr>
              <a:defRPr/>
            </a:pPr>
            <a:r>
              <a:rPr lang="en-US" altLang="en-US" dirty="0">
                <a:latin typeface="Calibri" pitchFamily="34" charset="0"/>
              </a:rPr>
              <a:t>	1.	A child is defined as a person between 1 year of age and the onset of puberty (12 to 14 years). </a:t>
            </a:r>
            <a:endParaRPr lang="en-US" altLang="en-US" b="1" dirty="0">
              <a:latin typeface="Calibri" pitchFamily="34" charset="0"/>
            </a:endParaRPr>
          </a:p>
          <a:p>
            <a:pPr>
              <a:defRPr/>
            </a:pPr>
            <a:r>
              <a:rPr lang="en-US" altLang="en-US" dirty="0">
                <a:latin typeface="Calibri" pitchFamily="34" charset="0"/>
              </a:rPr>
              <a:t>	2.	Steps for child CPR are essentially same as for an adult; however, some steps may require modification for a child.</a:t>
            </a:r>
            <a:endParaRPr lang="en-US" altLang="en-US" b="1" dirty="0">
              <a:latin typeface="Calibri" pitchFamily="34" charset="0"/>
            </a:endParaRPr>
          </a:p>
          <a:p>
            <a:pPr>
              <a:defRPr/>
            </a:pPr>
            <a:r>
              <a:rPr lang="en-US" altLang="en-US" dirty="0">
                <a:latin typeface="Calibri" pitchFamily="34" charset="0"/>
              </a:rPr>
              <a:t>	3.	These variations are as follows:</a:t>
            </a:r>
            <a:endParaRPr lang="en-US" altLang="en-US" b="1" dirty="0">
              <a:latin typeface="Calibri" pitchFamily="34" charset="0"/>
            </a:endParaRPr>
          </a:p>
          <a:p>
            <a:pPr>
              <a:defRPr/>
            </a:pPr>
            <a:r>
              <a:rPr lang="en-US" altLang="en-US" dirty="0">
                <a:latin typeface="Calibri" pitchFamily="34" charset="0"/>
              </a:rPr>
              <a:t>		a.	Use less force to compress the child’s chest.</a:t>
            </a:r>
          </a:p>
          <a:p>
            <a:pPr>
              <a:defRPr/>
            </a:pPr>
            <a:r>
              <a:rPr lang="en-US" altLang="en-US" dirty="0">
                <a:latin typeface="Calibri" pitchFamily="34" charset="0"/>
              </a:rPr>
              <a:t>		b.	In small children, use only one hand to depress sternum one half to one third depth of chest; use two hands in larger children. </a:t>
            </a:r>
          </a:p>
          <a:p>
            <a:pPr>
              <a:defRPr/>
            </a:pPr>
            <a:r>
              <a:rPr lang="en-US" altLang="en-US" dirty="0">
                <a:latin typeface="Calibri" pitchFamily="34" charset="0"/>
              </a:rPr>
              <a:t>		c.	 Use less force to ventilate child.</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8991929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5AAAF450-1322-8646-8394-77FE6D333D73}"/>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D24FBE75-DA1B-C247-AF8E-239291574ACC}"/>
              </a:ext>
            </a:extLst>
          </p:cNvPr>
          <p:cNvSpPr>
            <a:spLocks noGrp="1" noChangeArrowheads="1"/>
          </p:cNvSpPr>
          <p:nvPr>
            <p:ph type="body" idx="1"/>
          </p:nvPr>
        </p:nvSpPr>
        <p:spPr/>
        <p:txBody>
          <a:bodyPr/>
          <a:lstStyle/>
          <a:p>
            <a:pPr>
              <a:defRPr/>
            </a:pPr>
            <a:r>
              <a:rPr lang="en-US" altLang="en-US" dirty="0">
                <a:latin typeface="Calibri" pitchFamily="34" charset="0"/>
              </a:rPr>
              <a:t>	4.	Follow these steps to administer CPR to a child:</a:t>
            </a:r>
          </a:p>
          <a:p>
            <a:pPr>
              <a:defRPr/>
            </a:pPr>
            <a:r>
              <a:rPr lang="en-US" altLang="en-US" dirty="0">
                <a:latin typeface="Calibri" pitchFamily="34" charset="0"/>
              </a:rPr>
              <a:t>		a.	Establish child’s level of responsiveness and check for breathing. </a:t>
            </a:r>
          </a:p>
          <a:p>
            <a:pPr>
              <a:defRPr/>
            </a:pPr>
            <a:r>
              <a:rPr lang="en-US" altLang="en-US" dirty="0">
                <a:latin typeface="Calibri" pitchFamily="34" charset="0"/>
              </a:rPr>
              <a:t>		b.	Check for circulation.</a:t>
            </a:r>
          </a:p>
          <a:p>
            <a:pPr>
              <a:defRPr/>
            </a:pPr>
            <a:r>
              <a:rPr lang="en-US" altLang="en-US" dirty="0">
                <a:latin typeface="Calibri" pitchFamily="34" charset="0"/>
              </a:rPr>
              <a:t>		c.	If no pulse and no breathing or only gasping, deliver 30 chest compressions. </a:t>
            </a:r>
          </a:p>
          <a:p>
            <a:pPr>
              <a:defRPr/>
            </a:pPr>
            <a:r>
              <a:rPr lang="en-US" altLang="en-US" dirty="0">
                <a:latin typeface="Calibri" pitchFamily="34" charset="0"/>
              </a:rPr>
              <a:t>		d.	Open airway.</a:t>
            </a:r>
          </a:p>
          <a:p>
            <a:pPr>
              <a:defRPr/>
            </a:pPr>
            <a:r>
              <a:rPr lang="en-US" altLang="en-US" dirty="0">
                <a:latin typeface="Calibri" pitchFamily="34" charset="0"/>
              </a:rPr>
              <a:t>		e.	Give two effective breaths.</a:t>
            </a:r>
          </a:p>
        </p:txBody>
      </p:sp>
    </p:spTree>
    <p:extLst>
      <p:ext uri="{BB962C8B-B14F-4D97-AF65-F5344CB8AC3E}">
        <p14:creationId xmlns:p14="http://schemas.microsoft.com/office/powerpoint/2010/main" val="42257352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6B1C1B35-DE90-204B-861F-A26C468D5925}"/>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8E13BFA5-2588-1B47-9D67-46A05293961D}"/>
              </a:ext>
            </a:extLst>
          </p:cNvPr>
          <p:cNvSpPr>
            <a:spLocks noGrp="1" noChangeArrowheads="1"/>
          </p:cNvSpPr>
          <p:nvPr>
            <p:ph type="body" idx="1"/>
          </p:nvPr>
        </p:nvSpPr>
        <p:spPr/>
        <p:txBody>
          <a:bodyPr/>
          <a:lstStyle/>
          <a:p>
            <a:pPr>
              <a:defRPr/>
            </a:pPr>
            <a:r>
              <a:rPr lang="en-US" dirty="0">
                <a:ea typeface="ＭＳ Ｐゴシック" charset="0"/>
              </a:rPr>
              <a:t>		f.	Continue compressions and ventilations in a 30:2 ratio for one rescuer and 15:2 for two rescuers.</a:t>
            </a:r>
          </a:p>
          <a:p>
            <a:pPr>
              <a:defRPr/>
            </a:pPr>
            <a:r>
              <a:rPr lang="en-US" dirty="0">
                <a:ea typeface="ＭＳ Ｐゴシック" charset="0"/>
              </a:rPr>
              <a:t>		g.	Reassess patient after five cycles of CPR and every 2 minutes thereafter.</a:t>
            </a:r>
          </a:p>
          <a:p>
            <a:pPr>
              <a:defRPr/>
            </a:pPr>
            <a:r>
              <a:rPr lang="en-US" dirty="0">
                <a:ea typeface="ＭＳ Ｐゴシック" charset="0"/>
              </a:rPr>
              <a:t>		h.	If you are alone with no communications device, perform 2 minutes of CPR before leaving patient to activate EMS system. </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9179179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4B65C132-E7BB-1E44-824C-C7C470D43160}"/>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3E379D08-BD23-0A4A-A467-EC8D564E00FA}"/>
              </a:ext>
            </a:extLst>
          </p:cNvPr>
          <p:cNvSpPr>
            <a:spLocks noGrp="1" noChangeArrowheads="1"/>
          </p:cNvSpPr>
          <p:nvPr>
            <p:ph type="body" idx="1"/>
          </p:nvPr>
        </p:nvSpPr>
        <p:spPr/>
        <p:txBody>
          <a:bodyPr/>
          <a:lstStyle/>
          <a:p>
            <a:pPr>
              <a:defRPr/>
            </a:pPr>
            <a:r>
              <a:rPr lang="en-US" altLang="en-US" dirty="0">
                <a:latin typeface="Calibri" pitchFamily="34" charset="0"/>
              </a:rPr>
              <a:t>XII. Signs of Effective CPR</a:t>
            </a:r>
          </a:p>
          <a:p>
            <a:pPr>
              <a:defRPr/>
            </a:pPr>
            <a:r>
              <a:rPr lang="en-US" altLang="en-US" dirty="0">
                <a:latin typeface="Calibri" pitchFamily="34" charset="0"/>
              </a:rPr>
              <a:t>A.	It is important to know signs of effective CPR so you can assess your efforts to resuscitate patient. </a:t>
            </a:r>
          </a:p>
          <a:p>
            <a:pPr>
              <a:defRPr/>
            </a:pPr>
            <a:r>
              <a:rPr lang="en-US" altLang="en-US" dirty="0">
                <a:latin typeface="Calibri" pitchFamily="34" charset="0"/>
              </a:rPr>
              <a:t>B.	Signs of effective CPR: </a:t>
            </a:r>
          </a:p>
          <a:p>
            <a:pPr>
              <a:defRPr/>
            </a:pPr>
            <a:r>
              <a:rPr lang="en-US" altLang="en-US" dirty="0">
                <a:latin typeface="Calibri" pitchFamily="34" charset="0"/>
              </a:rPr>
              <a:t>	1.	A second rescuer feels a carotid pulse while you are compressing chest. </a:t>
            </a:r>
          </a:p>
          <a:p>
            <a:pPr>
              <a:defRPr/>
            </a:pPr>
            <a:r>
              <a:rPr lang="en-US" altLang="en-US" dirty="0">
                <a:latin typeface="Calibri" pitchFamily="34" charset="0"/>
              </a:rPr>
              <a:t>	2.	Patient’s skin color improves (from blue to pink). </a:t>
            </a:r>
          </a:p>
          <a:p>
            <a:pPr>
              <a:defRPr/>
            </a:pPr>
            <a:r>
              <a:rPr lang="en-US" altLang="en-US" dirty="0">
                <a:latin typeface="Calibri" pitchFamily="34" charset="0"/>
              </a:rPr>
              <a:t>	3.	Chest visibly rises during ventilations. </a:t>
            </a:r>
          </a:p>
          <a:p>
            <a:pPr>
              <a:defRPr/>
            </a:pPr>
            <a:r>
              <a:rPr lang="en-US" altLang="en-US" dirty="0">
                <a:latin typeface="Calibri" pitchFamily="34" charset="0"/>
              </a:rPr>
              <a:t>	4.	Compressions and ventilations are delivered at appropriate rate and depth.</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18276592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3D688F49-EA36-A040-A343-F99B5E1086D8}"/>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DFAE2899-0ED6-A741-80AD-287CBA84874E}"/>
              </a:ext>
            </a:extLst>
          </p:cNvPr>
          <p:cNvSpPr>
            <a:spLocks noGrp="1" noChangeArrowheads="1"/>
          </p:cNvSpPr>
          <p:nvPr>
            <p:ph type="body" idx="1"/>
          </p:nvPr>
        </p:nvSpPr>
        <p:spPr/>
        <p:txBody>
          <a:bodyPr/>
          <a:lstStyle/>
          <a:p>
            <a:pPr>
              <a:defRPr/>
            </a:pPr>
            <a:r>
              <a:rPr lang="en-US" altLang="en-US" dirty="0">
                <a:latin typeface="Calibri" pitchFamily="34" charset="0"/>
              </a:rPr>
              <a:t>XIII. Complications of CPR</a:t>
            </a:r>
          </a:p>
          <a:p>
            <a:pPr>
              <a:defRPr/>
            </a:pPr>
            <a:r>
              <a:rPr lang="en-US" altLang="en-US" dirty="0">
                <a:latin typeface="Calibri" pitchFamily="34" charset="0"/>
              </a:rPr>
              <a:t>A.	Complications can be minimized by the use of proper technique.</a:t>
            </a:r>
          </a:p>
          <a:p>
            <a:pPr>
              <a:defRPr/>
            </a:pPr>
            <a:r>
              <a:rPr lang="en-US" altLang="en-US" dirty="0">
                <a:latin typeface="Calibri" pitchFamily="34" charset="0"/>
              </a:rPr>
              <a:t>B.	Broken ribs </a:t>
            </a:r>
          </a:p>
          <a:p>
            <a:pPr>
              <a:defRPr/>
            </a:pPr>
            <a:r>
              <a:rPr lang="en-US" altLang="en-US" dirty="0">
                <a:latin typeface="Calibri" pitchFamily="34" charset="0"/>
              </a:rPr>
              <a:t>	1.	You may break a patient’s ribs while delivering a compression.</a:t>
            </a:r>
          </a:p>
          <a:p>
            <a:pPr>
              <a:defRPr/>
            </a:pPr>
            <a:r>
              <a:rPr lang="en-US" altLang="en-US" dirty="0">
                <a:latin typeface="Calibri" pitchFamily="34" charset="0"/>
              </a:rPr>
              <a:t>	2.	To prevent this problem, use proper hand positioning and do not let your fingers come in contact with ribs.</a:t>
            </a:r>
          </a:p>
          <a:p>
            <a:pPr>
              <a:defRPr/>
            </a:pPr>
            <a:r>
              <a:rPr lang="en-US" altLang="en-US" dirty="0">
                <a:latin typeface="Calibri" pitchFamily="34" charset="0"/>
              </a:rPr>
              <a:t>	3.	If you hear a cracking sound, check and correct your hand position but continue CPR.</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399688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A0BDE22F-870D-7946-BC23-E580104FB763}"/>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797475FA-E48F-5B4B-BFF7-EB0B93755A67}"/>
              </a:ext>
            </a:extLst>
          </p:cNvPr>
          <p:cNvSpPr>
            <a:spLocks noGrp="1" noChangeArrowheads="1"/>
          </p:cNvSpPr>
          <p:nvPr>
            <p:ph type="body" idx="1"/>
          </p:nvPr>
        </p:nvSpPr>
        <p:spPr/>
        <p:txBody>
          <a:bodyPr/>
          <a:lstStyle/>
          <a:p>
            <a:pPr>
              <a:defRPr/>
            </a:pPr>
            <a:r>
              <a:rPr lang="en-US" dirty="0">
                <a:ea typeface="ＭＳ Ｐゴシック" charset="0"/>
              </a:rPr>
              <a:t>C.	Gastric distention</a:t>
            </a:r>
          </a:p>
          <a:p>
            <a:pPr>
              <a:defRPr/>
            </a:pPr>
            <a:r>
              <a:rPr lang="en-US" dirty="0">
                <a:ea typeface="ＭＳ Ｐゴシック" charset="0"/>
              </a:rPr>
              <a:t>	1.	Gastric distention is caused when too much air is blown too fast and too forcefully into stomach.</a:t>
            </a:r>
          </a:p>
          <a:p>
            <a:pPr>
              <a:defRPr/>
            </a:pPr>
            <a:r>
              <a:rPr lang="en-US" dirty="0">
                <a:ea typeface="ＭＳ Ｐゴシック" charset="0"/>
              </a:rPr>
              <a:t>	2.	Gastric distention causes abdomen to increase in size.</a:t>
            </a:r>
          </a:p>
          <a:p>
            <a:pPr>
              <a:defRPr/>
            </a:pPr>
            <a:r>
              <a:rPr lang="en-US" dirty="0">
                <a:ea typeface="ＭＳ Ｐゴシック" charset="0"/>
              </a:rPr>
              <a:t>		a.	A distended abdomen pushes on the diaphragm and prevents lungs from inflating fully.</a:t>
            </a:r>
          </a:p>
          <a:p>
            <a:pPr>
              <a:defRPr/>
            </a:pPr>
            <a:r>
              <a:rPr lang="en-US" dirty="0">
                <a:ea typeface="ＭＳ Ｐゴシック" charset="0"/>
              </a:rPr>
              <a:t>	3.	Gastric distention often causes regurgitation.</a:t>
            </a:r>
          </a:p>
          <a:p>
            <a:pPr>
              <a:defRPr/>
            </a:pPr>
            <a:r>
              <a:rPr lang="en-US" dirty="0">
                <a:ea typeface="ＭＳ Ｐゴシック" charset="0"/>
              </a:rPr>
              <a:t>		a.	If regurgitation occurs, quickly turn patient to side, wipe out mouth with your gloved finger, and then return patient to a supine position.</a:t>
            </a:r>
          </a:p>
          <a:p>
            <a:pPr>
              <a:defRPr/>
            </a:pPr>
            <a:r>
              <a:rPr lang="en-US" dirty="0">
                <a:ea typeface="ＭＳ Ｐゴシック" charset="0"/>
              </a:rPr>
              <a:t>	4.	You can prevent gastric distention by making sure you have opened airway completely.</a:t>
            </a:r>
          </a:p>
          <a:p>
            <a:pPr>
              <a:defRPr/>
            </a:pPr>
            <a:r>
              <a:rPr lang="en-US" dirty="0">
                <a:ea typeface="ＭＳ Ｐゴシック" charset="0"/>
              </a:rPr>
              <a:t>	5.	Do not blow excessive amounts of air into patient.</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20931753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0BFECB8F-F0EF-DE44-80EE-5ADA06A8DA4A}"/>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98D21897-5F4F-CF4D-99C5-58660F841BA0}"/>
              </a:ext>
            </a:extLst>
          </p:cNvPr>
          <p:cNvSpPr>
            <a:spLocks noGrp="1" noChangeArrowheads="1"/>
          </p:cNvSpPr>
          <p:nvPr>
            <p:ph type="body" idx="1"/>
          </p:nvPr>
        </p:nvSpPr>
        <p:spPr/>
        <p:txBody>
          <a:bodyPr/>
          <a:lstStyle/>
          <a:p>
            <a:pPr>
              <a:defRPr/>
            </a:pPr>
            <a:r>
              <a:rPr lang="en-US" altLang="en-US" dirty="0">
                <a:latin typeface="Calibri" pitchFamily="34" charset="0"/>
              </a:rPr>
              <a:t>D.	Regurgitation </a:t>
            </a:r>
          </a:p>
          <a:p>
            <a:pPr>
              <a:defRPr/>
            </a:pPr>
            <a:r>
              <a:rPr lang="en-US" altLang="en-US" dirty="0">
                <a:latin typeface="Calibri" pitchFamily="34" charset="0"/>
              </a:rPr>
              <a:t>	1.	Regurgitation (passive vomiting) is common during CPR, so responders should be prepared to manage this complication.</a:t>
            </a:r>
          </a:p>
          <a:p>
            <a:pPr>
              <a:defRPr/>
            </a:pPr>
            <a:r>
              <a:rPr lang="en-US" altLang="en-US" dirty="0">
                <a:latin typeface="Calibri" pitchFamily="34" charset="0"/>
              </a:rPr>
              <a:t>	2.	You can minimize the risk of regurgitation by minimizing amount of air that enters patient’s stomach.</a:t>
            </a:r>
          </a:p>
          <a:p>
            <a:pPr>
              <a:defRPr/>
            </a:pPr>
            <a:r>
              <a:rPr lang="en-US" altLang="en-US" dirty="0">
                <a:latin typeface="Calibri" pitchFamily="34" charset="0"/>
              </a:rPr>
              <a:t>	3.	When cardiac arrest occurs, the muscle that keeps food in stomach relaxes, allowing contents of stomach to back up. </a:t>
            </a:r>
          </a:p>
          <a:p>
            <a:pPr>
              <a:defRPr/>
            </a:pPr>
            <a:r>
              <a:rPr lang="en-US" altLang="en-US" dirty="0">
                <a:latin typeface="Calibri" pitchFamily="34" charset="0"/>
              </a:rPr>
              <a:t>	4.	If patient regurgitates as you are performing CPR</a:t>
            </a:r>
          </a:p>
          <a:p>
            <a:pPr>
              <a:defRPr/>
            </a:pPr>
            <a:r>
              <a:rPr lang="en-US" altLang="en-US" dirty="0">
                <a:latin typeface="Calibri" pitchFamily="34" charset="0"/>
              </a:rPr>
              <a:t>		a.	Immediately turn patient onto his or her side to allow vomitus to drain from mouth. </a:t>
            </a:r>
          </a:p>
          <a:p>
            <a:pPr>
              <a:defRPr/>
            </a:pPr>
            <a:r>
              <a:rPr lang="en-US" altLang="en-US" dirty="0">
                <a:latin typeface="Calibri" pitchFamily="34" charset="0"/>
              </a:rPr>
              <a:t>		b.	Clear patient’s mouth of remaining vomitus, first with your fingers and then with a clean cloth. </a:t>
            </a:r>
          </a:p>
          <a:p>
            <a:pPr>
              <a:defRPr/>
            </a:pPr>
            <a:r>
              <a:rPr lang="en-US" altLang="en-US" dirty="0">
                <a:latin typeface="Calibri" pitchFamily="34" charset="0"/>
              </a:rPr>
              <a:t>		c.	Use suction if it is available. </a:t>
            </a:r>
          </a:p>
          <a:p>
            <a:pPr>
              <a:defRPr/>
            </a:pPr>
            <a:r>
              <a:rPr lang="en-US" altLang="en-US" dirty="0">
                <a:latin typeface="Calibri" pitchFamily="34" charset="0"/>
              </a:rPr>
              <a:t>	5.	Do your best to clear any vomitus from the patient’s airway.</a:t>
            </a:r>
          </a:p>
        </p:txBody>
      </p:sp>
    </p:spTree>
    <p:extLst>
      <p:ext uri="{BB962C8B-B14F-4D97-AF65-F5344CB8AC3E}">
        <p14:creationId xmlns:p14="http://schemas.microsoft.com/office/powerpoint/2010/main" val="7338866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C31588D8-C775-534F-993C-8BA64B3A5475}"/>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79DCCBEB-6E7D-0349-9919-C4AB2C6B3329}"/>
              </a:ext>
            </a:extLst>
          </p:cNvPr>
          <p:cNvSpPr>
            <a:spLocks noGrp="1" noChangeArrowheads="1"/>
          </p:cNvSpPr>
          <p:nvPr>
            <p:ph type="body" idx="1"/>
          </p:nvPr>
        </p:nvSpPr>
        <p:spPr/>
        <p:txBody>
          <a:bodyPr/>
          <a:lstStyle/>
          <a:p>
            <a:pPr>
              <a:defRPr/>
            </a:pPr>
            <a:r>
              <a:rPr lang="en-US" dirty="0">
                <a:ea typeface="ＭＳ Ｐゴシック" charset="0"/>
              </a:rPr>
              <a:t>	6.	If airway is not cleared, two problems may arise:</a:t>
            </a:r>
          </a:p>
          <a:p>
            <a:pPr>
              <a:defRPr/>
            </a:pPr>
            <a:r>
              <a:rPr lang="en-US" dirty="0">
                <a:ea typeface="ＭＳ Ｐゴシック" charset="0"/>
              </a:rPr>
              <a:t>		a.	Patient may breathe in (aspirate) vomitus into lungs. </a:t>
            </a:r>
          </a:p>
          <a:p>
            <a:pPr>
              <a:defRPr/>
            </a:pPr>
            <a:r>
              <a:rPr lang="en-US" dirty="0">
                <a:ea typeface="ＭＳ Ｐゴシック" charset="0"/>
              </a:rPr>
              <a:t>		b.	You may force vomitus into lungs with next artificial ventilation.</a:t>
            </a:r>
          </a:p>
          <a:p>
            <a:pPr>
              <a:defRPr/>
            </a:pPr>
            <a:r>
              <a:rPr lang="en-US" dirty="0">
                <a:ea typeface="ＭＳ Ｐゴシック" charset="0"/>
              </a:rPr>
              <a:t>	7.	As soon as you have cleared away vomitus, continue rescue breathing.</a:t>
            </a:r>
          </a:p>
          <a:p>
            <a:pPr eaLnBrk="1" hangingPunct="1">
              <a:defRPr/>
            </a:pPr>
            <a:endParaRPr lang="en-US" dirty="0">
              <a:ea typeface="ＭＳ Ｐゴシック" charset="0"/>
            </a:endParaRPr>
          </a:p>
          <a:p>
            <a:pPr eaLnBrk="1" hangingPunct="1">
              <a:defRPr/>
            </a:pPr>
            <a:endParaRPr lang="en-US" dirty="0">
              <a:ea typeface="ＭＳ Ｐゴシック" charset="0"/>
            </a:endParaRPr>
          </a:p>
        </p:txBody>
      </p:sp>
    </p:spTree>
    <p:extLst>
      <p:ext uri="{BB962C8B-B14F-4D97-AF65-F5344CB8AC3E}">
        <p14:creationId xmlns:p14="http://schemas.microsoft.com/office/powerpoint/2010/main" val="7414600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AEC1F63C-5C16-EF4B-9CA9-66198D0643F1}"/>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739B1B1B-EC36-2E43-956C-4A379F54F1F9}"/>
              </a:ext>
            </a:extLst>
          </p:cNvPr>
          <p:cNvSpPr>
            <a:spLocks noGrp="1" noChangeArrowheads="1"/>
          </p:cNvSpPr>
          <p:nvPr>
            <p:ph type="body" idx="1"/>
          </p:nvPr>
        </p:nvSpPr>
        <p:spPr/>
        <p:txBody>
          <a:bodyPr/>
          <a:lstStyle/>
          <a:p>
            <a:pPr>
              <a:defRPr/>
            </a:pPr>
            <a:r>
              <a:rPr lang="en-US" dirty="0">
                <a:ea typeface="ＭＳ Ｐゴシック" charset="0"/>
              </a:rPr>
              <a:t>XIV. Creating Sufficient Space for CPR</a:t>
            </a:r>
          </a:p>
          <a:p>
            <a:pPr>
              <a:defRPr/>
            </a:pPr>
            <a:r>
              <a:rPr lang="en-US" dirty="0">
                <a:ea typeface="ＭＳ Ｐゴシック" charset="0"/>
              </a:rPr>
              <a:t>A.	EMRs may find themselves alone with patients in cardiac arrest. </a:t>
            </a:r>
          </a:p>
          <a:p>
            <a:pPr>
              <a:defRPr/>
            </a:pPr>
            <a:r>
              <a:rPr lang="en-US" dirty="0">
                <a:ea typeface="ＭＳ Ｐゴシック" charset="0"/>
              </a:rPr>
              <a:t>B.	One of the first things you must do is create or find a space where you can perform CPR.</a:t>
            </a:r>
          </a:p>
          <a:p>
            <a:pPr>
              <a:defRPr/>
            </a:pPr>
            <a:r>
              <a:rPr lang="en-US" dirty="0">
                <a:ea typeface="ＭＳ Ｐゴシック" charset="0"/>
              </a:rPr>
              <a:t>	1.	You need 3 feet to 4 feet of space on all sides of patient. </a:t>
            </a:r>
          </a:p>
          <a:p>
            <a:pPr>
              <a:defRPr/>
            </a:pPr>
            <a:r>
              <a:rPr lang="en-US" dirty="0">
                <a:ea typeface="ＭＳ Ｐゴシック" charset="0"/>
              </a:rPr>
              <a:t>	2.	This will give enough space so that rescuers can change places, ALS procedures can be implemented, and an ambulance stretcher can be brought in. </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1979144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F425DA15-A814-FA48-9C6F-B3B2FC7783A1}"/>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80AA64E9-79D5-C049-9210-91E81546B5B3}"/>
              </a:ext>
            </a:extLst>
          </p:cNvPr>
          <p:cNvSpPr>
            <a:spLocks noGrp="1" noChangeArrowheads="1"/>
          </p:cNvSpPr>
          <p:nvPr>
            <p:ph type="body" idx="1"/>
          </p:nvPr>
        </p:nvSpPr>
        <p:spPr/>
        <p:txBody>
          <a:bodyPr/>
          <a:lstStyle/>
          <a:p>
            <a:pPr>
              <a:defRPr/>
            </a:pPr>
            <a:r>
              <a:rPr lang="en-US" dirty="0">
                <a:ea typeface="ＭＳ Ｐゴシック" charset="0"/>
              </a:rPr>
              <a:t>C.	If there is not enough space around patient, you have two options. </a:t>
            </a:r>
          </a:p>
          <a:p>
            <a:pPr>
              <a:defRPr/>
            </a:pPr>
            <a:r>
              <a:rPr lang="en-US" dirty="0">
                <a:ea typeface="ＭＳ Ｐゴシック" charset="0"/>
              </a:rPr>
              <a:t>	1.	Quickly rearrange furniture in room or arrange objects at scene to make space. </a:t>
            </a:r>
          </a:p>
          <a:p>
            <a:pPr>
              <a:defRPr/>
            </a:pPr>
            <a:r>
              <a:rPr lang="en-US" dirty="0">
                <a:ea typeface="ＭＳ Ｐゴシック" charset="0"/>
              </a:rPr>
              <a:t>	2.	Quickly drag patient into an area that has more room.</a:t>
            </a:r>
          </a:p>
          <a:p>
            <a:pPr eaLnBrk="1" hangingPunct="1">
              <a:defRPr/>
            </a:pPr>
            <a:endParaRPr lang="en-US" dirty="0">
              <a:ea typeface="ＭＳ Ｐゴシック" charset="0"/>
            </a:endParaRPr>
          </a:p>
          <a:p>
            <a:pPr eaLnBrk="1" hangingPunct="1">
              <a:defRPr/>
            </a:pPr>
            <a:r>
              <a:rPr lang="en-US" dirty="0">
                <a:ea typeface="ＭＳ Ｐゴシック" charset="0"/>
              </a:rPr>
              <a:t>Figure: Create sufficient space for CPR.</a:t>
            </a:r>
          </a:p>
        </p:txBody>
      </p:sp>
    </p:spTree>
    <p:extLst>
      <p:ext uri="{BB962C8B-B14F-4D97-AF65-F5344CB8AC3E}">
        <p14:creationId xmlns:p14="http://schemas.microsoft.com/office/powerpoint/2010/main" val="18916084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D62B6761-B90E-A04F-A38F-F719ABC76980}"/>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3098414E-3642-9C4F-B5ED-A30CA7CD431F}"/>
              </a:ext>
            </a:extLst>
          </p:cNvPr>
          <p:cNvSpPr>
            <a:spLocks noGrp="1" noChangeArrowheads="1"/>
          </p:cNvSpPr>
          <p:nvPr>
            <p:ph type="body" idx="1"/>
          </p:nvPr>
        </p:nvSpPr>
        <p:spPr/>
        <p:txBody>
          <a:bodyPr/>
          <a:lstStyle/>
          <a:p>
            <a:pPr>
              <a:defRPr/>
            </a:pPr>
            <a:r>
              <a:rPr lang="en-US" dirty="0">
                <a:ea typeface="ＭＳ Ｐゴシック" charset="0"/>
              </a:rPr>
              <a:t>XV. Early Defibrillation by EMRs</a:t>
            </a:r>
          </a:p>
          <a:p>
            <a:pPr>
              <a:defRPr/>
            </a:pPr>
            <a:r>
              <a:rPr lang="en-US" dirty="0">
                <a:ea typeface="ＭＳ Ｐゴシック" charset="0"/>
              </a:rPr>
              <a:t>A.	Each year in the United States, approximately 424,000 people die of coronary heart disease in an out-of-hospital setting. </a:t>
            </a:r>
          </a:p>
          <a:p>
            <a:pPr>
              <a:defRPr/>
            </a:pPr>
            <a:r>
              <a:rPr lang="en-US" dirty="0">
                <a:ea typeface="ＭＳ Ｐゴシック" charset="0"/>
              </a:rPr>
              <a:t>B.	More than 70% of all out-of-hospital cardiac arrest patients have an irregular heart electrical rhythm called ventricular fibrillation (V-fib). </a:t>
            </a:r>
          </a:p>
          <a:p>
            <a:pPr>
              <a:defRPr/>
            </a:pPr>
            <a:r>
              <a:rPr lang="en-US" dirty="0">
                <a:ea typeface="ＭＳ Ｐゴシック" charset="0"/>
              </a:rPr>
              <a:t>	1.	V-fib is a rapid, disorganized, and ineffective vibration of heart.</a:t>
            </a:r>
          </a:p>
          <a:p>
            <a:pPr>
              <a:defRPr/>
            </a:pPr>
            <a:r>
              <a:rPr lang="en-US" dirty="0">
                <a:ea typeface="ＭＳ Ｐゴシック" charset="0"/>
              </a:rPr>
              <a:t>	2.	An electric shock applied to the heart will defibrillate it and reorganize vibrations into effective heartbeats. </a:t>
            </a:r>
          </a:p>
          <a:p>
            <a:pPr>
              <a:defRPr/>
            </a:pPr>
            <a:r>
              <a:rPr lang="en-US" dirty="0">
                <a:ea typeface="ＭＳ Ｐゴシック" charset="0"/>
              </a:rPr>
              <a:t>	3.	A patient in cardiac arrest stands the greatest chance for survival when early defibrillation is available. </a:t>
            </a:r>
          </a:p>
        </p:txBody>
      </p:sp>
    </p:spTree>
    <p:extLst>
      <p:ext uri="{BB962C8B-B14F-4D97-AF65-F5344CB8AC3E}">
        <p14:creationId xmlns:p14="http://schemas.microsoft.com/office/powerpoint/2010/main" val="2738861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D109DABA-6071-E347-ABCD-43E7FA13BA78}"/>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817B3A57-6319-6947-8C4C-2417CBCA4360}"/>
              </a:ext>
            </a:extLst>
          </p:cNvPr>
          <p:cNvSpPr>
            <a:spLocks noGrp="1" noChangeArrowheads="1"/>
          </p:cNvSpPr>
          <p:nvPr>
            <p:ph type="body" idx="1"/>
          </p:nvPr>
        </p:nvSpPr>
        <p:spPr/>
        <p:txBody>
          <a:bodyPr/>
          <a:lstStyle/>
          <a:p>
            <a:pPr>
              <a:defRPr/>
            </a:pPr>
            <a:r>
              <a:rPr lang="en-US" dirty="0">
                <a:ea typeface="ＭＳ Ｐゴシック" charset="0"/>
              </a:rPr>
              <a:t>C.	To get defibrillators to cardiac arrest patients more quickly, most EMS systems are equipping EMRs with automated external defibrillators (AEDs).</a:t>
            </a:r>
          </a:p>
          <a:p>
            <a:pPr>
              <a:defRPr/>
            </a:pPr>
            <a:r>
              <a:rPr lang="en-US" dirty="0">
                <a:ea typeface="ＭＳ Ｐゴシック" charset="0"/>
              </a:rPr>
              <a:t>	1.	These machines accurately identify ventricular fibrillation and advise rescuer to deliver a shock if needed.</a:t>
            </a:r>
            <a:endParaRPr lang="en-US" b="1" dirty="0">
              <a:ea typeface="ＭＳ Ｐゴシック" charset="0"/>
            </a:endParaRPr>
          </a:p>
          <a:p>
            <a:pPr>
              <a:defRPr/>
            </a:pPr>
            <a:r>
              <a:rPr lang="en-US" dirty="0">
                <a:ea typeface="ＭＳ Ｐゴシック" charset="0"/>
              </a:rPr>
              <a:t>	2.	The links in chain of survival include:</a:t>
            </a:r>
            <a:endParaRPr lang="en-US" b="1" dirty="0">
              <a:ea typeface="ＭＳ Ｐゴシック" charset="0"/>
            </a:endParaRPr>
          </a:p>
          <a:p>
            <a:pPr>
              <a:defRPr/>
            </a:pPr>
            <a:r>
              <a:rPr lang="en-US" dirty="0">
                <a:ea typeface="ＭＳ Ｐゴシック" charset="0"/>
              </a:rPr>
              <a:t>		a.	Recognition of cardiac arrest and activation of EMS system.</a:t>
            </a:r>
            <a:endParaRPr lang="en-US" b="1" dirty="0">
              <a:ea typeface="ＭＳ Ｐゴシック" charset="0"/>
            </a:endParaRPr>
          </a:p>
          <a:p>
            <a:pPr>
              <a:defRPr/>
            </a:pPr>
            <a:r>
              <a:rPr lang="en-US" dirty="0">
                <a:ea typeface="ＭＳ Ｐゴシック" charset="0"/>
              </a:rPr>
              <a:t>		b.	Immediate CPR with emphasis on high-quality chest compressions.</a:t>
            </a:r>
            <a:endParaRPr lang="en-US" b="1" dirty="0">
              <a:ea typeface="ＭＳ Ｐゴシック" charset="0"/>
            </a:endParaRPr>
          </a:p>
          <a:p>
            <a:pPr>
              <a:defRPr/>
            </a:pPr>
            <a:r>
              <a:rPr lang="en-US" dirty="0">
                <a:ea typeface="ＭＳ Ｐゴシック" charset="0"/>
              </a:rPr>
              <a:t>		c.	Rapid defibrillation.</a:t>
            </a:r>
            <a:endParaRPr lang="en-US" b="1" dirty="0">
              <a:ea typeface="ＭＳ Ｐゴシック" charset="0"/>
            </a:endParaRPr>
          </a:p>
          <a:p>
            <a:pPr>
              <a:defRPr/>
            </a:pPr>
            <a:r>
              <a:rPr lang="en-US" dirty="0">
                <a:ea typeface="ＭＳ Ｐゴシック" charset="0"/>
              </a:rPr>
              <a:t>		d.	Basic and advanced EMS care.</a:t>
            </a:r>
            <a:endParaRPr lang="en-US" b="1" dirty="0">
              <a:ea typeface="ＭＳ Ｐゴシック" charset="0"/>
            </a:endParaRPr>
          </a:p>
          <a:p>
            <a:pPr>
              <a:defRPr/>
            </a:pPr>
            <a:r>
              <a:rPr lang="en-US" dirty="0">
                <a:ea typeface="ＭＳ Ｐゴシック" charset="0"/>
              </a:rPr>
              <a:t>		e. 	Advanced life support and </a:t>
            </a:r>
            <a:r>
              <a:rPr lang="en-US" dirty="0" err="1">
                <a:ea typeface="ＭＳ Ｐゴシック" charset="0"/>
              </a:rPr>
              <a:t>postarrest</a:t>
            </a:r>
            <a:r>
              <a:rPr lang="en-US" dirty="0">
                <a:ea typeface="ＭＳ Ｐゴシック" charset="0"/>
              </a:rPr>
              <a:t> care.</a:t>
            </a:r>
            <a:endParaRPr lang="en-US" b="1" dirty="0">
              <a:ea typeface="ＭＳ Ｐゴシック" charset="0"/>
            </a:endParaRPr>
          </a:p>
          <a:p>
            <a:pPr eaLnBrk="1" hangingPunct="1">
              <a:defRPr/>
            </a:pPr>
            <a:endParaRPr lang="en-US" dirty="0">
              <a:ea typeface="ＭＳ Ｐゴシック" charset="0"/>
            </a:endParaRPr>
          </a:p>
          <a:p>
            <a:pPr>
              <a:defRPr/>
            </a:pPr>
            <a:r>
              <a:rPr lang="en-US" dirty="0">
                <a:ea typeface="ＭＳ Ｐゴシック" charset="0"/>
              </a:rPr>
              <a:t>Figure: Automated external defibrillators can vary in their design, features, and operation.</a:t>
            </a:r>
          </a:p>
        </p:txBody>
      </p:sp>
    </p:spTree>
    <p:extLst>
      <p:ext uri="{BB962C8B-B14F-4D97-AF65-F5344CB8AC3E}">
        <p14:creationId xmlns:p14="http://schemas.microsoft.com/office/powerpoint/2010/main" val="38338784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3537D1DC-F243-7A45-A905-DF0EFE12A2A4}"/>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3079CE0C-25B2-784C-BE9D-7E875B8F55AF}"/>
              </a:ext>
            </a:extLst>
          </p:cNvPr>
          <p:cNvSpPr>
            <a:spLocks noGrp="1" noChangeArrowheads="1"/>
          </p:cNvSpPr>
          <p:nvPr>
            <p:ph type="body" idx="1"/>
          </p:nvPr>
        </p:nvSpPr>
        <p:spPr/>
        <p:txBody>
          <a:bodyPr/>
          <a:lstStyle/>
          <a:p>
            <a:pPr>
              <a:defRPr/>
            </a:pPr>
            <a:r>
              <a:rPr lang="en-US" dirty="0">
                <a:ea typeface="ＭＳ Ｐゴシック" charset="0"/>
              </a:rPr>
              <a:t>D.	Performing automated external defibrillation </a:t>
            </a:r>
          </a:p>
          <a:p>
            <a:pPr>
              <a:defRPr/>
            </a:pPr>
            <a:r>
              <a:rPr lang="en-US" dirty="0">
                <a:ea typeface="ＭＳ Ｐゴシック" charset="0"/>
              </a:rPr>
              <a:t>	1.	Steps for using an AED are listed in Skill Drill 8-4.</a:t>
            </a:r>
          </a:p>
          <a:p>
            <a:pPr>
              <a:defRPr/>
            </a:pPr>
            <a:r>
              <a:rPr lang="en-US" dirty="0">
                <a:ea typeface="ＭＳ Ｐゴシック" charset="0"/>
              </a:rPr>
              <a:t>	2.	AEDs vary in their operation, so learn how to use your specific AED.</a:t>
            </a:r>
          </a:p>
          <a:p>
            <a:pPr>
              <a:defRPr/>
            </a:pPr>
            <a:r>
              <a:rPr lang="en-US" dirty="0">
                <a:ea typeface="ＭＳ Ｐゴシック" charset="0"/>
              </a:rPr>
              <a:t>	3.	You must have the training required by your medical director to practice this procedure.</a:t>
            </a:r>
          </a:p>
        </p:txBody>
      </p:sp>
    </p:spTree>
    <p:extLst>
      <p:ext uri="{BB962C8B-B14F-4D97-AF65-F5344CB8AC3E}">
        <p14:creationId xmlns:p14="http://schemas.microsoft.com/office/powerpoint/2010/main" val="4700778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DF297AD0-2723-B949-873A-B68E6101642C}"/>
              </a:ext>
            </a:extLst>
          </p:cNvPr>
          <p:cNvSpPr>
            <a:spLocks noGrp="1" noRot="1" noChangeAspect="1" noChangeArrowheads="1" noTextEdit="1"/>
          </p:cNvSpPr>
          <p:nvPr>
            <p:ph type="sldImg"/>
          </p:nvPr>
        </p:nvSpPr>
        <p:spPr>
          <a:ln/>
        </p:spPr>
      </p:sp>
      <p:sp>
        <p:nvSpPr>
          <p:cNvPr id="117763" name="Rectangle 3">
            <a:extLst>
              <a:ext uri="{FF2B5EF4-FFF2-40B4-BE49-F238E27FC236}">
                <a16:creationId xmlns:a16="http://schemas.microsoft.com/office/drawing/2014/main" id="{95FD9205-6B7C-E246-9C3C-ADFB4AC2D2DB}"/>
              </a:ext>
            </a:extLst>
          </p:cNvPr>
          <p:cNvSpPr>
            <a:spLocks noGrp="1" noChangeArrowheads="1"/>
          </p:cNvSpPr>
          <p:nvPr>
            <p:ph type="body" idx="1"/>
          </p:nvPr>
        </p:nvSpPr>
        <p:spPr/>
        <p:txBody>
          <a:bodyPr/>
          <a:lstStyle/>
          <a:p>
            <a:pPr>
              <a:defRPr/>
            </a:pPr>
            <a:r>
              <a:rPr lang="en-US" dirty="0">
                <a:ea typeface="ＭＳ Ｐゴシック" charset="0"/>
              </a:rPr>
              <a:t>XVI. CPR Training</a:t>
            </a:r>
          </a:p>
          <a:p>
            <a:pPr>
              <a:defRPr/>
            </a:pPr>
            <a:r>
              <a:rPr lang="en-US" dirty="0">
                <a:ea typeface="ＭＳ Ｐゴシック" charset="0"/>
              </a:rPr>
              <a:t>A.	EMRs should successfully complete a CPR course through a recognized agency.</a:t>
            </a:r>
          </a:p>
          <a:p>
            <a:pPr>
              <a:defRPr/>
            </a:pPr>
            <a:r>
              <a:rPr lang="en-US" dirty="0">
                <a:ea typeface="ＭＳ Ｐゴシック" charset="0"/>
              </a:rPr>
              <a:t>	1.	Emergency Care and Safety Institute (ECSI)</a:t>
            </a:r>
          </a:p>
          <a:p>
            <a:pPr>
              <a:defRPr/>
            </a:pPr>
            <a:r>
              <a:rPr lang="en-US" dirty="0">
                <a:ea typeface="ＭＳ Ｐゴシック" charset="0"/>
              </a:rPr>
              <a:t>	2.	American Heart Association (AHA)</a:t>
            </a:r>
          </a:p>
          <a:p>
            <a:pPr>
              <a:defRPr/>
            </a:pPr>
            <a:r>
              <a:rPr lang="en-US" dirty="0">
                <a:ea typeface="ＭＳ Ｐゴシック" charset="0"/>
              </a:rPr>
              <a:t>	3.	American Red Cross (ARC)</a:t>
            </a:r>
          </a:p>
          <a:p>
            <a:pPr>
              <a:defRPr/>
            </a:pPr>
            <a:r>
              <a:rPr lang="en-US" dirty="0">
                <a:ea typeface="ＭＳ Ｐゴシック" charset="0"/>
              </a:rPr>
              <a:t>B.	EMRs should regularly update their skills by successfully completing a recognized recertification course. </a:t>
            </a:r>
          </a:p>
          <a:p>
            <a:pPr>
              <a:defRPr/>
            </a:pPr>
            <a:r>
              <a:rPr lang="en-US" dirty="0">
                <a:ea typeface="ＭＳ Ｐゴシック" charset="0"/>
              </a:rPr>
              <a:t>C.	Your department should schedule periodic reviews of CPR theory and practice for all people who are trained as EMRs.</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88817473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B1F26004-B8DF-2C4B-9772-422607003E25}"/>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A1D500DF-A89A-F84E-A248-E8598222A2A4}"/>
              </a:ext>
            </a:extLst>
          </p:cNvPr>
          <p:cNvSpPr>
            <a:spLocks noGrp="1" noChangeArrowheads="1"/>
          </p:cNvSpPr>
          <p:nvPr>
            <p:ph type="body" idx="1"/>
          </p:nvPr>
        </p:nvSpPr>
        <p:spPr/>
        <p:txBody>
          <a:bodyPr/>
          <a:lstStyle/>
          <a:p>
            <a:pPr>
              <a:defRPr/>
            </a:pPr>
            <a:r>
              <a:rPr lang="en-US" altLang="en-US" dirty="0">
                <a:latin typeface="Calibri" pitchFamily="34" charset="0"/>
              </a:rPr>
              <a:t>XVII. Legal Implications of CPR</a:t>
            </a:r>
          </a:p>
          <a:p>
            <a:pPr>
              <a:defRPr/>
            </a:pPr>
            <a:r>
              <a:rPr lang="en-US" altLang="en-US" dirty="0">
                <a:latin typeface="Calibri" pitchFamily="34" charset="0"/>
              </a:rPr>
              <a:t>A.	Advance directives, living wills, and durable powers of attorney for health care are legal documents that specify the patient’s wishes regarding specified medical procedures.</a:t>
            </a:r>
          </a:p>
          <a:p>
            <a:pPr>
              <a:defRPr/>
            </a:pPr>
            <a:r>
              <a:rPr lang="en-US" altLang="en-US" dirty="0">
                <a:latin typeface="Calibri" pitchFamily="34" charset="0"/>
              </a:rPr>
              <a:t>	1.	Because you are not in a position to determine whether the advance directive or living will is valid, CPR should be started on all patients unless signs of obvious death are present.</a:t>
            </a:r>
            <a:endParaRPr lang="en-US" altLang="en-US" b="1" dirty="0">
              <a:latin typeface="Calibri" pitchFamily="34" charset="0"/>
            </a:endParaRPr>
          </a:p>
          <a:p>
            <a:pPr>
              <a:defRPr/>
            </a:pPr>
            <a:r>
              <a:rPr lang="en-US" altLang="en-US" dirty="0">
                <a:latin typeface="Calibri" pitchFamily="34" charset="0"/>
              </a:rPr>
              <a:t>	2.	If a patient has an advance directive or living will, physician at hospital will determine whether you should stop CPR. </a:t>
            </a:r>
            <a:endParaRPr lang="en-US" altLang="en-US" b="1" dirty="0">
              <a:latin typeface="Calibri" pitchFamily="34" charset="0"/>
            </a:endParaRP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27642522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CFF56DE6-8ABF-F541-B751-290A7BA3780A}"/>
              </a:ext>
            </a:extLst>
          </p:cNvPr>
          <p:cNvSpPr>
            <a:spLocks noGrp="1" noRot="1" noChangeAspect="1" noChangeArrowheads="1" noTextEdit="1"/>
          </p:cNvSpPr>
          <p:nvPr>
            <p:ph type="sldImg"/>
          </p:nvPr>
        </p:nvSpPr>
        <p:spPr>
          <a:ln/>
        </p:spPr>
      </p:sp>
      <p:sp>
        <p:nvSpPr>
          <p:cNvPr id="119811" name="Rectangle 3">
            <a:extLst>
              <a:ext uri="{FF2B5EF4-FFF2-40B4-BE49-F238E27FC236}">
                <a16:creationId xmlns:a16="http://schemas.microsoft.com/office/drawing/2014/main" id="{A43B64B8-5F56-1B49-AE56-8BB11905BE4D}"/>
              </a:ext>
            </a:extLst>
          </p:cNvPr>
          <p:cNvSpPr>
            <a:spLocks noGrp="1" noChangeArrowheads="1"/>
          </p:cNvSpPr>
          <p:nvPr>
            <p:ph type="body" idx="1"/>
          </p:nvPr>
        </p:nvSpPr>
        <p:spPr/>
        <p:txBody>
          <a:bodyPr/>
          <a:lstStyle/>
          <a:p>
            <a:pPr>
              <a:defRPr/>
            </a:pPr>
            <a:r>
              <a:rPr lang="en-US" dirty="0">
                <a:ea typeface="ＭＳ Ｐゴシック" charset="0"/>
              </a:rPr>
              <a:t>B.	Do not hesitate to start CPR on a pulseless, nonbreathing patient.</a:t>
            </a:r>
          </a:p>
          <a:p>
            <a:pPr>
              <a:defRPr/>
            </a:pPr>
            <a:r>
              <a:rPr lang="en-US" dirty="0">
                <a:ea typeface="ＭＳ Ｐゴシック" charset="0"/>
              </a:rPr>
              <a:t>	1.	Without your help, the patient will certainly die.</a:t>
            </a:r>
          </a:p>
          <a:p>
            <a:pPr>
              <a:defRPr/>
            </a:pPr>
            <a:r>
              <a:rPr lang="en-US" dirty="0">
                <a:ea typeface="ＭＳ Ｐゴシック" charset="0"/>
              </a:rPr>
              <a:t>	2.	The chances of encountering legal problems are minimal if you perform a careful assessment of the patient before beginning CPR.</a:t>
            </a:r>
          </a:p>
          <a:p>
            <a:pPr>
              <a:defRPr/>
            </a:pPr>
            <a:r>
              <a:rPr lang="en-US" dirty="0">
                <a:ea typeface="ＭＳ Ｐゴシック" charset="0"/>
              </a:rPr>
              <a:t>C.	Another potential legal pitfall is abandonment.</a:t>
            </a:r>
          </a:p>
          <a:p>
            <a:pPr>
              <a:defRPr/>
            </a:pPr>
            <a:r>
              <a:rPr lang="en-US" dirty="0">
                <a:ea typeface="ＭＳ Ｐゴシック" charset="0"/>
              </a:rPr>
              <a:t>	1.	Abandonment is discontinuation of CPR without the order of a licensed physician or without turning patient over to someone who is at least as qualified as you are.</a:t>
            </a:r>
            <a:endParaRPr lang="en-US" b="1" dirty="0">
              <a:ea typeface="ＭＳ Ｐゴシック" charset="0"/>
            </a:endParaRPr>
          </a:p>
          <a:p>
            <a:pPr>
              <a:defRPr/>
            </a:pPr>
            <a:r>
              <a:rPr lang="en-US" dirty="0">
                <a:ea typeface="ＭＳ Ｐゴシック" charset="0"/>
              </a:rPr>
              <a:t>	2.	Your most important protection against a possible legal suit is to become thoroughly proficient in the theory and practice of CPR.</a:t>
            </a:r>
            <a:endParaRPr lang="en-US" b="1" dirty="0">
              <a:ea typeface="ＭＳ Ｐゴシック" charset="0"/>
            </a:endParaRPr>
          </a:p>
          <a:p>
            <a:pPr eaLnBrk="1" hangingPunct="1">
              <a:defRPr/>
            </a:pPr>
            <a:endParaRPr lang="en-US" dirty="0">
              <a:ea typeface="ＭＳ Ｐゴシック" charset="0"/>
            </a:endParaRPr>
          </a:p>
        </p:txBody>
      </p:sp>
    </p:spTree>
    <p:extLst>
      <p:ext uri="{BB962C8B-B14F-4D97-AF65-F5344CB8AC3E}">
        <p14:creationId xmlns:p14="http://schemas.microsoft.com/office/powerpoint/2010/main" val="42312922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ACE65A4E-1BCB-554D-AFA2-777CC44BD421}"/>
              </a:ext>
            </a:extLst>
          </p:cNvPr>
          <p:cNvSpPr>
            <a:spLocks noGrp="1" noRot="1" noChangeAspect="1" noChangeArrowheads="1" noTextEdit="1"/>
          </p:cNvSpPr>
          <p:nvPr>
            <p:ph type="sldImg"/>
          </p:nvPr>
        </p:nvSpPr>
        <p:spPr>
          <a:ln/>
        </p:spPr>
      </p:sp>
      <p:sp>
        <p:nvSpPr>
          <p:cNvPr id="110594" name="Rectangle 3">
            <a:extLst>
              <a:ext uri="{FF2B5EF4-FFF2-40B4-BE49-F238E27FC236}">
                <a16:creationId xmlns:a16="http://schemas.microsoft.com/office/drawing/2014/main" id="{30DEE728-939E-FD41-A3A9-08BB41AECA7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dirty="0">
                <a:latin typeface="Calibri" panose="020F0502020204030204" pitchFamily="34" charset="0"/>
              </a:rPr>
              <a:t>XVIII. Summary</a:t>
            </a:r>
          </a:p>
          <a:p>
            <a:r>
              <a:rPr lang="en-US" altLang="en-US" dirty="0">
                <a:latin typeface="Calibri" panose="020F0502020204030204" pitchFamily="34" charset="0"/>
              </a:rPr>
              <a:t>A.	The circulatory system transports oxygenated blood from the lungs to the rest of the body. Each beat of the heart produces a pulse, which can be felt at various sites on the body, such as the inside of the wrist (radial), the neck (carotid), the inside of the upper arm (brachial), and the groin (femoral).</a:t>
            </a:r>
          </a:p>
          <a:p>
            <a:r>
              <a:rPr lang="en-US" altLang="en-US" dirty="0">
                <a:latin typeface="Calibri" panose="020F0502020204030204" pitchFamily="34" charset="0"/>
              </a:rPr>
              <a:t>B.	Cardiac arrest occurs when heart stops contracting and no blood is pumped through blood vessels. Brain damage begins within 4 to 6 minutes after the patient has experienced cardiac arrest. Within 8 to 10 minutes, the damage to the brain may become irreversible.</a:t>
            </a:r>
          </a:p>
          <a:p>
            <a:pPr>
              <a:buFontTx/>
              <a:buAutoNum type="alphaUcPeriod" startAt="3"/>
            </a:pPr>
            <a:r>
              <a:rPr lang="en-US" altLang="en-US" dirty="0">
                <a:latin typeface="Calibri" panose="020F0502020204030204" pitchFamily="34" charset="0"/>
              </a:rPr>
              <a:t>   The chain of survival—recognition/activation of EMS, immediate high-quality CPR, rapid defibrillation, basic and advanced EMS, ALS and </a:t>
            </a:r>
            <a:r>
              <a:rPr lang="en-US" altLang="en-US" dirty="0" err="1">
                <a:latin typeface="Calibri" panose="020F0502020204030204" pitchFamily="34" charset="0"/>
              </a:rPr>
              <a:t>postarrest</a:t>
            </a:r>
            <a:r>
              <a:rPr lang="en-US" altLang="en-US" dirty="0">
                <a:latin typeface="Calibri" panose="020F0502020204030204" pitchFamily="34" charset="0"/>
              </a:rPr>
              <a:t> care—includes steps essential to successful emergency cardiac care.</a:t>
            </a:r>
          </a:p>
          <a:p>
            <a:r>
              <a:rPr lang="en-US" altLang="en-US" dirty="0">
                <a:latin typeface="Calibri" panose="020F0502020204030204" pitchFamily="34" charset="0"/>
              </a:rPr>
              <a:t>D.	When you arrive at an emergency scene, you must first assess the area for potential safety hazards. If the scene is unsafe, make it as safe as possible for yourself and the patient. As you approach the patient, look for possible causes of illness or injury. Next, assess the patient by checking responsiveness and CAB:</a:t>
            </a:r>
          </a:p>
          <a:p>
            <a:r>
              <a:rPr lang="en-US" altLang="en-US" dirty="0">
                <a:latin typeface="Calibri" panose="020F0502020204030204" pitchFamily="34" charset="0"/>
              </a:rPr>
              <a:t>	1.	Circulation</a:t>
            </a:r>
            <a:endParaRPr lang="en-US" altLang="en-US" b="1" dirty="0">
              <a:latin typeface="Calibri" panose="020F0502020204030204" pitchFamily="34" charset="0"/>
            </a:endParaRPr>
          </a:p>
          <a:p>
            <a:r>
              <a:rPr lang="en-US" altLang="en-US" dirty="0">
                <a:latin typeface="Calibri" panose="020F0502020204030204" pitchFamily="34" charset="0"/>
              </a:rPr>
              <a:t>	2.	Airway</a:t>
            </a:r>
            <a:endParaRPr lang="en-US" altLang="en-US" b="1" dirty="0">
              <a:latin typeface="Calibri" panose="020F0502020204030204" pitchFamily="34" charset="0"/>
            </a:endParaRPr>
          </a:p>
          <a:p>
            <a:r>
              <a:rPr lang="en-US" altLang="en-US" dirty="0">
                <a:latin typeface="Calibri" panose="020F0502020204030204" pitchFamily="34" charset="0"/>
              </a:rPr>
              <a:t>	3.	Breathing</a:t>
            </a:r>
            <a:endParaRPr lang="en-US" altLang="en-US" b="1" dirty="0">
              <a:latin typeface="Calibri" panose="020F0502020204030204" pitchFamily="34" charset="0"/>
            </a:endParaRPr>
          </a:p>
          <a:p>
            <a:pPr eaLnBrk="1" hangingPunct="1"/>
            <a:endParaRPr lang="en-US" altLang="en-US" dirty="0">
              <a:latin typeface="Calibri" panose="020F0502020204030204" pitchFamily="34" charset="0"/>
            </a:endParaRPr>
          </a:p>
        </p:txBody>
      </p:sp>
    </p:spTree>
    <p:extLst>
      <p:ext uri="{BB962C8B-B14F-4D97-AF65-F5344CB8AC3E}">
        <p14:creationId xmlns:p14="http://schemas.microsoft.com/office/powerpoint/2010/main" val="14615634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22F16FEE-711F-8E47-9279-0701BB60BF20}"/>
              </a:ext>
            </a:extLst>
          </p:cNvPr>
          <p:cNvSpPr>
            <a:spLocks noGrp="1" noRot="1" noChangeAspect="1" noChangeArrowheads="1" noTextEdit="1"/>
          </p:cNvSpPr>
          <p:nvPr>
            <p:ph type="sldImg"/>
          </p:nvPr>
        </p:nvSpPr>
        <p:spPr>
          <a:ln/>
        </p:spPr>
      </p:sp>
      <p:sp>
        <p:nvSpPr>
          <p:cNvPr id="121859" name="Rectangle 3">
            <a:extLst>
              <a:ext uri="{FF2B5EF4-FFF2-40B4-BE49-F238E27FC236}">
                <a16:creationId xmlns:a16="http://schemas.microsoft.com/office/drawing/2014/main" id="{300DE19E-9075-EC4C-88BE-0FBD485F64FC}"/>
              </a:ext>
            </a:extLst>
          </p:cNvPr>
          <p:cNvSpPr>
            <a:spLocks noGrp="1" noChangeArrowheads="1"/>
          </p:cNvSpPr>
          <p:nvPr>
            <p:ph type="body" idx="1"/>
          </p:nvPr>
        </p:nvSpPr>
        <p:spPr/>
        <p:txBody>
          <a:bodyPr/>
          <a:lstStyle/>
          <a:p>
            <a:pPr eaLnBrk="1" hangingPunct="1">
              <a:defRPr/>
            </a:pPr>
            <a:r>
              <a:rPr lang="en-US" altLang="en-US" dirty="0">
                <a:latin typeface="Calibri" pitchFamily="34" charset="0"/>
              </a:rPr>
              <a:t>E.	If patient is not breathing, you must breathe for him or her. Check for a pulse. If it is absent, begin CPR.</a:t>
            </a:r>
          </a:p>
          <a:p>
            <a:pPr eaLnBrk="1" hangingPunct="1">
              <a:defRPr/>
            </a:pPr>
            <a:r>
              <a:rPr lang="en-US" altLang="en-US" dirty="0">
                <a:latin typeface="Calibri" pitchFamily="34" charset="0"/>
              </a:rPr>
              <a:t>F.	Basic life support for adults and children follows same general steps: Check responsiveness, airway, breathing, and circulation. Intervene at any point where the patient’s airway is obstructed, the patient is not breathing, or the patient has no circulation.</a:t>
            </a:r>
          </a:p>
          <a:p>
            <a:pPr>
              <a:defRPr/>
            </a:pPr>
            <a:r>
              <a:rPr lang="en-US" altLang="en-US" dirty="0">
                <a:latin typeface="Calibri" pitchFamily="34" charset="0"/>
              </a:rPr>
              <a:t>K.	Open an infant’s airway by using the head tilt–chin lift maneuver if you do not suspect a spinal injury. Be careful not to hyperextend the neck; this could obstruct the airway. If the infant is not breathing, provide two initial breaths. If these breaths produce visible chest rise, check for a brachial pulse.</a:t>
            </a:r>
          </a:p>
          <a:p>
            <a:pPr>
              <a:defRPr/>
            </a:pPr>
            <a:r>
              <a:rPr lang="en-US" altLang="en-US" dirty="0">
                <a:latin typeface="Calibri" pitchFamily="34" charset="0"/>
              </a:rPr>
              <a:t>L.	If an infant does not have a pulse, or if the pulse rate is less than 60 beats per minute with poor perfusion (circulation), begin CPR. If you are alone, use two fingers to compress the chest 30 times, at a rate of 100-120 compressions per minute, to a depth equal to at least one third the depth of the chest. After 30 compressions, give two breaths. If two rescuers are present, use the two-thumb technique with the hands encircling the chest and provide 15 compressions to two breaths.</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439320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9E8482E8-5DB7-7A42-91F7-55EC30DB26F6}"/>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212A04C4-D4F8-9544-AD93-0FD73E5E9457}"/>
              </a:ext>
            </a:extLst>
          </p:cNvPr>
          <p:cNvSpPr>
            <a:spLocks noGrp="1" noChangeArrowheads="1"/>
          </p:cNvSpPr>
          <p:nvPr>
            <p:ph type="body" idx="1"/>
          </p:nvPr>
        </p:nvSpPr>
        <p:spPr/>
        <p:txBody>
          <a:bodyPr/>
          <a:lstStyle/>
          <a:p>
            <a:pPr eaLnBrk="1" hangingPunct="1">
              <a:defRPr/>
            </a:pPr>
            <a:r>
              <a:rPr lang="en-US" dirty="0">
                <a:ea typeface="ＭＳ Ｐゴシック" charset="0"/>
              </a:rPr>
              <a:t>M.	Single most important cardiac arrest survival factor is early defibrillation. Indications for using an automated external defibrillator (AED) are that patient is unresponsive, not breathing, and pulseless. </a:t>
            </a:r>
          </a:p>
          <a:p>
            <a:pPr eaLnBrk="1" hangingPunct="1">
              <a:defRPr/>
            </a:pPr>
            <a:endParaRPr lang="en-US" dirty="0">
              <a:ea typeface="ＭＳ Ｐゴシック" charset="0"/>
            </a:endParaRPr>
          </a:p>
        </p:txBody>
      </p:sp>
    </p:spTree>
    <p:extLst>
      <p:ext uri="{BB962C8B-B14F-4D97-AF65-F5344CB8AC3E}">
        <p14:creationId xmlns:p14="http://schemas.microsoft.com/office/powerpoint/2010/main" val="34497584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11426407-E415-DB45-A225-C76D8D564AAE}"/>
              </a:ext>
            </a:extLst>
          </p:cNvPr>
          <p:cNvSpPr>
            <a:spLocks noGrp="1" noRot="1" noChangeAspect="1" noChangeArrowheads="1" noTextEdit="1"/>
          </p:cNvSpPr>
          <p:nvPr>
            <p:ph type="sldImg"/>
          </p:nvPr>
        </p:nvSpPr>
        <p:spPr>
          <a:ln/>
        </p:spPr>
      </p:sp>
      <p:sp>
        <p:nvSpPr>
          <p:cNvPr id="123907" name="Rectangle 3">
            <a:extLst>
              <a:ext uri="{FF2B5EF4-FFF2-40B4-BE49-F238E27FC236}">
                <a16:creationId xmlns:a16="http://schemas.microsoft.com/office/drawing/2014/main" id="{954E5898-4110-7A40-9E90-C8F1D4E4ED01}"/>
              </a:ext>
            </a:extLst>
          </p:cNvPr>
          <p:cNvSpPr>
            <a:spLocks noGrp="1" noChangeArrowheads="1"/>
          </p:cNvSpPr>
          <p:nvPr>
            <p:ph type="body" idx="1"/>
          </p:nvPr>
        </p:nvSpPr>
        <p:spPr/>
        <p:txBody>
          <a:bodyPr/>
          <a:lstStyle/>
          <a:p>
            <a:pPr eaLnBrk="1" hangingPunct="1">
              <a:defRPr/>
            </a:pPr>
            <a:r>
              <a:rPr lang="en-US" altLang="en-US" dirty="0">
                <a:latin typeface="Calibri" pitchFamily="34" charset="0"/>
              </a:rPr>
              <a:t>N.	Once turned on and attached to patient’s bare chest, the AED will analyze heart rhythm and advise whether a shock is indicated. If a shock is advised, ensure that no one is touching patient, deliver the shock, and immediately perform CPR for 2 minutes before reanalyzing the patient’s rhythm. If no shock is advised, perform CPR for 2 minutes and then reanalyze the patient’s rhythm. Continue CPR and rhythm analysis until ALS personnel arrive.</a:t>
            </a:r>
          </a:p>
          <a:p>
            <a:pPr eaLnBrk="1" hangingPunct="1">
              <a:defRPr/>
            </a:pPr>
            <a:endParaRPr lang="en-US" altLang="en-US" dirty="0">
              <a:latin typeface="Calibri" pitchFamily="34" charset="0"/>
            </a:endParaRPr>
          </a:p>
        </p:txBody>
      </p:sp>
    </p:spTree>
    <p:extLst>
      <p:ext uri="{BB962C8B-B14F-4D97-AF65-F5344CB8AC3E}">
        <p14:creationId xmlns:p14="http://schemas.microsoft.com/office/powerpoint/2010/main" val="30413559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D14FEB06-79E9-7E43-AE36-F3725BCCFC96}"/>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242DB168-28E4-8847-9112-E89400472D48}"/>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42872197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F157DD31-452F-BE44-B995-B8F509CF5824}"/>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0413D06E-BEFB-F842-9DA8-CEE03327DF0C}"/>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18621537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39EB85E7-6170-3346-9361-612B336C1E6C}"/>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72EFAABA-1CAF-6241-AC7F-F105A0FF771E}"/>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13821500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EE39A640-205B-6E48-A4D6-51F84015B41A}"/>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0F2315F7-A2B0-A040-AB3F-C6F531A642A2}"/>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29320497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7352CDCB-7904-2842-907C-3AD203A76810}"/>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21E7E292-D6BB-2A40-A20E-27A5C7610256}"/>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29663937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519B555A-3B90-C04A-8A66-216E41A7E6E4}"/>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B985AF9F-AEF4-0E47-B73D-1AEB7EE97929}"/>
              </a:ext>
            </a:extLst>
          </p:cNvPr>
          <p:cNvSpPr>
            <a:spLocks noGrp="1" noChangeArrowheads="1"/>
          </p:cNvSpPr>
          <p:nvPr>
            <p:ph type="body" idx="1"/>
          </p:nvPr>
        </p:nvSpPr>
        <p:spPr/>
        <p:txBody>
          <a:bodyPr/>
          <a:lstStyle/>
          <a:p>
            <a:pPr eaLnBrk="1" hangingPunct="1">
              <a:defRPr/>
            </a:pPr>
            <a:endParaRPr lang="en-US">
              <a:ea typeface="ＭＳ Ｐゴシック" charset="0"/>
            </a:endParaRPr>
          </a:p>
        </p:txBody>
      </p:sp>
    </p:spTree>
    <p:extLst>
      <p:ext uri="{BB962C8B-B14F-4D97-AF65-F5344CB8AC3E}">
        <p14:creationId xmlns:p14="http://schemas.microsoft.com/office/powerpoint/2010/main" val="2522721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endParaRPr lang="en-US"/>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2022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endParaRPr lang="en-US"/>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endParaRPr lang="en-US"/>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a:t>
            </a:r>
            <a:r>
              <a:rPr lang="en-US" sz="800">
                <a:latin typeface="Arial" panose="020B0604020202020204" pitchFamily="34" charset="0"/>
                <a:cs typeface="Arial" panose="020B0604020202020204" pitchFamily="34" charset="0"/>
              </a:rPr>
              <a:t>© 2022 </a:t>
            </a:r>
            <a:r>
              <a:rPr lang="en-US" sz="800" dirty="0">
                <a:latin typeface="Arial" panose="020B0604020202020204" pitchFamily="34" charset="0"/>
                <a:cs typeface="Arial" panose="020B0604020202020204" pitchFamily="34" charset="0"/>
              </a:rPr>
              <a:t>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8</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Professional Rescuer CPR</a:t>
            </a:r>
          </a:p>
        </p:txBody>
      </p:sp>
      <p:pic>
        <p:nvPicPr>
          <p:cNvPr id="6" name="Picture 5"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DDFC0832-974C-5C41-9591-C147503D8202}"/>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(1 of 4)</a:t>
            </a:r>
          </a:p>
        </p:txBody>
      </p:sp>
      <p:sp>
        <p:nvSpPr>
          <p:cNvPr id="5122" name="Rectangle 3">
            <a:extLst>
              <a:ext uri="{FF2B5EF4-FFF2-40B4-BE49-F238E27FC236}">
                <a16:creationId xmlns:a16="http://schemas.microsoft.com/office/drawing/2014/main" id="{2056AAA5-C06F-5242-87C4-B259CE4BF2A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Shock and Resuscitation</a:t>
            </a:r>
          </a:p>
          <a:p>
            <a:pPr marL="0" indent="0">
              <a:spcBef>
                <a:spcPct val="35000"/>
              </a:spcBef>
              <a:buNone/>
            </a:pPr>
            <a:r>
              <a:rPr lang="en-US" altLang="en-US" dirty="0"/>
              <a:t>Uses assessment information to recognize shock, respiratory failure or arrest, and cardiac arrest based on assessment findings and manages emergency while awaiting additional emergency response.</a:t>
            </a:r>
          </a:p>
        </p:txBody>
      </p:sp>
    </p:spTree>
    <p:extLst>
      <p:ext uri="{BB962C8B-B14F-4D97-AF65-F5344CB8AC3E}">
        <p14:creationId xmlns:p14="http://schemas.microsoft.com/office/powerpoint/2010/main" val="97105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a:extLst>
              <a:ext uri="{FF2B5EF4-FFF2-40B4-BE49-F238E27FC236}">
                <a16:creationId xmlns:a16="http://schemas.microsoft.com/office/drawing/2014/main" id="{9CBF952F-B323-8145-B89A-6D2FECEC8135}"/>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(2 of 4)</a:t>
            </a:r>
          </a:p>
        </p:txBody>
      </p:sp>
      <p:sp>
        <p:nvSpPr>
          <p:cNvPr id="7170" name="Rectangle 3">
            <a:extLst>
              <a:ext uri="{FF2B5EF4-FFF2-40B4-BE49-F238E27FC236}">
                <a16:creationId xmlns:a16="http://schemas.microsoft.com/office/drawing/2014/main" id="{694E66F0-BFB5-3041-B0AD-3CC6DAC5193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Assessment</a:t>
            </a:r>
          </a:p>
          <a:p>
            <a:pPr marL="0" indent="0">
              <a:spcBef>
                <a:spcPct val="35000"/>
              </a:spcBef>
              <a:buNone/>
            </a:pPr>
            <a:r>
              <a:rPr lang="en-US" altLang="en-US" dirty="0"/>
              <a:t>Uses scene information and simple patient assessment findings to identify and manage immediate life threats and injuries within scope of practice of the EMR.</a:t>
            </a:r>
          </a:p>
        </p:txBody>
      </p:sp>
    </p:spTree>
    <p:extLst>
      <p:ext uri="{BB962C8B-B14F-4D97-AF65-F5344CB8AC3E}">
        <p14:creationId xmlns:p14="http://schemas.microsoft.com/office/powerpoint/2010/main" val="516708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0489BBA4-816C-A743-8FA0-62026FC272E1}"/>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(3 of 4)</a:t>
            </a:r>
          </a:p>
        </p:txBody>
      </p:sp>
      <p:sp>
        <p:nvSpPr>
          <p:cNvPr id="9218" name="Rectangle 3">
            <a:extLst>
              <a:ext uri="{FF2B5EF4-FFF2-40B4-BE49-F238E27FC236}">
                <a16:creationId xmlns:a16="http://schemas.microsoft.com/office/drawing/2014/main" id="{76E0507B-313F-0F44-8F0C-86B41CFA0B8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t>Primary Assessment</a:t>
            </a:r>
          </a:p>
          <a:p>
            <a:pPr eaLnBrk="1" hangingPunct="1">
              <a:spcBef>
                <a:spcPct val="35000"/>
              </a:spcBef>
            </a:pPr>
            <a:r>
              <a:rPr lang="en-US" altLang="en-US" dirty="0"/>
              <a:t>Primary assessment for all patient situations:</a:t>
            </a:r>
          </a:p>
          <a:p>
            <a:pPr lvl="1" eaLnBrk="1" hangingPunct="1">
              <a:spcBef>
                <a:spcPct val="35000"/>
              </a:spcBef>
            </a:pPr>
            <a:r>
              <a:rPr lang="en-US" altLang="en-US" dirty="0"/>
              <a:t>Level of consciousness.</a:t>
            </a:r>
          </a:p>
          <a:p>
            <a:pPr lvl="1" eaLnBrk="1" hangingPunct="1">
              <a:spcBef>
                <a:spcPct val="35000"/>
              </a:spcBef>
            </a:pPr>
            <a:r>
              <a:rPr lang="en-US" altLang="en-US" dirty="0"/>
              <a:t>Airway, breathing, and circulation (ABCs).</a:t>
            </a:r>
          </a:p>
          <a:p>
            <a:pPr lvl="1" eaLnBrk="1" hangingPunct="1">
              <a:spcBef>
                <a:spcPct val="35000"/>
              </a:spcBef>
            </a:pPr>
            <a:r>
              <a:rPr lang="en-US" altLang="en-US" dirty="0"/>
              <a:t>Identifying life threats.</a:t>
            </a:r>
          </a:p>
          <a:p>
            <a:pPr lvl="1" eaLnBrk="1" hangingPunct="1">
              <a:spcBef>
                <a:spcPct val="35000"/>
              </a:spcBef>
            </a:pPr>
            <a:r>
              <a:rPr lang="en-US" altLang="en-US" dirty="0"/>
              <a:t>Assessment of vital functions.</a:t>
            </a:r>
          </a:p>
          <a:p>
            <a:pPr eaLnBrk="1" hangingPunct="1">
              <a:spcBef>
                <a:spcPct val="35000"/>
              </a:spcBef>
            </a:pPr>
            <a:r>
              <a:rPr lang="en-US" altLang="en-US" dirty="0"/>
              <a:t>Begin interventions needed to preserve life.</a:t>
            </a:r>
          </a:p>
        </p:txBody>
      </p:sp>
    </p:spTree>
    <p:extLst>
      <p:ext uri="{BB962C8B-B14F-4D97-AF65-F5344CB8AC3E}">
        <p14:creationId xmlns:p14="http://schemas.microsoft.com/office/powerpoint/2010/main" val="79509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5D414920-D32E-6D41-A9F2-588CEAA5780E}"/>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(4 of 4)</a:t>
            </a:r>
          </a:p>
        </p:txBody>
      </p:sp>
      <p:sp>
        <p:nvSpPr>
          <p:cNvPr id="11266" name="Rectangle 3">
            <a:extLst>
              <a:ext uri="{FF2B5EF4-FFF2-40B4-BE49-F238E27FC236}">
                <a16:creationId xmlns:a16="http://schemas.microsoft.com/office/drawing/2014/main" id="{9E6017F7-2D28-7744-AC52-9BCE620BD1A2}"/>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Anatomy and Physiology</a:t>
            </a:r>
          </a:p>
          <a:p>
            <a:pPr marL="0" indent="0">
              <a:spcBef>
                <a:spcPct val="35000"/>
              </a:spcBef>
              <a:buNone/>
            </a:pPr>
            <a:r>
              <a:rPr lang="en-US" altLang="en-US" dirty="0"/>
              <a:t>Uses simple knowledge of anatomy and function of upper airway, heart, vessels, blood, lungs, skin, muscles, and bones as foundation of emergency care.</a:t>
            </a:r>
          </a:p>
          <a:p>
            <a:pPr marL="0" indent="0">
              <a:spcBef>
                <a:spcPct val="35000"/>
              </a:spcBef>
              <a:buNone/>
            </a:pPr>
            <a:endParaRPr lang="en-US" altLang="en-US" dirty="0"/>
          </a:p>
          <a:p>
            <a:pPr marL="0" indent="0">
              <a:spcBef>
                <a:spcPct val="35000"/>
              </a:spcBef>
              <a:buNone/>
            </a:pPr>
            <a:r>
              <a:rPr lang="en-US" altLang="en-US" b="1" dirty="0"/>
              <a:t>Pathophysiology</a:t>
            </a:r>
          </a:p>
          <a:p>
            <a:pPr marL="0" indent="0">
              <a:spcBef>
                <a:spcPct val="35000"/>
              </a:spcBef>
              <a:buNone/>
            </a:pPr>
            <a:r>
              <a:rPr lang="en-US" altLang="en-US" dirty="0"/>
              <a:t>Uses simple knowledge of shock and respiratory compromise to respond to life threats.</a:t>
            </a:r>
          </a:p>
          <a:p>
            <a:pPr marL="0" indent="0">
              <a:spcBef>
                <a:spcPct val="35000"/>
              </a:spcBef>
              <a:buNone/>
            </a:pPr>
            <a:endParaRPr lang="en-US" altLang="en-US" dirty="0"/>
          </a:p>
        </p:txBody>
      </p:sp>
    </p:spTree>
    <p:extLst>
      <p:ext uri="{BB962C8B-B14F-4D97-AF65-F5344CB8AC3E}">
        <p14:creationId xmlns:p14="http://schemas.microsoft.com/office/powerpoint/2010/main" val="142014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6403CC22-7213-7342-A82C-BF18F37FA9B2}"/>
              </a:ext>
            </a:extLst>
          </p:cNvPr>
          <p:cNvSpPr>
            <a:spLocks noGrp="1" noChangeArrowheads="1"/>
          </p:cNvSpPr>
          <p:nvPr>
            <p:ph type="title"/>
          </p:nvPr>
        </p:nvSpPr>
        <p:spPr/>
        <p:txBody>
          <a:bodyPr/>
          <a:lstStyle/>
          <a:p>
            <a:pPr eaLnBrk="1" hangingPunct="1">
              <a:lnSpc>
                <a:spcPct val="85000"/>
              </a:lnSpc>
              <a:defRPr/>
            </a:pPr>
            <a:r>
              <a:rPr lang="en-US" dirty="0"/>
              <a:t>Introduction </a:t>
            </a:r>
            <a:r>
              <a:rPr lang="en-US" sz="2800" b="0" dirty="0"/>
              <a:t>(1 of 2)</a:t>
            </a:r>
          </a:p>
        </p:txBody>
      </p:sp>
      <p:sp>
        <p:nvSpPr>
          <p:cNvPr id="15362" name="Rectangle 3">
            <a:extLst>
              <a:ext uri="{FF2B5EF4-FFF2-40B4-BE49-F238E27FC236}">
                <a16:creationId xmlns:a16="http://schemas.microsoft.com/office/drawing/2014/main" id="{22940358-F5FA-A54F-9F18-C9468134137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Cardiopulmonary resuscitation consists of:</a:t>
            </a:r>
          </a:p>
          <a:p>
            <a:pPr lvl="1" eaLnBrk="1" hangingPunct="1">
              <a:spcBef>
                <a:spcPct val="35000"/>
              </a:spcBef>
            </a:pPr>
            <a:r>
              <a:rPr lang="en-US" altLang="en-US" dirty="0"/>
              <a:t>Circulation (C)</a:t>
            </a:r>
          </a:p>
          <a:p>
            <a:pPr lvl="1" eaLnBrk="1" hangingPunct="1">
              <a:spcBef>
                <a:spcPct val="35000"/>
              </a:spcBef>
            </a:pPr>
            <a:r>
              <a:rPr lang="en-US" altLang="en-US" dirty="0"/>
              <a:t>Airway (A)</a:t>
            </a:r>
          </a:p>
          <a:p>
            <a:pPr lvl="1" eaLnBrk="1" hangingPunct="1">
              <a:spcBef>
                <a:spcPct val="35000"/>
              </a:spcBef>
            </a:pPr>
            <a:r>
              <a:rPr lang="en-US" altLang="en-US" dirty="0"/>
              <a:t>Breathing (B)</a:t>
            </a:r>
          </a:p>
          <a:p>
            <a:pPr eaLnBrk="1" hangingPunct="1">
              <a:spcBef>
                <a:spcPct val="35000"/>
              </a:spcBef>
            </a:pPr>
            <a:r>
              <a:rPr lang="en-US" altLang="en-US" dirty="0"/>
              <a:t>Airway and breathing skills may be lifesaving for a patient whose heart is still beating.</a:t>
            </a:r>
          </a:p>
        </p:txBody>
      </p:sp>
    </p:spTree>
    <p:extLst>
      <p:ext uri="{BB962C8B-B14F-4D97-AF65-F5344CB8AC3E}">
        <p14:creationId xmlns:p14="http://schemas.microsoft.com/office/powerpoint/2010/main" val="3648535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1237A891-642C-D147-B117-38D5EE81BA68}"/>
              </a:ext>
            </a:extLst>
          </p:cNvPr>
          <p:cNvSpPr>
            <a:spLocks noGrp="1" noChangeArrowheads="1"/>
          </p:cNvSpPr>
          <p:nvPr>
            <p:ph type="title"/>
          </p:nvPr>
        </p:nvSpPr>
        <p:spPr/>
        <p:txBody>
          <a:bodyPr/>
          <a:lstStyle/>
          <a:p>
            <a:pPr eaLnBrk="1" hangingPunct="1">
              <a:lnSpc>
                <a:spcPct val="85000"/>
              </a:lnSpc>
              <a:defRPr/>
            </a:pPr>
            <a:r>
              <a:rPr lang="en-US" dirty="0"/>
              <a:t>Introduction </a:t>
            </a:r>
            <a:r>
              <a:rPr lang="en-US" sz="2800" b="0" dirty="0"/>
              <a:t>(2 of 2)</a:t>
            </a:r>
          </a:p>
        </p:txBody>
      </p:sp>
      <p:sp>
        <p:nvSpPr>
          <p:cNvPr id="17410" name="Rectangle 3">
            <a:extLst>
              <a:ext uri="{FF2B5EF4-FFF2-40B4-BE49-F238E27FC236}">
                <a16:creationId xmlns:a16="http://schemas.microsoft.com/office/drawing/2014/main" id="{22E365A1-9CF2-834F-ADEA-499559E35F1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To maintain or restore circulation manually, perform cardiac compressions.</a:t>
            </a:r>
          </a:p>
          <a:p>
            <a:pPr eaLnBrk="1" hangingPunct="1">
              <a:spcBef>
                <a:spcPct val="35000"/>
              </a:spcBef>
            </a:pPr>
            <a:r>
              <a:rPr lang="en-US" altLang="en-US" dirty="0"/>
              <a:t>To maintain both breathing and a heartbeat, rescue breathing and chest compressions must be done together.</a:t>
            </a:r>
          </a:p>
          <a:p>
            <a:pPr eaLnBrk="1" hangingPunct="1">
              <a:spcBef>
                <a:spcPct val="35000"/>
              </a:spcBef>
            </a:pPr>
            <a:r>
              <a:rPr lang="en-US" altLang="en-US" dirty="0"/>
              <a:t>Approximately</a:t>
            </a:r>
            <a:r>
              <a:rPr lang="en-US" altLang="en-US" dirty="0">
                <a:solidFill>
                  <a:srgbClr val="FF0000"/>
                </a:solidFill>
              </a:rPr>
              <a:t> </a:t>
            </a:r>
            <a:r>
              <a:rPr lang="en-US" altLang="en-US" dirty="0"/>
              <a:t>70% of patients in cardiac arrest are in a state of ventricular fibrillation.</a:t>
            </a:r>
          </a:p>
        </p:txBody>
      </p:sp>
    </p:spTree>
    <p:extLst>
      <p:ext uri="{BB962C8B-B14F-4D97-AF65-F5344CB8AC3E}">
        <p14:creationId xmlns:p14="http://schemas.microsoft.com/office/powerpoint/2010/main" val="1553575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81775D76-25D7-1845-8AE8-36156A33BFE0}"/>
              </a:ext>
            </a:extLst>
          </p:cNvPr>
          <p:cNvSpPr>
            <a:spLocks noGrp="1" noChangeArrowheads="1"/>
          </p:cNvSpPr>
          <p:nvPr>
            <p:ph type="title"/>
          </p:nvPr>
        </p:nvSpPr>
        <p:spPr/>
        <p:txBody>
          <a:bodyPr/>
          <a:lstStyle/>
          <a:p>
            <a:pPr eaLnBrk="1" hangingPunct="1">
              <a:lnSpc>
                <a:spcPct val="85000"/>
              </a:lnSpc>
              <a:defRPr/>
            </a:pPr>
            <a:r>
              <a:rPr lang="en-US" dirty="0"/>
              <a:t>Anatomy and Function of Circulatory System </a:t>
            </a:r>
            <a:r>
              <a:rPr lang="en-US" sz="2800" b="0" dirty="0"/>
              <a:t>(1 of 8)</a:t>
            </a:r>
          </a:p>
        </p:txBody>
      </p:sp>
      <p:sp>
        <p:nvSpPr>
          <p:cNvPr id="19458" name="Rectangle 3">
            <a:extLst>
              <a:ext uri="{FF2B5EF4-FFF2-40B4-BE49-F238E27FC236}">
                <a16:creationId xmlns:a16="http://schemas.microsoft.com/office/drawing/2014/main" id="{544D15A2-8992-AB48-BA6E-87A66EAF6A9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Circulatory system consists of:</a:t>
            </a:r>
          </a:p>
          <a:p>
            <a:pPr lvl="1" eaLnBrk="1" hangingPunct="1">
              <a:spcBef>
                <a:spcPct val="35000"/>
              </a:spcBef>
            </a:pPr>
            <a:r>
              <a:rPr lang="en-US" altLang="en-US" dirty="0"/>
              <a:t>A pump (the heart)</a:t>
            </a:r>
          </a:p>
          <a:p>
            <a:pPr lvl="1" eaLnBrk="1" hangingPunct="1">
              <a:spcBef>
                <a:spcPct val="35000"/>
              </a:spcBef>
            </a:pPr>
            <a:r>
              <a:rPr lang="en-US" altLang="en-US" dirty="0"/>
              <a:t>A network of pipes (blood vessels)</a:t>
            </a:r>
          </a:p>
          <a:p>
            <a:pPr lvl="1" eaLnBrk="1" hangingPunct="1">
              <a:spcBef>
                <a:spcPct val="35000"/>
              </a:spcBef>
            </a:pPr>
            <a:r>
              <a:rPr lang="en-US" altLang="en-US" dirty="0"/>
              <a:t>Fluid (blood)</a:t>
            </a:r>
          </a:p>
          <a:p>
            <a:pPr eaLnBrk="1" hangingPunct="1">
              <a:spcBef>
                <a:spcPct val="35000"/>
              </a:spcBef>
            </a:pPr>
            <a:r>
              <a:rPr lang="en-US" altLang="en-US" dirty="0"/>
              <a:t>Heart:</a:t>
            </a:r>
          </a:p>
          <a:p>
            <a:pPr lvl="1" eaLnBrk="1" hangingPunct="1">
              <a:spcBef>
                <a:spcPct val="35000"/>
              </a:spcBef>
            </a:pPr>
            <a:r>
              <a:rPr lang="en-US" altLang="en-US" dirty="0"/>
              <a:t>Located in chest between lungs.</a:t>
            </a:r>
          </a:p>
          <a:p>
            <a:pPr lvl="1" eaLnBrk="1" hangingPunct="1">
              <a:spcBef>
                <a:spcPct val="35000"/>
              </a:spcBef>
            </a:pPr>
            <a:r>
              <a:rPr lang="en-US" altLang="en-US" dirty="0"/>
              <a:t>Consists of four chambers, two on right side and two on left side.</a:t>
            </a:r>
          </a:p>
        </p:txBody>
      </p:sp>
    </p:spTree>
    <p:extLst>
      <p:ext uri="{BB962C8B-B14F-4D97-AF65-F5344CB8AC3E}">
        <p14:creationId xmlns:p14="http://schemas.microsoft.com/office/powerpoint/2010/main" val="179912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9EADB575-4971-6044-95C2-EBE5F9630679}"/>
              </a:ext>
            </a:extLst>
          </p:cNvPr>
          <p:cNvSpPr>
            <a:spLocks noGrp="1" noChangeArrowheads="1"/>
          </p:cNvSpPr>
          <p:nvPr>
            <p:ph type="title"/>
          </p:nvPr>
        </p:nvSpPr>
        <p:spPr/>
        <p:txBody>
          <a:bodyPr/>
          <a:lstStyle/>
          <a:p>
            <a:pPr eaLnBrk="1" hangingPunct="1">
              <a:lnSpc>
                <a:spcPct val="85000"/>
              </a:lnSpc>
              <a:defRPr/>
            </a:pPr>
            <a:r>
              <a:rPr lang="en-US" dirty="0"/>
              <a:t>Anatomy and Function of Circulatory System </a:t>
            </a:r>
            <a:r>
              <a:rPr lang="en-US" sz="2800" b="0" dirty="0"/>
              <a:t>(2 of 8)</a:t>
            </a:r>
          </a:p>
        </p:txBody>
      </p:sp>
      <p:sp>
        <p:nvSpPr>
          <p:cNvPr id="21506" name="Rectangle 3">
            <a:extLst>
              <a:ext uri="{FF2B5EF4-FFF2-40B4-BE49-F238E27FC236}">
                <a16:creationId xmlns:a16="http://schemas.microsoft.com/office/drawing/2014/main" id="{A92E2EBA-CF5E-F34A-B620-4458B918DBF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Heart (cont'd):</a:t>
            </a:r>
          </a:p>
          <a:p>
            <a:pPr lvl="1" eaLnBrk="1" hangingPunct="1">
              <a:spcBef>
                <a:spcPct val="35000"/>
              </a:spcBef>
            </a:pPr>
            <a:r>
              <a:rPr lang="en-US" altLang="en-US" dirty="0"/>
              <a:t>Each upper chamber is called an atrium.</a:t>
            </a:r>
          </a:p>
          <a:p>
            <a:pPr lvl="1" eaLnBrk="1" hangingPunct="1">
              <a:spcBef>
                <a:spcPct val="35000"/>
              </a:spcBef>
            </a:pPr>
            <a:r>
              <a:rPr lang="en-US" altLang="en-US" dirty="0"/>
              <a:t>Each lower chamber is called a ventricle.</a:t>
            </a:r>
          </a:p>
          <a:p>
            <a:pPr lvl="1" eaLnBrk="1" hangingPunct="1">
              <a:spcBef>
                <a:spcPct val="35000"/>
              </a:spcBef>
            </a:pPr>
            <a:r>
              <a:rPr lang="en-US" altLang="en-US" dirty="0"/>
              <a:t>Four chambers work in a well-ordered sequence to pump blood to lungs and to rest of body.</a:t>
            </a:r>
          </a:p>
          <a:p>
            <a:pPr lvl="1" eaLnBrk="1" hangingPunct="1">
              <a:spcBef>
                <a:spcPct val="35000"/>
              </a:spcBef>
            </a:pPr>
            <a:r>
              <a:rPr lang="en-US" altLang="en-US" dirty="0"/>
              <a:t>One-way valves allow blood to flow in only one direction.</a:t>
            </a:r>
          </a:p>
        </p:txBody>
      </p:sp>
    </p:spTree>
    <p:extLst>
      <p:ext uri="{BB962C8B-B14F-4D97-AF65-F5344CB8AC3E}">
        <p14:creationId xmlns:p14="http://schemas.microsoft.com/office/powerpoint/2010/main" val="3904938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a:extLst>
              <a:ext uri="{FF2B5EF4-FFF2-40B4-BE49-F238E27FC236}">
                <a16:creationId xmlns:a16="http://schemas.microsoft.com/office/drawing/2014/main" id="{938DE6A4-84C1-E849-88C9-4F7554D70404}"/>
              </a:ext>
            </a:extLst>
          </p:cNvPr>
          <p:cNvSpPr>
            <a:spLocks noGrp="1" noChangeArrowheads="1"/>
          </p:cNvSpPr>
          <p:nvPr>
            <p:ph type="title"/>
          </p:nvPr>
        </p:nvSpPr>
        <p:spPr/>
        <p:txBody>
          <a:bodyPr/>
          <a:lstStyle/>
          <a:p>
            <a:pPr eaLnBrk="1" hangingPunct="1">
              <a:lnSpc>
                <a:spcPct val="85000"/>
              </a:lnSpc>
              <a:defRPr/>
            </a:pPr>
            <a:r>
              <a:rPr lang="en-US" dirty="0"/>
              <a:t>Anatomy and Function of Circulatory System </a:t>
            </a:r>
            <a:r>
              <a:rPr lang="en-US" sz="2800" b="0" dirty="0"/>
              <a:t>(3 of 8)</a:t>
            </a:r>
          </a:p>
        </p:txBody>
      </p:sp>
      <p:sp>
        <p:nvSpPr>
          <p:cNvPr id="6" name="Rectangle 5"/>
          <p:cNvSpPr/>
          <p:nvPr/>
        </p:nvSpPr>
        <p:spPr>
          <a:xfrm>
            <a:off x="2964933" y="5079998"/>
            <a:ext cx="6458467"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8-1 </a:t>
            </a:r>
            <a:r>
              <a:rPr lang="en-US" dirty="0"/>
              <a:t>The heart functions as the pump of the human circulatory system.  A. External view. B. Cross-sectional view </a:t>
            </a:r>
          </a:p>
        </p:txBody>
      </p:sp>
      <p:sp>
        <p:nvSpPr>
          <p:cNvPr id="7" name="Rectangle 6"/>
          <p:cNvSpPr/>
          <p:nvPr/>
        </p:nvSpPr>
        <p:spPr>
          <a:xfrm>
            <a:off x="2976922" y="5736265"/>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1026" name="Picture 2" descr="Illustration A shows the exterior of the heart and labels the following: aorta, pulmonary artery, left coronary artery, left atrium, left ventricle, right atrium, and right ventricle. Illustration B shows a cross-sectional view of the heart, with the flow of blood through the chambers indicated with arrows. The four chambers are labeled: right atrium, right ventricle, left atrium, and left ventricle. Arrows indicate blood entering the right atrium at two points from the body. This moves into the right ventricle and then out to the lungs through the pulmonary artery. Blood also enters the heart from the lungs into the left atrium. This enters the left ventricle and is pumped out to the body through the aorta. &#10;" title="Labeled illustrations A and B show the parts of the heart with external and cross-sectional views depic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9222" y="1389578"/>
            <a:ext cx="7175736" cy="3588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103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61E4AEF3-FF3F-5244-96F8-8164D18C46BF}"/>
              </a:ext>
            </a:extLst>
          </p:cNvPr>
          <p:cNvSpPr>
            <a:spLocks noGrp="1" noChangeArrowheads="1"/>
          </p:cNvSpPr>
          <p:nvPr>
            <p:ph type="title"/>
          </p:nvPr>
        </p:nvSpPr>
        <p:spPr/>
        <p:txBody>
          <a:bodyPr/>
          <a:lstStyle/>
          <a:p>
            <a:pPr eaLnBrk="1" hangingPunct="1">
              <a:lnSpc>
                <a:spcPct val="85000"/>
              </a:lnSpc>
              <a:defRPr/>
            </a:pPr>
            <a:r>
              <a:rPr lang="en-US" dirty="0"/>
              <a:t>Anatomy and Function of Circulatory System </a:t>
            </a:r>
            <a:r>
              <a:rPr lang="en-US" sz="2800" b="0" dirty="0"/>
              <a:t>(4 of 8)</a:t>
            </a:r>
          </a:p>
        </p:txBody>
      </p:sp>
      <p:sp>
        <p:nvSpPr>
          <p:cNvPr id="25602" name="Rectangle 3">
            <a:extLst>
              <a:ext uri="{FF2B5EF4-FFF2-40B4-BE49-F238E27FC236}">
                <a16:creationId xmlns:a16="http://schemas.microsoft.com/office/drawing/2014/main" id="{0F472D63-46BD-494F-9C5F-EFDA5C1E006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Arteries carry blood away from heart at high pressure.</a:t>
            </a:r>
          </a:p>
          <a:p>
            <a:pPr eaLnBrk="1" hangingPunct="1">
              <a:spcBef>
                <a:spcPct val="35000"/>
              </a:spcBef>
            </a:pPr>
            <a:r>
              <a:rPr lang="en-US" altLang="en-US" dirty="0"/>
              <a:t>Smaller arteries eventually branch into capillaries, smallest pipes in circulatory system.</a:t>
            </a:r>
          </a:p>
          <a:p>
            <a:pPr eaLnBrk="1" hangingPunct="1">
              <a:spcBef>
                <a:spcPct val="35000"/>
              </a:spcBef>
            </a:pPr>
            <a:r>
              <a:rPr lang="en-US" altLang="en-US" dirty="0"/>
              <a:t>Veins are thin-walled pipes that carry blood back to heart.</a:t>
            </a:r>
          </a:p>
        </p:txBody>
      </p:sp>
    </p:spTree>
    <p:extLst>
      <p:ext uri="{BB962C8B-B14F-4D97-AF65-F5344CB8AC3E}">
        <p14:creationId xmlns:p14="http://schemas.microsoft.com/office/powerpoint/2010/main" val="2695580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E08149BA-22EA-7743-886E-58802044F7B7}"/>
              </a:ext>
            </a:extLst>
          </p:cNvPr>
          <p:cNvSpPr>
            <a:spLocks noGrp="1" noChangeArrowheads="1"/>
          </p:cNvSpPr>
          <p:nvPr>
            <p:ph type="title"/>
          </p:nvPr>
        </p:nvSpPr>
        <p:spPr/>
        <p:txBody>
          <a:bodyPr/>
          <a:lstStyle/>
          <a:p>
            <a:pPr eaLnBrk="1" hangingPunct="1">
              <a:lnSpc>
                <a:spcPct val="85000"/>
              </a:lnSpc>
              <a:defRPr/>
            </a:pPr>
            <a:r>
              <a:rPr lang="en-US" dirty="0"/>
              <a:t>Anatomy and Function of Circulatory System </a:t>
            </a:r>
            <a:r>
              <a:rPr lang="en-US" sz="2800" b="0" dirty="0"/>
              <a:t>(5 of 8)</a:t>
            </a:r>
          </a:p>
        </p:txBody>
      </p:sp>
      <p:sp>
        <p:nvSpPr>
          <p:cNvPr id="27650" name="Rectangle 3">
            <a:extLst>
              <a:ext uri="{FF2B5EF4-FFF2-40B4-BE49-F238E27FC236}">
                <a16:creationId xmlns:a16="http://schemas.microsoft.com/office/drawing/2014/main" id="{2E22E36F-2972-9448-9ECF-1777CFC50D1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Four major artery locations: </a:t>
            </a:r>
          </a:p>
          <a:p>
            <a:pPr lvl="1" eaLnBrk="1" hangingPunct="1">
              <a:spcBef>
                <a:spcPct val="35000"/>
              </a:spcBef>
            </a:pPr>
            <a:r>
              <a:rPr lang="en-US" altLang="en-US" dirty="0"/>
              <a:t>Neck (carotid arteries)</a:t>
            </a:r>
          </a:p>
          <a:p>
            <a:pPr lvl="1" eaLnBrk="1" hangingPunct="1">
              <a:spcBef>
                <a:spcPct val="35000"/>
              </a:spcBef>
            </a:pPr>
            <a:r>
              <a:rPr lang="en-US" altLang="en-US" dirty="0"/>
              <a:t>Wrist (radial arteries)</a:t>
            </a:r>
          </a:p>
          <a:p>
            <a:pPr lvl="1" eaLnBrk="1" hangingPunct="1">
              <a:spcBef>
                <a:spcPct val="35000"/>
              </a:spcBef>
            </a:pPr>
            <a:r>
              <a:rPr lang="en-US" altLang="en-US" dirty="0"/>
              <a:t>Arm (brachial arteries)</a:t>
            </a:r>
          </a:p>
          <a:p>
            <a:pPr lvl="1" eaLnBrk="1" hangingPunct="1">
              <a:spcBef>
                <a:spcPct val="35000"/>
              </a:spcBef>
            </a:pPr>
            <a:r>
              <a:rPr lang="en-US" altLang="en-US" dirty="0"/>
              <a:t>Groin (femoral arteries)</a:t>
            </a:r>
          </a:p>
          <a:p>
            <a:pPr eaLnBrk="1" hangingPunct="1">
              <a:spcBef>
                <a:spcPct val="35000"/>
              </a:spcBef>
            </a:pPr>
            <a:r>
              <a:rPr lang="en-US" altLang="en-US" dirty="0"/>
              <a:t>Use these arteries to measure pulse.</a:t>
            </a:r>
          </a:p>
          <a:p>
            <a:pPr lvl="1" eaLnBrk="1" hangingPunct="1">
              <a:spcBef>
                <a:spcPct val="35000"/>
              </a:spcBef>
            </a:pPr>
            <a:r>
              <a:rPr lang="en-US" altLang="en-US" dirty="0"/>
              <a:t>A pulse is generated when heart contracts and sends a pressure wave through artery.</a:t>
            </a:r>
          </a:p>
        </p:txBody>
      </p:sp>
    </p:spTree>
    <p:extLst>
      <p:ext uri="{BB962C8B-B14F-4D97-AF65-F5344CB8AC3E}">
        <p14:creationId xmlns:p14="http://schemas.microsoft.com/office/powerpoint/2010/main" val="3619750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1AC0B660-2C01-B84C-813B-56FCC9334898}"/>
              </a:ext>
            </a:extLst>
          </p:cNvPr>
          <p:cNvSpPr>
            <a:spLocks noGrp="1" noChangeArrowheads="1"/>
          </p:cNvSpPr>
          <p:nvPr>
            <p:ph type="title"/>
          </p:nvPr>
        </p:nvSpPr>
        <p:spPr/>
        <p:txBody>
          <a:bodyPr/>
          <a:lstStyle/>
          <a:p>
            <a:pPr eaLnBrk="1" hangingPunct="1">
              <a:lnSpc>
                <a:spcPct val="85000"/>
              </a:lnSpc>
              <a:defRPr/>
            </a:pPr>
            <a:r>
              <a:rPr lang="en-US" dirty="0">
                <a:solidFill>
                  <a:srgbClr val="F79646"/>
                </a:solidFill>
              </a:rPr>
              <a:t>Anatomy and Function of Circulatory System </a:t>
            </a:r>
            <a:r>
              <a:rPr lang="en-US" sz="2800" b="0" dirty="0">
                <a:solidFill>
                  <a:srgbClr val="F79646"/>
                </a:solidFill>
              </a:rPr>
              <a:t>(6 of 8)</a:t>
            </a:r>
          </a:p>
        </p:txBody>
      </p:sp>
      <p:sp>
        <p:nvSpPr>
          <p:cNvPr id="9" name="Rectangle 8"/>
          <p:cNvSpPr/>
          <p:nvPr/>
        </p:nvSpPr>
        <p:spPr>
          <a:xfrm>
            <a:off x="2456933" y="5873356"/>
            <a:ext cx="7652267"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8-2 </a:t>
            </a:r>
            <a:r>
              <a:rPr lang="en-US" dirty="0"/>
              <a:t>Locations for assessing the patient’s pulse. A. Neck (carotid pulse). B. Wrist (radial pulse). C. Arm (brachial pulse). D. Groin (femoral pulse). </a:t>
            </a:r>
          </a:p>
        </p:txBody>
      </p:sp>
      <p:sp>
        <p:nvSpPr>
          <p:cNvPr id="10" name="Rectangle 9"/>
          <p:cNvSpPr/>
          <p:nvPr/>
        </p:nvSpPr>
        <p:spPr>
          <a:xfrm>
            <a:off x="2468922" y="6466123"/>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8194" name="Picture 2" descr="In Photos A to D, the emergency responder wearing gloves can be seen kneeling by a young woman lying on her back on the floor. In Photo A, the responder's fingers can be seen placed on one side of the patient's neck. In Photo B, the responder's fingers can be seen placed on the patient's wrist as he holds her hand up slightly in his other hand. In Photo C, the responder's fingers can be seen placed on the inner side of the patient's upper arm, as he holds her arm up. In Photo D, the responder's fingers can be seen placed on one side of the patient's groin.&#10;" title="Photos A to D show a responder's gloved hands placed on different locations on a female patient's body to assess the pul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3122" y="1456931"/>
            <a:ext cx="6305550" cy="436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039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98F5A3C5-6402-744C-B954-1881990CD3C2}"/>
              </a:ext>
            </a:extLst>
          </p:cNvPr>
          <p:cNvSpPr>
            <a:spLocks noGrp="1" noChangeArrowheads="1"/>
          </p:cNvSpPr>
          <p:nvPr>
            <p:ph type="title"/>
          </p:nvPr>
        </p:nvSpPr>
        <p:spPr/>
        <p:txBody>
          <a:bodyPr/>
          <a:lstStyle/>
          <a:p>
            <a:pPr eaLnBrk="1" hangingPunct="1">
              <a:lnSpc>
                <a:spcPct val="85000"/>
              </a:lnSpc>
              <a:defRPr/>
            </a:pPr>
            <a:r>
              <a:rPr lang="en-US" dirty="0"/>
              <a:t>Anatomy and Function of Circulatory System </a:t>
            </a:r>
            <a:r>
              <a:rPr lang="en-US" sz="2800" b="0" dirty="0"/>
              <a:t>(7 of 8)</a:t>
            </a:r>
          </a:p>
        </p:txBody>
      </p:sp>
      <p:sp>
        <p:nvSpPr>
          <p:cNvPr id="31746" name="Rectangle 3">
            <a:extLst>
              <a:ext uri="{FF2B5EF4-FFF2-40B4-BE49-F238E27FC236}">
                <a16:creationId xmlns:a16="http://schemas.microsoft.com/office/drawing/2014/main" id="{6376D90A-B519-E945-9FAD-4BE6644B8A5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Blood has several components.</a:t>
            </a:r>
          </a:p>
          <a:p>
            <a:pPr lvl="1" eaLnBrk="1" hangingPunct="1">
              <a:spcBef>
                <a:spcPct val="35000"/>
              </a:spcBef>
            </a:pPr>
            <a:r>
              <a:rPr lang="en-US" altLang="en-US" dirty="0"/>
              <a:t>Plasma</a:t>
            </a:r>
          </a:p>
          <a:p>
            <a:pPr lvl="1" eaLnBrk="1" hangingPunct="1">
              <a:spcBef>
                <a:spcPct val="35000"/>
              </a:spcBef>
            </a:pPr>
            <a:r>
              <a:rPr lang="en-US" altLang="en-US" dirty="0"/>
              <a:t>Red blood cells carry oxygen from lungs to the body and bring carbon dioxide back to lungs.</a:t>
            </a:r>
            <a:endParaRPr lang="en-US" altLang="en-US" u="sng" dirty="0"/>
          </a:p>
          <a:p>
            <a:pPr lvl="1" eaLnBrk="1" hangingPunct="1">
              <a:spcBef>
                <a:spcPct val="35000"/>
              </a:spcBef>
            </a:pPr>
            <a:r>
              <a:rPr lang="en-US" altLang="en-US" dirty="0"/>
              <a:t>White blood cells devour bacteria and other disease-causing organisms.</a:t>
            </a:r>
            <a:endParaRPr lang="en-US" altLang="en-US" u="sng" dirty="0"/>
          </a:p>
          <a:p>
            <a:pPr lvl="1" eaLnBrk="1" hangingPunct="1">
              <a:spcBef>
                <a:spcPct val="35000"/>
              </a:spcBef>
            </a:pPr>
            <a:r>
              <a:rPr lang="en-US" altLang="en-US" dirty="0"/>
              <a:t>Platelets start blood-clotting process.</a:t>
            </a:r>
          </a:p>
        </p:txBody>
      </p:sp>
    </p:spTree>
    <p:extLst>
      <p:ext uri="{BB962C8B-B14F-4D97-AF65-F5344CB8AC3E}">
        <p14:creationId xmlns:p14="http://schemas.microsoft.com/office/powerpoint/2010/main" val="254854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AE68654C-0BAD-6347-AEF5-9E87F89EAE3E}"/>
              </a:ext>
            </a:extLst>
          </p:cNvPr>
          <p:cNvSpPr>
            <a:spLocks noGrp="1" noChangeArrowheads="1"/>
          </p:cNvSpPr>
          <p:nvPr>
            <p:ph type="title"/>
          </p:nvPr>
        </p:nvSpPr>
        <p:spPr/>
        <p:txBody>
          <a:bodyPr/>
          <a:lstStyle/>
          <a:p>
            <a:pPr eaLnBrk="1" hangingPunct="1">
              <a:lnSpc>
                <a:spcPct val="85000"/>
              </a:lnSpc>
              <a:defRPr/>
            </a:pPr>
            <a:r>
              <a:rPr lang="en-US" dirty="0">
                <a:solidFill>
                  <a:srgbClr val="F79646"/>
                </a:solidFill>
              </a:rPr>
              <a:t>Anatomy and Function of Circulatory System </a:t>
            </a:r>
            <a:r>
              <a:rPr lang="en-US" sz="2800" b="0" dirty="0">
                <a:solidFill>
                  <a:srgbClr val="F79646"/>
                </a:solidFill>
              </a:rPr>
              <a:t>(8 of 8)</a:t>
            </a:r>
          </a:p>
        </p:txBody>
      </p:sp>
      <p:sp>
        <p:nvSpPr>
          <p:cNvPr id="6" name="Rectangle 5"/>
          <p:cNvSpPr/>
          <p:nvPr/>
        </p:nvSpPr>
        <p:spPr>
          <a:xfrm>
            <a:off x="4488933" y="5746356"/>
            <a:ext cx="3893067"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8-3 </a:t>
            </a:r>
            <a:r>
              <a:rPr lang="en-US" dirty="0"/>
              <a:t>The components of blood. </a:t>
            </a:r>
          </a:p>
        </p:txBody>
      </p:sp>
      <p:sp>
        <p:nvSpPr>
          <p:cNvPr id="7" name="Rectangle 6"/>
          <p:cNvSpPr/>
          <p:nvPr/>
        </p:nvSpPr>
        <p:spPr>
          <a:xfrm>
            <a:off x="4500922" y="6085123"/>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2050" name="Picture 2" descr="The top half of the tube has a clear liquid marked as plasma (55 percent). The bottom half contains several small particles floating in the liquid. This half is marked as blood cells (45 percent). The different components are labeled and explained as follows: the smallest round particles are marked as platelets (clotting); the solid disc-like particles are red blood cells (oxygen carrying); the shapeless translucent cells with a nucleus visible inside them are the white blood cells (infection fighting).&#10;" title="An illustration shows a test-tube with the components of blood labeled. "/>
          <p:cNvPicPr>
            <a:picLocks noChangeAspect="1" noChangeArrowheads="1"/>
          </p:cNvPicPr>
          <p:nvPr/>
        </p:nvPicPr>
        <p:blipFill rotWithShape="1">
          <a:blip r:embed="rId3">
            <a:extLst>
              <a:ext uri="{28A0092B-C50C-407E-A947-70E740481C1C}">
                <a14:useLocalDpi xmlns:a14="http://schemas.microsoft.com/office/drawing/2010/main" val="0"/>
              </a:ext>
            </a:extLst>
          </a:blip>
          <a:srcRect b="8235"/>
          <a:stretch/>
        </p:blipFill>
        <p:spPr bwMode="auto">
          <a:xfrm>
            <a:off x="4541672" y="1398783"/>
            <a:ext cx="3548228" cy="4402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109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03626C9E-B73E-2443-B61E-0761085A5655}"/>
              </a:ext>
            </a:extLst>
          </p:cNvPr>
          <p:cNvSpPr>
            <a:spLocks noGrp="1" noChangeArrowheads="1"/>
          </p:cNvSpPr>
          <p:nvPr>
            <p:ph type="title"/>
          </p:nvPr>
        </p:nvSpPr>
        <p:spPr/>
        <p:txBody>
          <a:bodyPr/>
          <a:lstStyle/>
          <a:p>
            <a:pPr eaLnBrk="1" hangingPunct="1">
              <a:lnSpc>
                <a:spcPct val="85000"/>
              </a:lnSpc>
              <a:defRPr/>
            </a:pPr>
            <a:r>
              <a:rPr lang="en-US" dirty="0"/>
              <a:t>Cardiac Arrest </a:t>
            </a:r>
            <a:r>
              <a:rPr lang="en-US" sz="2800" b="0" dirty="0"/>
              <a:t>(1 of 3)</a:t>
            </a:r>
          </a:p>
        </p:txBody>
      </p:sp>
      <p:sp>
        <p:nvSpPr>
          <p:cNvPr id="35842" name="Rectangle 3">
            <a:extLst>
              <a:ext uri="{FF2B5EF4-FFF2-40B4-BE49-F238E27FC236}">
                <a16:creationId xmlns:a16="http://schemas.microsoft.com/office/drawing/2014/main" id="{DC141AAC-6682-CA4A-BDF1-165C9114280D}"/>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Cardiac arrest occurs when the heart stops contracting and no blood is pumped through blood vessels.</a:t>
            </a:r>
          </a:p>
          <a:p>
            <a:pPr eaLnBrk="1" hangingPunct="1">
              <a:spcBef>
                <a:spcPct val="35000"/>
              </a:spcBef>
            </a:pPr>
            <a:r>
              <a:rPr lang="en-US" altLang="en-US" dirty="0"/>
              <a:t>Without a supply of blood, cells of body will die.</a:t>
            </a:r>
          </a:p>
          <a:p>
            <a:pPr lvl="1" eaLnBrk="1" hangingPunct="1">
              <a:spcBef>
                <a:spcPct val="35000"/>
              </a:spcBef>
            </a:pPr>
            <a:r>
              <a:rPr lang="en-US" altLang="en-US" dirty="0"/>
              <a:t>Brain damage begins within 4 to 6 minutes.</a:t>
            </a:r>
          </a:p>
        </p:txBody>
      </p:sp>
    </p:spTree>
    <p:extLst>
      <p:ext uri="{BB962C8B-B14F-4D97-AF65-F5344CB8AC3E}">
        <p14:creationId xmlns:p14="http://schemas.microsoft.com/office/powerpoint/2010/main" val="300169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B26B761C-AE4C-BF42-93B7-589E7E6EC4A8}"/>
              </a:ext>
            </a:extLst>
          </p:cNvPr>
          <p:cNvSpPr>
            <a:spLocks noGrp="1" noChangeArrowheads="1"/>
          </p:cNvSpPr>
          <p:nvPr>
            <p:ph type="title"/>
          </p:nvPr>
        </p:nvSpPr>
        <p:spPr/>
        <p:txBody>
          <a:bodyPr/>
          <a:lstStyle/>
          <a:p>
            <a:pPr eaLnBrk="1" hangingPunct="1">
              <a:lnSpc>
                <a:spcPct val="85000"/>
              </a:lnSpc>
              <a:defRPr/>
            </a:pPr>
            <a:r>
              <a:rPr lang="en-US" dirty="0"/>
              <a:t>Cardiac Arrest </a:t>
            </a:r>
            <a:r>
              <a:rPr lang="en-US" sz="2800" b="0" dirty="0"/>
              <a:t>(2 of 3)</a:t>
            </a:r>
          </a:p>
        </p:txBody>
      </p:sp>
      <p:sp>
        <p:nvSpPr>
          <p:cNvPr id="37890" name="Rectangle 3">
            <a:extLst>
              <a:ext uri="{FF2B5EF4-FFF2-40B4-BE49-F238E27FC236}">
                <a16:creationId xmlns:a16="http://schemas.microsoft.com/office/drawing/2014/main" id="{FA97E0A6-0BB6-984B-99F0-228495519F3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Causes of cardiac arrest:</a:t>
            </a:r>
          </a:p>
          <a:p>
            <a:pPr lvl="1" eaLnBrk="1" hangingPunct="1">
              <a:spcBef>
                <a:spcPct val="35000"/>
              </a:spcBef>
            </a:pPr>
            <a:r>
              <a:rPr lang="en-US" altLang="en-US" dirty="0"/>
              <a:t>Heart and blood vessel diseases.</a:t>
            </a:r>
          </a:p>
          <a:p>
            <a:pPr lvl="1" eaLnBrk="1" hangingPunct="1">
              <a:spcBef>
                <a:spcPct val="35000"/>
              </a:spcBef>
            </a:pPr>
            <a:r>
              <a:rPr lang="en-US" altLang="en-US" dirty="0"/>
              <a:t>Respiratory arrest, if untreated.</a:t>
            </a:r>
          </a:p>
          <a:p>
            <a:pPr lvl="1" eaLnBrk="1" hangingPunct="1">
              <a:spcBef>
                <a:spcPct val="35000"/>
              </a:spcBef>
            </a:pPr>
            <a:r>
              <a:rPr lang="en-US" altLang="en-US" dirty="0"/>
              <a:t>Medical emergencies such as epilepsy, diabetes, allergic reactions, electrical shock, and poisoning.</a:t>
            </a:r>
          </a:p>
          <a:p>
            <a:pPr lvl="1" eaLnBrk="1" hangingPunct="1">
              <a:spcBef>
                <a:spcPct val="35000"/>
              </a:spcBef>
            </a:pPr>
            <a:r>
              <a:rPr lang="en-US" altLang="en-US" dirty="0"/>
              <a:t>Drug overdose.</a:t>
            </a:r>
          </a:p>
          <a:p>
            <a:pPr lvl="1" eaLnBrk="1" hangingPunct="1">
              <a:spcBef>
                <a:spcPct val="35000"/>
              </a:spcBef>
            </a:pPr>
            <a:r>
              <a:rPr lang="en-US" altLang="en-US" dirty="0"/>
              <a:t>Drowning.</a:t>
            </a:r>
          </a:p>
          <a:p>
            <a:pPr lvl="1" eaLnBrk="1" hangingPunct="1">
              <a:spcBef>
                <a:spcPct val="35000"/>
              </a:spcBef>
            </a:pPr>
            <a:r>
              <a:rPr lang="en-US" altLang="en-US" dirty="0"/>
              <a:t>Suffocation.</a:t>
            </a:r>
          </a:p>
          <a:p>
            <a:pPr lvl="1" eaLnBrk="1" hangingPunct="1">
              <a:spcBef>
                <a:spcPct val="35000"/>
              </a:spcBef>
            </a:pPr>
            <a:r>
              <a:rPr lang="en-US" altLang="en-US" dirty="0"/>
              <a:t>Trauma and shock from massive blood loss.</a:t>
            </a:r>
          </a:p>
        </p:txBody>
      </p:sp>
    </p:spTree>
    <p:extLst>
      <p:ext uri="{BB962C8B-B14F-4D97-AF65-F5344CB8AC3E}">
        <p14:creationId xmlns:p14="http://schemas.microsoft.com/office/powerpoint/2010/main" val="1316768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DE0BDE05-B056-7742-9B43-55516AE0E567}"/>
              </a:ext>
            </a:extLst>
          </p:cNvPr>
          <p:cNvSpPr>
            <a:spLocks noGrp="1" noChangeArrowheads="1"/>
          </p:cNvSpPr>
          <p:nvPr>
            <p:ph type="title"/>
          </p:nvPr>
        </p:nvSpPr>
        <p:spPr/>
        <p:txBody>
          <a:bodyPr/>
          <a:lstStyle/>
          <a:p>
            <a:pPr eaLnBrk="1" hangingPunct="1">
              <a:lnSpc>
                <a:spcPct val="85000"/>
              </a:lnSpc>
              <a:defRPr/>
            </a:pPr>
            <a:r>
              <a:rPr lang="en-US" dirty="0"/>
              <a:t>Cardiac Arrest </a:t>
            </a:r>
            <a:r>
              <a:rPr lang="en-US" sz="2800" b="0" dirty="0"/>
              <a:t>(3 of 3)</a:t>
            </a:r>
          </a:p>
        </p:txBody>
      </p:sp>
      <p:sp>
        <p:nvSpPr>
          <p:cNvPr id="39938" name="Rectangle 3">
            <a:extLst>
              <a:ext uri="{FF2B5EF4-FFF2-40B4-BE49-F238E27FC236}">
                <a16:creationId xmlns:a16="http://schemas.microsoft.com/office/drawing/2014/main" id="{EAC54F75-D402-E945-8E18-D44D1DB41B0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Patient who has experienced cardiac arrest is unconscious and not breathing.</a:t>
            </a:r>
          </a:p>
          <a:p>
            <a:pPr lvl="1" eaLnBrk="1" hangingPunct="1">
              <a:spcBef>
                <a:spcPct val="35000"/>
              </a:spcBef>
            </a:pPr>
            <a:r>
              <a:rPr lang="en-US" altLang="en-US" dirty="0"/>
              <a:t>You cannot feel a pulse and patient looks dead.</a:t>
            </a:r>
          </a:p>
          <a:p>
            <a:pPr lvl="1" eaLnBrk="1" hangingPunct="1">
              <a:spcBef>
                <a:spcPct val="35000"/>
              </a:spcBef>
            </a:pPr>
            <a:r>
              <a:rPr lang="en-US" altLang="en-US" dirty="0"/>
              <a:t>Regardless of cause, initial treatment is same: providing CPR.</a:t>
            </a:r>
          </a:p>
        </p:txBody>
      </p:sp>
    </p:spTree>
    <p:extLst>
      <p:ext uri="{BB962C8B-B14F-4D97-AF65-F5344CB8AC3E}">
        <p14:creationId xmlns:p14="http://schemas.microsoft.com/office/powerpoint/2010/main" val="3398786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4BC4C7FB-2628-1C47-866C-24D8EAF12093}"/>
              </a:ext>
            </a:extLst>
          </p:cNvPr>
          <p:cNvSpPr>
            <a:spLocks noGrp="1" noChangeArrowheads="1"/>
          </p:cNvSpPr>
          <p:nvPr>
            <p:ph type="title"/>
          </p:nvPr>
        </p:nvSpPr>
        <p:spPr/>
        <p:txBody>
          <a:bodyPr/>
          <a:lstStyle/>
          <a:p>
            <a:pPr eaLnBrk="1" hangingPunct="1">
              <a:lnSpc>
                <a:spcPct val="85000"/>
              </a:lnSpc>
              <a:defRPr/>
            </a:pPr>
            <a:r>
              <a:rPr lang="en-US" dirty="0"/>
              <a:t>Components of CPR </a:t>
            </a:r>
            <a:r>
              <a:rPr lang="en-US" sz="2800" b="0" dirty="0"/>
              <a:t>(1 of 3)</a:t>
            </a:r>
          </a:p>
        </p:txBody>
      </p:sp>
      <p:sp>
        <p:nvSpPr>
          <p:cNvPr id="41986" name="Rectangle 3">
            <a:extLst>
              <a:ext uri="{FF2B5EF4-FFF2-40B4-BE49-F238E27FC236}">
                <a16:creationId xmlns:a16="http://schemas.microsoft.com/office/drawing/2014/main" id="{ADDC8BAB-384C-5A40-A868-DD5C9CBAFDA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CPR requires three types of skills:</a:t>
            </a:r>
          </a:p>
          <a:p>
            <a:pPr lvl="1" eaLnBrk="1" hangingPunct="1">
              <a:spcBef>
                <a:spcPct val="35000"/>
              </a:spcBef>
            </a:pPr>
            <a:r>
              <a:rPr lang="en-US" altLang="en-US" dirty="0"/>
              <a:t>C (circulation) skills.</a:t>
            </a:r>
          </a:p>
          <a:p>
            <a:pPr lvl="1" eaLnBrk="1" hangingPunct="1">
              <a:spcBef>
                <a:spcPct val="35000"/>
              </a:spcBef>
            </a:pPr>
            <a:r>
              <a:rPr lang="en-US" altLang="en-US" dirty="0"/>
              <a:t>A (airway) skills.</a:t>
            </a:r>
          </a:p>
          <a:p>
            <a:pPr lvl="1" eaLnBrk="1" hangingPunct="1">
              <a:spcBef>
                <a:spcPct val="35000"/>
              </a:spcBef>
            </a:pPr>
            <a:r>
              <a:rPr lang="en-US" altLang="en-US" dirty="0"/>
              <a:t>B (breathing) skills.</a:t>
            </a:r>
          </a:p>
          <a:p>
            <a:pPr eaLnBrk="1" hangingPunct="1">
              <a:spcBef>
                <a:spcPct val="35000"/>
              </a:spcBef>
            </a:pPr>
            <a:r>
              <a:rPr lang="en-US" altLang="en-US" dirty="0"/>
              <a:t>Airway and breathing skills:</a:t>
            </a:r>
          </a:p>
          <a:p>
            <a:pPr lvl="1" eaLnBrk="1" hangingPunct="1">
              <a:spcBef>
                <a:spcPct val="35000"/>
              </a:spcBef>
            </a:pPr>
            <a:r>
              <a:rPr lang="en-US" altLang="en-US" dirty="0"/>
              <a:t>Determine whether airway is open.</a:t>
            </a:r>
          </a:p>
          <a:p>
            <a:pPr lvl="1" eaLnBrk="1" hangingPunct="1">
              <a:spcBef>
                <a:spcPct val="35000"/>
              </a:spcBef>
            </a:pPr>
            <a:r>
              <a:rPr lang="en-US" altLang="en-US" dirty="0"/>
              <a:t>Correct a blocked airway with head tilt–chin lift or jaw-thrust maneuver.</a:t>
            </a:r>
          </a:p>
        </p:txBody>
      </p:sp>
    </p:spTree>
    <p:extLst>
      <p:ext uri="{BB962C8B-B14F-4D97-AF65-F5344CB8AC3E}">
        <p14:creationId xmlns:p14="http://schemas.microsoft.com/office/powerpoint/2010/main" val="3896958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8921FF78-214E-7645-86E4-E002D79F5DDE}"/>
              </a:ext>
            </a:extLst>
          </p:cNvPr>
          <p:cNvSpPr>
            <a:spLocks noGrp="1" noChangeArrowheads="1"/>
          </p:cNvSpPr>
          <p:nvPr>
            <p:ph type="title"/>
          </p:nvPr>
        </p:nvSpPr>
        <p:spPr/>
        <p:txBody>
          <a:bodyPr/>
          <a:lstStyle/>
          <a:p>
            <a:pPr eaLnBrk="1" hangingPunct="1">
              <a:lnSpc>
                <a:spcPct val="85000"/>
              </a:lnSpc>
              <a:defRPr/>
            </a:pPr>
            <a:r>
              <a:rPr lang="en-US" dirty="0"/>
              <a:t>Components of CPR </a:t>
            </a:r>
            <a:r>
              <a:rPr lang="en-US" sz="2800" b="0" dirty="0"/>
              <a:t>(2 of 3)</a:t>
            </a:r>
          </a:p>
        </p:txBody>
      </p:sp>
      <p:sp>
        <p:nvSpPr>
          <p:cNvPr id="44034" name="Rectangle 3">
            <a:extLst>
              <a:ext uri="{FF2B5EF4-FFF2-40B4-BE49-F238E27FC236}">
                <a16:creationId xmlns:a16="http://schemas.microsoft.com/office/drawing/2014/main" id="{207C7C9B-98EB-504B-86F4-ABFA4C3D6CD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Airway and breathing skills (cont'd):</a:t>
            </a:r>
          </a:p>
          <a:p>
            <a:pPr lvl="1" eaLnBrk="1" hangingPunct="1">
              <a:spcBef>
                <a:spcPct val="35000"/>
              </a:spcBef>
            </a:pPr>
            <a:r>
              <a:rPr lang="en-US" altLang="en-US" dirty="0"/>
              <a:t>Determine whether patient is breathing. </a:t>
            </a:r>
          </a:p>
          <a:p>
            <a:pPr lvl="1" eaLnBrk="1" hangingPunct="1">
              <a:spcBef>
                <a:spcPct val="35000"/>
              </a:spcBef>
            </a:pPr>
            <a:r>
              <a:rPr lang="en-US" altLang="en-US" dirty="0"/>
              <a:t>Correct absence of breathing by performing rescue breathing.</a:t>
            </a:r>
          </a:p>
          <a:p>
            <a:pPr eaLnBrk="1" hangingPunct="1">
              <a:spcBef>
                <a:spcPct val="35000"/>
              </a:spcBef>
            </a:pPr>
            <a:r>
              <a:rPr lang="en-US" altLang="en-US" dirty="0"/>
              <a:t>Circulation skills:</a:t>
            </a:r>
          </a:p>
          <a:p>
            <a:pPr lvl="1" eaLnBrk="1" hangingPunct="1">
              <a:spcBef>
                <a:spcPct val="35000"/>
              </a:spcBef>
            </a:pPr>
            <a:r>
              <a:rPr lang="en-US" altLang="en-US" dirty="0"/>
              <a:t>Check patient for a pulse.</a:t>
            </a:r>
          </a:p>
          <a:p>
            <a:pPr lvl="1" eaLnBrk="1" hangingPunct="1">
              <a:spcBef>
                <a:spcPct val="35000"/>
              </a:spcBef>
            </a:pPr>
            <a:r>
              <a:rPr lang="en-US" altLang="en-US" dirty="0"/>
              <a:t>If there is no pulse, perform external chest compressions.</a:t>
            </a:r>
          </a:p>
        </p:txBody>
      </p:sp>
    </p:spTree>
    <p:extLst>
      <p:ext uri="{BB962C8B-B14F-4D97-AF65-F5344CB8AC3E}">
        <p14:creationId xmlns:p14="http://schemas.microsoft.com/office/powerpoint/2010/main" val="278543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0672CE77-A6B1-EF4F-BDDC-354218E45465}"/>
              </a:ext>
            </a:extLst>
          </p:cNvPr>
          <p:cNvSpPr>
            <a:spLocks noGrp="1" noChangeArrowheads="1"/>
          </p:cNvSpPr>
          <p:nvPr>
            <p:ph type="title"/>
          </p:nvPr>
        </p:nvSpPr>
        <p:spPr/>
        <p:txBody>
          <a:bodyPr/>
          <a:lstStyle/>
          <a:p>
            <a:pPr eaLnBrk="1" hangingPunct="1">
              <a:lnSpc>
                <a:spcPct val="85000"/>
              </a:lnSpc>
              <a:defRPr/>
            </a:pPr>
            <a:r>
              <a:rPr lang="en-US" dirty="0"/>
              <a:t>Components of CPR </a:t>
            </a:r>
            <a:r>
              <a:rPr lang="en-US" sz="2800" b="0" dirty="0"/>
              <a:t>(3 of 3)</a:t>
            </a:r>
          </a:p>
        </p:txBody>
      </p:sp>
      <p:sp>
        <p:nvSpPr>
          <p:cNvPr id="46082" name="Rectangle 3">
            <a:extLst>
              <a:ext uri="{FF2B5EF4-FFF2-40B4-BE49-F238E27FC236}">
                <a16:creationId xmlns:a16="http://schemas.microsoft.com/office/drawing/2014/main" id="{B074314C-667C-A640-9FAE-B4CB7D9DDD8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CPR by itself cannot sustain life indefinitely.</a:t>
            </a:r>
          </a:p>
          <a:p>
            <a:pPr lvl="1" eaLnBrk="1" hangingPunct="1">
              <a:spcBef>
                <a:spcPct val="35000"/>
              </a:spcBef>
            </a:pPr>
            <a:r>
              <a:rPr lang="en-US" altLang="en-US" dirty="0"/>
              <a:t>It should be started as soon as possible to give patient best chance for survival.</a:t>
            </a:r>
          </a:p>
          <a:p>
            <a:pPr lvl="1" eaLnBrk="1" hangingPunct="1">
              <a:spcBef>
                <a:spcPct val="35000"/>
              </a:spcBef>
            </a:pPr>
            <a:r>
              <a:rPr lang="en-US" altLang="en-US" dirty="0"/>
              <a:t>Many patients will need defibrillation and medication to be successfully resuscitated.</a:t>
            </a:r>
          </a:p>
        </p:txBody>
      </p:sp>
    </p:spTree>
    <p:extLst>
      <p:ext uri="{BB962C8B-B14F-4D97-AF65-F5344CB8AC3E}">
        <p14:creationId xmlns:p14="http://schemas.microsoft.com/office/powerpoint/2010/main" val="406768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2F8DCE65-544B-E742-B599-88178FE0A4D5}"/>
              </a:ext>
            </a:extLst>
          </p:cNvPr>
          <p:cNvSpPr>
            <a:spLocks noGrp="1" noChangeArrowheads="1"/>
          </p:cNvSpPr>
          <p:nvPr>
            <p:ph type="title"/>
          </p:nvPr>
        </p:nvSpPr>
        <p:spPr/>
        <p:txBody>
          <a:bodyPr/>
          <a:lstStyle/>
          <a:p>
            <a:pPr eaLnBrk="1" hangingPunct="1">
              <a:lnSpc>
                <a:spcPct val="85000"/>
              </a:lnSpc>
              <a:defRPr/>
            </a:pPr>
            <a:r>
              <a:rPr lang="en-US" dirty="0"/>
              <a:t>Cardiac Chain of Survival </a:t>
            </a:r>
            <a:r>
              <a:rPr lang="en-US" sz="2800" b="0" dirty="0"/>
              <a:t>(1 of 2)</a:t>
            </a:r>
          </a:p>
        </p:txBody>
      </p:sp>
      <p:sp>
        <p:nvSpPr>
          <p:cNvPr id="48130" name="Rectangle 3">
            <a:extLst>
              <a:ext uri="{FF2B5EF4-FFF2-40B4-BE49-F238E27FC236}">
                <a16:creationId xmlns:a16="http://schemas.microsoft.com/office/drawing/2014/main" id="{A5ED76EB-C931-C248-BA9F-47AC961D4CE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Links in Chain of Survival include:</a:t>
            </a:r>
          </a:p>
          <a:p>
            <a:pPr lvl="1" eaLnBrk="1" hangingPunct="1">
              <a:spcBef>
                <a:spcPct val="35000"/>
              </a:spcBef>
            </a:pPr>
            <a:r>
              <a:rPr lang="en-US" altLang="en-US" dirty="0"/>
              <a:t>Recognition of cardiac arrest and activation of emergency response system.</a:t>
            </a:r>
          </a:p>
          <a:p>
            <a:pPr lvl="1" eaLnBrk="1" hangingPunct="1">
              <a:spcBef>
                <a:spcPct val="35000"/>
              </a:spcBef>
            </a:pPr>
            <a:r>
              <a:rPr lang="en-US" altLang="en-US" dirty="0"/>
              <a:t>Immediate CPR wit emphasis on high-quality chest compressions.</a:t>
            </a:r>
          </a:p>
          <a:p>
            <a:pPr lvl="1" eaLnBrk="1" hangingPunct="1">
              <a:spcBef>
                <a:spcPct val="35000"/>
              </a:spcBef>
            </a:pPr>
            <a:r>
              <a:rPr lang="en-US" altLang="en-US" dirty="0"/>
              <a:t>Rapid defibrillation. </a:t>
            </a:r>
          </a:p>
          <a:p>
            <a:pPr lvl="1" eaLnBrk="1" hangingPunct="1">
              <a:spcBef>
                <a:spcPct val="35000"/>
              </a:spcBef>
            </a:pPr>
            <a:r>
              <a:rPr lang="en-US" altLang="en-US" dirty="0"/>
              <a:t>Basic and advanced EMS care.</a:t>
            </a:r>
          </a:p>
          <a:p>
            <a:pPr lvl="1" eaLnBrk="1" hangingPunct="1">
              <a:spcBef>
                <a:spcPct val="35000"/>
              </a:spcBef>
            </a:pPr>
            <a:r>
              <a:rPr lang="en-US" altLang="en-US" dirty="0"/>
              <a:t>Advanced life support and </a:t>
            </a:r>
            <a:r>
              <a:rPr lang="en-US" altLang="en-US" dirty="0" err="1"/>
              <a:t>postarrest</a:t>
            </a:r>
            <a:r>
              <a:rPr lang="en-US" altLang="en-US" dirty="0"/>
              <a:t> care.</a:t>
            </a:r>
          </a:p>
        </p:txBody>
      </p:sp>
    </p:spTree>
    <p:extLst>
      <p:ext uri="{BB962C8B-B14F-4D97-AF65-F5344CB8AC3E}">
        <p14:creationId xmlns:p14="http://schemas.microsoft.com/office/powerpoint/2010/main" val="764570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a:extLst>
              <a:ext uri="{FF2B5EF4-FFF2-40B4-BE49-F238E27FC236}">
                <a16:creationId xmlns:a16="http://schemas.microsoft.com/office/drawing/2014/main" id="{8CE95999-B2E0-4B41-BDE1-8424C058853F}"/>
              </a:ext>
            </a:extLst>
          </p:cNvPr>
          <p:cNvSpPr>
            <a:spLocks noGrp="1" noChangeArrowheads="1"/>
          </p:cNvSpPr>
          <p:nvPr>
            <p:ph type="title"/>
          </p:nvPr>
        </p:nvSpPr>
        <p:spPr/>
        <p:txBody>
          <a:bodyPr/>
          <a:lstStyle/>
          <a:p>
            <a:pPr eaLnBrk="1" hangingPunct="1">
              <a:lnSpc>
                <a:spcPct val="85000"/>
              </a:lnSpc>
              <a:defRPr/>
            </a:pPr>
            <a:r>
              <a:rPr lang="en-US" dirty="0"/>
              <a:t>Cardiac Chain of Survival </a:t>
            </a:r>
            <a:r>
              <a:rPr lang="en-US" sz="2800" b="0" dirty="0"/>
              <a:t>(2 of 2)</a:t>
            </a:r>
          </a:p>
        </p:txBody>
      </p:sp>
      <p:sp>
        <p:nvSpPr>
          <p:cNvPr id="6" name="Rectangle 5"/>
          <p:cNvSpPr/>
          <p:nvPr/>
        </p:nvSpPr>
        <p:spPr>
          <a:xfrm>
            <a:off x="1059933" y="4939906"/>
            <a:ext cx="10072846"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8-4 </a:t>
            </a:r>
            <a:r>
              <a:rPr lang="en-US" dirty="0"/>
              <a:t>The five links of the cardiac chain of survival. </a:t>
            </a:r>
          </a:p>
        </p:txBody>
      </p:sp>
      <p:sp>
        <p:nvSpPr>
          <p:cNvPr id="7" name="Rectangle 6"/>
          <p:cNvSpPr/>
          <p:nvPr/>
        </p:nvSpPr>
        <p:spPr>
          <a:xfrm>
            <a:off x="1071922" y="5278673"/>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Data from American Heart Association. </a:t>
            </a:r>
          </a:p>
        </p:txBody>
      </p:sp>
      <p:pic>
        <p:nvPicPr>
          <p:cNvPr id="3074" name="Picture 2" descr="The illustration depicts a linked chain with five different images drawn in the space formed inside each ring in the chain. From left to right, these are as follows: The first shows a telephone and is labeled 'Recognition or activation of EMS'. The next shows a pair of hands crossed against each other with the thumbs aligned and is labeled 'Immediate high-quality CPR'. The third shows a lightning bolt and is labeled 'Rapid defibrillation'. The fourth shows an emergency vehicle and is labeled 'Basic and advanced EMS'. The last one shows an ECG graph and is labeled 'ALS and postarrest care'.&#10;" title="An illustration depicts a linked chain with five different images drawn inside each ring in the chai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922" y="2247900"/>
            <a:ext cx="9487888" cy="255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91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a:extLst>
              <a:ext uri="{FF2B5EF4-FFF2-40B4-BE49-F238E27FC236}">
                <a16:creationId xmlns:a16="http://schemas.microsoft.com/office/drawing/2014/main" id="{D6C13AE8-BB3C-ED4B-9C3E-931DB8B6E9E1}"/>
              </a:ext>
            </a:extLst>
          </p:cNvPr>
          <p:cNvSpPr>
            <a:spLocks noGrp="1" noChangeArrowheads="1"/>
          </p:cNvSpPr>
          <p:nvPr>
            <p:ph type="title"/>
          </p:nvPr>
        </p:nvSpPr>
        <p:spPr/>
        <p:txBody>
          <a:bodyPr/>
          <a:lstStyle/>
          <a:p>
            <a:pPr eaLnBrk="1" hangingPunct="1">
              <a:lnSpc>
                <a:spcPct val="85000"/>
              </a:lnSpc>
              <a:defRPr/>
            </a:pPr>
            <a:r>
              <a:rPr lang="en-US" dirty="0"/>
              <a:t>When to Start CPR </a:t>
            </a:r>
            <a:r>
              <a:rPr lang="en-US" sz="2800" b="0" dirty="0"/>
              <a:t>(1 of 2)</a:t>
            </a:r>
          </a:p>
        </p:txBody>
      </p:sp>
      <p:sp>
        <p:nvSpPr>
          <p:cNvPr id="52226" name="Rectangle 3">
            <a:extLst>
              <a:ext uri="{FF2B5EF4-FFF2-40B4-BE49-F238E27FC236}">
                <a16:creationId xmlns:a16="http://schemas.microsoft.com/office/drawing/2014/main" id="{BC503C19-719E-7C43-999C-0E9137AE5F6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CPR should be started on all nonbreathing, pulseless patients, unless they are obviously dead or have a do</a:t>
            </a:r>
            <a:r>
              <a:rPr lang="en-US" altLang="en-US" dirty="0">
                <a:solidFill>
                  <a:srgbClr val="FF0000"/>
                </a:solidFill>
              </a:rPr>
              <a:t>-</a:t>
            </a:r>
            <a:r>
              <a:rPr lang="en-US" altLang="en-US" dirty="0"/>
              <a:t>not</a:t>
            </a:r>
            <a:r>
              <a:rPr lang="en-US" altLang="en-US" dirty="0">
                <a:solidFill>
                  <a:srgbClr val="FF0000"/>
                </a:solidFill>
              </a:rPr>
              <a:t>-</a:t>
            </a:r>
            <a:r>
              <a:rPr lang="en-US" altLang="en-US" dirty="0"/>
              <a:t>resuscitate (DNR) order.</a:t>
            </a:r>
          </a:p>
          <a:p>
            <a:pPr eaLnBrk="1" hangingPunct="1">
              <a:spcBef>
                <a:spcPct val="35000"/>
              </a:spcBef>
            </a:pPr>
            <a:r>
              <a:rPr lang="en-US" altLang="en-US" dirty="0"/>
              <a:t>Signs of death</a:t>
            </a:r>
          </a:p>
          <a:p>
            <a:pPr lvl="1" eaLnBrk="1" hangingPunct="1">
              <a:spcBef>
                <a:spcPct val="35000"/>
              </a:spcBef>
            </a:pPr>
            <a:r>
              <a:rPr lang="en-US" altLang="en-US" dirty="0"/>
              <a:t>Decapitation: The head is separated from the rest of the body.</a:t>
            </a:r>
          </a:p>
          <a:p>
            <a:pPr lvl="1" eaLnBrk="1" hangingPunct="1">
              <a:spcBef>
                <a:spcPct val="35000"/>
              </a:spcBef>
            </a:pPr>
            <a:r>
              <a:rPr lang="en-US" altLang="en-US" dirty="0"/>
              <a:t>Rigor mortis: Temporary stiffening of muscles occurs several hours after death.</a:t>
            </a:r>
          </a:p>
        </p:txBody>
      </p:sp>
    </p:spTree>
    <p:extLst>
      <p:ext uri="{BB962C8B-B14F-4D97-AF65-F5344CB8AC3E}">
        <p14:creationId xmlns:p14="http://schemas.microsoft.com/office/powerpoint/2010/main" val="1156215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a:extLst>
              <a:ext uri="{FF2B5EF4-FFF2-40B4-BE49-F238E27FC236}">
                <a16:creationId xmlns:a16="http://schemas.microsoft.com/office/drawing/2014/main" id="{BB2BF544-4FC6-8147-B623-46A1B35EF741}"/>
              </a:ext>
            </a:extLst>
          </p:cNvPr>
          <p:cNvSpPr>
            <a:spLocks noGrp="1" noChangeArrowheads="1"/>
          </p:cNvSpPr>
          <p:nvPr>
            <p:ph type="title"/>
          </p:nvPr>
        </p:nvSpPr>
        <p:spPr/>
        <p:txBody>
          <a:bodyPr/>
          <a:lstStyle/>
          <a:p>
            <a:pPr eaLnBrk="1" hangingPunct="1">
              <a:lnSpc>
                <a:spcPct val="85000"/>
              </a:lnSpc>
              <a:defRPr/>
            </a:pPr>
            <a:r>
              <a:rPr lang="en-US" dirty="0"/>
              <a:t>When to Start CPR </a:t>
            </a:r>
            <a:r>
              <a:rPr lang="en-US" sz="2800" b="0" dirty="0"/>
              <a:t>(2 of 2)</a:t>
            </a:r>
          </a:p>
        </p:txBody>
      </p:sp>
      <p:sp>
        <p:nvSpPr>
          <p:cNvPr id="54274" name="Rectangle 3">
            <a:extLst>
              <a:ext uri="{FF2B5EF4-FFF2-40B4-BE49-F238E27FC236}">
                <a16:creationId xmlns:a16="http://schemas.microsoft.com/office/drawing/2014/main" id="{9B4CB0CF-FA60-C64B-A12E-40923796E7E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Signs of death (cont'd):</a:t>
            </a:r>
          </a:p>
          <a:p>
            <a:pPr lvl="1" eaLnBrk="1" hangingPunct="1">
              <a:spcBef>
                <a:spcPct val="35000"/>
              </a:spcBef>
            </a:pPr>
            <a:r>
              <a:rPr lang="en-US" altLang="en-US" dirty="0"/>
              <a:t>Evidence of tissue decomposition: Actual flesh decay occurs only after a person has been dead for more than one day.</a:t>
            </a:r>
          </a:p>
          <a:p>
            <a:pPr lvl="1" eaLnBrk="1" hangingPunct="1">
              <a:spcBef>
                <a:spcPct val="35000"/>
              </a:spcBef>
            </a:pPr>
            <a:r>
              <a:rPr lang="en-US" altLang="en-US" dirty="0"/>
              <a:t>Dependent lividity: Red or purple color occurs on parts of patient’s body that are closest to ground.</a:t>
            </a:r>
          </a:p>
        </p:txBody>
      </p:sp>
    </p:spTree>
    <p:extLst>
      <p:ext uri="{BB962C8B-B14F-4D97-AF65-F5344CB8AC3E}">
        <p14:creationId xmlns:p14="http://schemas.microsoft.com/office/powerpoint/2010/main" val="1053806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a:extLst>
              <a:ext uri="{FF2B5EF4-FFF2-40B4-BE49-F238E27FC236}">
                <a16:creationId xmlns:a16="http://schemas.microsoft.com/office/drawing/2014/main" id="{5F7FE8D5-8727-9843-ACFD-4BB4EF5A5B4D}"/>
              </a:ext>
            </a:extLst>
          </p:cNvPr>
          <p:cNvSpPr>
            <a:spLocks noGrp="1" noChangeArrowheads="1"/>
          </p:cNvSpPr>
          <p:nvPr>
            <p:ph type="title"/>
          </p:nvPr>
        </p:nvSpPr>
        <p:spPr/>
        <p:txBody>
          <a:bodyPr/>
          <a:lstStyle/>
          <a:p>
            <a:pPr eaLnBrk="1" hangingPunct="1">
              <a:lnSpc>
                <a:spcPct val="85000"/>
              </a:lnSpc>
              <a:defRPr/>
            </a:pPr>
            <a:r>
              <a:rPr lang="en-US" dirty="0"/>
              <a:t>When to Stop CPR </a:t>
            </a:r>
            <a:r>
              <a:rPr lang="en-US" sz="2800" b="0" dirty="0"/>
              <a:t>(1 of 2)</a:t>
            </a:r>
          </a:p>
        </p:txBody>
      </p:sp>
      <p:sp>
        <p:nvSpPr>
          <p:cNvPr id="56322" name="Rectangle 3">
            <a:extLst>
              <a:ext uri="{FF2B5EF4-FFF2-40B4-BE49-F238E27FC236}">
                <a16:creationId xmlns:a16="http://schemas.microsoft.com/office/drawing/2014/main" id="{135A1665-E4D6-764B-B6F4-D2FDF65422F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Discontinue CPR only when:</a:t>
            </a:r>
          </a:p>
          <a:p>
            <a:pPr lvl="1" eaLnBrk="1" hangingPunct="1">
              <a:spcBef>
                <a:spcPct val="35000"/>
              </a:spcBef>
            </a:pPr>
            <a:r>
              <a:rPr lang="en-US" altLang="en-US" dirty="0"/>
              <a:t>Effective spontaneous circulation and ventilation are restored or patient begins to move.</a:t>
            </a:r>
          </a:p>
          <a:p>
            <a:pPr lvl="1" eaLnBrk="1" hangingPunct="1">
              <a:spcBef>
                <a:spcPct val="35000"/>
              </a:spcBef>
            </a:pPr>
            <a:r>
              <a:rPr lang="en-US" altLang="en-US" dirty="0"/>
              <a:t>Resuscitation efforts are transferred to another trained person with an equal or higher level of training who continues CPR.</a:t>
            </a:r>
          </a:p>
          <a:p>
            <a:pPr lvl="1" eaLnBrk="1" hangingPunct="1">
              <a:spcBef>
                <a:spcPct val="35000"/>
              </a:spcBef>
            </a:pPr>
            <a:r>
              <a:rPr lang="en-US" altLang="en-US" dirty="0"/>
              <a:t>A physician orders you to stop.</a:t>
            </a:r>
          </a:p>
          <a:p>
            <a:pPr lvl="1" eaLnBrk="1" hangingPunct="1">
              <a:spcBef>
                <a:spcPct val="35000"/>
              </a:spcBef>
            </a:pPr>
            <a:r>
              <a:rPr lang="en-US" altLang="en-US" dirty="0"/>
              <a:t>Patient is transferred to properly trained EMS personnel.</a:t>
            </a:r>
          </a:p>
        </p:txBody>
      </p:sp>
    </p:spTree>
    <p:extLst>
      <p:ext uri="{BB962C8B-B14F-4D97-AF65-F5344CB8AC3E}">
        <p14:creationId xmlns:p14="http://schemas.microsoft.com/office/powerpoint/2010/main" val="3862730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a:extLst>
              <a:ext uri="{FF2B5EF4-FFF2-40B4-BE49-F238E27FC236}">
                <a16:creationId xmlns:a16="http://schemas.microsoft.com/office/drawing/2014/main" id="{87091028-B0CA-7B4F-B341-FD42E5D0D61C}"/>
              </a:ext>
            </a:extLst>
          </p:cNvPr>
          <p:cNvSpPr>
            <a:spLocks noGrp="1" noChangeArrowheads="1"/>
          </p:cNvSpPr>
          <p:nvPr>
            <p:ph type="title"/>
          </p:nvPr>
        </p:nvSpPr>
        <p:spPr/>
        <p:txBody>
          <a:bodyPr/>
          <a:lstStyle/>
          <a:p>
            <a:pPr eaLnBrk="1" hangingPunct="1">
              <a:lnSpc>
                <a:spcPct val="85000"/>
              </a:lnSpc>
              <a:defRPr/>
            </a:pPr>
            <a:r>
              <a:rPr lang="en-US" dirty="0"/>
              <a:t>When to Stop CPR </a:t>
            </a:r>
            <a:r>
              <a:rPr lang="en-US" sz="2800" b="0" dirty="0"/>
              <a:t>(2 of 2)</a:t>
            </a:r>
          </a:p>
        </p:txBody>
      </p:sp>
      <p:sp>
        <p:nvSpPr>
          <p:cNvPr id="58370" name="Rectangle 3">
            <a:extLst>
              <a:ext uri="{FF2B5EF4-FFF2-40B4-BE49-F238E27FC236}">
                <a16:creationId xmlns:a16="http://schemas.microsoft.com/office/drawing/2014/main" id="{F39DBFDC-8F8B-9D45-AD18-0D8ABDC56DA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Discontinue CPR only when (cont'd):</a:t>
            </a:r>
          </a:p>
          <a:p>
            <a:pPr lvl="1" eaLnBrk="1" hangingPunct="1">
              <a:spcBef>
                <a:spcPct val="35000"/>
              </a:spcBef>
            </a:pPr>
            <a:r>
              <a:rPr lang="en-US" altLang="en-US" dirty="0"/>
              <a:t>Reliable criteria for death are recognized.</a:t>
            </a:r>
          </a:p>
          <a:p>
            <a:pPr lvl="1" eaLnBrk="1" hangingPunct="1">
              <a:spcBef>
                <a:spcPct val="35000"/>
              </a:spcBef>
            </a:pPr>
            <a:r>
              <a:rPr lang="en-US" altLang="en-US" dirty="0"/>
              <a:t>You are too exhausted to continue resuscitation, environmental hazards endanger your safety, or continued resuscitation would place the lives of others at risk.</a:t>
            </a:r>
          </a:p>
        </p:txBody>
      </p:sp>
    </p:spTree>
    <p:extLst>
      <p:ext uri="{BB962C8B-B14F-4D97-AF65-F5344CB8AC3E}">
        <p14:creationId xmlns:p14="http://schemas.microsoft.com/office/powerpoint/2010/main" val="390042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a:extLst>
              <a:ext uri="{FF2B5EF4-FFF2-40B4-BE49-F238E27FC236}">
                <a16:creationId xmlns:a16="http://schemas.microsoft.com/office/drawing/2014/main" id="{9A14F166-7A0B-514C-83C0-1D057D88A5DB}"/>
              </a:ext>
            </a:extLst>
          </p:cNvPr>
          <p:cNvSpPr>
            <a:spLocks noGrp="1" noChangeArrowheads="1"/>
          </p:cNvSpPr>
          <p:nvPr>
            <p:ph type="title"/>
          </p:nvPr>
        </p:nvSpPr>
        <p:spPr/>
        <p:txBody>
          <a:bodyPr/>
          <a:lstStyle/>
          <a:p>
            <a:pPr eaLnBrk="1" hangingPunct="1">
              <a:lnSpc>
                <a:spcPct val="85000"/>
              </a:lnSpc>
              <a:defRPr/>
            </a:pPr>
            <a:r>
              <a:rPr lang="en-US" dirty="0"/>
              <a:t>External Cardiac Compression </a:t>
            </a:r>
            <a:r>
              <a:rPr lang="en-US" sz="2800" b="0" dirty="0"/>
              <a:t>(1 of 4)</a:t>
            </a:r>
          </a:p>
        </p:txBody>
      </p:sp>
      <p:sp>
        <p:nvSpPr>
          <p:cNvPr id="60418" name="Rectangle 3">
            <a:extLst>
              <a:ext uri="{FF2B5EF4-FFF2-40B4-BE49-F238E27FC236}">
                <a16:creationId xmlns:a16="http://schemas.microsoft.com/office/drawing/2014/main" id="{ACF7CA3E-1405-764D-9437-D5ABE35BDD0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 an unresponsive patient, scan chest quickly for signs of breathing and check for a pulse.</a:t>
            </a:r>
          </a:p>
          <a:p>
            <a:pPr lvl="1" eaLnBrk="1" hangingPunct="1">
              <a:spcBef>
                <a:spcPct val="35000"/>
              </a:spcBef>
            </a:pPr>
            <a:r>
              <a:rPr lang="en-US" altLang="en-US" dirty="0"/>
              <a:t>Check carotid pulse and look for signs of coughing or movement.</a:t>
            </a:r>
          </a:p>
          <a:p>
            <a:pPr lvl="1" eaLnBrk="1" hangingPunct="1">
              <a:spcBef>
                <a:spcPct val="35000"/>
              </a:spcBef>
            </a:pPr>
            <a:r>
              <a:rPr lang="en-US" altLang="en-US" dirty="0"/>
              <a:t>If there is no carotid pulse in an unresponsive patient, begin chest compressions.</a:t>
            </a:r>
          </a:p>
          <a:p>
            <a:pPr lvl="1" eaLnBrk="1" hangingPunct="1">
              <a:spcBef>
                <a:spcPct val="35000"/>
              </a:spcBef>
            </a:pPr>
            <a:r>
              <a:rPr lang="en-US" altLang="en-US" dirty="0"/>
              <a:t>To perform adult chest compressions, see </a:t>
            </a:r>
            <a:r>
              <a:rPr lang="en-US" altLang="en-US" b="1" dirty="0"/>
              <a:t>Skill Drill 8-1</a:t>
            </a:r>
            <a:r>
              <a:rPr lang="en-US" altLang="en-US" dirty="0"/>
              <a:t>.</a:t>
            </a:r>
          </a:p>
        </p:txBody>
      </p:sp>
    </p:spTree>
    <p:extLst>
      <p:ext uri="{BB962C8B-B14F-4D97-AF65-F5344CB8AC3E}">
        <p14:creationId xmlns:p14="http://schemas.microsoft.com/office/powerpoint/2010/main" val="1052681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CDC28602-E4FD-9F48-A757-9B4F7B233261}"/>
              </a:ext>
            </a:extLst>
          </p:cNvPr>
          <p:cNvSpPr>
            <a:spLocks noGrp="1" noChangeArrowheads="1"/>
          </p:cNvSpPr>
          <p:nvPr>
            <p:ph type="title"/>
          </p:nvPr>
        </p:nvSpPr>
        <p:spPr/>
        <p:txBody>
          <a:bodyPr/>
          <a:lstStyle/>
          <a:p>
            <a:pPr eaLnBrk="1" hangingPunct="1">
              <a:lnSpc>
                <a:spcPct val="85000"/>
              </a:lnSpc>
              <a:defRPr/>
            </a:pPr>
            <a:r>
              <a:rPr lang="en-US" dirty="0"/>
              <a:t>External Cardiac Compression </a:t>
            </a:r>
            <a:r>
              <a:rPr lang="en-US" sz="2800" b="0" dirty="0"/>
              <a:t>(2 of 4)</a:t>
            </a:r>
          </a:p>
        </p:txBody>
      </p:sp>
      <p:sp>
        <p:nvSpPr>
          <p:cNvPr id="62466" name="Rectangle 3">
            <a:extLst>
              <a:ext uri="{FF2B5EF4-FFF2-40B4-BE49-F238E27FC236}">
                <a16:creationId xmlns:a16="http://schemas.microsoft.com/office/drawing/2014/main" id="{9A04507A-D14B-6D4C-8277-954F0836AC84}"/>
              </a:ext>
            </a:extLst>
          </p:cNvPr>
          <p:cNvSpPr>
            <a:spLocks noGrp="1" noChangeArrowheads="1"/>
          </p:cNvSpPr>
          <p:nvPr>
            <p:ph type="body" idx="1"/>
          </p:nvPr>
        </p:nvSpPr>
        <p:spPr>
          <a:xfrm>
            <a:off x="5791200" y="1447800"/>
            <a:ext cx="51816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sz="2400" dirty="0"/>
              <a:t>External chest compressions on an infant:</a:t>
            </a:r>
          </a:p>
          <a:p>
            <a:pPr lvl="1" eaLnBrk="1" hangingPunct="1">
              <a:spcBef>
                <a:spcPct val="35000"/>
              </a:spcBef>
            </a:pPr>
            <a:r>
              <a:rPr lang="en-US" altLang="en-US" sz="2100" dirty="0"/>
              <a:t>To check an infant’s circulation, feel for brachial pulse on inside of upper arm.</a:t>
            </a:r>
          </a:p>
        </p:txBody>
      </p:sp>
      <p:sp>
        <p:nvSpPr>
          <p:cNvPr id="7" name="Rectangle 6"/>
          <p:cNvSpPr/>
          <p:nvPr/>
        </p:nvSpPr>
        <p:spPr>
          <a:xfrm>
            <a:off x="1059933" y="4597006"/>
            <a:ext cx="4274067"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8-6 </a:t>
            </a:r>
            <a:r>
              <a:rPr lang="en-US" dirty="0"/>
              <a:t>Check the brachial pulse on the inside of the infant’s arm. </a:t>
            </a:r>
          </a:p>
        </p:txBody>
      </p:sp>
      <p:sp>
        <p:nvSpPr>
          <p:cNvPr id="8" name="Rectangle 7"/>
          <p:cNvSpPr/>
          <p:nvPr/>
        </p:nvSpPr>
        <p:spPr>
          <a:xfrm>
            <a:off x="1071922" y="5227873"/>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7170" name="Picture 2" descr="A photo shows a person's gloved hands using his fingers to feel the pulse on the inner side of an infant's upper arm.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348" y="1635632"/>
            <a:ext cx="4076700" cy="2902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25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43FD7166-9CE2-8D4B-9FB3-DA5DB800FAED}"/>
              </a:ext>
            </a:extLst>
          </p:cNvPr>
          <p:cNvSpPr>
            <a:spLocks noGrp="1" noChangeArrowheads="1"/>
          </p:cNvSpPr>
          <p:nvPr>
            <p:ph type="title"/>
          </p:nvPr>
        </p:nvSpPr>
        <p:spPr/>
        <p:txBody>
          <a:bodyPr/>
          <a:lstStyle/>
          <a:p>
            <a:pPr eaLnBrk="1" hangingPunct="1">
              <a:lnSpc>
                <a:spcPct val="85000"/>
              </a:lnSpc>
              <a:defRPr/>
            </a:pPr>
            <a:r>
              <a:rPr lang="en-US" dirty="0"/>
              <a:t>External Cardiac Compression </a:t>
            </a:r>
            <a:r>
              <a:rPr lang="en-US" sz="2800" b="0" dirty="0"/>
              <a:t>(3 of 4)</a:t>
            </a:r>
          </a:p>
        </p:txBody>
      </p:sp>
      <p:sp>
        <p:nvSpPr>
          <p:cNvPr id="64514" name="Rectangle 3">
            <a:extLst>
              <a:ext uri="{FF2B5EF4-FFF2-40B4-BE49-F238E27FC236}">
                <a16:creationId xmlns:a16="http://schemas.microsoft.com/office/drawing/2014/main" id="{8C6A2DEA-950A-9545-8C07-CA488CABD37E}"/>
              </a:ext>
            </a:extLst>
          </p:cNvPr>
          <p:cNvSpPr>
            <a:spLocks noGrp="1" noChangeArrowheads="1"/>
          </p:cNvSpPr>
          <p:nvPr>
            <p:ph type="body" idx="1"/>
          </p:nvPr>
        </p:nvSpPr>
        <p:spPr>
          <a:xfrm>
            <a:off x="5638799" y="1447800"/>
            <a:ext cx="5356859"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sz="2400" dirty="0"/>
              <a:t>External chest compressions on an infant (cont'd):</a:t>
            </a:r>
          </a:p>
          <a:p>
            <a:pPr lvl="1" eaLnBrk="1" hangingPunct="1">
              <a:spcBef>
                <a:spcPct val="35000"/>
              </a:spcBef>
            </a:pPr>
            <a:r>
              <a:rPr lang="en-US" altLang="en-US" sz="2100" dirty="0"/>
              <a:t>If there is no pulse, begin chest compressions with your two middle fingers.</a:t>
            </a:r>
          </a:p>
          <a:p>
            <a:pPr lvl="1" eaLnBrk="1" hangingPunct="1">
              <a:spcBef>
                <a:spcPct val="35000"/>
              </a:spcBef>
            </a:pPr>
            <a:r>
              <a:rPr lang="en-US" altLang="en-US" sz="2100" dirty="0"/>
              <a:t>Place infant on a solid surface or cradle infant in your arm.</a:t>
            </a:r>
          </a:p>
          <a:p>
            <a:pPr lvl="1" eaLnBrk="1" hangingPunct="1">
              <a:spcBef>
                <a:spcPct val="35000"/>
              </a:spcBef>
            </a:pPr>
            <a:r>
              <a:rPr lang="en-US" altLang="en-US" sz="2100" dirty="0"/>
              <a:t>You will not need to use much force.</a:t>
            </a:r>
          </a:p>
        </p:txBody>
      </p:sp>
      <p:sp>
        <p:nvSpPr>
          <p:cNvPr id="7" name="Rectangle 6"/>
          <p:cNvSpPr/>
          <p:nvPr/>
        </p:nvSpPr>
        <p:spPr>
          <a:xfrm>
            <a:off x="713148" y="4158857"/>
            <a:ext cx="4874852"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8-7 </a:t>
            </a:r>
            <a:r>
              <a:rPr lang="en-US" dirty="0"/>
              <a:t>Positioning the infant patient for proper CPR. </a:t>
            </a:r>
          </a:p>
        </p:txBody>
      </p:sp>
      <p:sp>
        <p:nvSpPr>
          <p:cNvPr id="8" name="Rectangle 7"/>
          <p:cNvSpPr/>
          <p:nvPr/>
        </p:nvSpPr>
        <p:spPr>
          <a:xfrm>
            <a:off x="712437" y="4764324"/>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American Academy of </a:t>
            </a:r>
            <a:r>
              <a:rPr lang="en-US" sz="1000" dirty="0" err="1"/>
              <a:t>Orthopaedic</a:t>
            </a:r>
            <a:r>
              <a:rPr lang="en-US" sz="1000" dirty="0"/>
              <a:t> Surgeons. </a:t>
            </a:r>
          </a:p>
        </p:txBody>
      </p:sp>
      <p:pic>
        <p:nvPicPr>
          <p:cNvPr id="6146" name="Picture 2" descr="A photo shows an infant held horizontally, facing upward, in the left arm of an person in a black uniform. The person places the fingers of his right hand on the baby's ches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198" y="1638301"/>
            <a:ext cx="4707804" cy="247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913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a:extLst>
              <a:ext uri="{FF2B5EF4-FFF2-40B4-BE49-F238E27FC236}">
                <a16:creationId xmlns:a16="http://schemas.microsoft.com/office/drawing/2014/main" id="{805B8579-B281-1E4A-BBD7-11A582624C18}"/>
              </a:ext>
            </a:extLst>
          </p:cNvPr>
          <p:cNvSpPr>
            <a:spLocks noGrp="1" noChangeArrowheads="1"/>
          </p:cNvSpPr>
          <p:nvPr>
            <p:ph type="title"/>
          </p:nvPr>
        </p:nvSpPr>
        <p:spPr/>
        <p:txBody>
          <a:bodyPr/>
          <a:lstStyle/>
          <a:p>
            <a:pPr eaLnBrk="1" hangingPunct="1">
              <a:lnSpc>
                <a:spcPct val="85000"/>
              </a:lnSpc>
              <a:defRPr/>
            </a:pPr>
            <a:r>
              <a:rPr lang="en-US" dirty="0"/>
              <a:t>External Cardiac Compression </a:t>
            </a:r>
            <a:r>
              <a:rPr lang="en-US" sz="2800" b="0" dirty="0"/>
              <a:t>(4 of 4)</a:t>
            </a:r>
          </a:p>
        </p:txBody>
      </p:sp>
      <p:sp>
        <p:nvSpPr>
          <p:cNvPr id="66562" name="Rectangle 3">
            <a:extLst>
              <a:ext uri="{FF2B5EF4-FFF2-40B4-BE49-F238E27FC236}">
                <a16:creationId xmlns:a16="http://schemas.microsoft.com/office/drawing/2014/main" id="{C593D708-5E1E-2846-867B-893FE899CA7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External chest compressions on a child:</a:t>
            </a:r>
          </a:p>
          <a:p>
            <a:pPr lvl="1" eaLnBrk="1" hangingPunct="1">
              <a:spcBef>
                <a:spcPct val="35000"/>
              </a:spcBef>
            </a:pPr>
            <a:r>
              <a:rPr lang="en-US" altLang="en-US" dirty="0"/>
              <a:t>Check carotid pulse.</a:t>
            </a:r>
          </a:p>
          <a:p>
            <a:pPr lvl="1" eaLnBrk="1" hangingPunct="1">
              <a:spcBef>
                <a:spcPct val="35000"/>
              </a:spcBef>
            </a:pPr>
            <a:r>
              <a:rPr lang="en-US" altLang="en-US" dirty="0"/>
              <a:t>Begin chest compressions.</a:t>
            </a:r>
          </a:p>
          <a:p>
            <a:pPr lvl="1" eaLnBrk="1" hangingPunct="1">
              <a:spcBef>
                <a:spcPct val="35000"/>
              </a:spcBef>
            </a:pPr>
            <a:r>
              <a:rPr lang="en-US" altLang="en-US" dirty="0"/>
              <a:t>In smaller children, place heel of one hand in center of chest, in between nipples.</a:t>
            </a:r>
          </a:p>
          <a:p>
            <a:pPr lvl="1" eaLnBrk="1" hangingPunct="1">
              <a:spcBef>
                <a:spcPct val="35000"/>
              </a:spcBef>
            </a:pPr>
            <a:r>
              <a:rPr lang="en-US" altLang="en-US" dirty="0"/>
              <a:t>In larger children, use two hands.</a:t>
            </a:r>
          </a:p>
        </p:txBody>
      </p:sp>
    </p:spTree>
    <p:extLst>
      <p:ext uri="{BB962C8B-B14F-4D97-AF65-F5344CB8AC3E}">
        <p14:creationId xmlns:p14="http://schemas.microsoft.com/office/powerpoint/2010/main" val="1688477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E18A3E0C-9D3C-2E46-98D7-80FEFF7C4C80}"/>
              </a:ext>
            </a:extLst>
          </p:cNvPr>
          <p:cNvSpPr>
            <a:spLocks noGrp="1" noChangeArrowheads="1"/>
          </p:cNvSpPr>
          <p:nvPr>
            <p:ph type="title"/>
          </p:nvPr>
        </p:nvSpPr>
        <p:spPr/>
        <p:txBody>
          <a:bodyPr/>
          <a:lstStyle/>
          <a:p>
            <a:pPr eaLnBrk="1" hangingPunct="1">
              <a:lnSpc>
                <a:spcPct val="85000"/>
              </a:lnSpc>
              <a:defRPr/>
            </a:pPr>
            <a:r>
              <a:rPr lang="en-US" dirty="0"/>
              <a:t>Adult CPR </a:t>
            </a:r>
            <a:r>
              <a:rPr lang="en-US" sz="2800" b="0" dirty="0"/>
              <a:t>(1 of 2)</a:t>
            </a:r>
          </a:p>
        </p:txBody>
      </p:sp>
      <p:sp>
        <p:nvSpPr>
          <p:cNvPr id="68610" name="Rectangle 3">
            <a:extLst>
              <a:ext uri="{FF2B5EF4-FFF2-40B4-BE49-F238E27FC236}">
                <a16:creationId xmlns:a16="http://schemas.microsoft.com/office/drawing/2014/main" id="{421F8D1C-6F82-AF4E-AF3B-91F9C5CFE0A3}"/>
              </a:ext>
            </a:extLst>
          </p:cNvPr>
          <p:cNvSpPr>
            <a:spLocks noGrp="1" noChangeArrowheads="1"/>
          </p:cNvSpPr>
          <p:nvPr>
            <p:ph type="body" idx="1"/>
          </p:nvPr>
        </p:nvSpPr>
        <p:spPr>
          <a:xfrm>
            <a:off x="907473" y="1562100"/>
            <a:ext cx="7924800" cy="37338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One-rescuer adult CPR</a:t>
            </a:r>
          </a:p>
          <a:p>
            <a:pPr lvl="1" eaLnBrk="1" hangingPunct="1">
              <a:spcBef>
                <a:spcPct val="35000"/>
              </a:spcBef>
            </a:pPr>
            <a:r>
              <a:rPr lang="en-US" altLang="en-US" dirty="0"/>
              <a:t>Follow steps in </a:t>
            </a:r>
            <a:r>
              <a:rPr lang="en-US" altLang="en-US" b="1" dirty="0"/>
              <a:t>Skill Drill 8-2</a:t>
            </a:r>
            <a:r>
              <a:rPr lang="en-US" altLang="en-US" dirty="0"/>
              <a:t>.</a:t>
            </a:r>
          </a:p>
          <a:p>
            <a:pPr lvl="1" eaLnBrk="1" hangingPunct="1">
              <a:spcBef>
                <a:spcPct val="35000"/>
              </a:spcBef>
            </a:pPr>
            <a:r>
              <a:rPr lang="en-US" altLang="en-US" dirty="0"/>
              <a:t>You must deliver chest compressions and rescue breathing at a ratio of 30:2.</a:t>
            </a:r>
          </a:p>
        </p:txBody>
      </p:sp>
    </p:spTree>
    <p:extLst>
      <p:ext uri="{BB962C8B-B14F-4D97-AF65-F5344CB8AC3E}">
        <p14:creationId xmlns:p14="http://schemas.microsoft.com/office/powerpoint/2010/main" val="362669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558090F5-C547-034B-902A-74E3C3147716}"/>
              </a:ext>
            </a:extLst>
          </p:cNvPr>
          <p:cNvSpPr>
            <a:spLocks noGrp="1" noChangeArrowheads="1"/>
          </p:cNvSpPr>
          <p:nvPr>
            <p:ph type="title"/>
          </p:nvPr>
        </p:nvSpPr>
        <p:spPr/>
        <p:txBody>
          <a:bodyPr/>
          <a:lstStyle/>
          <a:p>
            <a:pPr eaLnBrk="1" hangingPunct="1">
              <a:lnSpc>
                <a:spcPct val="85000"/>
              </a:lnSpc>
              <a:defRPr/>
            </a:pPr>
            <a:r>
              <a:rPr lang="en-US" dirty="0"/>
              <a:t>Adult CPR </a:t>
            </a:r>
            <a:r>
              <a:rPr lang="en-US" sz="2800" b="0" dirty="0"/>
              <a:t>(2 of 2)</a:t>
            </a:r>
          </a:p>
        </p:txBody>
      </p:sp>
      <p:sp>
        <p:nvSpPr>
          <p:cNvPr id="70658" name="Rectangle 3">
            <a:extLst>
              <a:ext uri="{FF2B5EF4-FFF2-40B4-BE49-F238E27FC236}">
                <a16:creationId xmlns:a16="http://schemas.microsoft.com/office/drawing/2014/main" id="{BE2D20BD-8E20-3A4E-957B-8AF794206CDA}"/>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Two-rescuer adult CPR</a:t>
            </a:r>
          </a:p>
          <a:p>
            <a:pPr lvl="1" eaLnBrk="1" hangingPunct="1">
              <a:spcBef>
                <a:spcPct val="35000"/>
              </a:spcBef>
            </a:pPr>
            <a:r>
              <a:rPr lang="en-US" altLang="en-US" dirty="0"/>
              <a:t>To avoid fatigue, rescuers should switch roles after every five cycles of CPR.</a:t>
            </a:r>
          </a:p>
          <a:p>
            <a:pPr lvl="1" eaLnBrk="1" hangingPunct="1">
              <a:spcBef>
                <a:spcPct val="35000"/>
              </a:spcBef>
            </a:pPr>
            <a:r>
              <a:rPr lang="en-US" altLang="en-US" dirty="0"/>
              <a:t>Follow steps in </a:t>
            </a:r>
            <a:r>
              <a:rPr lang="en-US" altLang="en-US" b="1" dirty="0"/>
              <a:t>Skill Drill 8-3</a:t>
            </a:r>
            <a:r>
              <a:rPr lang="en-US" altLang="en-US" dirty="0"/>
              <a:t>.</a:t>
            </a:r>
          </a:p>
          <a:p>
            <a:pPr lvl="1" eaLnBrk="1" hangingPunct="1">
              <a:spcBef>
                <a:spcPct val="35000"/>
              </a:spcBef>
            </a:pPr>
            <a:r>
              <a:rPr lang="en-US" altLang="en-US" dirty="0"/>
              <a:t>Switching positions should be accomplished as smoothly and quickly as possible.</a:t>
            </a:r>
          </a:p>
          <a:p>
            <a:pPr lvl="1" eaLnBrk="1" hangingPunct="1">
              <a:spcBef>
                <a:spcPct val="35000"/>
              </a:spcBef>
            </a:pPr>
            <a:r>
              <a:rPr lang="en-US" altLang="en-US" dirty="0"/>
              <a:t>CPR should not be interrupted for longer than 10 seconds.</a:t>
            </a:r>
          </a:p>
        </p:txBody>
      </p:sp>
    </p:spTree>
    <p:extLst>
      <p:ext uri="{BB962C8B-B14F-4D97-AF65-F5344CB8AC3E}">
        <p14:creationId xmlns:p14="http://schemas.microsoft.com/office/powerpoint/2010/main" val="366000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71FE6A86-FB95-A641-95C1-01A32577D5A2}"/>
              </a:ext>
            </a:extLst>
          </p:cNvPr>
          <p:cNvSpPr>
            <a:spLocks noGrp="1" noChangeArrowheads="1"/>
          </p:cNvSpPr>
          <p:nvPr>
            <p:ph type="title"/>
          </p:nvPr>
        </p:nvSpPr>
        <p:spPr/>
        <p:txBody>
          <a:bodyPr/>
          <a:lstStyle/>
          <a:p>
            <a:pPr eaLnBrk="1" hangingPunct="1">
              <a:lnSpc>
                <a:spcPct val="85000"/>
              </a:lnSpc>
              <a:defRPr/>
            </a:pPr>
            <a:r>
              <a:rPr lang="en-US" dirty="0"/>
              <a:t>Infant CPR </a:t>
            </a:r>
            <a:r>
              <a:rPr lang="en-US" sz="2800" b="0" dirty="0"/>
              <a:t>(1 of 2)</a:t>
            </a:r>
          </a:p>
        </p:txBody>
      </p:sp>
      <p:sp>
        <p:nvSpPr>
          <p:cNvPr id="72706" name="Rectangle 3">
            <a:extLst>
              <a:ext uri="{FF2B5EF4-FFF2-40B4-BE49-F238E27FC236}">
                <a16:creationId xmlns:a16="http://schemas.microsoft.com/office/drawing/2014/main" id="{25A88234-F27A-4D41-9140-358F568CB79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One-rescuer infant CPR: </a:t>
            </a:r>
          </a:p>
          <a:p>
            <a:pPr lvl="1" eaLnBrk="1" hangingPunct="1">
              <a:spcBef>
                <a:spcPct val="35000"/>
              </a:spcBef>
            </a:pPr>
            <a:r>
              <a:rPr lang="en-US" altLang="en-US" dirty="0"/>
              <a:t>Follow steps in </a:t>
            </a:r>
            <a:r>
              <a:rPr lang="en-US" altLang="en-US" b="1" dirty="0"/>
              <a:t>Skill Drill Performing One-Rescuer Infant CPR</a:t>
            </a:r>
            <a:r>
              <a:rPr lang="en-US" altLang="en-US" dirty="0"/>
              <a:t>.</a:t>
            </a:r>
          </a:p>
          <a:p>
            <a:pPr lvl="1" eaLnBrk="1" hangingPunct="1">
              <a:spcBef>
                <a:spcPct val="35000"/>
              </a:spcBef>
            </a:pPr>
            <a:r>
              <a:rPr lang="en-US" altLang="en-US" dirty="0"/>
              <a:t>Compress chest 30 times with pads of your fingertips at a rate of 100-120 compressions per minute. </a:t>
            </a:r>
          </a:p>
          <a:p>
            <a:pPr lvl="1" eaLnBrk="1" hangingPunct="1">
              <a:spcBef>
                <a:spcPct val="35000"/>
              </a:spcBef>
            </a:pPr>
            <a:r>
              <a:rPr lang="en-US" altLang="en-US" dirty="0"/>
              <a:t>Give two breaths. </a:t>
            </a:r>
          </a:p>
          <a:p>
            <a:pPr lvl="1" eaLnBrk="1" hangingPunct="1">
              <a:spcBef>
                <a:spcPct val="35000"/>
              </a:spcBef>
            </a:pPr>
            <a:r>
              <a:rPr lang="en-US" altLang="en-US" dirty="0"/>
              <a:t>Perform a compression-to-ventilation ratio of 30:2.</a:t>
            </a:r>
          </a:p>
          <a:p>
            <a:pPr lvl="1" eaLnBrk="1" hangingPunct="1">
              <a:spcBef>
                <a:spcPct val="35000"/>
              </a:spcBef>
            </a:pPr>
            <a:endParaRPr lang="en-US" altLang="en-US" dirty="0"/>
          </a:p>
          <a:p>
            <a:pPr lvl="1" eaLnBrk="1" hangingPunct="1">
              <a:spcBef>
                <a:spcPct val="35000"/>
              </a:spcBef>
            </a:pPr>
            <a:endParaRPr lang="en-US" altLang="en-US" dirty="0"/>
          </a:p>
        </p:txBody>
      </p:sp>
    </p:spTree>
    <p:extLst>
      <p:ext uri="{BB962C8B-B14F-4D97-AF65-F5344CB8AC3E}">
        <p14:creationId xmlns:p14="http://schemas.microsoft.com/office/powerpoint/2010/main" val="2670729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a:extLst>
              <a:ext uri="{FF2B5EF4-FFF2-40B4-BE49-F238E27FC236}">
                <a16:creationId xmlns:a16="http://schemas.microsoft.com/office/drawing/2014/main" id="{A8EF090F-7E77-CD4A-8ED8-EA1DF08EAA6F}"/>
              </a:ext>
            </a:extLst>
          </p:cNvPr>
          <p:cNvSpPr>
            <a:spLocks noGrp="1" noChangeArrowheads="1"/>
          </p:cNvSpPr>
          <p:nvPr>
            <p:ph type="title"/>
          </p:nvPr>
        </p:nvSpPr>
        <p:spPr/>
        <p:txBody>
          <a:bodyPr/>
          <a:lstStyle/>
          <a:p>
            <a:pPr eaLnBrk="1" hangingPunct="1">
              <a:lnSpc>
                <a:spcPct val="85000"/>
              </a:lnSpc>
              <a:defRPr/>
            </a:pPr>
            <a:r>
              <a:rPr lang="en-US" dirty="0"/>
              <a:t>Infant CPR </a:t>
            </a:r>
            <a:r>
              <a:rPr lang="en-US" sz="2800" b="0" dirty="0"/>
              <a:t>(2 of 2)</a:t>
            </a:r>
          </a:p>
        </p:txBody>
      </p:sp>
      <p:sp>
        <p:nvSpPr>
          <p:cNvPr id="74754" name="Rectangle 3">
            <a:extLst>
              <a:ext uri="{FF2B5EF4-FFF2-40B4-BE49-F238E27FC236}">
                <a16:creationId xmlns:a16="http://schemas.microsoft.com/office/drawing/2014/main" id="{4EC7414E-E8A0-754F-8C71-B8870DF39FB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Two-rescuer infant CPR:</a:t>
            </a:r>
          </a:p>
          <a:p>
            <a:pPr lvl="1" eaLnBrk="1" hangingPunct="1">
              <a:spcBef>
                <a:spcPct val="35000"/>
              </a:spcBef>
            </a:pPr>
            <a:r>
              <a:rPr lang="en-US" altLang="en-US" dirty="0"/>
              <a:t>Use two-thumb/encircling-hands technique for chest compressions.</a:t>
            </a:r>
          </a:p>
          <a:p>
            <a:pPr lvl="1" eaLnBrk="1" hangingPunct="1">
              <a:spcBef>
                <a:spcPct val="35000"/>
              </a:spcBef>
            </a:pPr>
            <a:r>
              <a:rPr lang="en-US" altLang="en-US" dirty="0"/>
              <a:t>Compress sternum at a rate of 100-120 compressions per minute.</a:t>
            </a:r>
          </a:p>
          <a:p>
            <a:pPr lvl="1" eaLnBrk="1" hangingPunct="1">
              <a:spcBef>
                <a:spcPct val="35000"/>
              </a:spcBef>
            </a:pPr>
            <a:r>
              <a:rPr lang="en-US" altLang="en-US" dirty="0"/>
              <a:t>Perform a compression-to-ventilation ratio of 15:2.</a:t>
            </a:r>
          </a:p>
          <a:p>
            <a:pPr eaLnBrk="1" hangingPunct="1">
              <a:buFontTx/>
              <a:buNone/>
            </a:pPr>
            <a:endParaRPr lang="en-US" altLang="en-US" sz="2400" dirty="0"/>
          </a:p>
        </p:txBody>
      </p:sp>
    </p:spTree>
    <p:extLst>
      <p:ext uri="{BB962C8B-B14F-4D97-AF65-F5344CB8AC3E}">
        <p14:creationId xmlns:p14="http://schemas.microsoft.com/office/powerpoint/2010/main" val="3169236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a:extLst>
              <a:ext uri="{FF2B5EF4-FFF2-40B4-BE49-F238E27FC236}">
                <a16:creationId xmlns:a16="http://schemas.microsoft.com/office/drawing/2014/main" id="{AAF114ED-8139-0E4E-87FF-AD56D5F6F334}"/>
              </a:ext>
            </a:extLst>
          </p:cNvPr>
          <p:cNvSpPr>
            <a:spLocks noGrp="1" noChangeArrowheads="1"/>
          </p:cNvSpPr>
          <p:nvPr>
            <p:ph type="title"/>
          </p:nvPr>
        </p:nvSpPr>
        <p:spPr/>
        <p:txBody>
          <a:bodyPr/>
          <a:lstStyle/>
          <a:p>
            <a:pPr eaLnBrk="1" hangingPunct="1">
              <a:lnSpc>
                <a:spcPct val="85000"/>
              </a:lnSpc>
              <a:defRPr/>
            </a:pPr>
            <a:r>
              <a:rPr lang="en-US" dirty="0"/>
              <a:t>Child CPR </a:t>
            </a:r>
            <a:r>
              <a:rPr lang="en-US" sz="2800" b="0" dirty="0"/>
              <a:t>(1 of 3)</a:t>
            </a:r>
          </a:p>
        </p:txBody>
      </p:sp>
      <p:sp>
        <p:nvSpPr>
          <p:cNvPr id="76802" name="Rectangle 3">
            <a:extLst>
              <a:ext uri="{FF2B5EF4-FFF2-40B4-BE49-F238E27FC236}">
                <a16:creationId xmlns:a16="http://schemas.microsoft.com/office/drawing/2014/main" id="{A412E1DF-4948-3542-BEDC-835C615D836C}"/>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Steps for child CPR are essentially same as for an adult.</a:t>
            </a:r>
          </a:p>
          <a:p>
            <a:pPr eaLnBrk="1" hangingPunct="1">
              <a:spcBef>
                <a:spcPct val="35000"/>
              </a:spcBef>
            </a:pPr>
            <a:r>
              <a:rPr lang="en-US" altLang="en-US" dirty="0"/>
              <a:t>Some variations include:</a:t>
            </a:r>
          </a:p>
          <a:p>
            <a:pPr lvl="1" eaLnBrk="1" hangingPunct="1">
              <a:spcBef>
                <a:spcPct val="35000"/>
              </a:spcBef>
            </a:pPr>
            <a:r>
              <a:rPr lang="en-US" altLang="en-US" dirty="0"/>
              <a:t>Use less force to compress child’s chest. </a:t>
            </a:r>
          </a:p>
          <a:p>
            <a:pPr lvl="1" eaLnBrk="1" hangingPunct="1">
              <a:spcBef>
                <a:spcPct val="35000"/>
              </a:spcBef>
            </a:pPr>
            <a:r>
              <a:rPr lang="en-US" altLang="en-US" dirty="0"/>
              <a:t>In small children, use only one hand to depress sternum.</a:t>
            </a:r>
          </a:p>
          <a:p>
            <a:pPr lvl="1" eaLnBrk="1" hangingPunct="1">
              <a:spcBef>
                <a:spcPct val="35000"/>
              </a:spcBef>
            </a:pPr>
            <a:r>
              <a:rPr lang="en-US" altLang="en-US" dirty="0"/>
              <a:t>Use less force to ventilate child. </a:t>
            </a:r>
          </a:p>
        </p:txBody>
      </p:sp>
    </p:spTree>
    <p:extLst>
      <p:ext uri="{BB962C8B-B14F-4D97-AF65-F5344CB8AC3E}">
        <p14:creationId xmlns:p14="http://schemas.microsoft.com/office/powerpoint/2010/main" val="175075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92AFBD92-6F2B-0245-BFA8-EEDEB7152623}"/>
              </a:ext>
            </a:extLst>
          </p:cNvPr>
          <p:cNvSpPr>
            <a:spLocks noGrp="1" noChangeArrowheads="1"/>
          </p:cNvSpPr>
          <p:nvPr>
            <p:ph type="title"/>
          </p:nvPr>
        </p:nvSpPr>
        <p:spPr/>
        <p:txBody>
          <a:bodyPr/>
          <a:lstStyle/>
          <a:p>
            <a:pPr eaLnBrk="1" hangingPunct="1">
              <a:lnSpc>
                <a:spcPct val="85000"/>
              </a:lnSpc>
              <a:defRPr/>
            </a:pPr>
            <a:r>
              <a:rPr lang="en-US" dirty="0"/>
              <a:t>Child CPR </a:t>
            </a:r>
            <a:r>
              <a:rPr lang="en-US" sz="2800" b="0" dirty="0"/>
              <a:t>(2 of 3)</a:t>
            </a:r>
          </a:p>
        </p:txBody>
      </p:sp>
      <p:sp>
        <p:nvSpPr>
          <p:cNvPr id="78850" name="Rectangle 3">
            <a:extLst>
              <a:ext uri="{FF2B5EF4-FFF2-40B4-BE49-F238E27FC236}">
                <a16:creationId xmlns:a16="http://schemas.microsoft.com/office/drawing/2014/main" id="{D4D535CB-FA34-7E4F-9C56-CA120AE07D8F}"/>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Steps to administer CPR to a child:</a:t>
            </a:r>
          </a:p>
          <a:p>
            <a:pPr lvl="1" eaLnBrk="1" hangingPunct="1">
              <a:spcBef>
                <a:spcPct val="35000"/>
              </a:spcBef>
            </a:pPr>
            <a:r>
              <a:rPr lang="en-US" altLang="en-US" dirty="0"/>
              <a:t>Establish child’s lack of responsiveness and breathing. </a:t>
            </a:r>
          </a:p>
          <a:p>
            <a:pPr lvl="1" eaLnBrk="1" hangingPunct="1">
              <a:spcBef>
                <a:spcPct val="35000"/>
              </a:spcBef>
            </a:pPr>
            <a:r>
              <a:rPr lang="en-US" altLang="en-US" dirty="0"/>
              <a:t>Check for circulation.</a:t>
            </a:r>
          </a:p>
          <a:p>
            <a:pPr lvl="1" eaLnBrk="1" hangingPunct="1">
              <a:spcBef>
                <a:spcPct val="35000"/>
              </a:spcBef>
            </a:pPr>
            <a:r>
              <a:rPr lang="en-US" altLang="en-US" dirty="0"/>
              <a:t>Provide chest compressions (rate of 100–120 compressions per minute). </a:t>
            </a:r>
          </a:p>
          <a:p>
            <a:pPr lvl="1" eaLnBrk="1" hangingPunct="1">
              <a:spcBef>
                <a:spcPct val="35000"/>
              </a:spcBef>
            </a:pPr>
            <a:r>
              <a:rPr lang="en-US" altLang="en-US" dirty="0"/>
              <a:t>Open airway.</a:t>
            </a:r>
          </a:p>
          <a:p>
            <a:pPr lvl="1" eaLnBrk="1" hangingPunct="1">
              <a:spcBef>
                <a:spcPct val="35000"/>
              </a:spcBef>
            </a:pPr>
            <a:r>
              <a:rPr lang="en-US" altLang="en-US" dirty="0"/>
              <a:t>Give two effective breaths.</a:t>
            </a:r>
          </a:p>
        </p:txBody>
      </p:sp>
    </p:spTree>
    <p:extLst>
      <p:ext uri="{BB962C8B-B14F-4D97-AF65-F5344CB8AC3E}">
        <p14:creationId xmlns:p14="http://schemas.microsoft.com/office/powerpoint/2010/main" val="917777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5E742305-6554-9842-B660-230BDD5C7F83}"/>
              </a:ext>
            </a:extLst>
          </p:cNvPr>
          <p:cNvSpPr>
            <a:spLocks noGrp="1" noChangeArrowheads="1"/>
          </p:cNvSpPr>
          <p:nvPr>
            <p:ph type="title"/>
          </p:nvPr>
        </p:nvSpPr>
        <p:spPr/>
        <p:txBody>
          <a:bodyPr/>
          <a:lstStyle/>
          <a:p>
            <a:pPr eaLnBrk="1" hangingPunct="1">
              <a:lnSpc>
                <a:spcPct val="85000"/>
              </a:lnSpc>
              <a:defRPr/>
            </a:pPr>
            <a:r>
              <a:rPr lang="en-US" dirty="0"/>
              <a:t>Child CPR </a:t>
            </a:r>
            <a:r>
              <a:rPr lang="en-US" sz="2800" b="0" dirty="0"/>
              <a:t>(3 of 3)</a:t>
            </a:r>
          </a:p>
        </p:txBody>
      </p:sp>
      <p:sp>
        <p:nvSpPr>
          <p:cNvPr id="80898" name="Rectangle 3">
            <a:extLst>
              <a:ext uri="{FF2B5EF4-FFF2-40B4-BE49-F238E27FC236}">
                <a16:creationId xmlns:a16="http://schemas.microsoft.com/office/drawing/2014/main" id="{AAF8128C-D87B-D949-A3D7-0F3B40EDD1A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Steps to administer CPR to a child (cont'd):</a:t>
            </a:r>
          </a:p>
          <a:p>
            <a:pPr lvl="1" eaLnBrk="1" hangingPunct="1">
              <a:spcBef>
                <a:spcPct val="35000"/>
              </a:spcBef>
            </a:pPr>
            <a:r>
              <a:rPr lang="en-US" altLang="en-US" dirty="0"/>
              <a:t>Continue cycles of compressions and ventilations.</a:t>
            </a:r>
          </a:p>
          <a:p>
            <a:pPr lvl="1" eaLnBrk="1" hangingPunct="1">
              <a:spcBef>
                <a:spcPct val="35000"/>
              </a:spcBef>
            </a:pPr>
            <a:r>
              <a:rPr lang="en-US" altLang="en-US" dirty="0"/>
              <a:t>Reassess patient after five cycles of CPR and every 2 minutes thereafter.</a:t>
            </a:r>
          </a:p>
        </p:txBody>
      </p:sp>
    </p:spTree>
    <p:extLst>
      <p:ext uri="{BB962C8B-B14F-4D97-AF65-F5344CB8AC3E}">
        <p14:creationId xmlns:p14="http://schemas.microsoft.com/office/powerpoint/2010/main" val="2980367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110337FE-E9D8-0B4E-80D8-17C29A818551}"/>
              </a:ext>
            </a:extLst>
          </p:cNvPr>
          <p:cNvSpPr>
            <a:spLocks noGrp="1" noChangeArrowheads="1"/>
          </p:cNvSpPr>
          <p:nvPr>
            <p:ph type="title"/>
          </p:nvPr>
        </p:nvSpPr>
        <p:spPr/>
        <p:txBody>
          <a:bodyPr/>
          <a:lstStyle/>
          <a:p>
            <a:pPr eaLnBrk="1" hangingPunct="1">
              <a:lnSpc>
                <a:spcPct val="85000"/>
              </a:lnSpc>
              <a:defRPr/>
            </a:pPr>
            <a:r>
              <a:rPr lang="en-US" dirty="0"/>
              <a:t>Signs of Effective CPR</a:t>
            </a:r>
          </a:p>
        </p:txBody>
      </p:sp>
      <p:sp>
        <p:nvSpPr>
          <p:cNvPr id="82946" name="Rectangle 3">
            <a:extLst>
              <a:ext uri="{FF2B5EF4-FFF2-40B4-BE49-F238E27FC236}">
                <a16:creationId xmlns:a16="http://schemas.microsoft.com/office/drawing/2014/main" id="{9E15BE01-6C09-7949-A9BB-3DFA5A1654D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 second rescuer feels a carotid pulse while you are compressing chest.</a:t>
            </a:r>
          </a:p>
          <a:p>
            <a:pPr eaLnBrk="1" hangingPunct="1">
              <a:spcBef>
                <a:spcPct val="35000"/>
              </a:spcBef>
            </a:pPr>
            <a:r>
              <a:rPr lang="en-US" altLang="en-US" dirty="0"/>
              <a:t>Patient’s skin color improves (from blue to pink).</a:t>
            </a:r>
          </a:p>
          <a:p>
            <a:pPr eaLnBrk="1" hangingPunct="1">
              <a:spcBef>
                <a:spcPct val="35000"/>
              </a:spcBef>
            </a:pPr>
            <a:r>
              <a:rPr lang="en-US" altLang="en-US" dirty="0"/>
              <a:t>Chest visibly rises during ventilations.</a:t>
            </a:r>
          </a:p>
          <a:p>
            <a:pPr eaLnBrk="1" hangingPunct="1">
              <a:spcBef>
                <a:spcPct val="35000"/>
              </a:spcBef>
            </a:pPr>
            <a:r>
              <a:rPr lang="en-US" altLang="en-US" dirty="0"/>
              <a:t>Compressions and ventilations are delivered at appropriate rate and depth.</a:t>
            </a:r>
          </a:p>
        </p:txBody>
      </p:sp>
    </p:spTree>
    <p:extLst>
      <p:ext uri="{BB962C8B-B14F-4D97-AF65-F5344CB8AC3E}">
        <p14:creationId xmlns:p14="http://schemas.microsoft.com/office/powerpoint/2010/main" val="4289285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A1DEBBA6-F379-3D48-BAB6-C259B7B27A90}"/>
              </a:ext>
            </a:extLst>
          </p:cNvPr>
          <p:cNvSpPr>
            <a:spLocks noGrp="1" noChangeArrowheads="1"/>
          </p:cNvSpPr>
          <p:nvPr>
            <p:ph type="title"/>
          </p:nvPr>
        </p:nvSpPr>
        <p:spPr/>
        <p:txBody>
          <a:bodyPr/>
          <a:lstStyle/>
          <a:p>
            <a:pPr eaLnBrk="1" hangingPunct="1">
              <a:lnSpc>
                <a:spcPct val="85000"/>
              </a:lnSpc>
              <a:defRPr/>
            </a:pPr>
            <a:r>
              <a:rPr lang="en-US" dirty="0"/>
              <a:t>Complications of CPR </a:t>
            </a:r>
            <a:br>
              <a:rPr lang="en-US" dirty="0"/>
            </a:br>
            <a:r>
              <a:rPr lang="en-US" sz="2800" b="0" dirty="0"/>
              <a:t>(1 of 4)</a:t>
            </a:r>
          </a:p>
        </p:txBody>
      </p:sp>
      <p:sp>
        <p:nvSpPr>
          <p:cNvPr id="84994" name="Rectangle 3">
            <a:extLst>
              <a:ext uri="{FF2B5EF4-FFF2-40B4-BE49-F238E27FC236}">
                <a16:creationId xmlns:a16="http://schemas.microsoft.com/office/drawing/2014/main" id="{A015EF1E-24A0-5A41-8565-C33AC2C17A45}"/>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Broken ribs</a:t>
            </a:r>
          </a:p>
          <a:p>
            <a:pPr lvl="1" eaLnBrk="1" hangingPunct="1">
              <a:spcBef>
                <a:spcPct val="35000"/>
              </a:spcBef>
            </a:pPr>
            <a:r>
              <a:rPr lang="en-US" altLang="en-US" dirty="0"/>
              <a:t>You may break a patient’s ribs while delivering a compression.</a:t>
            </a:r>
          </a:p>
          <a:p>
            <a:pPr lvl="1" eaLnBrk="1" hangingPunct="1">
              <a:spcBef>
                <a:spcPct val="35000"/>
              </a:spcBef>
            </a:pPr>
            <a:r>
              <a:rPr lang="en-US" altLang="en-US" dirty="0"/>
              <a:t>To prevent this</a:t>
            </a:r>
            <a:r>
              <a:rPr lang="en-US" altLang="en-US" dirty="0">
                <a:solidFill>
                  <a:srgbClr val="FF0000"/>
                </a:solidFill>
              </a:rPr>
              <a:t> </a:t>
            </a:r>
            <a:r>
              <a:rPr lang="en-US" altLang="en-US" dirty="0"/>
              <a:t>problem, use proper hand positioning and do not let your fingers come in contact with ribs.</a:t>
            </a:r>
          </a:p>
          <a:p>
            <a:pPr lvl="1" eaLnBrk="1" hangingPunct="1">
              <a:spcBef>
                <a:spcPct val="35000"/>
              </a:spcBef>
            </a:pPr>
            <a:r>
              <a:rPr lang="en-US" altLang="en-US" dirty="0"/>
              <a:t>If you hear a cracking sound, check and correct your hand position but continue CPR.</a:t>
            </a:r>
          </a:p>
        </p:txBody>
      </p:sp>
    </p:spTree>
    <p:extLst>
      <p:ext uri="{BB962C8B-B14F-4D97-AF65-F5344CB8AC3E}">
        <p14:creationId xmlns:p14="http://schemas.microsoft.com/office/powerpoint/2010/main" val="1398879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a:extLst>
              <a:ext uri="{FF2B5EF4-FFF2-40B4-BE49-F238E27FC236}">
                <a16:creationId xmlns:a16="http://schemas.microsoft.com/office/drawing/2014/main" id="{8FD3B210-7A63-B64F-9BF3-8EE55A4C71C3}"/>
              </a:ext>
            </a:extLst>
          </p:cNvPr>
          <p:cNvSpPr>
            <a:spLocks noGrp="1" noChangeArrowheads="1"/>
          </p:cNvSpPr>
          <p:nvPr>
            <p:ph type="title"/>
          </p:nvPr>
        </p:nvSpPr>
        <p:spPr/>
        <p:txBody>
          <a:bodyPr/>
          <a:lstStyle/>
          <a:p>
            <a:pPr eaLnBrk="1" hangingPunct="1">
              <a:lnSpc>
                <a:spcPct val="85000"/>
              </a:lnSpc>
              <a:defRPr/>
            </a:pPr>
            <a:r>
              <a:rPr lang="en-US" dirty="0"/>
              <a:t>Complications of CPR </a:t>
            </a:r>
            <a:br>
              <a:rPr lang="en-US" dirty="0"/>
            </a:br>
            <a:r>
              <a:rPr lang="en-US" sz="2800" b="0" dirty="0"/>
              <a:t>(2 of 4)</a:t>
            </a:r>
          </a:p>
        </p:txBody>
      </p:sp>
      <p:sp>
        <p:nvSpPr>
          <p:cNvPr id="87042" name="Rectangle 3">
            <a:extLst>
              <a:ext uri="{FF2B5EF4-FFF2-40B4-BE49-F238E27FC236}">
                <a16:creationId xmlns:a16="http://schemas.microsoft.com/office/drawing/2014/main" id="{9A6EB8C3-8DB1-5A44-9937-86E404E8493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Gastric distention</a:t>
            </a:r>
          </a:p>
          <a:p>
            <a:pPr lvl="1" eaLnBrk="1" hangingPunct="1">
              <a:spcBef>
                <a:spcPct val="35000"/>
              </a:spcBef>
            </a:pPr>
            <a:r>
              <a:rPr lang="en-US" altLang="en-US" dirty="0"/>
              <a:t>Occurs when too much air is blown too fast and too forcefully into stomach.</a:t>
            </a:r>
          </a:p>
          <a:p>
            <a:pPr lvl="1" eaLnBrk="1" hangingPunct="1">
              <a:spcBef>
                <a:spcPct val="35000"/>
              </a:spcBef>
            </a:pPr>
            <a:r>
              <a:rPr lang="en-US" altLang="en-US" dirty="0"/>
              <a:t>Often causes regurgitation.</a:t>
            </a:r>
          </a:p>
          <a:p>
            <a:pPr lvl="1" eaLnBrk="1" hangingPunct="1">
              <a:spcBef>
                <a:spcPct val="35000"/>
              </a:spcBef>
            </a:pPr>
            <a:r>
              <a:rPr lang="en-US" altLang="en-US" dirty="0"/>
              <a:t>Ensure you have opened airway completely.</a:t>
            </a:r>
          </a:p>
          <a:p>
            <a:pPr lvl="1" eaLnBrk="1" hangingPunct="1">
              <a:spcBef>
                <a:spcPct val="35000"/>
              </a:spcBef>
            </a:pPr>
            <a:r>
              <a:rPr lang="en-US" altLang="en-US" dirty="0"/>
              <a:t>Do not blow excessive amounts of air into patient.</a:t>
            </a:r>
          </a:p>
        </p:txBody>
      </p:sp>
    </p:spTree>
    <p:extLst>
      <p:ext uri="{BB962C8B-B14F-4D97-AF65-F5344CB8AC3E}">
        <p14:creationId xmlns:p14="http://schemas.microsoft.com/office/powerpoint/2010/main" val="1772661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a:extLst>
              <a:ext uri="{FF2B5EF4-FFF2-40B4-BE49-F238E27FC236}">
                <a16:creationId xmlns:a16="http://schemas.microsoft.com/office/drawing/2014/main" id="{D53601D7-1496-8D4D-B56D-ED329BC02B6E}"/>
              </a:ext>
            </a:extLst>
          </p:cNvPr>
          <p:cNvSpPr>
            <a:spLocks noGrp="1" noChangeArrowheads="1"/>
          </p:cNvSpPr>
          <p:nvPr>
            <p:ph type="title"/>
          </p:nvPr>
        </p:nvSpPr>
        <p:spPr/>
        <p:txBody>
          <a:bodyPr/>
          <a:lstStyle/>
          <a:p>
            <a:pPr eaLnBrk="1" hangingPunct="1">
              <a:lnSpc>
                <a:spcPct val="85000"/>
              </a:lnSpc>
              <a:defRPr/>
            </a:pPr>
            <a:r>
              <a:rPr lang="en-US" dirty="0"/>
              <a:t>Complications of CPR </a:t>
            </a:r>
            <a:br>
              <a:rPr lang="en-US" dirty="0"/>
            </a:br>
            <a:r>
              <a:rPr lang="en-US" sz="2800" b="0" dirty="0"/>
              <a:t>(3 of 4)</a:t>
            </a:r>
          </a:p>
        </p:txBody>
      </p:sp>
      <p:sp>
        <p:nvSpPr>
          <p:cNvPr id="89090" name="Rectangle 3">
            <a:extLst>
              <a:ext uri="{FF2B5EF4-FFF2-40B4-BE49-F238E27FC236}">
                <a16:creationId xmlns:a16="http://schemas.microsoft.com/office/drawing/2014/main" id="{4375C97D-EE33-7F4C-BE26-FD277F9D69F0}"/>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Regurgitation</a:t>
            </a:r>
          </a:p>
          <a:p>
            <a:pPr lvl="1" eaLnBrk="1" hangingPunct="1">
              <a:spcBef>
                <a:spcPct val="35000"/>
              </a:spcBef>
            </a:pPr>
            <a:r>
              <a:rPr lang="en-US" altLang="en-US" dirty="0"/>
              <a:t>Common during CPR</a:t>
            </a:r>
          </a:p>
          <a:p>
            <a:pPr lvl="1" eaLnBrk="1" hangingPunct="1">
              <a:spcBef>
                <a:spcPct val="35000"/>
              </a:spcBef>
            </a:pPr>
            <a:r>
              <a:rPr lang="en-US" altLang="en-US" dirty="0"/>
              <a:t>To minimize risk, minimize amount of air that enters stomach.</a:t>
            </a:r>
          </a:p>
          <a:p>
            <a:pPr lvl="1" eaLnBrk="1" hangingPunct="1">
              <a:spcBef>
                <a:spcPct val="35000"/>
              </a:spcBef>
            </a:pPr>
            <a:r>
              <a:rPr lang="en-US" altLang="en-US" dirty="0"/>
              <a:t>If patient regurgitates during CPR.</a:t>
            </a:r>
          </a:p>
          <a:p>
            <a:pPr lvl="2" eaLnBrk="1" hangingPunct="1"/>
            <a:r>
              <a:rPr lang="en-US" altLang="en-US" sz="2000" dirty="0"/>
              <a:t>Turn patient onto his or her side.</a:t>
            </a:r>
          </a:p>
          <a:p>
            <a:pPr lvl="2" eaLnBrk="1" hangingPunct="1"/>
            <a:r>
              <a:rPr lang="en-US" altLang="en-US" sz="2000" dirty="0"/>
              <a:t>Clear patient’s mouth of remaining vomitus.</a:t>
            </a:r>
          </a:p>
          <a:p>
            <a:pPr lvl="2" eaLnBrk="1" hangingPunct="1"/>
            <a:r>
              <a:rPr lang="en-US" altLang="en-US" sz="2000" dirty="0"/>
              <a:t>Use suction if it is available.</a:t>
            </a:r>
          </a:p>
        </p:txBody>
      </p:sp>
    </p:spTree>
    <p:extLst>
      <p:ext uri="{BB962C8B-B14F-4D97-AF65-F5344CB8AC3E}">
        <p14:creationId xmlns:p14="http://schemas.microsoft.com/office/powerpoint/2010/main" val="1692837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6A444F44-0802-F34E-AE96-EEBC0F62ECBF}"/>
              </a:ext>
            </a:extLst>
          </p:cNvPr>
          <p:cNvSpPr>
            <a:spLocks noGrp="1" noChangeArrowheads="1"/>
          </p:cNvSpPr>
          <p:nvPr>
            <p:ph type="title"/>
          </p:nvPr>
        </p:nvSpPr>
        <p:spPr/>
        <p:txBody>
          <a:bodyPr/>
          <a:lstStyle/>
          <a:p>
            <a:pPr eaLnBrk="1" hangingPunct="1">
              <a:lnSpc>
                <a:spcPct val="85000"/>
              </a:lnSpc>
              <a:defRPr/>
            </a:pPr>
            <a:r>
              <a:rPr lang="en-US" dirty="0"/>
              <a:t>Complications of CPR </a:t>
            </a:r>
            <a:br>
              <a:rPr lang="en-US" dirty="0"/>
            </a:br>
            <a:r>
              <a:rPr lang="en-US" sz="2800" b="0" dirty="0"/>
              <a:t>(4 of 4)</a:t>
            </a:r>
          </a:p>
        </p:txBody>
      </p:sp>
      <p:sp>
        <p:nvSpPr>
          <p:cNvPr id="91138" name="Rectangle 3">
            <a:extLst>
              <a:ext uri="{FF2B5EF4-FFF2-40B4-BE49-F238E27FC236}">
                <a16:creationId xmlns:a16="http://schemas.microsoft.com/office/drawing/2014/main" id="{DFE4D378-4382-8246-981A-BA5DD528B878}"/>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Regurgitation (cont'd):</a:t>
            </a:r>
          </a:p>
          <a:p>
            <a:pPr lvl="1" eaLnBrk="1" hangingPunct="1">
              <a:spcBef>
                <a:spcPct val="35000"/>
              </a:spcBef>
            </a:pPr>
            <a:r>
              <a:rPr lang="en-US" altLang="en-US" dirty="0"/>
              <a:t>If airway is not cleared, two problems may arise:</a:t>
            </a:r>
          </a:p>
          <a:p>
            <a:pPr lvl="2" eaLnBrk="1" hangingPunct="1"/>
            <a:r>
              <a:rPr lang="en-US" altLang="en-US" sz="2000" dirty="0"/>
              <a:t>Patient may breathe in vomitus into lungs.</a:t>
            </a:r>
          </a:p>
          <a:p>
            <a:pPr lvl="2" eaLnBrk="1" hangingPunct="1"/>
            <a:r>
              <a:rPr lang="en-US" altLang="en-US" sz="2000" dirty="0"/>
              <a:t>You may force vomitus into lungs with next artificial ventilation</a:t>
            </a:r>
            <a:r>
              <a:rPr lang="en-US" altLang="en-US" sz="2400" dirty="0"/>
              <a:t>.</a:t>
            </a:r>
          </a:p>
          <a:p>
            <a:pPr lvl="1" eaLnBrk="1" hangingPunct="1">
              <a:spcBef>
                <a:spcPct val="35000"/>
              </a:spcBef>
            </a:pPr>
            <a:r>
              <a:rPr lang="en-US" altLang="en-US" dirty="0"/>
              <a:t>As soon as you have cleared away vomitus, continue rescue breathing.</a:t>
            </a:r>
          </a:p>
        </p:txBody>
      </p:sp>
    </p:spTree>
    <p:extLst>
      <p:ext uri="{BB962C8B-B14F-4D97-AF65-F5344CB8AC3E}">
        <p14:creationId xmlns:p14="http://schemas.microsoft.com/office/powerpoint/2010/main" val="144244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5E6D6970-1DB2-BB44-94A3-2A4891BFAC47}"/>
              </a:ext>
            </a:extLst>
          </p:cNvPr>
          <p:cNvSpPr>
            <a:spLocks noGrp="1" noChangeArrowheads="1"/>
          </p:cNvSpPr>
          <p:nvPr>
            <p:ph type="title"/>
          </p:nvPr>
        </p:nvSpPr>
        <p:spPr/>
        <p:txBody>
          <a:bodyPr/>
          <a:lstStyle/>
          <a:p>
            <a:pPr eaLnBrk="1" hangingPunct="1">
              <a:lnSpc>
                <a:spcPct val="85000"/>
              </a:lnSpc>
              <a:defRPr/>
            </a:pPr>
            <a:r>
              <a:rPr lang="en-US" dirty="0"/>
              <a:t>Creating Sufficient Space </a:t>
            </a:r>
            <a:br>
              <a:rPr lang="en-US" dirty="0"/>
            </a:br>
            <a:r>
              <a:rPr lang="en-US" dirty="0"/>
              <a:t>for CPR </a:t>
            </a:r>
            <a:r>
              <a:rPr lang="en-US" sz="2800" b="0" dirty="0"/>
              <a:t>(1 of 2)</a:t>
            </a:r>
          </a:p>
        </p:txBody>
      </p:sp>
      <p:sp>
        <p:nvSpPr>
          <p:cNvPr id="93186" name="Rectangle 3">
            <a:extLst>
              <a:ext uri="{FF2B5EF4-FFF2-40B4-BE49-F238E27FC236}">
                <a16:creationId xmlns:a16="http://schemas.microsoft.com/office/drawing/2014/main" id="{287A7C99-07B7-774E-A1C0-CB125B887D7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EMRs may</a:t>
            </a:r>
            <a:r>
              <a:rPr lang="en-US" altLang="en-US" dirty="0">
                <a:solidFill>
                  <a:srgbClr val="FF0000"/>
                </a:solidFill>
              </a:rPr>
              <a:t> </a:t>
            </a:r>
            <a:r>
              <a:rPr lang="en-US" altLang="en-US" dirty="0"/>
              <a:t>find themselves alone with patients in cardiac arrest.</a:t>
            </a:r>
          </a:p>
          <a:p>
            <a:pPr eaLnBrk="1" hangingPunct="1">
              <a:spcBef>
                <a:spcPct val="35000"/>
              </a:spcBef>
            </a:pPr>
            <a:r>
              <a:rPr lang="en-US" altLang="en-US" dirty="0"/>
              <a:t>You must create or find a space where you can perform CPR.</a:t>
            </a:r>
          </a:p>
          <a:p>
            <a:pPr lvl="1" eaLnBrk="1" hangingPunct="1">
              <a:spcBef>
                <a:spcPct val="35000"/>
              </a:spcBef>
            </a:pPr>
            <a:r>
              <a:rPr lang="en-US" altLang="en-US" dirty="0"/>
              <a:t>You need 3</a:t>
            </a:r>
            <a:r>
              <a:rPr lang="en-US" altLang="en-US" dirty="0">
                <a:ea typeface="MS PGothic" panose="020B0600070205080204" pitchFamily="34" charset="-128"/>
              </a:rPr>
              <a:t> feet</a:t>
            </a:r>
            <a:r>
              <a:rPr lang="en-US" altLang="en-US" dirty="0"/>
              <a:t> to 4</a:t>
            </a:r>
            <a:r>
              <a:rPr lang="en-US" altLang="en-US" dirty="0">
                <a:ea typeface="MS PGothic" panose="020B0600070205080204" pitchFamily="34" charset="-128"/>
              </a:rPr>
              <a:t> feet</a:t>
            </a:r>
            <a:r>
              <a:rPr lang="en-US" altLang="en-US" dirty="0"/>
              <a:t> of space on all sides of patient.</a:t>
            </a:r>
          </a:p>
        </p:txBody>
      </p:sp>
    </p:spTree>
    <p:extLst>
      <p:ext uri="{BB962C8B-B14F-4D97-AF65-F5344CB8AC3E}">
        <p14:creationId xmlns:p14="http://schemas.microsoft.com/office/powerpoint/2010/main" val="37415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E4CB6F7B-4FE3-964B-9EA7-27597963DC11}"/>
              </a:ext>
            </a:extLst>
          </p:cNvPr>
          <p:cNvSpPr>
            <a:spLocks noGrp="1" noChangeArrowheads="1"/>
          </p:cNvSpPr>
          <p:nvPr>
            <p:ph type="title"/>
          </p:nvPr>
        </p:nvSpPr>
        <p:spPr/>
        <p:txBody>
          <a:bodyPr/>
          <a:lstStyle/>
          <a:p>
            <a:pPr eaLnBrk="1" hangingPunct="1">
              <a:lnSpc>
                <a:spcPct val="85000"/>
              </a:lnSpc>
              <a:defRPr/>
            </a:pPr>
            <a:r>
              <a:rPr lang="en-US" dirty="0"/>
              <a:t>Creating Sufficient Space </a:t>
            </a:r>
            <a:br>
              <a:rPr lang="en-US" dirty="0"/>
            </a:br>
            <a:r>
              <a:rPr lang="en-US" dirty="0"/>
              <a:t>for CPR </a:t>
            </a:r>
            <a:r>
              <a:rPr lang="en-US" sz="2800" b="0" dirty="0"/>
              <a:t>(2 of 2)</a:t>
            </a:r>
          </a:p>
        </p:txBody>
      </p:sp>
      <p:sp>
        <p:nvSpPr>
          <p:cNvPr id="95234" name="Rectangle 3">
            <a:extLst>
              <a:ext uri="{FF2B5EF4-FFF2-40B4-BE49-F238E27FC236}">
                <a16:creationId xmlns:a16="http://schemas.microsoft.com/office/drawing/2014/main" id="{4FE13B8C-B8F7-2045-94E6-91DF5A7548D3}"/>
              </a:ext>
            </a:extLst>
          </p:cNvPr>
          <p:cNvSpPr>
            <a:spLocks noGrp="1" noChangeArrowheads="1"/>
          </p:cNvSpPr>
          <p:nvPr>
            <p:ph type="body" idx="1"/>
          </p:nvPr>
        </p:nvSpPr>
        <p:spPr>
          <a:xfrm>
            <a:off x="6096000" y="1447800"/>
            <a:ext cx="4617308"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sz="2400" dirty="0"/>
              <a:t>If there is not enough space around patient, you have two options:</a:t>
            </a:r>
          </a:p>
          <a:p>
            <a:pPr lvl="1" eaLnBrk="1" hangingPunct="1">
              <a:spcBef>
                <a:spcPct val="35000"/>
              </a:spcBef>
            </a:pPr>
            <a:r>
              <a:rPr lang="en-US" altLang="en-US" sz="2100" dirty="0"/>
              <a:t>Quickly rearrange furniture in room or arrange objects at scene to make space.</a:t>
            </a:r>
          </a:p>
          <a:p>
            <a:pPr lvl="1" eaLnBrk="1" hangingPunct="1">
              <a:spcBef>
                <a:spcPct val="35000"/>
              </a:spcBef>
            </a:pPr>
            <a:r>
              <a:rPr lang="en-US" altLang="en-US" sz="2100" dirty="0"/>
              <a:t>Quickly drag patient into an area that has more room.</a:t>
            </a:r>
          </a:p>
        </p:txBody>
      </p:sp>
      <p:sp>
        <p:nvSpPr>
          <p:cNvPr id="7" name="Rectangle 6"/>
          <p:cNvSpPr/>
          <p:nvPr/>
        </p:nvSpPr>
        <p:spPr>
          <a:xfrm>
            <a:off x="1021833" y="4617722"/>
            <a:ext cx="10072846"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8-15 </a:t>
            </a:r>
            <a:r>
              <a:rPr lang="en-US" dirty="0"/>
              <a:t>Create sufficient space for CPR. </a:t>
            </a:r>
          </a:p>
        </p:txBody>
      </p:sp>
      <p:sp>
        <p:nvSpPr>
          <p:cNvPr id="8" name="Rectangle 7"/>
          <p:cNvSpPr/>
          <p:nvPr/>
        </p:nvSpPr>
        <p:spPr>
          <a:xfrm>
            <a:off x="1014772" y="4956489"/>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American Academy of </a:t>
            </a:r>
            <a:r>
              <a:rPr lang="en-US" sz="1000" dirty="0" err="1"/>
              <a:t>Orthopaedic</a:t>
            </a:r>
            <a:r>
              <a:rPr lang="en-US" sz="1000" dirty="0"/>
              <a:t> Surgeons. </a:t>
            </a:r>
          </a:p>
        </p:txBody>
      </p:sp>
      <p:pic>
        <p:nvPicPr>
          <p:cNvPr id="5122" name="Picture 2" descr="A photo shows an emergency responder wearing a mask and gloves kneeling above the head of a man lying on the floor in a doorway. The person holds the patient's head from above and appears to be pulling him out of the doorway.&#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833" y="1661640"/>
            <a:ext cx="4679038" cy="2956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3998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a:extLst>
              <a:ext uri="{FF2B5EF4-FFF2-40B4-BE49-F238E27FC236}">
                <a16:creationId xmlns:a16="http://schemas.microsoft.com/office/drawing/2014/main" id="{53E33ED1-B387-8A47-8126-18301C7A922A}"/>
              </a:ext>
            </a:extLst>
          </p:cNvPr>
          <p:cNvSpPr>
            <a:spLocks noGrp="1" noChangeArrowheads="1"/>
          </p:cNvSpPr>
          <p:nvPr>
            <p:ph type="title"/>
          </p:nvPr>
        </p:nvSpPr>
        <p:spPr/>
        <p:txBody>
          <a:bodyPr/>
          <a:lstStyle/>
          <a:p>
            <a:pPr eaLnBrk="1" hangingPunct="1">
              <a:lnSpc>
                <a:spcPct val="85000"/>
              </a:lnSpc>
              <a:defRPr/>
            </a:pPr>
            <a:r>
              <a:rPr lang="en-US" dirty="0"/>
              <a:t>Early Defibrillation by EMRs </a:t>
            </a:r>
            <a:br>
              <a:rPr lang="en-US" dirty="0"/>
            </a:br>
            <a:r>
              <a:rPr lang="en-US" sz="2800" b="0" dirty="0"/>
              <a:t>(1 of 3)</a:t>
            </a:r>
          </a:p>
        </p:txBody>
      </p:sp>
      <p:sp>
        <p:nvSpPr>
          <p:cNvPr id="97282" name="Rectangle 3">
            <a:extLst>
              <a:ext uri="{FF2B5EF4-FFF2-40B4-BE49-F238E27FC236}">
                <a16:creationId xmlns:a16="http://schemas.microsoft.com/office/drawing/2014/main" id="{8B46B585-F1BB-3443-A4E1-BEE0A5FCFD4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More than 70% of all out-of-hospital cardiac arrest patients have an irregular heart electrical rhythm called ventricular fibrillation (V-fib).</a:t>
            </a:r>
          </a:p>
          <a:p>
            <a:pPr lvl="1" eaLnBrk="1" hangingPunct="1">
              <a:spcBef>
                <a:spcPct val="35000"/>
              </a:spcBef>
            </a:pPr>
            <a:r>
              <a:rPr lang="en-US" altLang="en-US" dirty="0"/>
              <a:t>V-fib is a rapid, disorganized, and ineffective vibration of heart.</a:t>
            </a:r>
          </a:p>
          <a:p>
            <a:pPr lvl="1" eaLnBrk="1" hangingPunct="1">
              <a:spcBef>
                <a:spcPct val="35000"/>
              </a:spcBef>
            </a:pPr>
            <a:r>
              <a:rPr lang="en-US" altLang="en-US" dirty="0"/>
              <a:t>An electric shock applied to heart will defibrillate it and reorganize vibrations into effective heartbeats.</a:t>
            </a:r>
          </a:p>
          <a:p>
            <a:pPr lvl="1" eaLnBrk="1" hangingPunct="1">
              <a:spcBef>
                <a:spcPct val="35000"/>
              </a:spcBef>
            </a:pPr>
            <a:r>
              <a:rPr lang="en-US" altLang="en-US" dirty="0"/>
              <a:t>Greatest chance of survival for V-fib patient involves prompt use of an AED and CPR.</a:t>
            </a:r>
          </a:p>
        </p:txBody>
      </p:sp>
    </p:spTree>
    <p:extLst>
      <p:ext uri="{BB962C8B-B14F-4D97-AF65-F5344CB8AC3E}">
        <p14:creationId xmlns:p14="http://schemas.microsoft.com/office/powerpoint/2010/main" val="1317277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08F54D5B-19CB-F548-81C5-62CB8F0566D7}"/>
              </a:ext>
            </a:extLst>
          </p:cNvPr>
          <p:cNvSpPr>
            <a:spLocks noGrp="1" noChangeArrowheads="1"/>
          </p:cNvSpPr>
          <p:nvPr>
            <p:ph type="title"/>
          </p:nvPr>
        </p:nvSpPr>
        <p:spPr/>
        <p:txBody>
          <a:bodyPr/>
          <a:lstStyle/>
          <a:p>
            <a:pPr eaLnBrk="1" hangingPunct="1">
              <a:lnSpc>
                <a:spcPct val="85000"/>
              </a:lnSpc>
              <a:defRPr/>
            </a:pPr>
            <a:r>
              <a:rPr lang="en-US" dirty="0"/>
              <a:t>Early Defibrillation by EMRs </a:t>
            </a:r>
            <a:br>
              <a:rPr lang="en-US" dirty="0"/>
            </a:br>
            <a:r>
              <a:rPr lang="en-US" sz="2800" b="0" dirty="0"/>
              <a:t>(2 of 3)</a:t>
            </a:r>
          </a:p>
        </p:txBody>
      </p:sp>
      <p:sp>
        <p:nvSpPr>
          <p:cNvPr id="99330" name="Rectangle 3">
            <a:extLst>
              <a:ext uri="{FF2B5EF4-FFF2-40B4-BE49-F238E27FC236}">
                <a16:creationId xmlns:a16="http://schemas.microsoft.com/office/drawing/2014/main" id="{159A2DF6-F07E-CA44-992F-46353560E376}"/>
              </a:ext>
            </a:extLst>
          </p:cNvPr>
          <p:cNvSpPr>
            <a:spLocks noGrp="1" noChangeArrowheads="1"/>
          </p:cNvSpPr>
          <p:nvPr>
            <p:ph type="body" idx="1"/>
          </p:nvPr>
        </p:nvSpPr>
        <p:spPr>
          <a:xfrm>
            <a:off x="6096000" y="1447800"/>
            <a:ext cx="3886200"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Most EMS systems are equipping EMRs with automated external defibrillators (AEDs).</a:t>
            </a:r>
          </a:p>
          <a:p>
            <a:pPr lvl="1" eaLnBrk="1" hangingPunct="1">
              <a:spcBef>
                <a:spcPct val="35000"/>
              </a:spcBef>
            </a:pPr>
            <a:r>
              <a:rPr lang="en-US" altLang="en-US" dirty="0"/>
              <a:t>These machines identify ventricular fibrillation and advise rescuer to deliver a shock if needed.</a:t>
            </a:r>
          </a:p>
        </p:txBody>
      </p:sp>
      <p:sp>
        <p:nvSpPr>
          <p:cNvPr id="10" name="Rectangle 9"/>
          <p:cNvSpPr/>
          <p:nvPr/>
        </p:nvSpPr>
        <p:spPr>
          <a:xfrm>
            <a:off x="1071922" y="5943206"/>
            <a:ext cx="4820878"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8-16 </a:t>
            </a:r>
            <a:r>
              <a:rPr lang="en-US" dirty="0"/>
              <a:t>Automated external defibrillators can vary in their design, features, and operation. </a:t>
            </a:r>
          </a:p>
        </p:txBody>
      </p:sp>
      <p:sp>
        <p:nvSpPr>
          <p:cNvPr id="11" name="Rectangle 10"/>
          <p:cNvSpPr/>
          <p:nvPr/>
        </p:nvSpPr>
        <p:spPr>
          <a:xfrm>
            <a:off x="1052161" y="6522879"/>
            <a:ext cx="4456008"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Photographee.eu/</a:t>
            </a:r>
            <a:r>
              <a:rPr lang="en-US" sz="1000" dirty="0" err="1"/>
              <a:t>Shutterstock</a:t>
            </a:r>
            <a:r>
              <a:rPr lang="en-US" sz="1000" dirty="0"/>
              <a:t>. </a:t>
            </a:r>
          </a:p>
        </p:txBody>
      </p:sp>
      <p:pic>
        <p:nvPicPr>
          <p:cNvPr id="4098" name="Picture 2" descr="Photo A shows a flat white device with two separate oval pads by the side, propped up against a red airbag. Photo B shows a black and yellow device with the brand name &quot;Lifepak&quot; on it. The device is placed within a carry case with a long handle.&#10;" title="Photos A and B show two different defibrillator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922" y="1231506"/>
            <a:ext cx="3144838" cy="471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7095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814F45D5-02D0-4148-B86A-27F2E042F7E9}"/>
              </a:ext>
            </a:extLst>
          </p:cNvPr>
          <p:cNvSpPr>
            <a:spLocks noGrp="1" noChangeArrowheads="1"/>
          </p:cNvSpPr>
          <p:nvPr>
            <p:ph type="title"/>
          </p:nvPr>
        </p:nvSpPr>
        <p:spPr/>
        <p:txBody>
          <a:bodyPr/>
          <a:lstStyle/>
          <a:p>
            <a:pPr eaLnBrk="1" hangingPunct="1">
              <a:lnSpc>
                <a:spcPct val="85000"/>
              </a:lnSpc>
              <a:defRPr/>
            </a:pPr>
            <a:r>
              <a:rPr lang="en-US" dirty="0"/>
              <a:t>Early Defibrillation by EMRs </a:t>
            </a:r>
            <a:br>
              <a:rPr lang="en-US" dirty="0"/>
            </a:br>
            <a:r>
              <a:rPr lang="en-US" sz="2800" b="0" dirty="0"/>
              <a:t>(3 of 3)</a:t>
            </a:r>
          </a:p>
        </p:txBody>
      </p:sp>
      <p:sp>
        <p:nvSpPr>
          <p:cNvPr id="101378" name="Rectangle 3">
            <a:extLst>
              <a:ext uri="{FF2B5EF4-FFF2-40B4-BE49-F238E27FC236}">
                <a16:creationId xmlns:a16="http://schemas.microsoft.com/office/drawing/2014/main" id="{A1CC28CC-14FB-EB47-BACB-112875E7E35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Performing automated external defibrillation</a:t>
            </a:r>
          </a:p>
          <a:p>
            <a:pPr lvl="1" eaLnBrk="1" hangingPunct="1">
              <a:spcBef>
                <a:spcPct val="35000"/>
              </a:spcBef>
            </a:pPr>
            <a:r>
              <a:rPr lang="en-US" altLang="en-US" dirty="0"/>
              <a:t>Follow steps in </a:t>
            </a:r>
            <a:r>
              <a:rPr lang="en-US" altLang="en-US" b="1" dirty="0"/>
              <a:t>Skill Drill 8-4</a:t>
            </a:r>
            <a:r>
              <a:rPr lang="en-US" altLang="en-US" dirty="0"/>
              <a:t>.</a:t>
            </a:r>
          </a:p>
          <a:p>
            <a:pPr lvl="1" eaLnBrk="1" hangingPunct="1">
              <a:spcBef>
                <a:spcPct val="35000"/>
              </a:spcBef>
            </a:pPr>
            <a:r>
              <a:rPr lang="en-US" altLang="en-US" dirty="0"/>
              <a:t>AEDs vary in their operation, so learn how to use your specific AED.</a:t>
            </a:r>
          </a:p>
        </p:txBody>
      </p:sp>
    </p:spTree>
    <p:extLst>
      <p:ext uri="{BB962C8B-B14F-4D97-AF65-F5344CB8AC3E}">
        <p14:creationId xmlns:p14="http://schemas.microsoft.com/office/powerpoint/2010/main" val="240585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4A056653-C5CC-6D4D-9024-264AD94020AD}"/>
              </a:ext>
            </a:extLst>
          </p:cNvPr>
          <p:cNvSpPr>
            <a:spLocks noGrp="1" noChangeArrowheads="1"/>
          </p:cNvSpPr>
          <p:nvPr>
            <p:ph type="title"/>
          </p:nvPr>
        </p:nvSpPr>
        <p:spPr/>
        <p:txBody>
          <a:bodyPr/>
          <a:lstStyle/>
          <a:p>
            <a:pPr eaLnBrk="1" hangingPunct="1">
              <a:lnSpc>
                <a:spcPct val="85000"/>
              </a:lnSpc>
              <a:defRPr/>
            </a:pPr>
            <a:r>
              <a:rPr lang="en-US" dirty="0"/>
              <a:t>CPR Training</a:t>
            </a:r>
          </a:p>
        </p:txBody>
      </p:sp>
      <p:sp>
        <p:nvSpPr>
          <p:cNvPr id="103426" name="Rectangle 3">
            <a:extLst>
              <a:ext uri="{FF2B5EF4-FFF2-40B4-BE49-F238E27FC236}">
                <a16:creationId xmlns:a16="http://schemas.microsoft.com/office/drawing/2014/main" id="{0AB2CDE7-AA01-D04E-803F-20FAE0DE9791}"/>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EMRs should:</a:t>
            </a:r>
          </a:p>
          <a:p>
            <a:pPr lvl="1" eaLnBrk="1" hangingPunct="1">
              <a:spcBef>
                <a:spcPct val="35000"/>
              </a:spcBef>
            </a:pPr>
            <a:r>
              <a:rPr lang="en-US" altLang="en-US" dirty="0"/>
              <a:t>Successfully complete a CPR course through a recognized agency.</a:t>
            </a:r>
          </a:p>
          <a:p>
            <a:pPr lvl="1" eaLnBrk="1" hangingPunct="1">
              <a:spcBef>
                <a:spcPct val="35000"/>
              </a:spcBef>
            </a:pPr>
            <a:r>
              <a:rPr lang="en-US" altLang="en-US" dirty="0"/>
              <a:t>Regularly update their skills by completing a recognized recertification course.</a:t>
            </a:r>
          </a:p>
          <a:p>
            <a:pPr eaLnBrk="1" hangingPunct="1">
              <a:spcBef>
                <a:spcPct val="35000"/>
              </a:spcBef>
            </a:pPr>
            <a:r>
              <a:rPr lang="en-US" altLang="en-US" dirty="0"/>
              <a:t>Your department should schedule periodic reviews of CPR theory and practice.</a:t>
            </a:r>
          </a:p>
        </p:txBody>
      </p:sp>
    </p:spTree>
    <p:extLst>
      <p:ext uri="{BB962C8B-B14F-4D97-AF65-F5344CB8AC3E}">
        <p14:creationId xmlns:p14="http://schemas.microsoft.com/office/powerpoint/2010/main" val="53806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D98DDF50-7DCE-024F-89B5-88D15EB7678E}"/>
              </a:ext>
            </a:extLst>
          </p:cNvPr>
          <p:cNvSpPr>
            <a:spLocks noGrp="1" noChangeArrowheads="1"/>
          </p:cNvSpPr>
          <p:nvPr>
            <p:ph type="title"/>
          </p:nvPr>
        </p:nvSpPr>
        <p:spPr/>
        <p:txBody>
          <a:bodyPr/>
          <a:lstStyle/>
          <a:p>
            <a:pPr eaLnBrk="1" hangingPunct="1">
              <a:lnSpc>
                <a:spcPct val="85000"/>
              </a:lnSpc>
              <a:defRPr/>
            </a:pPr>
            <a:r>
              <a:rPr lang="en-US" dirty="0"/>
              <a:t>Legal Implications of CPR </a:t>
            </a:r>
            <a:r>
              <a:rPr lang="en-US" sz="2800" b="0" dirty="0"/>
              <a:t>(1 of 2)</a:t>
            </a:r>
          </a:p>
        </p:txBody>
      </p:sp>
      <p:sp>
        <p:nvSpPr>
          <p:cNvPr id="105474" name="Rectangle 3">
            <a:extLst>
              <a:ext uri="{FF2B5EF4-FFF2-40B4-BE49-F238E27FC236}">
                <a16:creationId xmlns:a16="http://schemas.microsoft.com/office/drawing/2014/main" id="{8D122ABD-8CEB-6E46-8F58-1AD9A557DC47}"/>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Advance directives and living wills are legal documents that specify patient’s wishes regarding specified medical procedures.</a:t>
            </a:r>
          </a:p>
          <a:p>
            <a:pPr lvl="1" eaLnBrk="1" hangingPunct="1">
              <a:spcBef>
                <a:spcPct val="35000"/>
              </a:spcBef>
            </a:pPr>
            <a:r>
              <a:rPr lang="en-US" altLang="en-US" dirty="0"/>
              <a:t>CPR should be started on all patients unless signs of obvious death are present.</a:t>
            </a:r>
          </a:p>
          <a:p>
            <a:pPr lvl="1" eaLnBrk="1" hangingPunct="1">
              <a:spcBef>
                <a:spcPct val="35000"/>
              </a:spcBef>
            </a:pPr>
            <a:r>
              <a:rPr lang="en-US" altLang="en-US" dirty="0"/>
              <a:t>If a patient has an advance directive, physician at hospital will determine whether you should stop CPR.</a:t>
            </a:r>
          </a:p>
        </p:txBody>
      </p:sp>
    </p:spTree>
    <p:extLst>
      <p:ext uri="{BB962C8B-B14F-4D97-AF65-F5344CB8AC3E}">
        <p14:creationId xmlns:p14="http://schemas.microsoft.com/office/powerpoint/2010/main" val="3543597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3DC8DA3E-901D-DB41-A7CA-0E1F89F49D94}"/>
              </a:ext>
            </a:extLst>
          </p:cNvPr>
          <p:cNvSpPr>
            <a:spLocks noGrp="1" noChangeArrowheads="1"/>
          </p:cNvSpPr>
          <p:nvPr>
            <p:ph type="title"/>
          </p:nvPr>
        </p:nvSpPr>
        <p:spPr/>
        <p:txBody>
          <a:bodyPr/>
          <a:lstStyle/>
          <a:p>
            <a:pPr eaLnBrk="1" hangingPunct="1">
              <a:lnSpc>
                <a:spcPct val="85000"/>
              </a:lnSpc>
              <a:defRPr/>
            </a:pPr>
            <a:r>
              <a:rPr lang="en-US" dirty="0"/>
              <a:t>Legal Implications of CPR </a:t>
            </a:r>
            <a:r>
              <a:rPr lang="en-US" sz="2800" b="0" dirty="0"/>
              <a:t>(2 of 2)</a:t>
            </a:r>
          </a:p>
        </p:txBody>
      </p:sp>
      <p:sp>
        <p:nvSpPr>
          <p:cNvPr id="107522" name="Rectangle 3">
            <a:extLst>
              <a:ext uri="{FF2B5EF4-FFF2-40B4-BE49-F238E27FC236}">
                <a16:creationId xmlns:a16="http://schemas.microsoft.com/office/drawing/2014/main" id="{68690D8B-2001-3D47-B01B-03A5BBDD203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Do not hesitate to start CPR on a pulseless, nonbreathing patient.</a:t>
            </a:r>
          </a:p>
          <a:p>
            <a:pPr lvl="1" eaLnBrk="1" hangingPunct="1">
              <a:spcBef>
                <a:spcPct val="35000"/>
              </a:spcBef>
            </a:pPr>
            <a:r>
              <a:rPr lang="en-US" altLang="en-US" dirty="0"/>
              <a:t>Without your help, patient will die.</a:t>
            </a:r>
          </a:p>
          <a:p>
            <a:pPr eaLnBrk="1" hangingPunct="1">
              <a:spcBef>
                <a:spcPct val="35000"/>
              </a:spcBef>
            </a:pPr>
            <a:r>
              <a:rPr lang="en-US" altLang="en-US" dirty="0"/>
              <a:t>Abandonment</a:t>
            </a:r>
          </a:p>
          <a:p>
            <a:pPr lvl="1" eaLnBrk="1" hangingPunct="1">
              <a:spcBef>
                <a:spcPct val="35000"/>
              </a:spcBef>
            </a:pPr>
            <a:r>
              <a:rPr lang="en-US" altLang="en-US" dirty="0"/>
              <a:t>Discontinuation of CPR without order of a licensed physician or without turning patient over to someone who is at least as qualified as you are</a:t>
            </a:r>
          </a:p>
        </p:txBody>
      </p:sp>
    </p:spTree>
    <p:extLst>
      <p:ext uri="{BB962C8B-B14F-4D97-AF65-F5344CB8AC3E}">
        <p14:creationId xmlns:p14="http://schemas.microsoft.com/office/powerpoint/2010/main" val="3524720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a:extLst>
              <a:ext uri="{FF2B5EF4-FFF2-40B4-BE49-F238E27FC236}">
                <a16:creationId xmlns:a16="http://schemas.microsoft.com/office/drawing/2014/main" id="{8367991F-4A65-F145-A67C-C52700DE08BF}"/>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(1 of 4)</a:t>
            </a:r>
          </a:p>
        </p:txBody>
      </p:sp>
      <p:sp>
        <p:nvSpPr>
          <p:cNvPr id="109570" name="Rectangle 3">
            <a:extLst>
              <a:ext uri="{FF2B5EF4-FFF2-40B4-BE49-F238E27FC236}">
                <a16:creationId xmlns:a16="http://schemas.microsoft.com/office/drawing/2014/main" id="{6A30B8B5-442F-EE4F-AAAE-ADA551D945D3}"/>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Cardiac arrest occurs when heart stops contracting and no blood is pumped through blood vessels.</a:t>
            </a:r>
          </a:p>
          <a:p>
            <a:pPr eaLnBrk="1" hangingPunct="1">
              <a:spcBef>
                <a:spcPct val="35000"/>
              </a:spcBef>
            </a:pPr>
            <a:r>
              <a:rPr lang="en-US" altLang="en-US" dirty="0"/>
              <a:t>Chain of survival—recognition/activation of EMS, immediate high-quality CPR, rapid defibrillation, basic and advanced EMS, ALS and </a:t>
            </a:r>
            <a:r>
              <a:rPr lang="en-US" altLang="en-US" dirty="0" err="1"/>
              <a:t>postarrest</a:t>
            </a:r>
            <a:r>
              <a:rPr lang="en-US" altLang="en-US" dirty="0"/>
              <a:t> care</a:t>
            </a:r>
          </a:p>
        </p:txBody>
      </p:sp>
    </p:spTree>
    <p:extLst>
      <p:ext uri="{BB962C8B-B14F-4D97-AF65-F5344CB8AC3E}">
        <p14:creationId xmlns:p14="http://schemas.microsoft.com/office/powerpoint/2010/main" val="2276025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F017530E-88A6-3B49-8E61-D350A6CBC8FC}"/>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(2 of 4)</a:t>
            </a:r>
          </a:p>
        </p:txBody>
      </p:sp>
      <p:sp>
        <p:nvSpPr>
          <p:cNvPr id="111618" name="Rectangle 3">
            <a:extLst>
              <a:ext uri="{FF2B5EF4-FFF2-40B4-BE49-F238E27FC236}">
                <a16:creationId xmlns:a16="http://schemas.microsoft.com/office/drawing/2014/main" id="{7F2FA3D6-2FA6-1E4F-899F-93ABE1A29409}"/>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Basic life support for adults and children follows same general steps: </a:t>
            </a:r>
          </a:p>
          <a:p>
            <a:pPr lvl="1">
              <a:spcBef>
                <a:spcPct val="35000"/>
              </a:spcBef>
            </a:pPr>
            <a:r>
              <a:rPr lang="en-US" altLang="en-US" dirty="0"/>
              <a:t>Check responsiveness, circulation, breathing, and airway. </a:t>
            </a:r>
          </a:p>
          <a:p>
            <a:pPr lvl="1">
              <a:spcBef>
                <a:spcPct val="35000"/>
              </a:spcBef>
            </a:pPr>
            <a:r>
              <a:rPr lang="en-US" altLang="en-US" dirty="0"/>
              <a:t>Intervene at any point where patient’s airway is obstructed, patient is not breathing, or patient has no circulation. </a:t>
            </a:r>
          </a:p>
        </p:txBody>
      </p:sp>
    </p:spTree>
    <p:extLst>
      <p:ext uri="{BB962C8B-B14F-4D97-AF65-F5344CB8AC3E}">
        <p14:creationId xmlns:p14="http://schemas.microsoft.com/office/powerpoint/2010/main" val="1730849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E429653A-60EC-1946-AEFE-09B4790A74B7}"/>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(3 of 4)</a:t>
            </a:r>
          </a:p>
        </p:txBody>
      </p:sp>
      <p:sp>
        <p:nvSpPr>
          <p:cNvPr id="113666" name="Rectangle 3">
            <a:extLst>
              <a:ext uri="{FF2B5EF4-FFF2-40B4-BE49-F238E27FC236}">
                <a16:creationId xmlns:a16="http://schemas.microsoft.com/office/drawing/2014/main" id="{00EEAB8E-868C-FE47-84BB-14242E29A34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Single most important cardiac arrest survival factor is early defibrillation. </a:t>
            </a:r>
          </a:p>
          <a:p>
            <a:pPr lvl="1">
              <a:spcBef>
                <a:spcPct val="35000"/>
              </a:spcBef>
            </a:pPr>
            <a:r>
              <a:rPr lang="en-US" altLang="en-US" dirty="0"/>
              <a:t>The indications for using an automated external defibrillator (AED) are that patient is unresponsive, not breathing, and pulseless. </a:t>
            </a:r>
          </a:p>
          <a:p>
            <a:pPr eaLnBrk="1" hangingPunct="1"/>
            <a:endParaRPr lang="en-US" altLang="en-US" dirty="0"/>
          </a:p>
        </p:txBody>
      </p:sp>
    </p:spTree>
    <p:extLst>
      <p:ext uri="{BB962C8B-B14F-4D97-AF65-F5344CB8AC3E}">
        <p14:creationId xmlns:p14="http://schemas.microsoft.com/office/powerpoint/2010/main" val="2133382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a:extLst>
              <a:ext uri="{FF2B5EF4-FFF2-40B4-BE49-F238E27FC236}">
                <a16:creationId xmlns:a16="http://schemas.microsoft.com/office/drawing/2014/main" id="{900B8E96-C514-644B-9708-C10E3C468DE9}"/>
              </a:ext>
            </a:extLst>
          </p:cNvPr>
          <p:cNvSpPr>
            <a:spLocks noGrp="1" noChangeArrowheads="1"/>
          </p:cNvSpPr>
          <p:nvPr>
            <p:ph type="title"/>
          </p:nvPr>
        </p:nvSpPr>
        <p:spPr/>
        <p:txBody>
          <a:bodyPr/>
          <a:lstStyle/>
          <a:p>
            <a:pPr eaLnBrk="1" hangingPunct="1">
              <a:lnSpc>
                <a:spcPct val="85000"/>
              </a:lnSpc>
              <a:defRPr/>
            </a:pPr>
            <a:r>
              <a:rPr lang="en-US" dirty="0"/>
              <a:t>Summary </a:t>
            </a:r>
            <a:r>
              <a:rPr lang="en-US" sz="2800" b="0" dirty="0"/>
              <a:t>(4 of 4)</a:t>
            </a:r>
          </a:p>
        </p:txBody>
      </p:sp>
      <p:sp>
        <p:nvSpPr>
          <p:cNvPr id="115714" name="Rectangle 3">
            <a:extLst>
              <a:ext uri="{FF2B5EF4-FFF2-40B4-BE49-F238E27FC236}">
                <a16:creationId xmlns:a16="http://schemas.microsoft.com/office/drawing/2014/main" id="{39745E45-24AA-6441-B698-D7818148E3C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Once turned on and attached to patient’s bare chest, AED will analyze heart rhythm and advise whether a shock is indicated.</a:t>
            </a:r>
          </a:p>
        </p:txBody>
      </p:sp>
    </p:spTree>
    <p:extLst>
      <p:ext uri="{BB962C8B-B14F-4D97-AF65-F5344CB8AC3E}">
        <p14:creationId xmlns:p14="http://schemas.microsoft.com/office/powerpoint/2010/main" val="1963085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a:extLst>
              <a:ext uri="{FF2B5EF4-FFF2-40B4-BE49-F238E27FC236}">
                <a16:creationId xmlns:a16="http://schemas.microsoft.com/office/drawing/2014/main" id="{6F50C816-E1E7-064B-A642-A1D930674631}"/>
              </a:ext>
            </a:extLst>
          </p:cNvPr>
          <p:cNvSpPr>
            <a:spLocks noGrp="1" noChangeArrowheads="1"/>
          </p:cNvSpPr>
          <p:nvPr>
            <p:ph type="title"/>
          </p:nvPr>
        </p:nvSpPr>
        <p:spPr/>
        <p:txBody>
          <a:bodyPr/>
          <a:lstStyle/>
          <a:p>
            <a:pPr eaLnBrk="1" hangingPunct="1">
              <a:lnSpc>
                <a:spcPct val="85000"/>
              </a:lnSpc>
              <a:defRPr/>
            </a:pPr>
            <a:r>
              <a:rPr lang="en-US" dirty="0"/>
              <a:t>Review </a:t>
            </a:r>
          </a:p>
        </p:txBody>
      </p:sp>
      <p:sp>
        <p:nvSpPr>
          <p:cNvPr id="117762" name="Rectangle 3">
            <a:extLst>
              <a:ext uri="{FF2B5EF4-FFF2-40B4-BE49-F238E27FC236}">
                <a16:creationId xmlns:a16="http://schemas.microsoft.com/office/drawing/2014/main" id="{F28AF76C-E5A3-FA48-98C6-C9F55EA012EE}"/>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a:pPr>
            <a:r>
              <a:rPr lang="en-US" altLang="en-US" dirty="0"/>
              <a:t>A patient who is in cardiac arrest:</a:t>
            </a:r>
          </a:p>
          <a:p>
            <a:pPr marL="1028700" lvl="1" indent="-457200">
              <a:spcBef>
                <a:spcPct val="35000"/>
              </a:spcBef>
              <a:buFont typeface="Arial" panose="020B0604020202020204" pitchFamily="34" charset="0"/>
              <a:buAutoNum type="alphaUcPeriod"/>
            </a:pPr>
            <a:r>
              <a:rPr lang="en-US" altLang="en-US" dirty="0"/>
              <a:t>does not require rescue breathing. </a:t>
            </a:r>
          </a:p>
          <a:p>
            <a:pPr marL="1028700" lvl="1" indent="-457200">
              <a:spcBef>
                <a:spcPct val="35000"/>
              </a:spcBef>
              <a:buFont typeface="Arial" panose="020B0604020202020204" pitchFamily="34" charset="0"/>
              <a:buAutoNum type="alphaUcPeriod"/>
            </a:pPr>
            <a:r>
              <a:rPr lang="en-US" altLang="en-US" dirty="0"/>
              <a:t>does not have a pulse and is not breathing. </a:t>
            </a:r>
          </a:p>
          <a:p>
            <a:pPr marL="1028700" lvl="1" indent="-457200">
              <a:spcBef>
                <a:spcPct val="35000"/>
              </a:spcBef>
              <a:buFont typeface="Arial" panose="020B0604020202020204" pitchFamily="34" charset="0"/>
              <a:buAutoNum type="alphaUcPeriod"/>
            </a:pPr>
            <a:r>
              <a:rPr lang="en-US" altLang="en-US" dirty="0"/>
              <a:t>should be considered dead after 10 minutes of CPR. </a:t>
            </a:r>
          </a:p>
          <a:p>
            <a:pPr marL="1028700" lvl="1" indent="-457200">
              <a:spcBef>
                <a:spcPct val="35000"/>
              </a:spcBef>
              <a:buFont typeface="Arial" panose="020B0604020202020204" pitchFamily="34" charset="0"/>
              <a:buAutoNum type="alphaUcPeriod"/>
            </a:pPr>
            <a:r>
              <a:rPr lang="en-US" altLang="en-US" dirty="0"/>
              <a:t>requires treatment that is beyond the scope of practice of the EMR. </a:t>
            </a:r>
          </a:p>
        </p:txBody>
      </p:sp>
    </p:spTree>
    <p:extLst>
      <p:ext uri="{BB962C8B-B14F-4D97-AF65-F5344CB8AC3E}">
        <p14:creationId xmlns:p14="http://schemas.microsoft.com/office/powerpoint/2010/main" val="294264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a:extLst>
              <a:ext uri="{FF2B5EF4-FFF2-40B4-BE49-F238E27FC236}">
                <a16:creationId xmlns:a16="http://schemas.microsoft.com/office/drawing/2014/main" id="{AD18287C-B48E-4646-A8F2-68CB17D3DFEF}"/>
              </a:ext>
            </a:extLst>
          </p:cNvPr>
          <p:cNvSpPr>
            <a:spLocks noGrp="1" noChangeArrowheads="1"/>
          </p:cNvSpPr>
          <p:nvPr>
            <p:ph type="title"/>
          </p:nvPr>
        </p:nvSpPr>
        <p:spPr/>
        <p:txBody>
          <a:bodyPr/>
          <a:lstStyle/>
          <a:p>
            <a:pPr eaLnBrk="1" hangingPunct="1">
              <a:lnSpc>
                <a:spcPct val="85000"/>
              </a:lnSpc>
              <a:defRPr/>
            </a:pPr>
            <a:r>
              <a:rPr lang="en-US" dirty="0"/>
              <a:t>Review </a:t>
            </a:r>
            <a:endParaRPr lang="en-US" dirty="0">
              <a:solidFill>
                <a:srgbClr val="FBBF00"/>
              </a:solidFill>
            </a:endParaRPr>
          </a:p>
        </p:txBody>
      </p:sp>
      <p:sp>
        <p:nvSpPr>
          <p:cNvPr id="61443" name="Rectangle 3">
            <a:extLst>
              <a:ext uri="{FF2B5EF4-FFF2-40B4-BE49-F238E27FC236}">
                <a16:creationId xmlns:a16="http://schemas.microsoft.com/office/drawing/2014/main" id="{A9E4AB73-2C18-4F4B-881E-DE588ECB6A05}"/>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defRPr/>
            </a:pPr>
            <a:r>
              <a:rPr lang="en-US" altLang="en-US" b="1" dirty="0"/>
              <a:t>Answer: </a:t>
            </a:r>
          </a:p>
          <a:p>
            <a:pPr marL="457200" indent="-457200">
              <a:spcBef>
                <a:spcPct val="35000"/>
              </a:spcBef>
              <a:buNone/>
              <a:tabLst>
                <a:tab pos="457200" algn="l"/>
              </a:tabLst>
              <a:defRPr/>
            </a:pPr>
            <a:r>
              <a:rPr lang="en-US" altLang="en-US" b="1" dirty="0">
                <a:solidFill>
                  <a:schemeClr val="accent3"/>
                </a:solidFill>
              </a:rPr>
              <a:t>B.	does not have a pulse and is not breathing. </a:t>
            </a:r>
          </a:p>
        </p:txBody>
      </p:sp>
    </p:spTree>
    <p:extLst>
      <p:ext uri="{BB962C8B-B14F-4D97-AF65-F5344CB8AC3E}">
        <p14:creationId xmlns:p14="http://schemas.microsoft.com/office/powerpoint/2010/main" val="4054905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a:extLst>
              <a:ext uri="{FF2B5EF4-FFF2-40B4-BE49-F238E27FC236}">
                <a16:creationId xmlns:a16="http://schemas.microsoft.com/office/drawing/2014/main" id="{63086559-4763-3E40-BC35-625FAA8A4C7E}"/>
              </a:ext>
            </a:extLst>
          </p:cNvPr>
          <p:cNvSpPr>
            <a:spLocks noGrp="1" noChangeArrowheads="1"/>
          </p:cNvSpPr>
          <p:nvPr>
            <p:ph type="title"/>
          </p:nvPr>
        </p:nvSpPr>
        <p:spPr/>
        <p:txBody>
          <a:bodyPr/>
          <a:lstStyle/>
          <a:p>
            <a:pPr eaLnBrk="1" hangingPunct="1">
              <a:lnSpc>
                <a:spcPct val="85000"/>
              </a:lnSpc>
              <a:defRPr/>
            </a:pPr>
            <a:r>
              <a:rPr lang="en-US" dirty="0"/>
              <a:t>Review </a:t>
            </a:r>
            <a:endParaRPr lang="en-US" dirty="0">
              <a:solidFill>
                <a:srgbClr val="FBBF00"/>
              </a:solidFill>
            </a:endParaRPr>
          </a:p>
        </p:txBody>
      </p:sp>
      <p:sp>
        <p:nvSpPr>
          <p:cNvPr id="121858" name="Rectangle 3">
            <a:extLst>
              <a:ext uri="{FF2B5EF4-FFF2-40B4-BE49-F238E27FC236}">
                <a16:creationId xmlns:a16="http://schemas.microsoft.com/office/drawing/2014/main" id="{3B8E3991-F058-FB4D-AED0-897B807F2C3B}"/>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2"/>
            </a:pPr>
            <a:r>
              <a:rPr lang="en-US" altLang="en-US"/>
              <a:t>The majority of out-of-hospital cardiac arrest patients have an irregular heart electrical rhythm called ventricular fibrillation. How is this rhythm characterized?</a:t>
            </a:r>
          </a:p>
          <a:p>
            <a:pPr marL="1028700" lvl="1" indent="-457200">
              <a:spcBef>
                <a:spcPct val="35000"/>
              </a:spcBef>
              <a:buFont typeface="Arial" panose="020B0604020202020204" pitchFamily="34" charset="0"/>
              <a:buAutoNum type="alphaUcPeriod"/>
            </a:pPr>
            <a:r>
              <a:rPr lang="en-US" altLang="en-US"/>
              <a:t>Rapid, disorganized, and ineffective </a:t>
            </a:r>
          </a:p>
          <a:p>
            <a:pPr marL="1028700" lvl="1" indent="-457200">
              <a:spcBef>
                <a:spcPct val="35000"/>
              </a:spcBef>
              <a:buFont typeface="Arial" panose="020B0604020202020204" pitchFamily="34" charset="0"/>
              <a:buAutoNum type="alphaUcPeriod"/>
            </a:pPr>
            <a:r>
              <a:rPr lang="en-US" altLang="en-US"/>
              <a:t>Slow, disorganized, and ineffective </a:t>
            </a:r>
          </a:p>
          <a:p>
            <a:pPr marL="1028700" lvl="1" indent="-457200">
              <a:spcBef>
                <a:spcPct val="35000"/>
              </a:spcBef>
              <a:buFont typeface="Arial" panose="020B0604020202020204" pitchFamily="34" charset="0"/>
              <a:buAutoNum type="alphaUcPeriod"/>
            </a:pPr>
            <a:r>
              <a:rPr lang="en-US" altLang="en-US"/>
              <a:t>Rapid but effective </a:t>
            </a:r>
          </a:p>
          <a:p>
            <a:pPr marL="1028700" lvl="1" indent="-457200">
              <a:spcBef>
                <a:spcPct val="35000"/>
              </a:spcBef>
              <a:buFont typeface="Arial" panose="020B0604020202020204" pitchFamily="34" charset="0"/>
              <a:buAutoNum type="alphaUcPeriod"/>
            </a:pPr>
            <a:r>
              <a:rPr lang="en-US" altLang="en-US"/>
              <a:t>No electrical activity at all </a:t>
            </a:r>
          </a:p>
        </p:txBody>
      </p:sp>
    </p:spTree>
    <p:extLst>
      <p:ext uri="{BB962C8B-B14F-4D97-AF65-F5344CB8AC3E}">
        <p14:creationId xmlns:p14="http://schemas.microsoft.com/office/powerpoint/2010/main" val="48028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a:extLst>
              <a:ext uri="{FF2B5EF4-FFF2-40B4-BE49-F238E27FC236}">
                <a16:creationId xmlns:a16="http://schemas.microsoft.com/office/drawing/2014/main" id="{E41BA24C-C8DD-A848-B8AC-475E266D6DF3}"/>
              </a:ext>
            </a:extLst>
          </p:cNvPr>
          <p:cNvSpPr>
            <a:spLocks noGrp="1" noChangeArrowheads="1"/>
          </p:cNvSpPr>
          <p:nvPr>
            <p:ph type="title"/>
          </p:nvPr>
        </p:nvSpPr>
        <p:spPr/>
        <p:txBody>
          <a:bodyPr/>
          <a:lstStyle/>
          <a:p>
            <a:pPr eaLnBrk="1" hangingPunct="1">
              <a:lnSpc>
                <a:spcPct val="85000"/>
              </a:lnSpc>
              <a:defRPr/>
            </a:pPr>
            <a:r>
              <a:rPr lang="en-US" dirty="0"/>
              <a:t>Review </a:t>
            </a:r>
            <a:endParaRPr lang="en-US" dirty="0">
              <a:solidFill>
                <a:srgbClr val="FBBF00"/>
              </a:solidFill>
            </a:endParaRPr>
          </a:p>
        </p:txBody>
      </p:sp>
      <p:sp>
        <p:nvSpPr>
          <p:cNvPr id="63491" name="Rectangle 3">
            <a:extLst>
              <a:ext uri="{FF2B5EF4-FFF2-40B4-BE49-F238E27FC236}">
                <a16:creationId xmlns:a16="http://schemas.microsoft.com/office/drawing/2014/main" id="{A47DEB19-28BB-C843-91EF-8704B1BE25BF}"/>
              </a:ext>
            </a:extLst>
          </p:cNvPr>
          <p:cNvSpPr>
            <a:spLocks noGrp="1" noChangeArrowheads="1"/>
          </p:cNvSpPr>
          <p:nvPr>
            <p:ph type="body" idx="1"/>
          </p:nvPr>
        </p:nvSpPr>
        <p:spPr/>
        <p:txBody>
          <a:bodyPr vert="horz" lIns="91440" tIns="45720" rIns="228600" bIns="45720" rtlCol="0">
            <a:noAutofit/>
          </a:bodyPr>
          <a:lstStyle/>
          <a:p>
            <a:pPr eaLnBrk="1" hangingPunct="1">
              <a:buFontTx/>
              <a:buNone/>
              <a:defRPr/>
            </a:pPr>
            <a:r>
              <a:rPr lang="en-US" altLang="en-US" b="1" dirty="0"/>
              <a:t>Answer: </a:t>
            </a:r>
          </a:p>
          <a:p>
            <a:pPr eaLnBrk="1" hangingPunct="1">
              <a:spcBef>
                <a:spcPct val="35000"/>
              </a:spcBef>
              <a:buFontTx/>
              <a:buNone/>
              <a:defRPr/>
            </a:pPr>
            <a:r>
              <a:rPr lang="en-US" altLang="en-US" b="1" dirty="0">
                <a:solidFill>
                  <a:schemeClr val="accent3"/>
                </a:solidFill>
              </a:rPr>
              <a:t>A. </a:t>
            </a:r>
            <a:r>
              <a:rPr lang="en-US" altLang="en-US" b="1" dirty="0"/>
              <a:t>Ra</a:t>
            </a:r>
            <a:r>
              <a:rPr lang="en-US" altLang="en-US" b="1" dirty="0">
                <a:solidFill>
                  <a:schemeClr val="accent3"/>
                </a:solidFill>
              </a:rPr>
              <a:t>pid, disorganized, and ineffective</a:t>
            </a:r>
          </a:p>
        </p:txBody>
      </p:sp>
    </p:spTree>
    <p:extLst>
      <p:ext uri="{BB962C8B-B14F-4D97-AF65-F5344CB8AC3E}">
        <p14:creationId xmlns:p14="http://schemas.microsoft.com/office/powerpoint/2010/main" val="3338096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2054F97E-3D04-1648-A162-277C73D6192F}"/>
              </a:ext>
            </a:extLst>
          </p:cNvPr>
          <p:cNvSpPr>
            <a:spLocks noGrp="1" noChangeArrowheads="1"/>
          </p:cNvSpPr>
          <p:nvPr>
            <p:ph type="title"/>
          </p:nvPr>
        </p:nvSpPr>
        <p:spPr/>
        <p:txBody>
          <a:bodyPr/>
          <a:lstStyle/>
          <a:p>
            <a:pPr eaLnBrk="1" hangingPunct="1">
              <a:lnSpc>
                <a:spcPct val="85000"/>
              </a:lnSpc>
              <a:defRPr/>
            </a:pPr>
            <a:r>
              <a:rPr lang="en-US" dirty="0"/>
              <a:t>Review </a:t>
            </a:r>
            <a:endParaRPr lang="en-US" dirty="0">
              <a:solidFill>
                <a:srgbClr val="FBBF00"/>
              </a:solidFill>
            </a:endParaRPr>
          </a:p>
        </p:txBody>
      </p:sp>
      <p:sp>
        <p:nvSpPr>
          <p:cNvPr id="125954" name="Rectangle 3">
            <a:extLst>
              <a:ext uri="{FF2B5EF4-FFF2-40B4-BE49-F238E27FC236}">
                <a16:creationId xmlns:a16="http://schemas.microsoft.com/office/drawing/2014/main" id="{B292920B-6F1A-A641-AF3F-057C86DEBB84}"/>
              </a:ext>
            </a:extLst>
          </p:cNvPr>
          <p:cNvSpPr>
            <a:spLocks noGrp="1" noChangeArrowheads="1"/>
          </p:cNvSpPr>
          <p:nvPr>
            <p:ph type="body"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3"/>
            </a:pPr>
            <a:r>
              <a:rPr lang="en-US" altLang="en-US" dirty="0"/>
              <a:t>Which of the following is </a:t>
            </a:r>
            <a:r>
              <a:rPr lang="en-US" altLang="en-US" i="1" dirty="0"/>
              <a:t>not</a:t>
            </a:r>
            <a:r>
              <a:rPr lang="en-US" altLang="en-US" dirty="0"/>
              <a:t> a sign of effective CPR? </a:t>
            </a:r>
          </a:p>
          <a:p>
            <a:pPr marL="1028700" lvl="1" indent="-457200">
              <a:spcBef>
                <a:spcPct val="35000"/>
              </a:spcBef>
              <a:buFontTx/>
              <a:buAutoNum type="alphaUcPeriod"/>
            </a:pPr>
            <a:r>
              <a:rPr lang="en-US" altLang="en-US" dirty="0"/>
              <a:t>Compressions are delivered at a rate of 50 per minute. </a:t>
            </a:r>
          </a:p>
          <a:p>
            <a:pPr marL="1028700" lvl="1" indent="-457200">
              <a:spcBef>
                <a:spcPct val="35000"/>
              </a:spcBef>
              <a:buFontTx/>
              <a:buAutoNum type="alphaUcPeriod"/>
            </a:pPr>
            <a:r>
              <a:rPr lang="en-US" altLang="en-US" dirty="0"/>
              <a:t>You can feel a carotid pulse during chest compressions. </a:t>
            </a:r>
          </a:p>
          <a:p>
            <a:pPr marL="1028700" lvl="1" indent="-457200">
              <a:spcBef>
                <a:spcPct val="35000"/>
              </a:spcBef>
              <a:buFontTx/>
              <a:buAutoNum type="alphaUcPeriod"/>
            </a:pPr>
            <a:r>
              <a:rPr lang="en-US" altLang="en-US" dirty="0"/>
              <a:t>The patient’s skin color turns pink (from blue).</a:t>
            </a:r>
          </a:p>
          <a:p>
            <a:pPr marL="1028700" lvl="1" indent="-457200">
              <a:spcBef>
                <a:spcPct val="35000"/>
              </a:spcBef>
              <a:buFontTx/>
              <a:buAutoNum type="alphaUcPeriod"/>
            </a:pPr>
            <a:r>
              <a:rPr lang="en-US" altLang="en-US" dirty="0"/>
              <a:t>The chest visibly rises during ventilations.</a:t>
            </a:r>
          </a:p>
        </p:txBody>
      </p:sp>
    </p:spTree>
    <p:extLst>
      <p:ext uri="{BB962C8B-B14F-4D97-AF65-F5344CB8AC3E}">
        <p14:creationId xmlns:p14="http://schemas.microsoft.com/office/powerpoint/2010/main" val="3994906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a:extLst>
              <a:ext uri="{FF2B5EF4-FFF2-40B4-BE49-F238E27FC236}">
                <a16:creationId xmlns:a16="http://schemas.microsoft.com/office/drawing/2014/main" id="{B5A745E7-0B2C-374B-B105-A383B4E37346}"/>
              </a:ext>
            </a:extLst>
          </p:cNvPr>
          <p:cNvSpPr>
            <a:spLocks noGrp="1" noChangeArrowheads="1"/>
          </p:cNvSpPr>
          <p:nvPr>
            <p:ph type="title"/>
          </p:nvPr>
        </p:nvSpPr>
        <p:spPr/>
        <p:txBody>
          <a:bodyPr/>
          <a:lstStyle/>
          <a:p>
            <a:pPr eaLnBrk="1" hangingPunct="1">
              <a:lnSpc>
                <a:spcPct val="85000"/>
              </a:lnSpc>
              <a:defRPr/>
            </a:pPr>
            <a:r>
              <a:rPr lang="en-US" dirty="0"/>
              <a:t>Review </a:t>
            </a:r>
            <a:endParaRPr lang="en-US" dirty="0">
              <a:solidFill>
                <a:srgbClr val="FBBF00"/>
              </a:solidFill>
            </a:endParaRPr>
          </a:p>
        </p:txBody>
      </p:sp>
      <p:sp>
        <p:nvSpPr>
          <p:cNvPr id="65539" name="Rectangle 3">
            <a:extLst>
              <a:ext uri="{FF2B5EF4-FFF2-40B4-BE49-F238E27FC236}">
                <a16:creationId xmlns:a16="http://schemas.microsoft.com/office/drawing/2014/main" id="{C48BEB53-D417-874C-A9CE-4A8D122A562C}"/>
              </a:ext>
            </a:extLst>
          </p:cNvPr>
          <p:cNvSpPr>
            <a:spLocks noGrp="1" noChangeArrowheads="1"/>
          </p:cNvSpPr>
          <p:nvPr>
            <p:ph type="body" idx="1"/>
          </p:nvPr>
        </p:nvSpPr>
        <p:spPr/>
        <p:txBody>
          <a:bodyPr vert="horz" lIns="91440" tIns="45720" rIns="228600" bIns="45720" rtlCol="0">
            <a:noAutofit/>
          </a:bodyPr>
          <a:lstStyle/>
          <a:p>
            <a:pPr marL="457200" indent="-457200">
              <a:buNone/>
              <a:tabLst>
                <a:tab pos="457200" algn="l"/>
              </a:tabLst>
              <a:defRPr/>
            </a:pPr>
            <a:r>
              <a:rPr lang="en-US" altLang="en-US" b="1" dirty="0"/>
              <a:t>Answer:</a:t>
            </a:r>
          </a:p>
          <a:p>
            <a:pPr marL="457200" indent="-457200">
              <a:spcBef>
                <a:spcPct val="35000"/>
              </a:spcBef>
              <a:buNone/>
              <a:tabLst>
                <a:tab pos="457200" algn="l"/>
              </a:tabLst>
              <a:defRPr/>
            </a:pPr>
            <a:r>
              <a:rPr lang="en-US" altLang="en-US" b="1" dirty="0">
                <a:solidFill>
                  <a:schemeClr val="accent3"/>
                </a:solidFill>
              </a:rPr>
              <a:t>A.	Compressions are delivered at a rate of 50 per minute.</a:t>
            </a:r>
          </a:p>
        </p:txBody>
      </p:sp>
    </p:spTree>
    <p:extLst>
      <p:ext uri="{BB962C8B-B14F-4D97-AF65-F5344CB8AC3E}">
        <p14:creationId xmlns:p14="http://schemas.microsoft.com/office/powerpoint/2010/main" val="83932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711</TotalTime>
  <Words>8305</Words>
  <Application>Microsoft Macintosh PowerPoint</Application>
  <PresentationFormat>Widescreen</PresentationFormat>
  <Paragraphs>627</Paragraphs>
  <Slides>61</Slides>
  <Notes>61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Arial</vt:lpstr>
      <vt:lpstr>Arial Black</vt:lpstr>
      <vt:lpstr>Calibri</vt:lpstr>
      <vt:lpstr>Wingdings</vt:lpstr>
      <vt:lpstr>Educational subjects 16x9</vt:lpstr>
      <vt:lpstr>Professional Rescuer CPR</vt:lpstr>
      <vt:lpstr>National EMS Education Standard Competencies (1 of 4)</vt:lpstr>
      <vt:lpstr>National EMS Education Standard Competencies (2 of 4)</vt:lpstr>
      <vt:lpstr>National EMS Education Standard Competencies (3 of 4)</vt:lpstr>
      <vt:lpstr>National EMS Education Standard Competencies (4 of 4)</vt:lpstr>
      <vt:lpstr>Introduction (1 of 2)</vt:lpstr>
      <vt:lpstr>Introduction (2 of 2)</vt:lpstr>
      <vt:lpstr>Anatomy and Function of Circulatory System (1 of 8)</vt:lpstr>
      <vt:lpstr>Anatomy and Function of Circulatory System (2 of 8)</vt:lpstr>
      <vt:lpstr>Anatomy and Function of Circulatory System (3 of 8)</vt:lpstr>
      <vt:lpstr>Anatomy and Function of Circulatory System (4 of 8)</vt:lpstr>
      <vt:lpstr>Anatomy and Function of Circulatory System (5 of 8)</vt:lpstr>
      <vt:lpstr>Anatomy and Function of Circulatory System (6 of 8)</vt:lpstr>
      <vt:lpstr>Anatomy and Function of Circulatory System (7 of 8)</vt:lpstr>
      <vt:lpstr>Anatomy and Function of Circulatory System (8 of 8)</vt:lpstr>
      <vt:lpstr>Cardiac Arrest (1 of 3)</vt:lpstr>
      <vt:lpstr>Cardiac Arrest (2 of 3)</vt:lpstr>
      <vt:lpstr>Cardiac Arrest (3 of 3)</vt:lpstr>
      <vt:lpstr>Components of CPR (1 of 3)</vt:lpstr>
      <vt:lpstr>Components of CPR (2 of 3)</vt:lpstr>
      <vt:lpstr>Components of CPR (3 of 3)</vt:lpstr>
      <vt:lpstr>Cardiac Chain of Survival (1 of 2)</vt:lpstr>
      <vt:lpstr>Cardiac Chain of Survival (2 of 2)</vt:lpstr>
      <vt:lpstr>When to Start CPR (1 of 2)</vt:lpstr>
      <vt:lpstr>When to Start CPR (2 of 2)</vt:lpstr>
      <vt:lpstr>When to Stop CPR (1 of 2)</vt:lpstr>
      <vt:lpstr>When to Stop CPR (2 of 2)</vt:lpstr>
      <vt:lpstr>External Cardiac Compression (1 of 4)</vt:lpstr>
      <vt:lpstr>External Cardiac Compression (2 of 4)</vt:lpstr>
      <vt:lpstr>External Cardiac Compression (3 of 4)</vt:lpstr>
      <vt:lpstr>External Cardiac Compression (4 of 4)</vt:lpstr>
      <vt:lpstr>Adult CPR (1 of 2)</vt:lpstr>
      <vt:lpstr>Adult CPR (2 of 2)</vt:lpstr>
      <vt:lpstr>Infant CPR (1 of 2)</vt:lpstr>
      <vt:lpstr>Infant CPR (2 of 2)</vt:lpstr>
      <vt:lpstr>Child CPR (1 of 3)</vt:lpstr>
      <vt:lpstr>Child CPR (2 of 3)</vt:lpstr>
      <vt:lpstr>Child CPR (3 of 3)</vt:lpstr>
      <vt:lpstr>Signs of Effective CPR</vt:lpstr>
      <vt:lpstr>Complications of CPR  (1 of 4)</vt:lpstr>
      <vt:lpstr>Complications of CPR  (2 of 4)</vt:lpstr>
      <vt:lpstr>Complications of CPR  (3 of 4)</vt:lpstr>
      <vt:lpstr>Complications of CPR  (4 of 4)</vt:lpstr>
      <vt:lpstr>Creating Sufficient Space  for CPR (1 of 2)</vt:lpstr>
      <vt:lpstr>Creating Sufficient Space  for CPR (2 of 2)</vt:lpstr>
      <vt:lpstr>Early Defibrillation by EMRs  (1 of 3)</vt:lpstr>
      <vt:lpstr>Early Defibrillation by EMRs  (2 of 3)</vt:lpstr>
      <vt:lpstr>Early Defibrillation by EMRs  (3 of 3)</vt:lpstr>
      <vt:lpstr>CPR Training</vt:lpstr>
      <vt:lpstr>Legal Implications of CPR (1 of 2)</vt:lpstr>
      <vt:lpstr>Legal Implications of CPR (2 of 2)</vt:lpstr>
      <vt:lpstr>Summary (1 of 4)</vt:lpstr>
      <vt:lpstr>Summary (2 of 4)</vt:lpstr>
      <vt:lpstr>Summary (3 of 4)</vt:lpstr>
      <vt:lpstr>Summary (4 of 4)</vt:lpstr>
      <vt:lpstr>Review </vt:lpstr>
      <vt:lpstr>Review </vt:lpstr>
      <vt:lpstr>Review </vt:lpstr>
      <vt:lpstr>Review </vt:lpstr>
      <vt:lpstr>Review </vt:lpstr>
      <vt:lpstr>Review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Kristin Parker</dc:creator>
  <cp:lastModifiedBy>Kelly Sylvester</cp:lastModifiedBy>
  <cp:revision>60</cp:revision>
  <dcterms:created xsi:type="dcterms:W3CDTF">2019-03-08T18:11:57Z</dcterms:created>
  <dcterms:modified xsi:type="dcterms:W3CDTF">2020-11-30T21:49:47Z</dcterms:modified>
</cp:coreProperties>
</file>