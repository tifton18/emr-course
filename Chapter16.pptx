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68"/>
  </p:notesMasterIdLst>
  <p:handoutMasterIdLst>
    <p:handoutMasterId r:id="rId69"/>
  </p:handoutMasterIdLst>
  <p:sldIdLst>
    <p:sldId id="258" r:id="rId2"/>
    <p:sldId id="661" r:id="rId3"/>
    <p:sldId id="662" r:id="rId4"/>
    <p:sldId id="663" r:id="rId5"/>
    <p:sldId id="664" r:id="rId6"/>
    <p:sldId id="665" r:id="rId7"/>
    <p:sldId id="666" r:id="rId8"/>
    <p:sldId id="667" r:id="rId9"/>
    <p:sldId id="668" r:id="rId10"/>
    <p:sldId id="669" r:id="rId11"/>
    <p:sldId id="670" r:id="rId12"/>
    <p:sldId id="671" r:id="rId13"/>
    <p:sldId id="672" r:id="rId14"/>
    <p:sldId id="673" r:id="rId15"/>
    <p:sldId id="674" r:id="rId16"/>
    <p:sldId id="675" r:id="rId17"/>
    <p:sldId id="676" r:id="rId18"/>
    <p:sldId id="677" r:id="rId19"/>
    <p:sldId id="678" r:id="rId20"/>
    <p:sldId id="679" r:id="rId21"/>
    <p:sldId id="680" r:id="rId22"/>
    <p:sldId id="682" r:id="rId23"/>
    <p:sldId id="683" r:id="rId24"/>
    <p:sldId id="684" r:id="rId25"/>
    <p:sldId id="685" r:id="rId26"/>
    <p:sldId id="686" r:id="rId27"/>
    <p:sldId id="687" r:id="rId28"/>
    <p:sldId id="688" r:id="rId29"/>
    <p:sldId id="689" r:id="rId30"/>
    <p:sldId id="690" r:id="rId31"/>
    <p:sldId id="692" r:id="rId32"/>
    <p:sldId id="693" r:id="rId33"/>
    <p:sldId id="694" r:id="rId34"/>
    <p:sldId id="695" r:id="rId35"/>
    <p:sldId id="696" r:id="rId36"/>
    <p:sldId id="697" r:id="rId37"/>
    <p:sldId id="698" r:id="rId38"/>
    <p:sldId id="699" r:id="rId39"/>
    <p:sldId id="700" r:id="rId40"/>
    <p:sldId id="701" r:id="rId41"/>
    <p:sldId id="702" r:id="rId42"/>
    <p:sldId id="703" r:id="rId43"/>
    <p:sldId id="704" r:id="rId44"/>
    <p:sldId id="705" r:id="rId45"/>
    <p:sldId id="706" r:id="rId46"/>
    <p:sldId id="707" r:id="rId47"/>
    <p:sldId id="708" r:id="rId48"/>
    <p:sldId id="709" r:id="rId49"/>
    <p:sldId id="710" r:id="rId50"/>
    <p:sldId id="711" r:id="rId51"/>
    <p:sldId id="712" r:id="rId52"/>
    <p:sldId id="713" r:id="rId53"/>
    <p:sldId id="714" r:id="rId54"/>
    <p:sldId id="715" r:id="rId55"/>
    <p:sldId id="716" r:id="rId56"/>
    <p:sldId id="717" r:id="rId57"/>
    <p:sldId id="718" r:id="rId58"/>
    <p:sldId id="719" r:id="rId59"/>
    <p:sldId id="720" r:id="rId60"/>
    <p:sldId id="721" r:id="rId61"/>
    <p:sldId id="723" r:id="rId62"/>
    <p:sldId id="724" r:id="rId63"/>
    <p:sldId id="725" r:id="rId64"/>
    <p:sldId id="726" r:id="rId65"/>
    <p:sldId id="727" r:id="rId66"/>
    <p:sldId id="728"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74"/>
    <a:srgbClr val="FFFFFF"/>
    <a:srgbClr val="FFC425"/>
    <a:srgbClr val="E5E6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11CBD5-D47F-4176-8751-C605E34A68E3}" v="20" dt="2020-08-17T14:02:17.504"/>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96" autoAdjust="0"/>
    <p:restoredTop sz="81224"/>
  </p:normalViewPr>
  <p:slideViewPr>
    <p:cSldViewPr snapToGrid="0">
      <p:cViewPr>
        <p:scale>
          <a:sx n="100" d="100"/>
          <a:sy n="100" d="100"/>
        </p:scale>
        <p:origin x="1864" y="224"/>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Yuan Gregory" userId="8839d734-a022-4f7a-aa1a-7ded42ea4e8b" providerId="ADAL" clId="{1811CBD5-D47F-4176-8751-C605E34A68E3}"/>
    <pc:docChg chg="modSld modMainMaster">
      <pc:chgData name="Paula-Yuan Gregory" userId="8839d734-a022-4f7a-aa1a-7ded42ea4e8b" providerId="ADAL" clId="{1811CBD5-D47F-4176-8751-C605E34A68E3}" dt="2020-08-17T14:15:17.689" v="150" actId="20577"/>
      <pc:docMkLst>
        <pc:docMk/>
      </pc:docMkLst>
      <pc:sldChg chg="addSp delSp modSp">
        <pc:chgData name="Paula-Yuan Gregory" userId="8839d734-a022-4f7a-aa1a-7ded42ea4e8b" providerId="ADAL" clId="{1811CBD5-D47F-4176-8751-C605E34A68E3}" dt="2020-08-17T13:56:13.765" v="13" actId="20577"/>
        <pc:sldMkLst>
          <pc:docMk/>
          <pc:sldMk cId="1301752247" sldId="669"/>
        </pc:sldMkLst>
        <pc:spChg chg="add mod">
          <ac:chgData name="Paula-Yuan Gregory" userId="8839d734-a022-4f7a-aa1a-7ded42ea4e8b" providerId="ADAL" clId="{1811CBD5-D47F-4176-8751-C605E34A68E3}" dt="2020-08-17T13:56:13.765" v="13" actId="20577"/>
          <ac:spMkLst>
            <pc:docMk/>
            <pc:sldMk cId="1301752247" sldId="669"/>
            <ac:spMk id="6" creationId="{FDC22B55-670E-424E-9286-C6AF0169B563}"/>
          </ac:spMkLst>
        </pc:spChg>
        <pc:picChg chg="del">
          <ac:chgData name="Paula-Yuan Gregory" userId="8839d734-a022-4f7a-aa1a-7ded42ea4e8b" providerId="ADAL" clId="{1811CBD5-D47F-4176-8751-C605E34A68E3}" dt="2020-08-17T13:56:11.659" v="0" actId="478"/>
          <ac:picMkLst>
            <pc:docMk/>
            <pc:sldMk cId="1301752247" sldId="669"/>
            <ac:picMk id="21507" creationId="{908175FD-B1A3-F342-B064-20A006376EEA}"/>
          </ac:picMkLst>
        </pc:picChg>
      </pc:sldChg>
      <pc:sldChg chg="addSp delSp modSp">
        <pc:chgData name="Paula-Yuan Gregory" userId="8839d734-a022-4f7a-aa1a-7ded42ea4e8b" providerId="ADAL" clId="{1811CBD5-D47F-4176-8751-C605E34A68E3}" dt="2020-08-17T13:56:47.516" v="27" actId="20577"/>
        <pc:sldMkLst>
          <pc:docMk/>
          <pc:sldMk cId="1915332888" sldId="671"/>
        </pc:sldMkLst>
        <pc:spChg chg="add mod">
          <ac:chgData name="Paula-Yuan Gregory" userId="8839d734-a022-4f7a-aa1a-7ded42ea4e8b" providerId="ADAL" clId="{1811CBD5-D47F-4176-8751-C605E34A68E3}" dt="2020-08-17T13:56:47.516" v="27" actId="20577"/>
          <ac:spMkLst>
            <pc:docMk/>
            <pc:sldMk cId="1915332888" sldId="671"/>
            <ac:spMk id="6" creationId="{C230B55E-C8F1-4FBF-8836-1AEC0FD828C6}"/>
          </ac:spMkLst>
        </pc:spChg>
        <pc:picChg chg="del">
          <ac:chgData name="Paula-Yuan Gregory" userId="8839d734-a022-4f7a-aa1a-7ded42ea4e8b" providerId="ADAL" clId="{1811CBD5-D47F-4176-8751-C605E34A68E3}" dt="2020-08-17T13:56:45.235" v="14" actId="478"/>
          <ac:picMkLst>
            <pc:docMk/>
            <pc:sldMk cId="1915332888" sldId="671"/>
            <ac:picMk id="25604" creationId="{DB36B46B-12B4-B145-875E-C1CBC1851548}"/>
          </ac:picMkLst>
        </pc:picChg>
      </pc:sldChg>
      <pc:sldChg chg="addSp delSp modSp">
        <pc:chgData name="Paula-Yuan Gregory" userId="8839d734-a022-4f7a-aa1a-7ded42ea4e8b" providerId="ADAL" clId="{1811CBD5-D47F-4176-8751-C605E34A68E3}" dt="2020-08-17T13:57:12.427" v="42" actId="1076"/>
        <pc:sldMkLst>
          <pc:docMk/>
          <pc:sldMk cId="1453190062" sldId="676"/>
        </pc:sldMkLst>
        <pc:spChg chg="add mod">
          <ac:chgData name="Paula-Yuan Gregory" userId="8839d734-a022-4f7a-aa1a-7ded42ea4e8b" providerId="ADAL" clId="{1811CBD5-D47F-4176-8751-C605E34A68E3}" dt="2020-08-17T13:57:12.427" v="42" actId="1076"/>
          <ac:spMkLst>
            <pc:docMk/>
            <pc:sldMk cId="1453190062" sldId="676"/>
            <ac:spMk id="6" creationId="{2BBB256E-EDE8-4A7B-A233-4D7D617A769B}"/>
          </ac:spMkLst>
        </pc:spChg>
        <pc:picChg chg="del">
          <ac:chgData name="Paula-Yuan Gregory" userId="8839d734-a022-4f7a-aa1a-7ded42ea4e8b" providerId="ADAL" clId="{1811CBD5-D47F-4176-8751-C605E34A68E3}" dt="2020-08-17T13:57:06.108" v="28" actId="478"/>
          <ac:picMkLst>
            <pc:docMk/>
            <pc:sldMk cId="1453190062" sldId="676"/>
            <ac:picMk id="35843" creationId="{557A2E45-03F5-7F44-8D54-3002024195EB}"/>
          </ac:picMkLst>
        </pc:picChg>
      </pc:sldChg>
      <pc:sldChg chg="addSp delSp modSp">
        <pc:chgData name="Paula-Yuan Gregory" userId="8839d734-a022-4f7a-aa1a-7ded42ea4e8b" providerId="ADAL" clId="{1811CBD5-D47F-4176-8751-C605E34A68E3}" dt="2020-08-17T13:58:27.168" v="56" actId="20577"/>
        <pc:sldMkLst>
          <pc:docMk/>
          <pc:sldMk cId="3543835743" sldId="683"/>
        </pc:sldMkLst>
        <pc:spChg chg="add mod">
          <ac:chgData name="Paula-Yuan Gregory" userId="8839d734-a022-4f7a-aa1a-7ded42ea4e8b" providerId="ADAL" clId="{1811CBD5-D47F-4176-8751-C605E34A68E3}" dt="2020-08-17T13:58:27.168" v="56" actId="20577"/>
          <ac:spMkLst>
            <pc:docMk/>
            <pc:sldMk cId="3543835743" sldId="683"/>
            <ac:spMk id="6" creationId="{EEBD0346-CD17-4660-B668-CF76B627B51E}"/>
          </ac:spMkLst>
        </pc:spChg>
        <pc:picChg chg="del">
          <ac:chgData name="Paula-Yuan Gregory" userId="8839d734-a022-4f7a-aa1a-7ded42ea4e8b" providerId="ADAL" clId="{1811CBD5-D47F-4176-8751-C605E34A68E3}" dt="2020-08-17T13:58:22.804" v="43" actId="478"/>
          <ac:picMkLst>
            <pc:docMk/>
            <pc:sldMk cId="3543835743" sldId="683"/>
            <ac:picMk id="48131" creationId="{B9C4886C-6CB0-074C-B02D-9EFFC2CF6405}"/>
          </ac:picMkLst>
        </pc:picChg>
      </pc:sldChg>
      <pc:sldChg chg="addSp delSp modSp">
        <pc:chgData name="Paula-Yuan Gregory" userId="8839d734-a022-4f7a-aa1a-7ded42ea4e8b" providerId="ADAL" clId="{1811CBD5-D47F-4176-8751-C605E34A68E3}" dt="2020-08-17T13:59:35.993" v="102" actId="1076"/>
        <pc:sldMkLst>
          <pc:docMk/>
          <pc:sldMk cId="1982298235" sldId="689"/>
        </pc:sldMkLst>
        <pc:spChg chg="add mod">
          <ac:chgData name="Paula-Yuan Gregory" userId="8839d734-a022-4f7a-aa1a-7ded42ea4e8b" providerId="ADAL" clId="{1811CBD5-D47F-4176-8751-C605E34A68E3}" dt="2020-08-17T13:59:35.993" v="102" actId="1076"/>
          <ac:spMkLst>
            <pc:docMk/>
            <pc:sldMk cId="1982298235" sldId="689"/>
            <ac:spMk id="11" creationId="{4C70CBFF-C20B-436E-B867-C697373FE406}"/>
          </ac:spMkLst>
        </pc:spChg>
        <pc:spChg chg="add mod">
          <ac:chgData name="Paula-Yuan Gregory" userId="8839d734-a022-4f7a-aa1a-7ded42ea4e8b" providerId="ADAL" clId="{1811CBD5-D47F-4176-8751-C605E34A68E3}" dt="2020-08-17T13:59:32.652" v="101" actId="1076"/>
          <ac:spMkLst>
            <pc:docMk/>
            <pc:sldMk cId="1982298235" sldId="689"/>
            <ac:spMk id="12" creationId="{528183C6-2BC3-4DC9-B393-0A707ED1BE6E}"/>
          </ac:spMkLst>
        </pc:spChg>
        <pc:picChg chg="del">
          <ac:chgData name="Paula-Yuan Gregory" userId="8839d734-a022-4f7a-aa1a-7ded42ea4e8b" providerId="ADAL" clId="{1811CBD5-D47F-4176-8751-C605E34A68E3}" dt="2020-08-17T13:59:12.595" v="57" actId="478"/>
          <ac:picMkLst>
            <pc:docMk/>
            <pc:sldMk cId="1982298235" sldId="689"/>
            <ac:picMk id="60418" creationId="{8D46C2A1-9096-5B4F-BC33-3AAC24100682}"/>
          </ac:picMkLst>
        </pc:picChg>
        <pc:picChg chg="del">
          <ac:chgData name="Paula-Yuan Gregory" userId="8839d734-a022-4f7a-aa1a-7ded42ea4e8b" providerId="ADAL" clId="{1811CBD5-D47F-4176-8751-C605E34A68E3}" dt="2020-08-17T13:59:14.203" v="58" actId="478"/>
          <ac:picMkLst>
            <pc:docMk/>
            <pc:sldMk cId="1982298235" sldId="689"/>
            <ac:picMk id="60419" creationId="{F775B63E-2998-1A4F-82A9-E30BAEE2FDD7}"/>
          </ac:picMkLst>
        </pc:picChg>
        <pc:picChg chg="del">
          <ac:chgData name="Paula-Yuan Gregory" userId="8839d734-a022-4f7a-aa1a-7ded42ea4e8b" providerId="ADAL" clId="{1811CBD5-D47F-4176-8751-C605E34A68E3}" dt="2020-08-17T13:59:21.634" v="79" actId="478"/>
          <ac:picMkLst>
            <pc:docMk/>
            <pc:sldMk cId="1982298235" sldId="689"/>
            <ac:picMk id="60420" creationId="{CA4FF149-8778-4D42-8250-3CC6CE9A4A9A}"/>
          </ac:picMkLst>
        </pc:picChg>
        <pc:picChg chg="del">
          <ac:chgData name="Paula-Yuan Gregory" userId="8839d734-a022-4f7a-aa1a-7ded42ea4e8b" providerId="ADAL" clId="{1811CBD5-D47F-4176-8751-C605E34A68E3}" dt="2020-08-17T13:59:23.160" v="80" actId="478"/>
          <ac:picMkLst>
            <pc:docMk/>
            <pc:sldMk cId="1982298235" sldId="689"/>
            <ac:picMk id="60421" creationId="{B24BA2B7-9F71-9B4E-B453-0C867298939F}"/>
          </ac:picMkLst>
        </pc:picChg>
      </pc:sldChg>
      <pc:sldChg chg="addSp delSp modSp">
        <pc:chgData name="Paula-Yuan Gregory" userId="8839d734-a022-4f7a-aa1a-7ded42ea4e8b" providerId="ADAL" clId="{1811CBD5-D47F-4176-8751-C605E34A68E3}" dt="2020-08-17T14:01:33.977" v="117" actId="1076"/>
        <pc:sldMkLst>
          <pc:docMk/>
          <pc:sldMk cId="3167922252" sldId="693"/>
        </pc:sldMkLst>
        <pc:spChg chg="add mod">
          <ac:chgData name="Paula-Yuan Gregory" userId="8839d734-a022-4f7a-aa1a-7ded42ea4e8b" providerId="ADAL" clId="{1811CBD5-D47F-4176-8751-C605E34A68E3}" dt="2020-08-17T14:01:33.977" v="117" actId="1076"/>
          <ac:spMkLst>
            <pc:docMk/>
            <pc:sldMk cId="3167922252" sldId="693"/>
            <ac:spMk id="5" creationId="{CA08771E-FA34-437F-A3B2-340812B01FEE}"/>
          </ac:spMkLst>
        </pc:spChg>
        <pc:picChg chg="del">
          <ac:chgData name="Paula-Yuan Gregory" userId="8839d734-a022-4f7a-aa1a-7ded42ea4e8b" providerId="ADAL" clId="{1811CBD5-D47F-4176-8751-C605E34A68E3}" dt="2020-08-17T14:01:28.691" v="103" actId="478"/>
          <ac:picMkLst>
            <pc:docMk/>
            <pc:sldMk cId="3167922252" sldId="693"/>
            <ac:picMk id="66562" creationId="{C93624AF-70DA-9248-B1CB-FDF9C735E2B5}"/>
          </ac:picMkLst>
        </pc:picChg>
      </pc:sldChg>
      <pc:sldChg chg="addSp delSp modSp">
        <pc:chgData name="Paula-Yuan Gregory" userId="8839d734-a022-4f7a-aa1a-7ded42ea4e8b" providerId="ADAL" clId="{1811CBD5-D47F-4176-8751-C605E34A68E3}" dt="2020-08-17T14:01:54.811" v="132" actId="1076"/>
        <pc:sldMkLst>
          <pc:docMk/>
          <pc:sldMk cId="906223195" sldId="694"/>
        </pc:sldMkLst>
        <pc:spChg chg="add mod">
          <ac:chgData name="Paula-Yuan Gregory" userId="8839d734-a022-4f7a-aa1a-7ded42ea4e8b" providerId="ADAL" clId="{1811CBD5-D47F-4176-8751-C605E34A68E3}" dt="2020-08-17T14:01:54.811" v="132" actId="1076"/>
          <ac:spMkLst>
            <pc:docMk/>
            <pc:sldMk cId="906223195" sldId="694"/>
            <ac:spMk id="6" creationId="{2E33304B-E145-4705-A806-CE48D7B50876}"/>
          </ac:spMkLst>
        </pc:spChg>
        <pc:picChg chg="del">
          <ac:chgData name="Paula-Yuan Gregory" userId="8839d734-a022-4f7a-aa1a-7ded42ea4e8b" providerId="ADAL" clId="{1811CBD5-D47F-4176-8751-C605E34A68E3}" dt="2020-08-17T14:01:49.858" v="118" actId="478"/>
          <ac:picMkLst>
            <pc:docMk/>
            <pc:sldMk cId="906223195" sldId="694"/>
            <ac:picMk id="68611" creationId="{113CE742-3582-ED4E-987C-BDDC4DF27573}"/>
          </ac:picMkLst>
        </pc:picChg>
      </pc:sldChg>
      <pc:sldChg chg="addSp delSp modSp">
        <pc:chgData name="Paula-Yuan Gregory" userId="8839d734-a022-4f7a-aa1a-7ded42ea4e8b" providerId="ADAL" clId="{1811CBD5-D47F-4176-8751-C605E34A68E3}" dt="2020-08-17T14:02:19.270" v="146" actId="20577"/>
        <pc:sldMkLst>
          <pc:docMk/>
          <pc:sldMk cId="1826359424" sldId="697"/>
        </pc:sldMkLst>
        <pc:spChg chg="add mod">
          <ac:chgData name="Paula-Yuan Gregory" userId="8839d734-a022-4f7a-aa1a-7ded42ea4e8b" providerId="ADAL" clId="{1811CBD5-D47F-4176-8751-C605E34A68E3}" dt="2020-08-17T14:02:19.270" v="146" actId="20577"/>
          <ac:spMkLst>
            <pc:docMk/>
            <pc:sldMk cId="1826359424" sldId="697"/>
            <ac:spMk id="6" creationId="{6F8B9A88-AD67-4AB9-9BBC-340FD26E63A9}"/>
          </ac:spMkLst>
        </pc:spChg>
        <pc:picChg chg="del">
          <ac:chgData name="Paula-Yuan Gregory" userId="8839d734-a022-4f7a-aa1a-7ded42ea4e8b" providerId="ADAL" clId="{1811CBD5-D47F-4176-8751-C605E34A68E3}" dt="2020-08-17T14:02:17.243" v="133" actId="478"/>
          <ac:picMkLst>
            <pc:docMk/>
            <pc:sldMk cId="1826359424" sldId="697"/>
            <ac:picMk id="74755" creationId="{8F0D2C3B-CE10-2340-8445-97CBAB5D5BEE}"/>
          </ac:picMkLst>
        </pc:picChg>
      </pc:sldChg>
      <pc:sldMasterChg chg="modSp modSldLayout">
        <pc:chgData name="Paula-Yuan Gregory" userId="8839d734-a022-4f7a-aa1a-7ded42ea4e8b" providerId="ADAL" clId="{1811CBD5-D47F-4176-8751-C605E34A68E3}" dt="2020-08-17T14:15:17.689" v="150" actId="20577"/>
        <pc:sldMasterMkLst>
          <pc:docMk/>
          <pc:sldMasterMk cId="2871921020" sldId="2147483648"/>
        </pc:sldMasterMkLst>
        <pc:spChg chg="mod">
          <ac:chgData name="Paula-Yuan Gregory" userId="8839d734-a022-4f7a-aa1a-7ded42ea4e8b" providerId="ADAL" clId="{1811CBD5-D47F-4176-8751-C605E34A68E3}" dt="2020-08-17T14:15:17.689" v="150" actId="20577"/>
          <ac:spMkLst>
            <pc:docMk/>
            <pc:sldMasterMk cId="2871921020" sldId="2147483648"/>
            <ac:spMk id="7" creationId="{21F38BD8-3F75-CE4C-AFEF-0C6B45F77F8C}"/>
          </ac:spMkLst>
        </pc:spChg>
        <pc:sldLayoutChg chg="modSp">
          <pc:chgData name="Paula-Yuan Gregory" userId="8839d734-a022-4f7a-aa1a-7ded42ea4e8b" providerId="ADAL" clId="{1811CBD5-D47F-4176-8751-C605E34A68E3}" dt="2020-08-17T14:15:11.749" v="148" actId="20577"/>
          <pc:sldLayoutMkLst>
            <pc:docMk/>
            <pc:sldMasterMk cId="2871921020" sldId="2147483648"/>
            <pc:sldLayoutMk cId="3047549913" sldId="2147483649"/>
          </pc:sldLayoutMkLst>
          <pc:spChg chg="mod">
            <ac:chgData name="Paula-Yuan Gregory" userId="8839d734-a022-4f7a-aa1a-7ded42ea4e8b" providerId="ADAL" clId="{1811CBD5-D47F-4176-8751-C605E34A68E3}" dt="2020-08-17T14:15:11.749" v="148" actId="20577"/>
            <ac:spMkLst>
              <pc:docMk/>
              <pc:sldMasterMk cId="2871921020" sldId="2147483648"/>
              <pc:sldLayoutMk cId="3047549913" sldId="2147483649"/>
              <ac:spMk id="17" creationId="{BEEECFBC-FB4D-9945-A4FF-28E342055AC3}"/>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latin typeface="Arial" panose="020B0604020202020204" pitchFamily="34" charset="0"/>
              </a:rPr>
              <a:t>11/30/20</a:t>
            </a:fld>
            <a:endParaRPr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latin typeface="Arial" panose="020B0604020202020204" pitchFamily="34" charset="0"/>
              </a:rPr>
              <a:t>‹#›</a:t>
            </a:fld>
            <a:endParaRPr dirty="0">
              <a:latin typeface="Arial" panose="020B0604020202020204" pitchFamily="34" charset="0"/>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37F6C43-988E-4257-9A1C-C162EF036D58}" type="datetimeFigureOut">
              <a:rPr lang="en-US" smtClean="0"/>
              <a:pPr/>
              <a:t>11/30/20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DED491D0-8E1B-49C7-849B-A28568D94497}" type="slidenum">
              <a:rPr lang="en-US" smtClean="0"/>
              <a:pPr/>
              <a:t>‹#›</a:t>
            </a:fld>
            <a:endParaRPr lang="en-US" dirty="0"/>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a:extLst>
              <a:ext uri="{FF2B5EF4-FFF2-40B4-BE49-F238E27FC236}">
                <a16:creationId xmlns:a16="http://schemas.microsoft.com/office/drawing/2014/main" id="{6030FD1C-2B3F-5A4D-9DAA-690066D3DF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6" name="Rectangle 3">
            <a:extLst>
              <a:ext uri="{FF2B5EF4-FFF2-40B4-BE49-F238E27FC236}">
                <a16:creationId xmlns:a16="http://schemas.microsoft.com/office/drawing/2014/main" id="{09BAF7CC-0247-1F49-BE66-5AC367A3224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dirty="0"/>
              <a:t>Special Patient Populations:</a:t>
            </a:r>
          </a:p>
          <a:p>
            <a:r>
              <a:rPr lang="en-US" altLang="en-US" dirty="0"/>
              <a:t>Recognizes and manages life threats based on simple assessment findings for a patient with special needs while awaiting additional emergency response.</a:t>
            </a:r>
          </a:p>
          <a:p>
            <a:pPr eaLnBrk="1" hangingPunct="1"/>
            <a:endParaRPr lang="en-US" altLang="en-US" dirty="0"/>
          </a:p>
        </p:txBody>
      </p:sp>
    </p:spTree>
    <p:extLst>
      <p:ext uri="{BB962C8B-B14F-4D97-AF65-F5344CB8AC3E}">
        <p14:creationId xmlns:p14="http://schemas.microsoft.com/office/powerpoint/2010/main" val="3386933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1F0248F4-78CB-C641-8616-BAA7EB46D4C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4" name="Rectangle 3">
            <a:extLst>
              <a:ext uri="{FF2B5EF4-FFF2-40B4-BE49-F238E27FC236}">
                <a16:creationId xmlns:a16="http://schemas.microsoft.com/office/drawing/2014/main" id="{E095E256-7B54-0043-B240-DE0DE8A06F8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i="1" dirty="0"/>
              <a:t>Obstetrics:</a:t>
            </a:r>
          </a:p>
          <a:p>
            <a:r>
              <a:rPr lang="en-US" altLang="en-US" dirty="0"/>
              <a:t>Recognition and management of:</a:t>
            </a:r>
          </a:p>
          <a:p>
            <a:r>
              <a:rPr lang="en-US" altLang="en-US" dirty="0"/>
              <a:t>• Normal delivery. (pp XXX-XXX)</a:t>
            </a:r>
          </a:p>
          <a:p>
            <a:r>
              <a:rPr lang="en-US" altLang="en-US" dirty="0"/>
              <a:t>• Vaginal bleeding in pregnant patient. (pp XXX-XXX)</a:t>
            </a:r>
          </a:p>
          <a:p>
            <a:r>
              <a:rPr lang="en-US" altLang="en-US" b="1" i="1" dirty="0"/>
              <a:t>Neonatal care:</a:t>
            </a:r>
          </a:p>
          <a:p>
            <a:r>
              <a:rPr lang="en-US" altLang="en-US" dirty="0"/>
              <a:t>• Newborn care. (p XXX)</a:t>
            </a:r>
          </a:p>
          <a:p>
            <a:r>
              <a:rPr lang="en-US" altLang="en-US" dirty="0"/>
              <a:t>• Neonatal resuscitation. (pp XXX-XXX)</a:t>
            </a:r>
          </a:p>
        </p:txBody>
      </p:sp>
    </p:spTree>
    <p:extLst>
      <p:ext uri="{BB962C8B-B14F-4D97-AF65-F5344CB8AC3E}">
        <p14:creationId xmlns:p14="http://schemas.microsoft.com/office/powerpoint/2010/main" val="83328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650C69EC-D482-F24B-8E65-66BB9F1B426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2" name="Rectangle 3">
            <a:extLst>
              <a:ext uri="{FF2B5EF4-FFF2-40B4-BE49-F238E27FC236}">
                <a16:creationId xmlns:a16="http://schemas.microsoft.com/office/drawing/2014/main" id="{1C303A95-B1A6-5E43-89B4-BC7B42B7344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dirty="0"/>
              <a:t>Medicine:</a:t>
            </a:r>
          </a:p>
          <a:p>
            <a:r>
              <a:rPr lang="en-US" altLang="en-US" dirty="0"/>
              <a:t>Recognizes and manages life threats based on assessment findings of a patient with a medical emergency while awaiting additional emergency response.</a:t>
            </a:r>
            <a:endParaRPr lang="en-US" altLang="en-US" b="1" dirty="0"/>
          </a:p>
          <a:p>
            <a:pPr eaLnBrk="1" hangingPunct="1"/>
            <a:endParaRPr lang="en-US" altLang="en-US" dirty="0"/>
          </a:p>
        </p:txBody>
      </p:sp>
    </p:spTree>
    <p:extLst>
      <p:ext uri="{BB962C8B-B14F-4D97-AF65-F5344CB8AC3E}">
        <p14:creationId xmlns:p14="http://schemas.microsoft.com/office/powerpoint/2010/main" val="766441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C570F9E9-5548-B349-8C69-D54B5241C30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0" name="Rectangle 3">
            <a:extLst>
              <a:ext uri="{FF2B5EF4-FFF2-40B4-BE49-F238E27FC236}">
                <a16:creationId xmlns:a16="http://schemas.microsoft.com/office/drawing/2014/main" id="{13C417FB-DF8D-B24D-B99A-77EEC92019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i="1" dirty="0"/>
              <a:t>Gynecology:</a:t>
            </a:r>
          </a:p>
          <a:p>
            <a:r>
              <a:rPr lang="en-US" altLang="en-US" dirty="0"/>
              <a:t>Recognition and management of shock associated with:</a:t>
            </a:r>
            <a:endParaRPr lang="en-US" altLang="en-US" b="1" dirty="0"/>
          </a:p>
          <a:p>
            <a:r>
              <a:rPr lang="en-US" altLang="en-US" dirty="0"/>
              <a:t>• Vaginal bleeding. (pp XXX-XXX)</a:t>
            </a:r>
            <a:endParaRPr lang="en-US" altLang="en-US" b="1" dirty="0"/>
          </a:p>
          <a:p>
            <a:pPr eaLnBrk="1" hangingPunct="1"/>
            <a:endParaRPr lang="en-US" altLang="en-US" dirty="0"/>
          </a:p>
        </p:txBody>
      </p:sp>
    </p:spTree>
    <p:extLst>
      <p:ext uri="{BB962C8B-B14F-4D97-AF65-F5344CB8AC3E}">
        <p14:creationId xmlns:p14="http://schemas.microsoft.com/office/powerpoint/2010/main" val="4059425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95B04C56-AF84-F14F-B4B7-965DFBAD30C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8" name="Rectangle 3">
            <a:extLst>
              <a:ext uri="{FF2B5EF4-FFF2-40B4-BE49-F238E27FC236}">
                <a16:creationId xmlns:a16="http://schemas.microsoft.com/office/drawing/2014/main" id="{9D3235C9-0932-E042-9A28-4788C78EB2C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dirty="0"/>
              <a:t>Trauma:</a:t>
            </a:r>
          </a:p>
          <a:p>
            <a:r>
              <a:rPr lang="en-US" altLang="en-US" dirty="0"/>
              <a:t>Uses simple knowledge to recognize and manage life threats based on assessment findings of an acutely injured patient while awaiting additional emergency medical response.</a:t>
            </a:r>
          </a:p>
        </p:txBody>
      </p:sp>
    </p:spTree>
    <p:extLst>
      <p:ext uri="{BB962C8B-B14F-4D97-AF65-F5344CB8AC3E}">
        <p14:creationId xmlns:p14="http://schemas.microsoft.com/office/powerpoint/2010/main" val="42617152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370CA99F-5A3E-214E-9BB0-0834D80D07D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6" name="Rectangle 3">
            <a:extLst>
              <a:ext uri="{FF2B5EF4-FFF2-40B4-BE49-F238E27FC236}">
                <a16:creationId xmlns:a16="http://schemas.microsoft.com/office/drawing/2014/main" id="{DADD6748-0486-AD4B-B035-D61159ED76A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i="1" dirty="0"/>
              <a:t>Special Considerations in Trauma:</a:t>
            </a:r>
          </a:p>
          <a:p>
            <a:r>
              <a:rPr lang="en-US" altLang="en-US" dirty="0"/>
              <a:t>Recognition and management of trauma in:</a:t>
            </a:r>
          </a:p>
          <a:p>
            <a:r>
              <a:rPr lang="en-US" altLang="en-US" dirty="0"/>
              <a:t>• Pregnant patient. (p XXX)</a:t>
            </a:r>
          </a:p>
          <a:p>
            <a:r>
              <a:rPr lang="en-US" altLang="en-US" dirty="0"/>
              <a:t>• Pediatric patient. (Chapter 17, </a:t>
            </a:r>
            <a:r>
              <a:rPr lang="en-US" altLang="en-US" i="1" dirty="0"/>
              <a:t>Pediatric Emergencies</a:t>
            </a:r>
            <a:r>
              <a:rPr lang="en-US" altLang="en-US" dirty="0"/>
              <a:t>)</a:t>
            </a:r>
          </a:p>
          <a:p>
            <a:r>
              <a:rPr lang="en-US" altLang="en-US" dirty="0"/>
              <a:t>• Geriatric patient. (Chapter 18, </a:t>
            </a:r>
            <a:r>
              <a:rPr lang="en-US" altLang="en-US" i="1" dirty="0"/>
              <a:t>Geriatric Emergencies</a:t>
            </a:r>
            <a:r>
              <a:rPr lang="en-US" altLang="en-US" dirty="0"/>
              <a:t>)</a:t>
            </a:r>
          </a:p>
          <a:p>
            <a:pPr eaLnBrk="1" hangingPunct="1"/>
            <a:endParaRPr lang="en-US" altLang="en-US" dirty="0"/>
          </a:p>
        </p:txBody>
      </p:sp>
    </p:spTree>
    <p:extLst>
      <p:ext uri="{BB962C8B-B14F-4D97-AF65-F5344CB8AC3E}">
        <p14:creationId xmlns:p14="http://schemas.microsoft.com/office/powerpoint/2010/main" val="2093998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0A30C1B4-AAB3-BE44-8C6E-E2DEA73BAC7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4" name="Rectangle 3">
            <a:extLst>
              <a:ext uri="{FF2B5EF4-FFF2-40B4-BE49-F238E27FC236}">
                <a16:creationId xmlns:a16="http://schemas.microsoft.com/office/drawing/2014/main" id="{BD6DF536-A4AC-154A-B5AA-81A6441C6CB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 Introduction.</a:t>
            </a:r>
          </a:p>
          <a:p>
            <a:r>
              <a:rPr lang="en-US" altLang="en-US" dirty="0"/>
              <a:t>A.	EMRs may be called on to assist in birth of a child. </a:t>
            </a:r>
          </a:p>
          <a:p>
            <a:r>
              <a:rPr lang="en-US" altLang="en-US" dirty="0"/>
              <a:t>	1.	If you remember some easy steps, you can effectively assist in birth process and offer comfort and support to both mother and newborn. </a:t>
            </a:r>
          </a:p>
          <a:p>
            <a:r>
              <a:rPr lang="en-US" altLang="en-US" dirty="0"/>
              <a:t>B.	Childbirth is a normal and natural part of life. </a:t>
            </a:r>
          </a:p>
          <a:p>
            <a:r>
              <a:rPr lang="en-US" altLang="en-US" dirty="0"/>
              <a:t>	1.	You may not have time or necessary assistance to transport pregnant woman to hospital.</a:t>
            </a:r>
          </a:p>
          <a:p>
            <a:r>
              <a:rPr lang="en-US" altLang="en-US" dirty="0"/>
              <a:t>	2.	Your part of process involves helping, guiding, and supporting newborn as it is born.</a:t>
            </a:r>
          </a:p>
          <a:p>
            <a:r>
              <a:rPr lang="en-US" altLang="en-US" dirty="0"/>
              <a:t>	3.	Following birth, you should ensure that newborn is breathing adequately and being kept warm. </a:t>
            </a:r>
          </a:p>
          <a:p>
            <a:r>
              <a:rPr lang="en-US" altLang="en-US" dirty="0"/>
              <a:t>C.	There will be times when timing of childbirth catches everyone by surprise or a complication has developed.</a:t>
            </a:r>
          </a:p>
          <a:p>
            <a:r>
              <a:rPr lang="en-US" altLang="en-US" dirty="0"/>
              <a:t>D.	There are two key indicators of an impending birth:</a:t>
            </a:r>
          </a:p>
          <a:p>
            <a:r>
              <a:rPr lang="en-US" altLang="en-US" dirty="0"/>
              <a:t>	1.	Frequency of contractions. </a:t>
            </a:r>
          </a:p>
          <a:p>
            <a:r>
              <a:rPr lang="en-US" altLang="en-US" dirty="0"/>
              <a:t>	2.	Appearance of newborn’s head during a contraction (crowning).</a:t>
            </a:r>
          </a:p>
          <a:p>
            <a:pPr eaLnBrk="1" hangingPunct="1"/>
            <a:endParaRPr lang="en-US" altLang="en-US" dirty="0"/>
          </a:p>
        </p:txBody>
      </p:sp>
    </p:spTree>
    <p:extLst>
      <p:ext uri="{BB962C8B-B14F-4D97-AF65-F5344CB8AC3E}">
        <p14:creationId xmlns:p14="http://schemas.microsoft.com/office/powerpoint/2010/main" val="131417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AECE6973-04D9-5C49-AD2D-231DD7AE684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2" name="Rectangle 3">
            <a:extLst>
              <a:ext uri="{FF2B5EF4-FFF2-40B4-BE49-F238E27FC236}">
                <a16:creationId xmlns:a16="http://schemas.microsoft.com/office/drawing/2014/main" id="{74A79840-32CD-3743-A20C-F61D6177FD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II. Anatomy and Function of Female Reproductive System:</a:t>
            </a:r>
          </a:p>
          <a:p>
            <a:r>
              <a:rPr lang="en-US" altLang="en-US" dirty="0"/>
              <a:t>A.	Major female reproductive organs:</a:t>
            </a:r>
          </a:p>
          <a:p>
            <a:r>
              <a:rPr lang="en-US" altLang="en-US" dirty="0"/>
              <a:t>1.	Ovaries produce eggs.</a:t>
            </a:r>
          </a:p>
          <a:p>
            <a:r>
              <a:rPr lang="en-US" altLang="en-US" dirty="0"/>
              <a:t>	a.	Egg released by the ovaries travels through fallopian tube to uterus.</a:t>
            </a:r>
          </a:p>
          <a:p>
            <a:r>
              <a:rPr lang="en-US" altLang="en-US" dirty="0"/>
              <a:t>2.	The uterus (womb) holds the fertilized egg as it develops during a pregnancy.</a:t>
            </a:r>
          </a:p>
          <a:p>
            <a:r>
              <a:rPr lang="en-US" altLang="en-US" dirty="0"/>
              <a:t>	a.	Developing newborn (fetus) is encased in an amniotic sac for support and floats in amniotic fluid.</a:t>
            </a:r>
          </a:p>
          <a:p>
            <a:r>
              <a:rPr lang="en-US" altLang="en-US" dirty="0"/>
              <a:t>	b.	Placenta, or afterbirth, draws nutrients from wall of uterus.</a:t>
            </a:r>
          </a:p>
          <a:p>
            <a:r>
              <a:rPr lang="en-US" altLang="en-US" dirty="0"/>
              <a:t>	c.	These nutrients and oxygen are delivered to fetus through the umbilical cord.</a:t>
            </a:r>
          </a:p>
          <a:p>
            <a:pPr eaLnBrk="1" hangingPunct="1"/>
            <a:endParaRPr lang="en-US" altLang="en-US" dirty="0"/>
          </a:p>
        </p:txBody>
      </p:sp>
    </p:spTree>
    <p:extLst>
      <p:ext uri="{BB962C8B-B14F-4D97-AF65-F5344CB8AC3E}">
        <p14:creationId xmlns:p14="http://schemas.microsoft.com/office/powerpoint/2010/main" val="2623087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C7FF536F-EFDA-6B4D-AC78-67448E034FE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Rectangle 3">
            <a:extLst>
              <a:ext uri="{FF2B5EF4-FFF2-40B4-BE49-F238E27FC236}">
                <a16:creationId xmlns:a16="http://schemas.microsoft.com/office/drawing/2014/main" id="{CCA041AD-9A99-FE4C-96BC-0C8A1DAD5388}"/>
              </a:ext>
            </a:extLst>
          </p:cNvPr>
          <p:cNvSpPr>
            <a:spLocks noGrp="1"/>
          </p:cNvSpPr>
          <p:nvPr>
            <p:ph type="body" idx="1"/>
          </p:nvPr>
        </p:nvSpPr>
        <p:spPr bwMode="auto"/>
        <p:txBody>
          <a:bodyPr wrap="square" numCol="1" anchor="t" anchorCtr="0" compatLnSpc="1">
            <a:prstTxWarp prst="textNoShape">
              <a:avLst/>
            </a:prstTxWarp>
          </a:bodyPr>
          <a:lstStyle/>
          <a:p>
            <a:pPr marL="228600" indent="-228600">
              <a:buFontTx/>
              <a:buAutoNum type="arabicPeriod" startAt="3"/>
              <a:defRPr/>
            </a:pPr>
            <a:r>
              <a:rPr lang="en-US" altLang="en-US" dirty="0">
                <a:ea typeface="ＭＳ Ｐゴシック" panose="020B0600070205080204" pitchFamily="34" charset="-128"/>
                <a:cs typeface="+mn-cs"/>
              </a:rPr>
              <a:t>External opening of female reproductive system is called birth canal (vagina).</a:t>
            </a:r>
          </a:p>
          <a:p>
            <a:pPr>
              <a:defRPr/>
            </a:pPr>
            <a:endParaRPr lang="en-US" altLang="en-US" dirty="0">
              <a:ea typeface="ＭＳ Ｐゴシック" panose="020B0600070205080204" pitchFamily="34" charset="-128"/>
              <a:cs typeface="+mn-cs"/>
            </a:endParaRPr>
          </a:p>
          <a:p>
            <a:pPr>
              <a:defRPr/>
            </a:pPr>
            <a:r>
              <a:rPr lang="en-US" altLang="en-US" dirty="0">
                <a:ea typeface="ＭＳ Ｐゴシック" panose="020B0600070205080204" pitchFamily="34" charset="-128"/>
                <a:cs typeface="+mn-cs"/>
              </a:rPr>
              <a:t>Figure: Anatomy of a pregnant woman.</a:t>
            </a:r>
          </a:p>
        </p:txBody>
      </p:sp>
    </p:spTree>
    <p:extLst>
      <p:ext uri="{BB962C8B-B14F-4D97-AF65-F5344CB8AC3E}">
        <p14:creationId xmlns:p14="http://schemas.microsoft.com/office/powerpoint/2010/main" val="3290094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C7DF5325-EDC5-1045-B517-38FC1B54817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8" name="Rectangle 3">
            <a:extLst>
              <a:ext uri="{FF2B5EF4-FFF2-40B4-BE49-F238E27FC236}">
                <a16:creationId xmlns:a16="http://schemas.microsoft.com/office/drawing/2014/main" id="{0A4E0FB2-B158-E54B-BAFC-ADE793E0F6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III. Assessing the Birth Situation:</a:t>
            </a:r>
          </a:p>
          <a:p>
            <a:r>
              <a:rPr lang="en-US" altLang="en-US" dirty="0"/>
              <a:t>A.	Stages of labor :</a:t>
            </a:r>
          </a:p>
          <a:p>
            <a:r>
              <a:rPr lang="en-US" altLang="en-US" dirty="0"/>
              <a:t>1.	First stage of labor, pregnant woman’s body prepares for birth.</a:t>
            </a:r>
          </a:p>
          <a:p>
            <a:r>
              <a:rPr lang="en-US" altLang="en-US" dirty="0"/>
              <a:t>	a.	This stage is characterized by following conditions:</a:t>
            </a:r>
          </a:p>
          <a:p>
            <a:r>
              <a:rPr lang="en-US" altLang="en-US" dirty="0"/>
              <a:t>		</a:t>
            </a:r>
            <a:r>
              <a:rPr lang="en-US" altLang="en-US" dirty="0" err="1"/>
              <a:t>i</a:t>
            </a:r>
            <a:r>
              <a:rPr lang="en-US" altLang="en-US" dirty="0"/>
              <a:t>.	Initial contractions occur.</a:t>
            </a:r>
          </a:p>
          <a:p>
            <a:r>
              <a:rPr lang="en-US" altLang="en-US" dirty="0"/>
              <a:t>		ii.	Bag of waters breaks.</a:t>
            </a:r>
          </a:p>
          <a:p>
            <a:r>
              <a:rPr lang="en-US" altLang="en-US" dirty="0"/>
              <a:t>		iii.	Bloody show (mucous plug) occurs.</a:t>
            </a:r>
          </a:p>
          <a:p>
            <a:r>
              <a:rPr lang="en-US" altLang="en-US" dirty="0"/>
              <a:t>		iv.	Newborn’s head does not appear during contractions.</a:t>
            </a:r>
          </a:p>
          <a:p>
            <a:r>
              <a:rPr lang="en-US" altLang="en-US" dirty="0"/>
              <a:t>	b.	Check woman’s vagina to determine whether newborn is crowning.</a:t>
            </a:r>
          </a:p>
          <a:p>
            <a:r>
              <a:rPr lang="en-US" altLang="en-US" dirty="0"/>
              <a:t>	c.	Report your findings to responding ambulance crew.</a:t>
            </a:r>
          </a:p>
          <a:p>
            <a:pPr eaLnBrk="1" hangingPunct="1"/>
            <a:endParaRPr lang="en-US" altLang="en-US" dirty="0"/>
          </a:p>
        </p:txBody>
      </p:sp>
    </p:spTree>
    <p:extLst>
      <p:ext uri="{BB962C8B-B14F-4D97-AF65-F5344CB8AC3E}">
        <p14:creationId xmlns:p14="http://schemas.microsoft.com/office/powerpoint/2010/main" val="1068856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5ED00F2E-7E86-B64E-8EAC-EC5E5D32419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6" name="Rectangle 3">
            <a:extLst>
              <a:ext uri="{FF2B5EF4-FFF2-40B4-BE49-F238E27FC236}">
                <a16:creationId xmlns:a16="http://schemas.microsoft.com/office/drawing/2014/main" id="{3E1DB976-562A-054D-85F9-1DDFE8581B8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2.	Second stage involves birth of newborn.</a:t>
            </a:r>
          </a:p>
          <a:p>
            <a:r>
              <a:rPr lang="en-US" altLang="en-US" dirty="0"/>
              <a:t>	a.	You will see newborn’s head crowning during contractions, at which time you must prepare to assist woman with delivery.</a:t>
            </a:r>
          </a:p>
          <a:p>
            <a:pPr marL="1143000" lvl="2" indent="-228600">
              <a:buFontTx/>
              <a:buAutoNum type="alphaLcPeriod" startAt="2"/>
            </a:pPr>
            <a:r>
              <a:rPr lang="en-US" altLang="en-US" dirty="0"/>
              <a:t> There is no time for transport.</a:t>
            </a:r>
          </a:p>
          <a:p>
            <a:endParaRPr lang="en-US" altLang="en-US" dirty="0"/>
          </a:p>
          <a:p>
            <a:r>
              <a:rPr lang="en-US" altLang="en-US" dirty="0"/>
              <a:t>Figure: Crowning occurs when newborn</a:t>
            </a:r>
            <a:r>
              <a:rPr lang="ja-JP" altLang="en-US"/>
              <a:t>’</a:t>
            </a:r>
            <a:r>
              <a:rPr lang="en-US" altLang="ja-JP" dirty="0"/>
              <a:t>s head appears at vaginal opening.</a:t>
            </a:r>
          </a:p>
          <a:p>
            <a:pPr eaLnBrk="1" hangingPunct="1"/>
            <a:endParaRPr lang="en-US" altLang="en-US" dirty="0"/>
          </a:p>
        </p:txBody>
      </p:sp>
    </p:spTree>
    <p:extLst>
      <p:ext uri="{BB962C8B-B14F-4D97-AF65-F5344CB8AC3E}">
        <p14:creationId xmlns:p14="http://schemas.microsoft.com/office/powerpoint/2010/main" val="4157068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C9668BEC-081E-C04E-BA9D-40738ADB238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4" name="Rectangle 3">
            <a:extLst>
              <a:ext uri="{FF2B5EF4-FFF2-40B4-BE49-F238E27FC236}">
                <a16:creationId xmlns:a16="http://schemas.microsoft.com/office/drawing/2014/main" id="{B3DBDC18-43A0-124F-A8FD-51AA197B98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3.	Third stage involves delivery of placenta (afterbirth).</a:t>
            </a:r>
          </a:p>
          <a:p>
            <a:r>
              <a:rPr lang="en-US" altLang="en-US" dirty="0"/>
              <a:t>	a.	You must assist in stabilizing condition of mother and newborn and delivering placenta.</a:t>
            </a:r>
          </a:p>
          <a:p>
            <a:pPr eaLnBrk="1" hangingPunct="1"/>
            <a:endParaRPr lang="en-US" altLang="en-US" dirty="0"/>
          </a:p>
        </p:txBody>
      </p:sp>
    </p:spTree>
    <p:extLst>
      <p:ext uri="{BB962C8B-B14F-4D97-AF65-F5344CB8AC3E}">
        <p14:creationId xmlns:p14="http://schemas.microsoft.com/office/powerpoint/2010/main" val="19625730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683882D4-0850-7A45-B798-81DC4713F57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2" name="Rectangle 3">
            <a:extLst>
              <a:ext uri="{FF2B5EF4-FFF2-40B4-BE49-F238E27FC236}">
                <a16:creationId xmlns:a16="http://schemas.microsoft.com/office/drawing/2014/main" id="{24D0AEA2-6E90-D54D-8F56-5C46C6D0AA4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B.	Is there time to reach hospital?</a:t>
            </a:r>
          </a:p>
          <a:p>
            <a:r>
              <a:rPr lang="en-US" altLang="en-US" dirty="0"/>
              <a:t>1.	Following questions will help you determine how close pregnant woman is to delivery and whether there is time to transport her to hospital.</a:t>
            </a:r>
          </a:p>
          <a:p>
            <a:r>
              <a:rPr lang="en-US" altLang="en-US" dirty="0"/>
              <a:t>	a.	Is this woman’s first pregnancy?</a:t>
            </a:r>
          </a:p>
          <a:p>
            <a:r>
              <a:rPr lang="en-US" altLang="en-US" dirty="0"/>
              <a:t>		</a:t>
            </a:r>
            <a:r>
              <a:rPr lang="en-US" altLang="en-US" dirty="0" err="1"/>
              <a:t>i</a:t>
            </a:r>
            <a:r>
              <a:rPr lang="en-US" altLang="en-US" dirty="0"/>
              <a:t>.	A woman experiencing her first labor will usually have more time to reach hospital. </a:t>
            </a:r>
          </a:p>
          <a:p>
            <a:r>
              <a:rPr lang="en-US" altLang="en-US" dirty="0"/>
              <a:t>	b.	Has the woman experienced a bloody show?</a:t>
            </a:r>
          </a:p>
          <a:p>
            <a:r>
              <a:rPr lang="en-US" altLang="en-US" dirty="0"/>
              <a:t>		</a:t>
            </a:r>
            <a:r>
              <a:rPr lang="en-US" altLang="en-US" dirty="0" err="1"/>
              <a:t>i</a:t>
            </a:r>
            <a:r>
              <a:rPr lang="en-US" altLang="en-US" dirty="0"/>
              <a:t>.	If yes, first stage of labor is about to begin. </a:t>
            </a:r>
          </a:p>
          <a:p>
            <a:r>
              <a:rPr lang="en-US" altLang="en-US" dirty="0"/>
              <a:t>	c.	Has bag of waters broken?</a:t>
            </a:r>
          </a:p>
          <a:p>
            <a:r>
              <a:rPr lang="en-US" altLang="en-US" dirty="0"/>
              <a:t>		</a:t>
            </a:r>
            <a:r>
              <a:rPr lang="en-US" altLang="en-US" dirty="0" err="1"/>
              <a:t>i</a:t>
            </a:r>
            <a:r>
              <a:rPr lang="en-US" altLang="en-US" dirty="0"/>
              <a:t>.	Bag of waters usually breaks toward end of the first stage of labor and may give some idea of the progress of birth process.</a:t>
            </a:r>
          </a:p>
          <a:p>
            <a:pPr eaLnBrk="1" hangingPunct="1"/>
            <a:endParaRPr lang="en-US" altLang="en-US" dirty="0"/>
          </a:p>
        </p:txBody>
      </p:sp>
    </p:spTree>
    <p:extLst>
      <p:ext uri="{BB962C8B-B14F-4D97-AF65-F5344CB8AC3E}">
        <p14:creationId xmlns:p14="http://schemas.microsoft.com/office/powerpoint/2010/main" val="1438250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CA592302-1BA3-0D4E-B421-5469E407F1B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0" name="Rectangle 3">
            <a:extLst>
              <a:ext uri="{FF2B5EF4-FFF2-40B4-BE49-F238E27FC236}">
                <a16:creationId xmlns:a16="http://schemas.microsoft.com/office/drawing/2014/main" id="{6407019C-C68F-DE43-A69A-2935A7D47A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d.	How frequent are contractions?</a:t>
            </a:r>
          </a:p>
          <a:p>
            <a:r>
              <a:rPr lang="en-US" altLang="en-US" dirty="0"/>
              <a:t>	</a:t>
            </a:r>
            <a:r>
              <a:rPr lang="en-US" altLang="en-US" dirty="0" err="1"/>
              <a:t>i</a:t>
            </a:r>
            <a:r>
              <a:rPr lang="en-US" altLang="en-US" dirty="0"/>
              <a:t>.	If contractions are more than 5 minutes apart, you can usually transport woman to hospital. </a:t>
            </a:r>
          </a:p>
          <a:p>
            <a:r>
              <a:rPr lang="en-US" altLang="en-US" dirty="0"/>
              <a:t>	ii.	Contractions less than 2 minutes apart usually indicate that delivery will occur very soon. </a:t>
            </a:r>
          </a:p>
          <a:p>
            <a:r>
              <a:rPr lang="en-US" altLang="en-US" dirty="0"/>
              <a:t>e.	Does woman feel an urge to move her bowels?</a:t>
            </a:r>
          </a:p>
          <a:p>
            <a:r>
              <a:rPr lang="en-US" altLang="en-US" dirty="0"/>
              <a:t>	</a:t>
            </a:r>
            <a:r>
              <a:rPr lang="en-US" altLang="en-US" dirty="0" err="1"/>
              <a:t>i</a:t>
            </a:r>
            <a:r>
              <a:rPr lang="en-US" altLang="en-US" dirty="0"/>
              <a:t>.	When newborn’s head is in birth canal, it presses against rectum and woman may feel urge to move her bowels.</a:t>
            </a:r>
          </a:p>
          <a:p>
            <a:r>
              <a:rPr lang="en-US" altLang="en-US" dirty="0"/>
              <a:t>	ii.	Do not allow her to go to toilet.</a:t>
            </a:r>
          </a:p>
          <a:p>
            <a:r>
              <a:rPr lang="en-US" altLang="en-US" dirty="0"/>
              <a:t>	iii.	This urge is an indication that delivery is imminent. </a:t>
            </a:r>
          </a:p>
          <a:p>
            <a:pPr eaLnBrk="1" hangingPunct="1"/>
            <a:endParaRPr lang="en-US" altLang="en-US" dirty="0"/>
          </a:p>
        </p:txBody>
      </p:sp>
    </p:spTree>
    <p:extLst>
      <p:ext uri="{BB962C8B-B14F-4D97-AF65-F5344CB8AC3E}">
        <p14:creationId xmlns:p14="http://schemas.microsoft.com/office/powerpoint/2010/main" val="29669035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DD8C6296-5D0F-5240-BF25-2842067F0F3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8" name="Rectangle 3">
            <a:extLst>
              <a:ext uri="{FF2B5EF4-FFF2-40B4-BE49-F238E27FC236}">
                <a16:creationId xmlns:a16="http://schemas.microsoft.com/office/drawing/2014/main" id="{756FC915-9FDE-C749-BB98-54010939117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f.	Is newborn’s head crowning?</a:t>
            </a:r>
          </a:p>
          <a:p>
            <a:r>
              <a:rPr lang="en-US" altLang="en-US" dirty="0"/>
              <a:t>	</a:t>
            </a:r>
            <a:r>
              <a:rPr lang="en-US" altLang="en-US" dirty="0" err="1"/>
              <a:t>i</a:t>
            </a:r>
            <a:r>
              <a:rPr lang="en-US" altLang="en-US" dirty="0"/>
              <a:t>.	Crowning indicates that newborn will be born in next few minutes. </a:t>
            </a:r>
          </a:p>
          <a:p>
            <a:r>
              <a:rPr lang="en-US" altLang="en-US" dirty="0"/>
              <a:t>g.	Is transportation available?</a:t>
            </a:r>
          </a:p>
          <a:p>
            <a:r>
              <a:rPr lang="en-US" altLang="en-US" dirty="0"/>
              <a:t>	</a:t>
            </a:r>
            <a:r>
              <a:rPr lang="en-US" altLang="en-US" dirty="0" err="1"/>
              <a:t>i</a:t>
            </a:r>
            <a:r>
              <a:rPr lang="en-US" altLang="en-US" dirty="0"/>
              <a:t>.	Is ambulance responding?</a:t>
            </a:r>
          </a:p>
          <a:p>
            <a:r>
              <a:rPr lang="en-US" altLang="en-US" dirty="0"/>
              <a:t>	ii.	How far is it to hospital?</a:t>
            </a:r>
          </a:p>
          <a:p>
            <a:r>
              <a:rPr lang="en-US" altLang="en-US" dirty="0"/>
              <a:t>	iii.	Will bad weather, a natural disaster, or traffic prevent prompt arrival of transportation?</a:t>
            </a:r>
          </a:p>
          <a:p>
            <a:pPr eaLnBrk="1" hangingPunct="1"/>
            <a:endParaRPr lang="en-US" altLang="en-US" dirty="0"/>
          </a:p>
        </p:txBody>
      </p:sp>
    </p:spTree>
    <p:extLst>
      <p:ext uri="{BB962C8B-B14F-4D97-AF65-F5344CB8AC3E}">
        <p14:creationId xmlns:p14="http://schemas.microsoft.com/office/powerpoint/2010/main" val="39498685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45210DB0-D87F-BF4B-B9B3-44F303474E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Rectangle 3">
            <a:extLst>
              <a:ext uri="{FF2B5EF4-FFF2-40B4-BE49-F238E27FC236}">
                <a16:creationId xmlns:a16="http://schemas.microsoft.com/office/drawing/2014/main" id="{965102C2-C56E-3D4E-8913-A7C74DE71F5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C.	Timing contraction cycles.</a:t>
            </a:r>
          </a:p>
          <a:p>
            <a:r>
              <a:rPr lang="en-US" altLang="en-US" dirty="0"/>
              <a:t>1.	Time contraction cycles from beginning of one contraction to beginning of next. </a:t>
            </a:r>
          </a:p>
          <a:p>
            <a:r>
              <a:rPr lang="en-US" altLang="en-US" dirty="0"/>
              <a:t>2.	If contractions are less than 3 minutes apart, delivery is close. </a:t>
            </a:r>
          </a:p>
          <a:p>
            <a:pPr eaLnBrk="1" hangingPunct="1"/>
            <a:endParaRPr lang="en-US" altLang="en-US" dirty="0"/>
          </a:p>
          <a:p>
            <a:r>
              <a:rPr lang="en-US" altLang="en-US" dirty="0"/>
              <a:t>Figure: Time contractions from beginning of one to beginning of next.</a:t>
            </a:r>
          </a:p>
        </p:txBody>
      </p:sp>
    </p:spTree>
    <p:extLst>
      <p:ext uri="{BB962C8B-B14F-4D97-AF65-F5344CB8AC3E}">
        <p14:creationId xmlns:p14="http://schemas.microsoft.com/office/powerpoint/2010/main" val="36165015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26C5346B-E258-0F40-9550-B5F47F6A7F2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4" name="Rectangle 3">
            <a:extLst>
              <a:ext uri="{FF2B5EF4-FFF2-40B4-BE49-F238E27FC236}">
                <a16:creationId xmlns:a16="http://schemas.microsoft.com/office/drawing/2014/main" id="{D627AE10-C1FE-B445-BB06-A4D5BE50B41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D.	Detecting crowning.</a:t>
            </a:r>
          </a:p>
          <a:p>
            <a:r>
              <a:rPr lang="en-US" altLang="en-US" dirty="0"/>
              <a:t>1.	Observe vaginal opening during a contraction.</a:t>
            </a:r>
          </a:p>
          <a:p>
            <a:r>
              <a:rPr lang="en-US" altLang="en-US" dirty="0"/>
              <a:t>2.	If you see head crowning during contraction, prepare for delivery. </a:t>
            </a:r>
          </a:p>
          <a:p>
            <a:r>
              <a:rPr lang="en-US" altLang="en-US" dirty="0"/>
              <a:t>3.	Do not risk transporting woman to hospital if child’s head is crowning.</a:t>
            </a:r>
          </a:p>
          <a:p>
            <a:pPr eaLnBrk="1" hangingPunct="1"/>
            <a:endParaRPr lang="en-US" altLang="en-US" dirty="0"/>
          </a:p>
        </p:txBody>
      </p:sp>
    </p:spTree>
    <p:extLst>
      <p:ext uri="{BB962C8B-B14F-4D97-AF65-F5344CB8AC3E}">
        <p14:creationId xmlns:p14="http://schemas.microsoft.com/office/powerpoint/2010/main" val="6941975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2174BC6D-0EBF-C84A-AB67-803A2A83E85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2" name="Rectangle 3">
            <a:extLst>
              <a:ext uri="{FF2B5EF4-FFF2-40B4-BE49-F238E27FC236}">
                <a16:creationId xmlns:a16="http://schemas.microsoft.com/office/drawing/2014/main" id="{757082B7-D59A-544D-8913-A17BEDE7B6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E.	Preparing for delivery:</a:t>
            </a:r>
          </a:p>
          <a:p>
            <a:r>
              <a:rPr lang="en-US" altLang="en-US" dirty="0"/>
              <a:t>1.	As you prepare to assist patient in delivery, keep two things in mind:</a:t>
            </a:r>
          </a:p>
          <a:p>
            <a:r>
              <a:rPr lang="en-US" altLang="en-US" dirty="0"/>
              <a:t>	a.	Calm woman—delivery is a natural process. </a:t>
            </a:r>
          </a:p>
          <a:p>
            <a:r>
              <a:rPr lang="en-US" altLang="en-US" dirty="0"/>
              <a:t>	b.	Calm yourself—you are there to help. </a:t>
            </a:r>
          </a:p>
          <a:p>
            <a:pPr eaLnBrk="1" hangingPunct="1"/>
            <a:endParaRPr lang="en-US" altLang="en-US" dirty="0"/>
          </a:p>
        </p:txBody>
      </p:sp>
    </p:spTree>
    <p:extLst>
      <p:ext uri="{BB962C8B-B14F-4D97-AF65-F5344CB8AC3E}">
        <p14:creationId xmlns:p14="http://schemas.microsoft.com/office/powerpoint/2010/main" val="2574717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C209A53F-9262-6642-AACF-3BC42B9032F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0" name="Rectangle 3">
            <a:extLst>
              <a:ext uri="{FF2B5EF4-FFF2-40B4-BE49-F238E27FC236}">
                <a16:creationId xmlns:a16="http://schemas.microsoft.com/office/drawing/2014/main" id="{6D0976B6-A549-534D-808D-226A01DF8D7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2.	You will not be able to maintain sterile conditions, but you must attempt to be as clean as possible.</a:t>
            </a:r>
          </a:p>
          <a:p>
            <a:r>
              <a:rPr lang="en-US" altLang="en-US" dirty="0"/>
              <a:t>	a.	Wash your hands thoroughly.</a:t>
            </a:r>
          </a:p>
          <a:p>
            <a:r>
              <a:rPr lang="en-US" altLang="en-US" dirty="0"/>
              <a:t>	b.	If you do not have a sterile delivery kit, use gloves from your EMR life support kit.</a:t>
            </a:r>
          </a:p>
          <a:p>
            <a:r>
              <a:rPr lang="en-US" altLang="en-US" dirty="0"/>
              <a:t>	c.	Have plenty of clean towels ready to cover newborn and to clean mother.</a:t>
            </a:r>
          </a:p>
          <a:p>
            <a:pPr eaLnBrk="1" hangingPunct="1"/>
            <a:endParaRPr lang="en-US" altLang="en-US" dirty="0"/>
          </a:p>
        </p:txBody>
      </p:sp>
    </p:spTree>
    <p:extLst>
      <p:ext uri="{BB962C8B-B14F-4D97-AF65-F5344CB8AC3E}">
        <p14:creationId xmlns:p14="http://schemas.microsoft.com/office/powerpoint/2010/main" val="10677053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457D05A1-DBE3-D345-8756-D892FF3B95F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8" name="Rectangle 3">
            <a:extLst>
              <a:ext uri="{FF2B5EF4-FFF2-40B4-BE49-F238E27FC236}">
                <a16:creationId xmlns:a16="http://schemas.microsoft.com/office/drawing/2014/main" id="{F2AF6B1D-2F66-E940-9FB1-B23838D9921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3.	Place patient on a firm surface that is padded with blankets, folded sheets, or towels.</a:t>
            </a:r>
          </a:p>
          <a:p>
            <a:r>
              <a:rPr lang="en-US" altLang="en-US" dirty="0"/>
              <a:t>4.	Elevate patient’s hips 2" to 4" with pillows and blankets. </a:t>
            </a:r>
          </a:p>
          <a:p>
            <a:r>
              <a:rPr lang="en-US" altLang="en-US" dirty="0"/>
              <a:t>5.	Place woman in a comfortable position.</a:t>
            </a:r>
          </a:p>
          <a:p>
            <a:r>
              <a:rPr lang="en-US" altLang="en-US" dirty="0"/>
              <a:t>	a.	This is often on her back with knees bent and feet flat on surface beneath her.</a:t>
            </a:r>
          </a:p>
          <a:p>
            <a:pPr eaLnBrk="1" hangingPunct="1"/>
            <a:endParaRPr lang="en-US" altLang="en-US" dirty="0"/>
          </a:p>
        </p:txBody>
      </p:sp>
    </p:spTree>
    <p:extLst>
      <p:ext uri="{BB962C8B-B14F-4D97-AF65-F5344CB8AC3E}">
        <p14:creationId xmlns:p14="http://schemas.microsoft.com/office/powerpoint/2010/main" val="22769719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1F74339A-04F7-C24B-9CA9-D6833747D0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6" name="Rectangle 3">
            <a:extLst>
              <a:ext uri="{FF2B5EF4-FFF2-40B4-BE49-F238E27FC236}">
                <a16:creationId xmlns:a16="http://schemas.microsoft.com/office/drawing/2014/main" id="{932CBD2B-D9B7-0743-8FB1-4D8E3346EB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IV. Standard Precautions and Childbirth:</a:t>
            </a:r>
          </a:p>
          <a:p>
            <a:r>
              <a:rPr lang="en-US" altLang="en-US" dirty="0"/>
              <a:t>A.	Because a woman in childbirth will expel both blood and body fluids, use standard precautions during delivery.</a:t>
            </a:r>
          </a:p>
          <a:p>
            <a:r>
              <a:rPr lang="en-US" altLang="en-US" dirty="0"/>
              <a:t>1.	Try not to get any more blood or fluids on you than is absolutely necessary. </a:t>
            </a:r>
            <a:endParaRPr lang="en-US" altLang="en-US" b="1" dirty="0"/>
          </a:p>
          <a:p>
            <a:r>
              <a:rPr lang="en-US" altLang="en-US" dirty="0"/>
              <a:t>2.	Use sterile gloves whenever possible.</a:t>
            </a:r>
          </a:p>
          <a:p>
            <a:r>
              <a:rPr lang="en-US" altLang="en-US" dirty="0"/>
              <a:t>	a.	Follow steps in Skill Drill 16-1 to put on sterile gloves.</a:t>
            </a:r>
          </a:p>
          <a:p>
            <a:r>
              <a:rPr lang="en-US" altLang="en-US" dirty="0"/>
              <a:t>3.	Because fluids can splatter on your face during delivery process, wear face and eye protection.</a:t>
            </a:r>
          </a:p>
          <a:p>
            <a:r>
              <a:rPr lang="en-US" altLang="en-US" dirty="0"/>
              <a:t>4.	Wearing a surgical gown can help keep fluids off your body.</a:t>
            </a:r>
          </a:p>
          <a:p>
            <a:pPr eaLnBrk="1" hangingPunct="1"/>
            <a:endParaRPr lang="en-US" altLang="en-US" dirty="0"/>
          </a:p>
        </p:txBody>
      </p:sp>
    </p:spTree>
    <p:extLst>
      <p:ext uri="{BB962C8B-B14F-4D97-AF65-F5344CB8AC3E}">
        <p14:creationId xmlns:p14="http://schemas.microsoft.com/office/powerpoint/2010/main" val="7963740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1143734E-886E-A140-B423-4E14BFDC069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4" name="Rectangle 3">
            <a:extLst>
              <a:ext uri="{FF2B5EF4-FFF2-40B4-BE49-F238E27FC236}">
                <a16:creationId xmlns:a16="http://schemas.microsoft.com/office/drawing/2014/main" id="{18142053-EC6E-9545-B541-3279F6EF72B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V. Equipment</a:t>
            </a:r>
          </a:p>
          <a:p>
            <a:r>
              <a:rPr lang="en-US" altLang="en-US" dirty="0"/>
              <a:t>A.	Your emergency care equipment should include a prepackaged obstetric (OB) delivery kit, which includes:</a:t>
            </a:r>
          </a:p>
          <a:p>
            <a:r>
              <a:rPr lang="en-US" altLang="en-US" dirty="0"/>
              <a:t>	1.	Sterile gloves.</a:t>
            </a:r>
          </a:p>
          <a:p>
            <a:r>
              <a:rPr lang="en-US" altLang="en-US" dirty="0"/>
              <a:t>	2.	Umbilical cord clamp.</a:t>
            </a:r>
          </a:p>
          <a:p>
            <a:pPr eaLnBrk="1" hangingPunct="1"/>
            <a:endParaRPr lang="en-US" altLang="en-US" dirty="0"/>
          </a:p>
          <a:p>
            <a:pPr eaLnBrk="1" hangingPunct="1"/>
            <a:r>
              <a:rPr lang="en-US" altLang="en-US" dirty="0"/>
              <a:t>Figure: </a:t>
            </a:r>
            <a:r>
              <a:rPr lang="fr-FR" altLang="en-US" dirty="0"/>
              <a:t>Commercial </a:t>
            </a:r>
            <a:r>
              <a:rPr lang="fr-FR" altLang="en-US" dirty="0" err="1"/>
              <a:t>obstetric</a:t>
            </a:r>
            <a:r>
              <a:rPr lang="fr-FR" altLang="en-US" dirty="0"/>
              <a:t> (OB) kit.</a:t>
            </a:r>
            <a:endParaRPr lang="en-US" altLang="en-US" dirty="0"/>
          </a:p>
        </p:txBody>
      </p:sp>
    </p:spTree>
    <p:extLst>
      <p:ext uri="{BB962C8B-B14F-4D97-AF65-F5344CB8AC3E}">
        <p14:creationId xmlns:p14="http://schemas.microsoft.com/office/powerpoint/2010/main" val="39169968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309F3871-A2AF-E840-9ED4-52B7CBCA6E0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Rectangle 3">
            <a:extLst>
              <a:ext uri="{FF2B5EF4-FFF2-40B4-BE49-F238E27FC236}">
                <a16:creationId xmlns:a16="http://schemas.microsoft.com/office/drawing/2014/main" id="{F8D71858-4C74-654C-8E92-1C5A4509700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3.	Sterile drapes and towels.</a:t>
            </a:r>
          </a:p>
          <a:p>
            <a:r>
              <a:rPr lang="en-US" altLang="en-US" dirty="0"/>
              <a:t>	4.	Sanitary pads.</a:t>
            </a:r>
          </a:p>
          <a:p>
            <a:r>
              <a:rPr lang="en-US" altLang="en-US" dirty="0"/>
              <a:t>	5.	4" </a:t>
            </a:r>
            <a:r>
              <a:rPr lang="en-US" altLang="en-US" dirty="0">
                <a:sym typeface="Symbol" pitchFamily="2" charset="2"/>
              </a:rPr>
              <a:t></a:t>
            </a:r>
            <a:r>
              <a:rPr lang="en-US" altLang="en-US" dirty="0"/>
              <a:t> 4" gauze pads.</a:t>
            </a:r>
          </a:p>
          <a:p>
            <a:r>
              <a:rPr lang="en-US" altLang="en-US" dirty="0"/>
              <a:t>	6.	Towel or blanket for newborn.</a:t>
            </a:r>
          </a:p>
          <a:p>
            <a:r>
              <a:rPr lang="en-US" altLang="en-US" dirty="0"/>
              <a:t>	7.	Bulb syringe.</a:t>
            </a:r>
          </a:p>
          <a:p>
            <a:r>
              <a:rPr lang="en-US" altLang="en-US" dirty="0"/>
              <a:t>	8.	Plastic placenta bag.</a:t>
            </a:r>
          </a:p>
          <a:p>
            <a:pPr eaLnBrk="1" hangingPunct="1"/>
            <a:endParaRPr lang="en-US" altLang="en-US" dirty="0"/>
          </a:p>
        </p:txBody>
      </p:sp>
    </p:spTree>
    <p:extLst>
      <p:ext uri="{BB962C8B-B14F-4D97-AF65-F5344CB8AC3E}">
        <p14:creationId xmlns:p14="http://schemas.microsoft.com/office/powerpoint/2010/main" val="4834051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6A2A5CDE-FA33-6149-A69F-04EBAB3C3C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0" name="Rectangle 3">
            <a:extLst>
              <a:ext uri="{FF2B5EF4-FFF2-40B4-BE49-F238E27FC236}">
                <a16:creationId xmlns:a16="http://schemas.microsoft.com/office/drawing/2014/main" id="{0C2AF177-03C1-D94D-A966-722416A2E4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B.	You will also need the following items: </a:t>
            </a:r>
          </a:p>
          <a:p>
            <a:r>
              <a:rPr lang="en-US" altLang="en-US" dirty="0"/>
              <a:t>	1.	Sheets or towels for mother.</a:t>
            </a:r>
          </a:p>
          <a:p>
            <a:r>
              <a:rPr lang="en-US" altLang="en-US" dirty="0"/>
              <a:t>	2.	Suction (if available).</a:t>
            </a:r>
          </a:p>
          <a:p>
            <a:r>
              <a:rPr lang="en-US" altLang="en-US" dirty="0"/>
              <a:t>	3.	Oxygen (if available and if you are trained to use it).</a:t>
            </a:r>
          </a:p>
          <a:p>
            <a:r>
              <a:rPr lang="en-US" altLang="en-US" dirty="0"/>
              <a:t>	4.	Newborn-sized face mask. </a:t>
            </a:r>
          </a:p>
          <a:p>
            <a:r>
              <a:rPr lang="en-US" altLang="en-US" dirty="0"/>
              <a:t>C.	If you do not have a delivery kit, look for appropriate substitute materials.</a:t>
            </a:r>
          </a:p>
        </p:txBody>
      </p:sp>
    </p:spTree>
    <p:extLst>
      <p:ext uri="{BB962C8B-B14F-4D97-AF65-F5344CB8AC3E}">
        <p14:creationId xmlns:p14="http://schemas.microsoft.com/office/powerpoint/2010/main" val="24036022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1FCE39F8-34AD-234F-817D-4A3250F6D61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8" name="Rectangle 3">
            <a:extLst>
              <a:ext uri="{FF2B5EF4-FFF2-40B4-BE49-F238E27FC236}">
                <a16:creationId xmlns:a16="http://schemas.microsoft.com/office/drawing/2014/main" id="{054CF5CB-666F-764E-B360-5959B2ABE04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VI. Assisting With Delivery:</a:t>
            </a:r>
          </a:p>
          <a:p>
            <a:r>
              <a:rPr lang="en-US" altLang="en-US" dirty="0"/>
              <a:t>A.	Two lives to be considered in this situation: life of mother and life of newborn.</a:t>
            </a:r>
          </a:p>
          <a:p>
            <a:r>
              <a:rPr lang="en-US" altLang="en-US" dirty="0"/>
              <a:t>	1.	Do not neglect to perform a patient assessment on woman.</a:t>
            </a:r>
          </a:p>
          <a:p>
            <a:r>
              <a:rPr lang="en-US" altLang="en-US" dirty="0"/>
              <a:t>		a.	Determine whether she has any medical conditions.</a:t>
            </a:r>
          </a:p>
          <a:p>
            <a:r>
              <a:rPr lang="en-US" altLang="en-US" dirty="0"/>
              <a:t>		b.	Obtain a baseline set of vital signs and repeat them at least every 15 minutes.</a:t>
            </a:r>
          </a:p>
          <a:p>
            <a:r>
              <a:rPr lang="en-US" altLang="en-US" dirty="0"/>
              <a:t>		c.	Throughout delivery process, continue to monitor woman’s ABCs.</a:t>
            </a:r>
          </a:p>
          <a:p>
            <a:r>
              <a:rPr lang="en-US" altLang="en-US" dirty="0"/>
              <a:t>	2.	Your primary purpose is to assist in delivery of newborn.</a:t>
            </a:r>
          </a:p>
          <a:p>
            <a:r>
              <a:rPr lang="en-US" altLang="en-US" dirty="0"/>
              <a:t>		a.	Do not let woman go to bathroom and do not hold her legs together.</a:t>
            </a:r>
          </a:p>
          <a:p>
            <a:endParaRPr lang="en-US" altLang="en-US" dirty="0"/>
          </a:p>
          <a:p>
            <a:r>
              <a:rPr lang="en-US" altLang="en-US" dirty="0"/>
              <a:t>B.	Be as clean as possible during the entire delivery process.</a:t>
            </a:r>
          </a:p>
          <a:p>
            <a:r>
              <a:rPr lang="en-US" altLang="en-US" dirty="0"/>
              <a:t>	1.	Do not touch the vaginal area except during the delivery.</a:t>
            </a:r>
            <a:endParaRPr lang="en-US" altLang="en-US" b="1" dirty="0"/>
          </a:p>
          <a:p>
            <a:pPr eaLnBrk="1" hangingPunct="1"/>
            <a:endParaRPr lang="en-US" altLang="en-US" dirty="0"/>
          </a:p>
        </p:txBody>
      </p:sp>
    </p:spTree>
    <p:extLst>
      <p:ext uri="{BB962C8B-B14F-4D97-AF65-F5344CB8AC3E}">
        <p14:creationId xmlns:p14="http://schemas.microsoft.com/office/powerpoint/2010/main" val="16479741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1334DB4-C849-F844-A444-7B282EE87C8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6" name="Rectangle 3">
            <a:extLst>
              <a:ext uri="{FF2B5EF4-FFF2-40B4-BE49-F238E27FC236}">
                <a16:creationId xmlns:a16="http://schemas.microsoft.com/office/drawing/2014/main" id="{50FECCB7-174E-7744-87DA-90D0C53D70A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C.	Newborn’s head should emerge slowly to prevent undue stress on newborn and tearing of vaginal tissues.</a:t>
            </a:r>
          </a:p>
          <a:p>
            <a:r>
              <a:rPr lang="en-US" altLang="en-US" dirty="0"/>
              <a:t>	1.	As head emerges, support newborn’s head and tell woman to stop pushing.</a:t>
            </a:r>
            <a:endParaRPr lang="en-US" altLang="en-US" b="1" dirty="0"/>
          </a:p>
          <a:p>
            <a:r>
              <a:rPr lang="en-US" altLang="en-US" dirty="0"/>
              <a:t>	2.	Do not attempt to pull newborn during delivery.</a:t>
            </a:r>
            <a:endParaRPr lang="en-US" altLang="en-US" b="1" dirty="0"/>
          </a:p>
          <a:p>
            <a:pPr eaLnBrk="1" hangingPunct="1"/>
            <a:endParaRPr lang="en-US" altLang="en-US" dirty="0"/>
          </a:p>
        </p:txBody>
      </p:sp>
    </p:spTree>
    <p:extLst>
      <p:ext uri="{BB962C8B-B14F-4D97-AF65-F5344CB8AC3E}">
        <p14:creationId xmlns:p14="http://schemas.microsoft.com/office/powerpoint/2010/main" val="40625466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B01934E1-2D20-0747-8890-9A371F7EB42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4" name="Rectangle 3">
            <a:extLst>
              <a:ext uri="{FF2B5EF4-FFF2-40B4-BE49-F238E27FC236}">
                <a16:creationId xmlns:a16="http://schemas.microsoft.com/office/drawing/2014/main" id="{1FF473CC-3882-D24C-BDA4-A4A9B0FB48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a.	In a normal birth, newborn will turn to its side by itself after head emerges and rest of body will be delivered spontaneously.</a:t>
            </a:r>
          </a:p>
          <a:p>
            <a:r>
              <a:rPr lang="en-US" altLang="en-US" dirty="0"/>
              <a:t>		b.	Newborn will be wet and slippery.</a:t>
            </a:r>
          </a:p>
          <a:p>
            <a:r>
              <a:rPr lang="en-US" altLang="en-US" dirty="0"/>
              <a:t>		c.	Keep newborn’s head at about level of woman’s vagina.</a:t>
            </a:r>
          </a:p>
          <a:p>
            <a:pPr eaLnBrk="1" hangingPunct="1"/>
            <a:endParaRPr lang="en-US" altLang="en-US" dirty="0"/>
          </a:p>
        </p:txBody>
      </p:sp>
    </p:spTree>
    <p:extLst>
      <p:ext uri="{BB962C8B-B14F-4D97-AF65-F5344CB8AC3E}">
        <p14:creationId xmlns:p14="http://schemas.microsoft.com/office/powerpoint/2010/main" val="19555287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AE31FBC7-3180-1648-8D84-ED340FDD028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2" name="Rectangle 3">
            <a:extLst>
              <a:ext uri="{FF2B5EF4-FFF2-40B4-BE49-F238E27FC236}">
                <a16:creationId xmlns:a16="http://schemas.microsoft.com/office/drawing/2014/main" id="{89C914B6-8581-FF41-99C4-C780B2A900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Figure: Phases of second stage of labor. </a:t>
            </a:r>
            <a:r>
              <a:rPr lang="en-US" altLang="en-US" b="1" dirty="0"/>
              <a:t>(Top left) </a:t>
            </a:r>
            <a:r>
              <a:rPr lang="en-US" altLang="en-US" dirty="0"/>
              <a:t>Head begins to deliver. </a:t>
            </a:r>
            <a:r>
              <a:rPr lang="en-US" altLang="en-US" b="1" dirty="0"/>
              <a:t>(Top right) </a:t>
            </a:r>
            <a:r>
              <a:rPr lang="en-US" altLang="en-US" dirty="0"/>
              <a:t>Delivery of head. </a:t>
            </a:r>
            <a:r>
              <a:rPr lang="en-US" altLang="en-US" b="1" dirty="0"/>
              <a:t>(Bottom left) </a:t>
            </a:r>
            <a:r>
              <a:rPr lang="en-US" altLang="en-US" dirty="0"/>
              <a:t>Delivery of upper shoulder. </a:t>
            </a:r>
            <a:r>
              <a:rPr lang="en-US" altLang="en-US" b="1" dirty="0"/>
              <a:t>(Bottom right) </a:t>
            </a:r>
            <a:r>
              <a:rPr lang="en-US" altLang="en-US" dirty="0"/>
              <a:t>Delivery of lower shoulder.</a:t>
            </a:r>
          </a:p>
        </p:txBody>
      </p:sp>
    </p:spTree>
    <p:extLst>
      <p:ext uri="{BB962C8B-B14F-4D97-AF65-F5344CB8AC3E}">
        <p14:creationId xmlns:p14="http://schemas.microsoft.com/office/powerpoint/2010/main" val="2731361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90745FE9-8013-BE43-9EAB-4EFDC6B9425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0" name="Rectangle 3">
            <a:extLst>
              <a:ext uri="{FF2B5EF4-FFF2-40B4-BE49-F238E27FC236}">
                <a16:creationId xmlns:a16="http://schemas.microsoft.com/office/drawing/2014/main" id="{B02391C2-2DA2-4A4E-B916-C0511775C9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3.	If amniotic sac has not broken, tear it with your fingers and push it away from newborn’s head and mouth. </a:t>
            </a:r>
            <a:endParaRPr lang="en-US" altLang="en-US" b="1" dirty="0"/>
          </a:p>
          <a:p>
            <a:r>
              <a:rPr lang="en-US" altLang="en-US" dirty="0"/>
              <a:t>4.	If umbilical cord is wrapped around newborn’s neck, attempt to slip cord over newborn’s head.</a:t>
            </a:r>
            <a:endParaRPr lang="en-US" altLang="en-US" b="1" dirty="0"/>
          </a:p>
          <a:p>
            <a:r>
              <a:rPr lang="en-US" altLang="en-US" dirty="0"/>
              <a:t>	a.	If you cannot disentangle newborn from umbilical cord, attempt to reduce pressure on cord.</a:t>
            </a:r>
            <a:endParaRPr lang="en-US" altLang="en-US" b="1" dirty="0"/>
          </a:p>
          <a:p>
            <a:r>
              <a:rPr lang="en-US" altLang="en-US" dirty="0"/>
              <a:t>	b.	Never pull on umbilical cord; it is extremely fragile.</a:t>
            </a:r>
            <a:endParaRPr lang="en-US" altLang="en-US" b="1" dirty="0"/>
          </a:p>
          <a:p>
            <a:pPr eaLnBrk="1" hangingPunct="1"/>
            <a:endParaRPr lang="en-US" altLang="en-US" dirty="0"/>
          </a:p>
        </p:txBody>
      </p:sp>
    </p:spTree>
    <p:extLst>
      <p:ext uri="{BB962C8B-B14F-4D97-AF65-F5344CB8AC3E}">
        <p14:creationId xmlns:p14="http://schemas.microsoft.com/office/powerpoint/2010/main" val="8638120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DC8A0880-5EC0-3048-9BB7-2BE6379DF5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8" name="Rectangle 3">
            <a:extLst>
              <a:ext uri="{FF2B5EF4-FFF2-40B4-BE49-F238E27FC236}">
                <a16:creationId xmlns:a16="http://schemas.microsoft.com/office/drawing/2014/main" id="{0503749E-A647-D644-8C1E-2ACE0F60080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D.	Caring for newborn.</a:t>
            </a:r>
          </a:p>
          <a:p>
            <a:r>
              <a:rPr lang="en-US" altLang="en-US" dirty="0"/>
              <a:t>1.	Clear newborn’s mouth and nose. </a:t>
            </a:r>
          </a:p>
          <a:p>
            <a:r>
              <a:rPr lang="en-US" altLang="en-US" dirty="0"/>
              <a:t>	a.	Use a bulb syringe if one is available.</a:t>
            </a:r>
          </a:p>
          <a:p>
            <a:r>
              <a:rPr lang="en-US" altLang="en-US" dirty="0"/>
              <a:t>	b.	Suction mouth first and then nostrils two to three times until they are clear.</a:t>
            </a:r>
          </a:p>
          <a:p>
            <a:r>
              <a:rPr lang="en-US" altLang="en-US" dirty="0"/>
              <a:t>	c.	If a bulb syringe is not available, wipe newborn’s mouth and nose with a gauze pad. </a:t>
            </a:r>
          </a:p>
          <a:p>
            <a:r>
              <a:rPr lang="en-US" altLang="en-US" dirty="0"/>
              <a:t>2.	Place newborn on mother’s abdomen to keep newborn from losing too much warmth. </a:t>
            </a:r>
          </a:p>
          <a:p>
            <a:pPr eaLnBrk="1" hangingPunct="1"/>
            <a:endParaRPr lang="en-US" altLang="en-US" dirty="0"/>
          </a:p>
        </p:txBody>
      </p:sp>
    </p:spTree>
    <p:extLst>
      <p:ext uri="{BB962C8B-B14F-4D97-AF65-F5344CB8AC3E}">
        <p14:creationId xmlns:p14="http://schemas.microsoft.com/office/powerpoint/2010/main" val="25959948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80BF271A-E7E2-EB4C-9598-510A7F10402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6" name="Rectangle 3">
            <a:extLst>
              <a:ext uri="{FF2B5EF4-FFF2-40B4-BE49-F238E27FC236}">
                <a16:creationId xmlns:a16="http://schemas.microsoft.com/office/drawing/2014/main" id="{0AFE403B-1D96-E348-9383-72B7E44EBA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Figure: Suction mouth and nose to clear airway of mucus and amniotic fluid. Use a bulb syringe in a newborn ’s mouth first, then use bulb syringe to suction newborn’s nose.</a:t>
            </a:r>
          </a:p>
        </p:txBody>
      </p:sp>
    </p:spTree>
    <p:extLst>
      <p:ext uri="{BB962C8B-B14F-4D97-AF65-F5344CB8AC3E}">
        <p14:creationId xmlns:p14="http://schemas.microsoft.com/office/powerpoint/2010/main" val="41562173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C49FB5E8-D271-2D4D-9CD0-21A18629BC5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4" name="Rectangle 3">
            <a:extLst>
              <a:ext uri="{FF2B5EF4-FFF2-40B4-BE49-F238E27FC236}">
                <a16:creationId xmlns:a16="http://schemas.microsoft.com/office/drawing/2014/main" id="{9AAB9BC1-64CF-B347-879C-519F2AD9EAF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3.	If newborn is not breathing, suction mouth and nose again. </a:t>
            </a:r>
          </a:p>
          <a:p>
            <a:r>
              <a:rPr lang="en-US" altLang="en-US" dirty="0"/>
              <a:t>	a.	Rub newborn’s back or flick soles of newborn’s feet to stimulate breathing.</a:t>
            </a:r>
          </a:p>
          <a:p>
            <a:r>
              <a:rPr lang="en-US" altLang="en-US" dirty="0"/>
              <a:t>4.	Use a towel to dry newborn, and then wrap newborn in a blanket to keep him or her warm. </a:t>
            </a:r>
          </a:p>
          <a:p>
            <a:pPr eaLnBrk="1" hangingPunct="1"/>
            <a:endParaRPr lang="en-US" altLang="en-US" dirty="0"/>
          </a:p>
          <a:p>
            <a:pPr eaLnBrk="1" hangingPunct="1"/>
            <a:r>
              <a:rPr lang="en-US" altLang="en-US" dirty="0"/>
              <a:t>Figure: Gently flick your fingers on soles of the newborn’s feet to stimulate breathing in newborn.</a:t>
            </a:r>
          </a:p>
        </p:txBody>
      </p:sp>
    </p:spTree>
    <p:extLst>
      <p:ext uri="{BB962C8B-B14F-4D97-AF65-F5344CB8AC3E}">
        <p14:creationId xmlns:p14="http://schemas.microsoft.com/office/powerpoint/2010/main" val="28663595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08DF3E78-B1C9-AF42-97A5-13280EC9F9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2" name="Rectangle 3">
            <a:extLst>
              <a:ext uri="{FF2B5EF4-FFF2-40B4-BE49-F238E27FC236}">
                <a16:creationId xmlns:a16="http://schemas.microsoft.com/office/drawing/2014/main" id="{AFEBE657-37D2-6642-A452-88315D38A9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5.	Place newborn on his or her side with head slightly lower than trunk to aid drainage of secretions from airway. </a:t>
            </a:r>
          </a:p>
          <a:p>
            <a:r>
              <a:rPr lang="en-US" altLang="en-US" dirty="0"/>
              <a:t>6.	When umbilical cord stops pulsating, clamp it with umbilical cord clamps or tie it with gauze between the mother and newborn. </a:t>
            </a:r>
          </a:p>
          <a:p>
            <a:r>
              <a:rPr lang="en-US" altLang="en-US" dirty="0"/>
              <a:t>7.	Note time of the delivery so it can be properly reported on newborn’s birth certificate.</a:t>
            </a:r>
          </a:p>
          <a:p>
            <a:r>
              <a:rPr lang="en-US" altLang="en-US" dirty="0"/>
              <a:t>8.	In rare event that you encounter multiple births, prepare for second delivery.</a:t>
            </a:r>
          </a:p>
          <a:p>
            <a:pPr eaLnBrk="1" hangingPunct="1"/>
            <a:endParaRPr lang="en-US" altLang="en-US" dirty="0"/>
          </a:p>
        </p:txBody>
      </p:sp>
    </p:spTree>
    <p:extLst>
      <p:ext uri="{BB962C8B-B14F-4D97-AF65-F5344CB8AC3E}">
        <p14:creationId xmlns:p14="http://schemas.microsoft.com/office/powerpoint/2010/main" val="28191119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C9575858-56A7-C343-808A-CE5EF2A98E0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0" name="Rectangle 3">
            <a:extLst>
              <a:ext uri="{FF2B5EF4-FFF2-40B4-BE49-F238E27FC236}">
                <a16:creationId xmlns:a16="http://schemas.microsoft.com/office/drawing/2014/main" id="{4B831E0C-D50D-2649-9AF9-CFB61CAAC47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E.	Delivery of placenta.</a:t>
            </a:r>
          </a:p>
          <a:p>
            <a:r>
              <a:rPr lang="en-US" altLang="en-US" dirty="0"/>
              <a:t>1.	Placenta usually delivers on its own within 30 minutes after delivery. </a:t>
            </a:r>
          </a:p>
          <a:p>
            <a:r>
              <a:rPr lang="en-US" altLang="en-US" dirty="0"/>
              <a:t>2.	Never pull on umbilical cord to help deliver placenta. </a:t>
            </a:r>
          </a:p>
          <a:p>
            <a:r>
              <a:rPr lang="en-US" altLang="en-US" dirty="0"/>
              <a:t>3.	Leave umbilical cord uncut and attached to placenta and newborn until transporting EMS unit arrives.</a:t>
            </a:r>
          </a:p>
          <a:p>
            <a:pPr eaLnBrk="1" hangingPunct="1"/>
            <a:endParaRPr lang="en-US" altLang="en-US" dirty="0"/>
          </a:p>
        </p:txBody>
      </p:sp>
    </p:spTree>
    <p:extLst>
      <p:ext uri="{BB962C8B-B14F-4D97-AF65-F5344CB8AC3E}">
        <p14:creationId xmlns:p14="http://schemas.microsoft.com/office/powerpoint/2010/main" val="14872432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a:extLst>
              <a:ext uri="{FF2B5EF4-FFF2-40B4-BE49-F238E27FC236}">
                <a16:creationId xmlns:a16="http://schemas.microsoft.com/office/drawing/2014/main" id="{83ADFB9C-14C4-8D4D-AA62-C53169D20DC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8" name="Rectangle 3">
            <a:extLst>
              <a:ext uri="{FF2B5EF4-FFF2-40B4-BE49-F238E27FC236}">
                <a16:creationId xmlns:a16="http://schemas.microsoft.com/office/drawing/2014/main" id="{D2630121-B134-C24E-A763-B5FFEB7219A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4.	After placenta is delivered:</a:t>
            </a:r>
          </a:p>
          <a:p>
            <a:r>
              <a:rPr lang="en-US" altLang="en-US" dirty="0"/>
              <a:t>	a.	Wrap it in a towel or newspaper with three quarters of umbilical cord.</a:t>
            </a:r>
          </a:p>
          <a:p>
            <a:r>
              <a:rPr lang="en-US" altLang="en-US" dirty="0"/>
              <a:t>	b.	Place it in a plastic bag and transport it to hospital.</a:t>
            </a:r>
          </a:p>
          <a:p>
            <a:r>
              <a:rPr lang="en-US" altLang="en-US" dirty="0"/>
              <a:t>	c.	Keep it at same level as newborn to prevent blood from newborn flowing back into placenta. </a:t>
            </a:r>
          </a:p>
          <a:p>
            <a:pPr eaLnBrk="1" hangingPunct="1"/>
            <a:endParaRPr lang="en-US" altLang="en-US" dirty="0"/>
          </a:p>
        </p:txBody>
      </p:sp>
    </p:spTree>
    <p:extLst>
      <p:ext uri="{BB962C8B-B14F-4D97-AF65-F5344CB8AC3E}">
        <p14:creationId xmlns:p14="http://schemas.microsoft.com/office/powerpoint/2010/main" val="28519015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6425C58B-8D4B-7846-99E2-A867E42642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6" name="Rectangle 3">
            <a:extLst>
              <a:ext uri="{FF2B5EF4-FFF2-40B4-BE49-F238E27FC236}">
                <a16:creationId xmlns:a16="http://schemas.microsoft.com/office/drawing/2014/main" id="{26DE4CB8-74F1-1044-BBD0-BEDFAF10E3C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5.	Mother’s bleeding usually stops after placenta is delivered.</a:t>
            </a:r>
          </a:p>
          <a:p>
            <a:r>
              <a:rPr lang="en-US" altLang="en-US" dirty="0"/>
              <a:t>6.	If it does not, massage uterus to help stop bleeding.</a:t>
            </a:r>
          </a:p>
          <a:p>
            <a:r>
              <a:rPr lang="en-US" altLang="en-US" dirty="0"/>
              <a:t>	a.	Place one hand with fingers fully extended just above mother’s pubic bone.</a:t>
            </a:r>
          </a:p>
          <a:p>
            <a:r>
              <a:rPr lang="en-US" altLang="en-US" dirty="0"/>
              <a:t>	b.	Use your other hand to press down into abdomen and, using a circular motion, gently massage uterus until it becomes firm.</a:t>
            </a:r>
          </a:p>
          <a:p>
            <a:r>
              <a:rPr lang="en-US" altLang="en-US" dirty="0"/>
              <a:t>	c.	This should take 3 to 5 minutes.</a:t>
            </a:r>
          </a:p>
          <a:p>
            <a:pPr eaLnBrk="1" hangingPunct="1"/>
            <a:endParaRPr lang="en-US" altLang="en-US" dirty="0"/>
          </a:p>
        </p:txBody>
      </p:sp>
    </p:spTree>
    <p:extLst>
      <p:ext uri="{BB962C8B-B14F-4D97-AF65-F5344CB8AC3E}">
        <p14:creationId xmlns:p14="http://schemas.microsoft.com/office/powerpoint/2010/main" val="18174320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9A85575B-0084-D947-B00D-EA36B61BE43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4" name="Rectangle 3">
            <a:extLst>
              <a:ext uri="{FF2B5EF4-FFF2-40B4-BE49-F238E27FC236}">
                <a16:creationId xmlns:a16="http://schemas.microsoft.com/office/drawing/2014/main" id="{58BDD94B-F6A9-E749-B7B6-A1ACDCECED3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VII. Aftercare of Mother and Newborn:</a:t>
            </a:r>
          </a:p>
          <a:p>
            <a:r>
              <a:rPr lang="en-US" altLang="en-US" dirty="0"/>
              <a:t>A.	Continue to observe mother and newborn carefully, and keep both of them warm.</a:t>
            </a:r>
          </a:p>
          <a:p>
            <a:r>
              <a:rPr lang="en-US" altLang="en-US" dirty="0"/>
              <a:t>	1.	Cover newborn’s head and body to prevent loss of body heat.</a:t>
            </a:r>
          </a:p>
          <a:p>
            <a:r>
              <a:rPr lang="en-US" altLang="en-US" dirty="0"/>
              <a:t>B.	Approximately every 3 to 5 minutes, check uterus for firmness.</a:t>
            </a:r>
          </a:p>
          <a:p>
            <a:r>
              <a:rPr lang="en-US" altLang="en-US" dirty="0"/>
              <a:t>C.	Recheck vagina for any excessive bleeding.</a:t>
            </a:r>
          </a:p>
          <a:p>
            <a:r>
              <a:rPr lang="en-US" altLang="en-US" dirty="0"/>
              <a:t>	1.	In a normal delivery, mother will lose 300 to 500 mL (1 to 2 cups) of blood.</a:t>
            </a:r>
            <a:endParaRPr lang="en-US" altLang="en-US" b="1" dirty="0"/>
          </a:p>
          <a:p>
            <a:pPr eaLnBrk="1" hangingPunct="1"/>
            <a:endParaRPr lang="en-US" altLang="en-US" dirty="0"/>
          </a:p>
        </p:txBody>
      </p:sp>
    </p:spTree>
    <p:extLst>
      <p:ext uri="{BB962C8B-B14F-4D97-AF65-F5344CB8AC3E}">
        <p14:creationId xmlns:p14="http://schemas.microsoft.com/office/powerpoint/2010/main" val="11202094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4DA0BF09-0CB8-854B-BEBF-7CBE4C7758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2" name="Rectangle 3">
            <a:extLst>
              <a:ext uri="{FF2B5EF4-FFF2-40B4-BE49-F238E27FC236}">
                <a16:creationId xmlns:a16="http://schemas.microsoft.com/office/drawing/2014/main" id="{7DCF9A37-96B0-3C4B-8234-B31F18C7A92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2.	Continue to massage uterus using a circular motion if it is not firm or if bleeding continues.</a:t>
            </a:r>
            <a:endParaRPr lang="en-US" altLang="en-US" b="1" dirty="0"/>
          </a:p>
          <a:p>
            <a:r>
              <a:rPr lang="en-US" altLang="en-US" dirty="0"/>
              <a:t>D.	Clean mother with clean, moist towels or cloths and give her small amounts of water to drink if she is thirsty.</a:t>
            </a:r>
          </a:p>
          <a:p>
            <a:pPr eaLnBrk="1" hangingPunct="1"/>
            <a:endParaRPr lang="en-US" altLang="en-US" dirty="0"/>
          </a:p>
        </p:txBody>
      </p:sp>
    </p:spTree>
    <p:extLst>
      <p:ext uri="{BB962C8B-B14F-4D97-AF65-F5344CB8AC3E}">
        <p14:creationId xmlns:p14="http://schemas.microsoft.com/office/powerpoint/2010/main" val="19880828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80030849-77A6-7F42-9F8E-73A9B581F30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0" name="Rectangle 3">
            <a:extLst>
              <a:ext uri="{FF2B5EF4-FFF2-40B4-BE49-F238E27FC236}">
                <a16:creationId xmlns:a16="http://schemas.microsoft.com/office/drawing/2014/main" id="{AB2E41A2-C403-AF4C-A879-AB83BB56480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VIII. Resuscitating Newborn</a:t>
            </a:r>
          </a:p>
          <a:p>
            <a:r>
              <a:rPr lang="en-US" altLang="en-US" dirty="0"/>
              <a:t>A.	If newborn does not breathe on its own within first minute after birth, proceed with steps listed in Skill Drill 16-2.</a:t>
            </a:r>
          </a:p>
          <a:p>
            <a:pPr eaLnBrk="1" hangingPunct="1"/>
            <a:endParaRPr lang="en-US" altLang="en-US" dirty="0"/>
          </a:p>
        </p:txBody>
      </p:sp>
    </p:spTree>
    <p:extLst>
      <p:ext uri="{BB962C8B-B14F-4D97-AF65-F5344CB8AC3E}">
        <p14:creationId xmlns:p14="http://schemas.microsoft.com/office/powerpoint/2010/main" val="23756644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853AD233-48FC-564D-B8BF-8E728FDFD7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8" name="Rectangle 3">
            <a:extLst>
              <a:ext uri="{FF2B5EF4-FFF2-40B4-BE49-F238E27FC236}">
                <a16:creationId xmlns:a16="http://schemas.microsoft.com/office/drawing/2014/main" id="{BB2C033D-7984-A442-AC19-A1501D11900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IX. Complications of Pregnancy and Childbirth:</a:t>
            </a:r>
          </a:p>
          <a:p>
            <a:r>
              <a:rPr lang="en-US" altLang="en-US" dirty="0"/>
              <a:t>A.	Ectopic pregnancy and shock in pregnant women:</a:t>
            </a:r>
          </a:p>
          <a:p>
            <a:r>
              <a:rPr lang="en-US" altLang="en-US" dirty="0"/>
              <a:t>	1.	An ectopic pregnancy occurs when a fertilized egg becomes implanted in fallopian tube rather than in uterus.</a:t>
            </a:r>
            <a:endParaRPr lang="en-US" altLang="en-US" b="1" dirty="0"/>
          </a:p>
          <a:p>
            <a:r>
              <a:rPr lang="en-US" altLang="en-US" dirty="0"/>
              <a:t>	2.	As embryo starts to grow, it expands and causes fallopian tube to rupture.</a:t>
            </a:r>
            <a:endParaRPr lang="en-US" altLang="en-US" b="1" dirty="0"/>
          </a:p>
          <a:p>
            <a:pPr eaLnBrk="1" hangingPunct="1"/>
            <a:endParaRPr lang="en-US" altLang="en-US" dirty="0"/>
          </a:p>
        </p:txBody>
      </p:sp>
    </p:spTree>
    <p:extLst>
      <p:ext uri="{BB962C8B-B14F-4D97-AF65-F5344CB8AC3E}">
        <p14:creationId xmlns:p14="http://schemas.microsoft.com/office/powerpoint/2010/main" val="13752911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4F42AF3C-BA9A-1F44-9AFE-9D2887F9BFD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6" name="Rectangle 3">
            <a:extLst>
              <a:ext uri="{FF2B5EF4-FFF2-40B4-BE49-F238E27FC236}">
                <a16:creationId xmlns:a16="http://schemas.microsoft.com/office/drawing/2014/main" id="{FC672FA5-1963-324F-9BC5-4DB8C2B1645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3.	This rupture causes:</a:t>
            </a:r>
          </a:p>
          <a:p>
            <a:r>
              <a:rPr lang="en-US" altLang="en-US" dirty="0"/>
              <a:t>	a.	Acute abdominal pain.</a:t>
            </a:r>
            <a:endParaRPr lang="en-US" altLang="en-US" b="1" dirty="0"/>
          </a:p>
          <a:p>
            <a:r>
              <a:rPr lang="en-US" altLang="en-US" dirty="0"/>
              <a:t>	b.	Internal bleeding.</a:t>
            </a:r>
            <a:endParaRPr lang="en-US" altLang="en-US" b="1" dirty="0"/>
          </a:p>
          <a:p>
            <a:r>
              <a:rPr lang="en-US" altLang="en-US" dirty="0"/>
              <a:t>	c.	Shock.</a:t>
            </a:r>
            <a:endParaRPr lang="en-US" altLang="en-US" b="1" dirty="0"/>
          </a:p>
          <a:p>
            <a:r>
              <a:rPr lang="en-US" altLang="en-US" dirty="0"/>
              <a:t>4.	Treat patient for shock and arrange for prompt transport.</a:t>
            </a:r>
            <a:endParaRPr lang="en-US" altLang="en-US" b="1" dirty="0"/>
          </a:p>
          <a:p>
            <a:pPr eaLnBrk="1" hangingPunct="1"/>
            <a:endParaRPr lang="en-US" altLang="en-US" dirty="0"/>
          </a:p>
        </p:txBody>
      </p:sp>
    </p:spTree>
    <p:extLst>
      <p:ext uri="{BB962C8B-B14F-4D97-AF65-F5344CB8AC3E}">
        <p14:creationId xmlns:p14="http://schemas.microsoft.com/office/powerpoint/2010/main" val="9962452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949A13D6-CCF2-5844-ADCF-F02210BD351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4" name="Rectangle 3">
            <a:extLst>
              <a:ext uri="{FF2B5EF4-FFF2-40B4-BE49-F238E27FC236}">
                <a16:creationId xmlns:a16="http://schemas.microsoft.com/office/drawing/2014/main" id="{7262F251-C59E-C147-B67F-D8502CDC1B5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B.	Miscarriage and vaginal bleeding:</a:t>
            </a:r>
          </a:p>
          <a:p>
            <a:r>
              <a:rPr lang="en-US" altLang="en-US" dirty="0"/>
              <a:t>1.	A miscarriage (spontaneous abortion) is delivery of an incomplete or underdeveloped fetus.</a:t>
            </a:r>
          </a:p>
          <a:p>
            <a:r>
              <a:rPr lang="en-US" altLang="en-US" dirty="0"/>
              <a:t>2.	If a miscarriage occurs: </a:t>
            </a:r>
          </a:p>
          <a:p>
            <a:r>
              <a:rPr lang="en-US" altLang="en-US" dirty="0"/>
              <a:t>	a.	Save fetus and all tissues that pass from vagina. </a:t>
            </a:r>
          </a:p>
          <a:p>
            <a:r>
              <a:rPr lang="en-US" altLang="en-US" dirty="0"/>
              <a:t>	b.	Control woman’s bleeding and treat her for shock. </a:t>
            </a:r>
          </a:p>
          <a:p>
            <a:r>
              <a:rPr lang="en-US" altLang="en-US" dirty="0"/>
              <a:t>	c.	Arrange for prompt transport. </a:t>
            </a:r>
          </a:p>
          <a:p>
            <a:pPr eaLnBrk="1" hangingPunct="1"/>
            <a:endParaRPr lang="en-US" altLang="en-US" dirty="0"/>
          </a:p>
        </p:txBody>
      </p:sp>
    </p:spTree>
    <p:extLst>
      <p:ext uri="{BB962C8B-B14F-4D97-AF65-F5344CB8AC3E}">
        <p14:creationId xmlns:p14="http://schemas.microsoft.com/office/powerpoint/2010/main" val="39538703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61028D60-1482-B94F-A369-FD7485AA8A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2" name="Rectangle 3">
            <a:extLst>
              <a:ext uri="{FF2B5EF4-FFF2-40B4-BE49-F238E27FC236}">
                <a16:creationId xmlns:a16="http://schemas.microsoft.com/office/drawing/2014/main" id="{CF5D84F6-BB5C-0B4F-AB4A-D52F265B6D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3.	Vaginal bleeding in a pregnant woman is often first sign of a miscarriage.</a:t>
            </a:r>
          </a:p>
          <a:p>
            <a:r>
              <a:rPr lang="en-US" altLang="en-US" dirty="0"/>
              <a:t>4.	Anytime a woman experiences vaginal bleeding:</a:t>
            </a:r>
          </a:p>
          <a:p>
            <a:r>
              <a:rPr lang="en-US" altLang="en-US" dirty="0"/>
              <a:t>	a.	Perform a patient assessment.</a:t>
            </a:r>
          </a:p>
          <a:p>
            <a:r>
              <a:rPr lang="en-US" altLang="en-US" dirty="0"/>
              <a:t>	b.	Obtain a good medical history</a:t>
            </a:r>
          </a:p>
          <a:p>
            <a:r>
              <a:rPr lang="en-US" altLang="en-US" dirty="0"/>
              <a:t>	c.	Obtain a set of vital signs to determine whether she is experiencing shock.</a:t>
            </a:r>
          </a:p>
          <a:p>
            <a:r>
              <a:rPr lang="en-US" altLang="en-US" dirty="0"/>
              <a:t>	d.	Arrange for prompt transport.</a:t>
            </a:r>
          </a:p>
          <a:p>
            <a:r>
              <a:rPr lang="en-US" altLang="en-US" dirty="0"/>
              <a:t>5.	A woman who miscarries will be upset about losing newborn and will need emotional support as well as emergency medical care.</a:t>
            </a:r>
          </a:p>
          <a:p>
            <a:pPr eaLnBrk="1" hangingPunct="1"/>
            <a:endParaRPr lang="en-US" altLang="en-US" dirty="0"/>
          </a:p>
        </p:txBody>
      </p:sp>
    </p:spTree>
    <p:extLst>
      <p:ext uri="{BB962C8B-B14F-4D97-AF65-F5344CB8AC3E}">
        <p14:creationId xmlns:p14="http://schemas.microsoft.com/office/powerpoint/2010/main" val="7504276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A9C78216-AC10-B94F-ACF8-513C752AD9F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0" name="Rectangle 3">
            <a:extLst>
              <a:ext uri="{FF2B5EF4-FFF2-40B4-BE49-F238E27FC236}">
                <a16:creationId xmlns:a16="http://schemas.microsoft.com/office/drawing/2014/main" id="{C5B9F881-4FA5-6041-AB60-BB3A0506A2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C.	Premature birth:</a:t>
            </a:r>
          </a:p>
          <a:p>
            <a:r>
              <a:rPr lang="en-US" altLang="en-US" dirty="0"/>
              <a:t>	1.	Any newborn weighing less than 5 pounds (2 kg) or delivered before 36 weeks of pregnancy is considered premature.</a:t>
            </a:r>
          </a:p>
          <a:p>
            <a:r>
              <a:rPr lang="en-US" altLang="en-US" dirty="0"/>
              <a:t>	2.	Premature newborns are smaller, thinner, and usually redder than full-term newborns.</a:t>
            </a:r>
          </a:p>
          <a:p>
            <a:r>
              <a:rPr lang="en-US" altLang="en-US" dirty="0"/>
              <a:t>	3.	Keep premature newborns warm because they lose heat rapidly.</a:t>
            </a:r>
          </a:p>
          <a:p>
            <a:r>
              <a:rPr lang="en-US" altLang="en-US" dirty="0"/>
              <a:t>	4.	Arrange for prompt transport.</a:t>
            </a:r>
          </a:p>
          <a:p>
            <a:pPr eaLnBrk="1" hangingPunct="1"/>
            <a:endParaRPr lang="en-US" altLang="en-US" dirty="0"/>
          </a:p>
        </p:txBody>
      </p:sp>
    </p:spTree>
    <p:extLst>
      <p:ext uri="{BB962C8B-B14F-4D97-AF65-F5344CB8AC3E}">
        <p14:creationId xmlns:p14="http://schemas.microsoft.com/office/powerpoint/2010/main" val="17675189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45E28654-EB07-B043-AA7C-1303C3BE48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8" name="Rectangle 3">
            <a:extLst>
              <a:ext uri="{FF2B5EF4-FFF2-40B4-BE49-F238E27FC236}">
                <a16:creationId xmlns:a16="http://schemas.microsoft.com/office/drawing/2014/main" id="{EF30FD17-4E8A-4841-AEFA-30F3919F8DB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D.	Unbroken bag of waters:</a:t>
            </a:r>
          </a:p>
          <a:p>
            <a:r>
              <a:rPr lang="en-US" altLang="en-US" dirty="0"/>
              <a:t>	1.	In rare circumstances, bag of amniotic fluid does not break. </a:t>
            </a:r>
          </a:p>
          <a:p>
            <a:r>
              <a:rPr lang="en-US" altLang="en-US" dirty="0"/>
              <a:t>	2.	Carefully break bag and push it away from newborn’s nose and mouth so he or she can breathe.</a:t>
            </a:r>
          </a:p>
          <a:p>
            <a:r>
              <a:rPr lang="en-US" altLang="en-US" dirty="0"/>
              <a:t>	3.	Be careful not to injure newborn in process.</a:t>
            </a:r>
          </a:p>
          <a:p>
            <a:r>
              <a:rPr lang="en-US" altLang="en-US" dirty="0"/>
              <a:t>	4.	Suction newborn’s mouth and then nose to help him or her begin to breathe. </a:t>
            </a:r>
          </a:p>
          <a:p>
            <a:pPr eaLnBrk="1" hangingPunct="1"/>
            <a:endParaRPr lang="en-US" altLang="en-US" dirty="0"/>
          </a:p>
        </p:txBody>
      </p:sp>
    </p:spTree>
    <p:extLst>
      <p:ext uri="{BB962C8B-B14F-4D97-AF65-F5344CB8AC3E}">
        <p14:creationId xmlns:p14="http://schemas.microsoft.com/office/powerpoint/2010/main" val="26080066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A148FC60-D5FE-E34A-BC4A-FA3E648339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6" name="Rectangle 3">
            <a:extLst>
              <a:ext uri="{FF2B5EF4-FFF2-40B4-BE49-F238E27FC236}">
                <a16:creationId xmlns:a16="http://schemas.microsoft.com/office/drawing/2014/main" id="{ECF150CA-CF77-F54A-8685-269A012AF45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E.	Prolapse of umbilical cord</a:t>
            </a:r>
          </a:p>
          <a:p>
            <a:r>
              <a:rPr lang="en-US" altLang="en-US" dirty="0"/>
              <a:t>	1.	On rare occasions, umbilical cord appears from vagina before fetus is delivered. </a:t>
            </a:r>
          </a:p>
          <a:p>
            <a:r>
              <a:rPr lang="en-US" altLang="en-US" dirty="0"/>
              <a:t>	2.	Cord may be compressed between newborn and the woman’s pelvis during contractions, cutting off newborn’s blood supply. </a:t>
            </a:r>
          </a:p>
          <a:p>
            <a:r>
              <a:rPr lang="en-US" altLang="en-US" dirty="0"/>
              <a:t>		a.	Prolapse of umbilical cord is a serious emergency that requires immediate transport.</a:t>
            </a:r>
          </a:p>
          <a:p>
            <a:r>
              <a:rPr lang="en-US" altLang="en-US" dirty="0"/>
              <a:t>	3.	Place pregnant patient in a position that raises her hips.</a:t>
            </a:r>
          </a:p>
          <a:p>
            <a:r>
              <a:rPr lang="en-US" altLang="en-US" dirty="0"/>
              <a:t>	4.	Keep cord covered and moist, and do not try to push it back into vagina.</a:t>
            </a:r>
          </a:p>
          <a:p>
            <a:pPr eaLnBrk="1" hangingPunct="1"/>
            <a:endParaRPr lang="en-US" altLang="en-US" dirty="0"/>
          </a:p>
        </p:txBody>
      </p:sp>
    </p:spTree>
    <p:extLst>
      <p:ext uri="{BB962C8B-B14F-4D97-AF65-F5344CB8AC3E}">
        <p14:creationId xmlns:p14="http://schemas.microsoft.com/office/powerpoint/2010/main" val="18964644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0FAC9772-FD6D-6F47-9201-EF8CDBF0BC0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4" name="Rectangle 3">
            <a:extLst>
              <a:ext uri="{FF2B5EF4-FFF2-40B4-BE49-F238E27FC236}">
                <a16:creationId xmlns:a16="http://schemas.microsoft.com/office/drawing/2014/main" id="{19216717-AB4E-FA44-920B-637BFBF9527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5.	Administer oxygen if it is available.</a:t>
            </a:r>
          </a:p>
          <a:p>
            <a:r>
              <a:rPr lang="en-US" altLang="en-US" dirty="0"/>
              <a:t>	6.	Arrange for rapid transport.</a:t>
            </a:r>
          </a:p>
          <a:p>
            <a:r>
              <a:rPr lang="en-US" altLang="en-US" dirty="0"/>
              <a:t>	7.	Some EMS systems recommend placing woman in a kneeling position to take pressure off cord.</a:t>
            </a:r>
          </a:p>
          <a:p>
            <a:pPr eaLnBrk="1" hangingPunct="1"/>
            <a:endParaRPr lang="en-US" altLang="en-US" dirty="0"/>
          </a:p>
        </p:txBody>
      </p:sp>
    </p:spTree>
    <p:extLst>
      <p:ext uri="{BB962C8B-B14F-4D97-AF65-F5344CB8AC3E}">
        <p14:creationId xmlns:p14="http://schemas.microsoft.com/office/powerpoint/2010/main" val="19585916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24CE8AC3-A51A-BC47-A131-25DA2E4F2F5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2" name="Rectangle 3">
            <a:extLst>
              <a:ext uri="{FF2B5EF4-FFF2-40B4-BE49-F238E27FC236}">
                <a16:creationId xmlns:a16="http://schemas.microsoft.com/office/drawing/2014/main" id="{D13B22C2-4E16-7C4E-8906-8F60925393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F.	Breech birth:</a:t>
            </a:r>
          </a:p>
          <a:p>
            <a:r>
              <a:rPr lang="en-US" altLang="en-US" dirty="0"/>
              <a:t>	1.	In a breech birth, newborn’s buttocks come down birth canal first, rather than head. </a:t>
            </a:r>
          </a:p>
          <a:p>
            <a:r>
              <a:rPr lang="en-US" altLang="en-US" dirty="0"/>
              <a:t>	2.	Arrange for prompt transport.</a:t>
            </a:r>
          </a:p>
          <a:p>
            <a:r>
              <a:rPr lang="en-US" altLang="en-US" dirty="0"/>
              <a:t>		a.	A breech birth slows labor, so there will be more time for transport to emergency department.</a:t>
            </a:r>
          </a:p>
          <a:p>
            <a:r>
              <a:rPr lang="en-US" altLang="en-US" dirty="0"/>
              <a:t>	3.	Support newborn’s buttocks and legs as they are delivered; head usually follows on its own.</a:t>
            </a:r>
          </a:p>
        </p:txBody>
      </p:sp>
    </p:spTree>
    <p:extLst>
      <p:ext uri="{BB962C8B-B14F-4D97-AF65-F5344CB8AC3E}">
        <p14:creationId xmlns:p14="http://schemas.microsoft.com/office/powerpoint/2010/main" val="15555017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F82DF22D-D701-374D-9074-141DAA67BF8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0" name="Rectangle 3">
            <a:extLst>
              <a:ext uri="{FF2B5EF4-FFF2-40B4-BE49-F238E27FC236}">
                <a16:creationId xmlns:a16="http://schemas.microsoft.com/office/drawing/2014/main" id="{57CDBC64-0AD0-794B-99DA-BCC78D9006B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4.	If head does not deliver within 3 minutes</a:t>
            </a:r>
          </a:p>
          <a:p>
            <a:r>
              <a:rPr lang="en-US" altLang="en-US" dirty="0"/>
              <a:t>		a.	Arrange for prompt transport.</a:t>
            </a:r>
          </a:p>
          <a:p>
            <a:r>
              <a:rPr lang="en-US" altLang="en-US" dirty="0"/>
              <a:t>		b.	Insert a gloved hand into vagina and use your fingers to keep newborn’s airway open by forming a pocket over newborn’s nose and mouth.</a:t>
            </a:r>
          </a:p>
          <a:p>
            <a:r>
              <a:rPr lang="en-US" altLang="en-US" dirty="0"/>
              <a:t>	5.	In very rare cases, arm or the leg is first part of newborn to appear in birth canal.</a:t>
            </a:r>
          </a:p>
          <a:p>
            <a:r>
              <a:rPr lang="en-US" altLang="en-US" dirty="0"/>
              <a:t>		a.	Limb presentation is an extreme emergency that cannot be handled in field.</a:t>
            </a:r>
          </a:p>
          <a:p>
            <a:r>
              <a:rPr lang="en-US" altLang="en-US" dirty="0"/>
              <a:t>		b.	Arrange for rapid transport.</a:t>
            </a:r>
          </a:p>
          <a:p>
            <a:pPr eaLnBrk="1" hangingPunct="1"/>
            <a:endParaRPr lang="en-US" altLang="en-US" dirty="0"/>
          </a:p>
        </p:txBody>
      </p:sp>
    </p:spTree>
    <p:extLst>
      <p:ext uri="{BB962C8B-B14F-4D97-AF65-F5344CB8AC3E}">
        <p14:creationId xmlns:p14="http://schemas.microsoft.com/office/powerpoint/2010/main" val="332212226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a:extLst>
              <a:ext uri="{FF2B5EF4-FFF2-40B4-BE49-F238E27FC236}">
                <a16:creationId xmlns:a16="http://schemas.microsoft.com/office/drawing/2014/main" id="{FE013E6A-4138-5343-803B-F69C56AA4A1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8" name="Rectangle 3">
            <a:extLst>
              <a:ext uri="{FF2B5EF4-FFF2-40B4-BE49-F238E27FC236}">
                <a16:creationId xmlns:a16="http://schemas.microsoft.com/office/drawing/2014/main" id="{565EC4E6-0716-3E4B-8B4D-9A9F4F846F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G.	Stillborn delivery:</a:t>
            </a:r>
          </a:p>
          <a:p>
            <a:r>
              <a:rPr lang="en-US" altLang="en-US" dirty="0"/>
              <a:t>	1.	Sometimes a newborn dies in uterus before labor begins. </a:t>
            </a:r>
          </a:p>
          <a:p>
            <a:r>
              <a:rPr lang="en-US" altLang="en-US" dirty="0"/>
              <a:t>	2.	Fetus will generally have an unpleasant odor and will not exhibit any signs of life.</a:t>
            </a:r>
          </a:p>
          <a:p>
            <a:r>
              <a:rPr lang="en-US" altLang="en-US" dirty="0"/>
              <a:t>	3.	Carefully wrap stillborn newborn in a blanket.</a:t>
            </a:r>
          </a:p>
          <a:p>
            <a:r>
              <a:rPr lang="en-US" altLang="en-US" dirty="0"/>
              <a:t>	4.	Turn your attention to mother and provide physical care and emotional support. </a:t>
            </a:r>
          </a:p>
          <a:p>
            <a:pPr eaLnBrk="1" hangingPunct="1"/>
            <a:endParaRPr lang="en-US" altLang="en-US" dirty="0"/>
          </a:p>
        </p:txBody>
      </p:sp>
    </p:spTree>
    <p:extLst>
      <p:ext uri="{BB962C8B-B14F-4D97-AF65-F5344CB8AC3E}">
        <p14:creationId xmlns:p14="http://schemas.microsoft.com/office/powerpoint/2010/main" val="35550985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CB928BE4-14A9-6B47-A4EA-9F1D7F8FBE0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6" name="Rectangle 3">
            <a:extLst>
              <a:ext uri="{FF2B5EF4-FFF2-40B4-BE49-F238E27FC236}">
                <a16:creationId xmlns:a16="http://schemas.microsoft.com/office/drawing/2014/main" id="{3494F7EA-5A20-054E-B9E3-CDDE06372F6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H.	Multiple births:</a:t>
            </a:r>
          </a:p>
          <a:p>
            <a:r>
              <a:rPr lang="en-US" altLang="en-US" dirty="0"/>
              <a:t>	1.	Another set of labor contractions will begin shortly after delivery of the first newborn. </a:t>
            </a:r>
          </a:p>
          <a:p>
            <a:r>
              <a:rPr lang="en-US" altLang="en-US" dirty="0"/>
              <a:t>	2.	Get ready to repeat procedures you completed for delivering first newborn.</a:t>
            </a:r>
          </a:p>
          <a:p>
            <a:r>
              <a:rPr lang="en-US" altLang="en-US" dirty="0"/>
              <a:t>I.	Excessive bleeding after delivery:</a:t>
            </a:r>
          </a:p>
          <a:p>
            <a:r>
              <a:rPr lang="en-US" altLang="en-US" dirty="0"/>
              <a:t>	1.	Approximately 1 or 2 cups of blood is lost during normal childbirth.</a:t>
            </a:r>
          </a:p>
          <a:p>
            <a:pPr eaLnBrk="1" hangingPunct="1"/>
            <a:endParaRPr lang="en-US" altLang="en-US" dirty="0"/>
          </a:p>
        </p:txBody>
      </p:sp>
    </p:spTree>
    <p:extLst>
      <p:ext uri="{BB962C8B-B14F-4D97-AF65-F5344CB8AC3E}">
        <p14:creationId xmlns:p14="http://schemas.microsoft.com/office/powerpoint/2010/main" val="296886818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a:extLst>
              <a:ext uri="{FF2B5EF4-FFF2-40B4-BE49-F238E27FC236}">
                <a16:creationId xmlns:a16="http://schemas.microsoft.com/office/drawing/2014/main" id="{CC9A626B-5DC9-F248-A6CC-0CEDAB3468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4" name="Rectangle 3">
            <a:extLst>
              <a:ext uri="{FF2B5EF4-FFF2-40B4-BE49-F238E27FC236}">
                <a16:creationId xmlns:a16="http://schemas.microsoft.com/office/drawing/2014/main" id="{E36A0E95-5633-5948-AF12-5FE332AD67B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2.	If mother is bleeding severely:</a:t>
            </a:r>
          </a:p>
          <a:p>
            <a:r>
              <a:rPr lang="en-US" altLang="en-US" dirty="0"/>
              <a:t>		a.	Place one or more clean sanitary pads at opening of vagina.</a:t>
            </a:r>
          </a:p>
          <a:p>
            <a:r>
              <a:rPr lang="en-US" altLang="en-US" dirty="0"/>
              <a:t>		b.	Elevate her legs and hips.</a:t>
            </a:r>
          </a:p>
          <a:p>
            <a:r>
              <a:rPr lang="en-US" altLang="en-US" dirty="0"/>
              <a:t>		c.	Treat her for shock.</a:t>
            </a:r>
          </a:p>
          <a:p>
            <a:r>
              <a:rPr lang="en-US" altLang="en-US" dirty="0"/>
              <a:t>		d.	Arrange for rapid transport.</a:t>
            </a:r>
          </a:p>
          <a:p>
            <a:pPr eaLnBrk="1" hangingPunct="1"/>
            <a:endParaRPr lang="en-US" altLang="en-US" dirty="0"/>
          </a:p>
        </p:txBody>
      </p:sp>
    </p:spTree>
    <p:extLst>
      <p:ext uri="{BB962C8B-B14F-4D97-AF65-F5344CB8AC3E}">
        <p14:creationId xmlns:p14="http://schemas.microsoft.com/office/powerpoint/2010/main" val="260024294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683E757F-B790-5B45-9FD3-FFA2CB238D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2" name="Rectangle 3">
            <a:extLst>
              <a:ext uri="{FF2B5EF4-FFF2-40B4-BE49-F238E27FC236}">
                <a16:creationId xmlns:a16="http://schemas.microsoft.com/office/drawing/2014/main" id="{B98CF357-6D8C-FD42-A15B-0DF26E837B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3.	Encourage newborn to nurse at mother’s breast because nursing contracts uterus and can often help stop bleeding.</a:t>
            </a:r>
          </a:p>
          <a:p>
            <a:r>
              <a:rPr lang="en-US" altLang="en-US" dirty="0"/>
              <a:t>	4.	Massage uterus with your hand.</a:t>
            </a:r>
          </a:p>
          <a:p>
            <a:r>
              <a:rPr lang="en-US" altLang="en-US" dirty="0"/>
              <a:t>	5.	If area between mother’s vagina and anus is torn and bleeding, treat it as you would an open wound.</a:t>
            </a:r>
          </a:p>
          <a:p>
            <a:pPr eaLnBrk="1" hangingPunct="1"/>
            <a:endParaRPr lang="en-US" altLang="en-US" dirty="0"/>
          </a:p>
        </p:txBody>
      </p:sp>
    </p:spTree>
    <p:extLst>
      <p:ext uri="{BB962C8B-B14F-4D97-AF65-F5344CB8AC3E}">
        <p14:creationId xmlns:p14="http://schemas.microsoft.com/office/powerpoint/2010/main" val="165484432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id="{40201A75-9DC6-894B-A90C-2BC85BAB012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0" name="Rectangle 3">
            <a:extLst>
              <a:ext uri="{FF2B5EF4-FFF2-40B4-BE49-F238E27FC236}">
                <a16:creationId xmlns:a16="http://schemas.microsoft.com/office/drawing/2014/main" id="{AACD2034-72B4-F546-9A99-F5032816E3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X. Vehicle Collisions and Pregnant Women:</a:t>
            </a:r>
          </a:p>
          <a:p>
            <a:r>
              <a:rPr lang="en-US" altLang="en-US" dirty="0"/>
              <a:t>A.	Woman should be examined by a physician.</a:t>
            </a:r>
          </a:p>
          <a:p>
            <a:r>
              <a:rPr lang="en-US" altLang="en-US" dirty="0"/>
              <a:t>	1.	Forces involved in even a minor crash may be great enough to injure the woman or unborn child.</a:t>
            </a:r>
          </a:p>
          <a:p>
            <a:r>
              <a:rPr lang="en-US" altLang="en-US" dirty="0"/>
              <a:t>B.	Promptly assess patient and arrange transport to hospital. </a:t>
            </a:r>
          </a:p>
          <a:p>
            <a:pPr eaLnBrk="1" hangingPunct="1"/>
            <a:endParaRPr lang="en-US" altLang="en-US" dirty="0"/>
          </a:p>
        </p:txBody>
      </p:sp>
    </p:spTree>
    <p:extLst>
      <p:ext uri="{BB962C8B-B14F-4D97-AF65-F5344CB8AC3E}">
        <p14:creationId xmlns:p14="http://schemas.microsoft.com/office/powerpoint/2010/main" val="12786076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a:extLst>
              <a:ext uri="{FF2B5EF4-FFF2-40B4-BE49-F238E27FC236}">
                <a16:creationId xmlns:a16="http://schemas.microsoft.com/office/drawing/2014/main" id="{449C048F-DEE0-A94D-B1DC-0A3CDCAF8ED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8" name="Rectangle 3">
            <a:extLst>
              <a:ext uri="{FF2B5EF4-FFF2-40B4-BE49-F238E27FC236}">
                <a16:creationId xmlns:a16="http://schemas.microsoft.com/office/drawing/2014/main" id="{A237B2F6-E22F-124E-83C3-D56E17B415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C.	If woman exhibits signs or symptoms of shock:</a:t>
            </a:r>
          </a:p>
          <a:p>
            <a:r>
              <a:rPr lang="en-US" altLang="en-US" dirty="0"/>
              <a:t>	1.	Monitor airway, breathing, and circulation.</a:t>
            </a:r>
          </a:p>
          <a:p>
            <a:r>
              <a:rPr lang="en-US" altLang="en-US" dirty="0"/>
              <a:t>	2.	Arrange for administration of high-flow oxygen. </a:t>
            </a:r>
          </a:p>
          <a:p>
            <a:r>
              <a:rPr lang="en-US" altLang="en-US" dirty="0"/>
              <a:t>	3.	Have woman lie on her left side rather than on her back.</a:t>
            </a:r>
          </a:p>
          <a:p>
            <a:pPr eaLnBrk="1" hangingPunct="1"/>
            <a:endParaRPr lang="en-US" altLang="en-US" dirty="0"/>
          </a:p>
        </p:txBody>
      </p:sp>
    </p:spTree>
    <p:extLst>
      <p:ext uri="{BB962C8B-B14F-4D97-AF65-F5344CB8AC3E}">
        <p14:creationId xmlns:p14="http://schemas.microsoft.com/office/powerpoint/2010/main" val="39349419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a:extLst>
              <a:ext uri="{FF2B5EF4-FFF2-40B4-BE49-F238E27FC236}">
                <a16:creationId xmlns:a16="http://schemas.microsoft.com/office/drawing/2014/main" id="{253BF51B-5F10-5740-B407-C241BD9BDDF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6" name="Rectangle 3">
            <a:extLst>
              <a:ext uri="{FF2B5EF4-FFF2-40B4-BE49-F238E27FC236}">
                <a16:creationId xmlns:a16="http://schemas.microsoft.com/office/drawing/2014/main" id="{C6E4BE6D-AECB-F540-8FAF-F3C81A9FBC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D.	In rare circumstances, a crash can be severe enough to kill pregnant woman but not fetus.</a:t>
            </a:r>
          </a:p>
          <a:p>
            <a:r>
              <a:rPr lang="en-US" altLang="en-US" dirty="0"/>
              <a:t>	1.	Provide CPR to the woman while transporting her to closest medical facility.</a:t>
            </a:r>
          </a:p>
          <a:p>
            <a:pPr eaLnBrk="1" hangingPunct="1"/>
            <a:endParaRPr lang="en-US" altLang="en-US" dirty="0"/>
          </a:p>
        </p:txBody>
      </p:sp>
    </p:spTree>
    <p:extLst>
      <p:ext uri="{BB962C8B-B14F-4D97-AF65-F5344CB8AC3E}">
        <p14:creationId xmlns:p14="http://schemas.microsoft.com/office/powerpoint/2010/main" val="37310066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a:extLst>
              <a:ext uri="{FF2B5EF4-FFF2-40B4-BE49-F238E27FC236}">
                <a16:creationId xmlns:a16="http://schemas.microsoft.com/office/drawing/2014/main" id="{ECAFB48F-9BD0-0B41-AC28-69E233B578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4" name="Rectangle 3">
            <a:extLst>
              <a:ext uri="{FF2B5EF4-FFF2-40B4-BE49-F238E27FC236}">
                <a16:creationId xmlns:a16="http://schemas.microsoft.com/office/drawing/2014/main" id="{C595DDEC-F15B-D14C-84AA-ADB9E449EC0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A.	This chapter presents skills and knowledge you need to assist in birth of a newborn.</a:t>
            </a:r>
          </a:p>
          <a:p>
            <a:r>
              <a:rPr lang="en-US" altLang="en-US" dirty="0"/>
              <a:t>B.	Key indicators when estimating how soon a delivery will occur are crowning and time between contractions. By assessing these two factors, you can determine whether a woman should be transported to a medical facility or whether birth will occur outside hospital.</a:t>
            </a:r>
          </a:p>
          <a:p>
            <a:r>
              <a:rPr lang="en-US" altLang="en-US" dirty="0"/>
              <a:t>C.	Normal labor consists of three distinct stages which are as follows:</a:t>
            </a:r>
          </a:p>
          <a:p>
            <a:r>
              <a:rPr lang="en-US" altLang="en-US" dirty="0"/>
              <a:t>	1.	Stage one is characterized by following conditions: initial contractions occur, bag of waters breaks, and bloody show occurs, but newborn’s head does not appear.</a:t>
            </a:r>
            <a:endParaRPr lang="en-US" altLang="en-US" b="1" dirty="0"/>
          </a:p>
          <a:p>
            <a:pPr eaLnBrk="1" hangingPunct="1"/>
            <a:endParaRPr lang="en-US" altLang="en-US" dirty="0"/>
          </a:p>
        </p:txBody>
      </p:sp>
    </p:spTree>
    <p:extLst>
      <p:ext uri="{BB962C8B-B14F-4D97-AF65-F5344CB8AC3E}">
        <p14:creationId xmlns:p14="http://schemas.microsoft.com/office/powerpoint/2010/main" val="31219350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a:extLst>
              <a:ext uri="{FF2B5EF4-FFF2-40B4-BE49-F238E27FC236}">
                <a16:creationId xmlns:a16="http://schemas.microsoft.com/office/drawing/2014/main" id="{E412BB94-67F6-C145-8C82-79BCD73BB1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2" name="Rectangle 3">
            <a:extLst>
              <a:ext uri="{FF2B5EF4-FFF2-40B4-BE49-F238E27FC236}">
                <a16:creationId xmlns:a16="http://schemas.microsoft.com/office/drawing/2014/main" id="{CC633E49-9464-584A-8CBD-B41ABBAB570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2.	Stage two involves actual birth. You will see newborn’s head crowning during contractions, at which time you must prepare to assist woman with delivery.</a:t>
            </a:r>
            <a:endParaRPr lang="en-US" altLang="en-US" b="1" dirty="0"/>
          </a:p>
          <a:p>
            <a:r>
              <a:rPr lang="en-US" altLang="en-US" dirty="0"/>
              <a:t>	3.	Stage three involves delivery of placenta. You must assist in stabilizing condition of mother and newborn and delivering placenta.</a:t>
            </a:r>
          </a:p>
          <a:p>
            <a:r>
              <a:rPr lang="en-US" altLang="en-US" dirty="0"/>
              <a:t>D.	Exercise standard precautions when assisting with a delivery</a:t>
            </a:r>
            <a:endParaRPr lang="en-US" altLang="en-US" b="1" dirty="0"/>
          </a:p>
          <a:p>
            <a:pPr eaLnBrk="1" hangingPunct="1"/>
            <a:endParaRPr lang="en-US" altLang="en-US" dirty="0"/>
          </a:p>
        </p:txBody>
      </p:sp>
    </p:spTree>
    <p:extLst>
      <p:ext uri="{BB962C8B-B14F-4D97-AF65-F5344CB8AC3E}">
        <p14:creationId xmlns:p14="http://schemas.microsoft.com/office/powerpoint/2010/main" val="261620297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A3F33DE2-A0D6-D343-9375-D4D263F29BE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0" name="Rectangle 3">
            <a:extLst>
              <a:ext uri="{FF2B5EF4-FFF2-40B4-BE49-F238E27FC236}">
                <a16:creationId xmlns:a16="http://schemas.microsoft.com/office/drawing/2014/main" id="{31058199-6A47-5E48-990A-02C7DBA101A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E.	After delivery, you have two patients to care for—mother and newborn.</a:t>
            </a:r>
          </a:p>
          <a:p>
            <a:r>
              <a:rPr lang="en-US" altLang="en-US" dirty="0"/>
              <a:t>F.	If newborn does not breathe on its own within first minute after birth, proceed with steps to resuscitate newborn.</a:t>
            </a:r>
          </a:p>
          <a:p>
            <a:r>
              <a:rPr lang="en-US" altLang="en-US" dirty="0"/>
              <a:t>G. 	Although most pregnancies and births are uneventful, you should be aware of possible complications, including ectopic pregnancies and shock, vaginal bleeding and miscarriage, premature births, an 	unbroken bag of waters, a prolapsed umbilical cord, breech birth, a stillborn delivery, multiple births, and excessive bleeding after delivery.</a:t>
            </a:r>
          </a:p>
          <a:p>
            <a:r>
              <a:rPr lang="en-US" altLang="en-US" dirty="0"/>
              <a:t>H.	Keep in mind that childbirth is usually a happy event. You are there to assist in delivery, which in most cases has a happy, healthy outcome.</a:t>
            </a:r>
          </a:p>
          <a:p>
            <a:endParaRPr lang="en-US" altLang="en-US" dirty="0"/>
          </a:p>
        </p:txBody>
      </p:sp>
    </p:spTree>
    <p:extLst>
      <p:ext uri="{BB962C8B-B14F-4D97-AF65-F5344CB8AC3E}">
        <p14:creationId xmlns:p14="http://schemas.microsoft.com/office/powerpoint/2010/main" val="13975604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Slide Image Placeholder 1">
            <a:extLst>
              <a:ext uri="{FF2B5EF4-FFF2-40B4-BE49-F238E27FC236}">
                <a16:creationId xmlns:a16="http://schemas.microsoft.com/office/drawing/2014/main" id="{B6E6FFE7-6142-494D-8BE7-D88E3148B8B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6" name="Notes Placeholder 2">
            <a:extLst>
              <a:ext uri="{FF2B5EF4-FFF2-40B4-BE49-F238E27FC236}">
                <a16:creationId xmlns:a16="http://schemas.microsoft.com/office/drawing/2014/main" id="{149A6F4C-BBF7-BA42-8AA8-E1662787B7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solidFill>
                <a:srgbClr val="FF0000"/>
              </a:solidFill>
            </a:endParaRPr>
          </a:p>
        </p:txBody>
      </p:sp>
      <p:sp>
        <p:nvSpPr>
          <p:cNvPr id="129027" name="Slide Number Placeholder 3">
            <a:extLst>
              <a:ext uri="{FF2B5EF4-FFF2-40B4-BE49-F238E27FC236}">
                <a16:creationId xmlns:a16="http://schemas.microsoft.com/office/drawing/2014/main" id="{399EFB85-6DD7-F644-BAA5-B21F7742B8E7}"/>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pPr algn="r" eaLnBrk="1" hangingPunct="1"/>
            <a:fld id="{91617F25-5DD8-5F45-8F76-4E8795868C8E}" type="slidenum">
              <a:rPr lang="en-US" altLang="en-US" sz="1200">
                <a:latin typeface="Arial" panose="020B0604020202020204" pitchFamily="34" charset="0"/>
              </a:rPr>
              <a:pPr algn="r" eaLnBrk="1" hangingPunct="1"/>
              <a:t>61</a:t>
            </a:fld>
            <a:endParaRPr lang="en-US" altLang="en-US" sz="1200">
              <a:latin typeface="Arial" panose="020B0604020202020204" pitchFamily="34" charset="0"/>
            </a:endParaRPr>
          </a:p>
        </p:txBody>
      </p:sp>
    </p:spTree>
    <p:extLst>
      <p:ext uri="{BB962C8B-B14F-4D97-AF65-F5344CB8AC3E}">
        <p14:creationId xmlns:p14="http://schemas.microsoft.com/office/powerpoint/2010/main" val="46022312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a:extLst>
              <a:ext uri="{FF2B5EF4-FFF2-40B4-BE49-F238E27FC236}">
                <a16:creationId xmlns:a16="http://schemas.microsoft.com/office/drawing/2014/main" id="{E03177E6-EAD6-0849-A51F-2C1B7CF4C4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4" name="Rectangle 3">
            <a:extLst>
              <a:ext uri="{FF2B5EF4-FFF2-40B4-BE49-F238E27FC236}">
                <a16:creationId xmlns:a16="http://schemas.microsoft.com/office/drawing/2014/main" id="{67297F20-A2A2-CE46-85AF-CA8B698818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extLst>
      <p:ext uri="{BB962C8B-B14F-4D97-AF65-F5344CB8AC3E}">
        <p14:creationId xmlns:p14="http://schemas.microsoft.com/office/powerpoint/2010/main" val="36227957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Slide Image Placeholder 1">
            <a:extLst>
              <a:ext uri="{FF2B5EF4-FFF2-40B4-BE49-F238E27FC236}">
                <a16:creationId xmlns:a16="http://schemas.microsoft.com/office/drawing/2014/main" id="{BBFA770D-2871-FC4B-A483-0C20925363B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2" name="Notes Placeholder 2">
            <a:extLst>
              <a:ext uri="{FF2B5EF4-FFF2-40B4-BE49-F238E27FC236}">
                <a16:creationId xmlns:a16="http://schemas.microsoft.com/office/drawing/2014/main" id="{A7D0ECB8-FE25-F545-B9E0-DC75C803929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33123" name="Slide Number Placeholder 3">
            <a:extLst>
              <a:ext uri="{FF2B5EF4-FFF2-40B4-BE49-F238E27FC236}">
                <a16:creationId xmlns:a16="http://schemas.microsoft.com/office/drawing/2014/main" id="{5D7D2986-B939-4A4D-A50F-0DA03C1A4595}"/>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pPr algn="r" eaLnBrk="1" hangingPunct="1"/>
            <a:fld id="{AD3CD1CB-4184-6740-B229-86036052C426}" type="slidenum">
              <a:rPr lang="en-US" altLang="en-US" sz="1200">
                <a:latin typeface="Arial" panose="020B0604020202020204" pitchFamily="34" charset="0"/>
              </a:rPr>
              <a:pPr algn="r" eaLnBrk="1" hangingPunct="1"/>
              <a:t>63</a:t>
            </a:fld>
            <a:endParaRPr lang="en-US" altLang="en-US" sz="1200">
              <a:latin typeface="Arial" panose="020B0604020202020204" pitchFamily="34" charset="0"/>
            </a:endParaRPr>
          </a:p>
        </p:txBody>
      </p:sp>
    </p:spTree>
    <p:extLst>
      <p:ext uri="{BB962C8B-B14F-4D97-AF65-F5344CB8AC3E}">
        <p14:creationId xmlns:p14="http://schemas.microsoft.com/office/powerpoint/2010/main" val="4891641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a:extLst>
              <a:ext uri="{FF2B5EF4-FFF2-40B4-BE49-F238E27FC236}">
                <a16:creationId xmlns:a16="http://schemas.microsoft.com/office/drawing/2014/main" id="{BEBCD37A-2576-0943-ACBF-86FABC4942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0" name="Rectangle 3">
            <a:extLst>
              <a:ext uri="{FF2B5EF4-FFF2-40B4-BE49-F238E27FC236}">
                <a16:creationId xmlns:a16="http://schemas.microsoft.com/office/drawing/2014/main" id="{4B0930C0-C360-564D-B395-60E215C6AB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extLst>
      <p:ext uri="{BB962C8B-B14F-4D97-AF65-F5344CB8AC3E}">
        <p14:creationId xmlns:p14="http://schemas.microsoft.com/office/powerpoint/2010/main" val="397832053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Slide Image Placeholder 1">
            <a:extLst>
              <a:ext uri="{FF2B5EF4-FFF2-40B4-BE49-F238E27FC236}">
                <a16:creationId xmlns:a16="http://schemas.microsoft.com/office/drawing/2014/main" id="{712C571C-CA8F-BD42-A83B-57D0D5B5F2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8" name="Notes Placeholder 2">
            <a:extLst>
              <a:ext uri="{FF2B5EF4-FFF2-40B4-BE49-F238E27FC236}">
                <a16:creationId xmlns:a16="http://schemas.microsoft.com/office/drawing/2014/main" id="{D4D24B2D-D267-D74F-A6C1-8AEFBE6146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7219" name="Slide Number Placeholder 3">
            <a:extLst>
              <a:ext uri="{FF2B5EF4-FFF2-40B4-BE49-F238E27FC236}">
                <a16:creationId xmlns:a16="http://schemas.microsoft.com/office/drawing/2014/main" id="{C7A94BEB-480E-904A-A06D-BD0847B8C19E}"/>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pPr algn="r" eaLnBrk="1" hangingPunct="1"/>
            <a:fld id="{DE78E2EC-A8FD-7141-8E06-95B9707C28AE}" type="slidenum">
              <a:rPr lang="en-US" altLang="en-US" sz="1200">
                <a:latin typeface="Arial" panose="020B0604020202020204" pitchFamily="34" charset="0"/>
              </a:rPr>
              <a:pPr algn="r" eaLnBrk="1" hangingPunct="1"/>
              <a:t>65</a:t>
            </a:fld>
            <a:endParaRPr lang="en-US" altLang="en-US" sz="1200">
              <a:latin typeface="Arial" panose="020B0604020202020204" pitchFamily="34" charset="0"/>
            </a:endParaRPr>
          </a:p>
        </p:txBody>
      </p:sp>
    </p:spTree>
    <p:extLst>
      <p:ext uri="{BB962C8B-B14F-4D97-AF65-F5344CB8AC3E}">
        <p14:creationId xmlns:p14="http://schemas.microsoft.com/office/powerpoint/2010/main" val="298163292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a:extLst>
              <a:ext uri="{FF2B5EF4-FFF2-40B4-BE49-F238E27FC236}">
                <a16:creationId xmlns:a16="http://schemas.microsoft.com/office/drawing/2014/main" id="{7E63B7A9-8104-6F46-9F86-5763599DE3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9266" name="Rectangle 3">
            <a:extLst>
              <a:ext uri="{FF2B5EF4-FFF2-40B4-BE49-F238E27FC236}">
                <a16:creationId xmlns:a16="http://schemas.microsoft.com/office/drawing/2014/main" id="{F75749B6-79B6-0B47-8676-FFDE6D95CBA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extLst>
      <p:ext uri="{BB962C8B-B14F-4D97-AF65-F5344CB8AC3E}">
        <p14:creationId xmlns:p14="http://schemas.microsoft.com/office/powerpoint/2010/main" val="713202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1851660"/>
            <a:ext cx="12192000" cy="37719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10" name="Rectangle 9"/>
          <p:cNvSpPr/>
          <p:nvPr/>
        </p:nvSpPr>
        <p:spPr>
          <a:xfrm>
            <a:off x="-1" y="701802"/>
            <a:ext cx="12192001" cy="10332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1"/>
          <p:cNvSpPr>
            <a:spLocks noGrp="1"/>
          </p:cNvSpPr>
          <p:nvPr>
            <p:ph type="ctrTitle" hasCustomPrompt="1"/>
          </p:nvPr>
        </p:nvSpPr>
        <p:spPr bwMode="black">
          <a:xfrm>
            <a:off x="882217" y="2200275"/>
            <a:ext cx="6421553" cy="3074670"/>
          </a:xfrm>
          <a:noFill/>
        </p:spPr>
        <p:txBody>
          <a:bodyPr lIns="0" tIns="0" rIns="0" bIns="0" anchor="ctr" anchorCtr="0">
            <a:normAutofit/>
          </a:bodyPr>
          <a:lstStyle>
            <a:lvl1pPr algn="l">
              <a:lnSpc>
                <a:spcPct val="90000"/>
              </a:lnSpc>
              <a:defRPr sz="6000"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882217" y="845820"/>
            <a:ext cx="6524423" cy="777639"/>
          </a:xfrm>
        </p:spPr>
        <p:txBody>
          <a:bodyPr lIns="0" tIns="0" rIns="0" bIns="0" anchor="ctr" anchorCtr="0">
            <a:normAutofit/>
          </a:bodyPr>
          <a:lstStyle>
            <a:lvl1pPr marL="0" indent="0" algn="l">
              <a:spcBef>
                <a:spcPts val="0"/>
              </a:spcBef>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endParaRPr dirty="0"/>
          </a:p>
        </p:txBody>
      </p:sp>
      <p:sp>
        <p:nvSpPr>
          <p:cNvPr id="7" name="Picture Placeholder 6">
            <a:extLst>
              <a:ext uri="{FF2B5EF4-FFF2-40B4-BE49-F238E27FC236}">
                <a16:creationId xmlns:a16="http://schemas.microsoft.com/office/drawing/2014/main" id="{EC9CFE91-0E8B-934B-8D25-5CBB7FD65D50}"/>
              </a:ext>
            </a:extLst>
          </p:cNvPr>
          <p:cNvSpPr>
            <a:spLocks noGrp="1"/>
          </p:cNvSpPr>
          <p:nvPr>
            <p:ph type="pic" sz="quarter" idx="10"/>
          </p:nvPr>
        </p:nvSpPr>
        <p:spPr>
          <a:xfrm>
            <a:off x="8100060" y="388500"/>
            <a:ext cx="3604981" cy="6081000"/>
          </a:xfrm>
        </p:spPr>
        <p:txBody>
          <a:bodyPr/>
          <a:lstStyle/>
          <a:p>
            <a:endParaRPr lang="en-US"/>
          </a:p>
        </p:txBody>
      </p:sp>
      <p:sp>
        <p:nvSpPr>
          <p:cNvPr id="17" name="Rectangle 16">
            <a:extLst>
              <a:ext uri="{FF2B5EF4-FFF2-40B4-BE49-F238E27FC236}">
                <a16:creationId xmlns:a16="http://schemas.microsoft.com/office/drawing/2014/main" id="{BEEECFBC-FB4D-9945-A4FF-28E342055AC3}"/>
              </a:ext>
            </a:extLst>
          </p:cNvPr>
          <p:cNvSpPr/>
          <p:nvPr userDrawn="1"/>
        </p:nvSpPr>
        <p:spPr>
          <a:xfrm>
            <a:off x="0" y="6503670"/>
            <a:ext cx="12192000" cy="215444"/>
          </a:xfrm>
          <a:prstGeom prst="rect">
            <a:avLst/>
          </a:prstGeom>
        </p:spPr>
        <p:txBody>
          <a:bodyPr wrap="square">
            <a:spAutoFit/>
          </a:bodyPr>
          <a:lstStyle/>
          <a:p>
            <a:pPr algn="ctr"/>
            <a:r>
              <a:rPr lang="en-US" sz="800" dirty="0">
                <a:solidFill>
                  <a:schemeClr val="bg2"/>
                </a:solidFill>
                <a:latin typeface="Arial" panose="020B0604020202020204" pitchFamily="34" charset="0"/>
                <a:cs typeface="Arial" panose="020B0604020202020204" pitchFamily="34" charset="0"/>
              </a:rPr>
              <a:t>Copyright © 2022 by Jones &amp; Bartlett Learning, LLC an Ascend Learning Company. </a:t>
            </a:r>
            <a:r>
              <a:rPr lang="en-US" sz="800" dirty="0" err="1">
                <a:solidFill>
                  <a:schemeClr val="bg2"/>
                </a:solidFill>
                <a:latin typeface="Arial" panose="020B0604020202020204" pitchFamily="34" charset="0"/>
                <a:cs typeface="Arial" panose="020B0604020202020204" pitchFamily="34" charset="0"/>
              </a:rPr>
              <a:t>www.jblearning.com</a:t>
            </a:r>
            <a:r>
              <a:rPr lang="en-US" sz="800" dirty="0">
                <a:solidFill>
                  <a:schemeClr val="bg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E3BDFD-7FA5-2143-88E5-0CEE0A6011AD}"/>
              </a:ext>
            </a:extLst>
          </p:cNvPr>
          <p:cNvSpPr/>
          <p:nvPr userDrawn="1"/>
        </p:nvSpPr>
        <p:spPr>
          <a:xfrm>
            <a:off x="0" y="6503670"/>
            <a:ext cx="12192000" cy="215444"/>
          </a:xfrm>
          <a:prstGeom prst="rect">
            <a:avLst/>
          </a:prstGeom>
        </p:spPr>
        <p:txBody>
          <a:bodyPr wrap="square">
            <a:spAutoFit/>
          </a:bodyPr>
          <a:lstStyle/>
          <a:p>
            <a:pPr algn="ctr"/>
            <a:r>
              <a:rPr lang="en-US" sz="800" dirty="0">
                <a:latin typeface="Arial" panose="020B0604020202020204" pitchFamily="34" charset="0"/>
                <a:cs typeface="Arial" panose="020B0604020202020204" pitchFamily="34" charset="0"/>
              </a:rPr>
              <a:t>Copyright © 2020 by Jones &amp; Bartlett Learning, LLC an Ascend Learning Company. www.jblearning.com. Background texture © </a:t>
            </a:r>
            <a:r>
              <a:rPr lang="en-US" sz="800" dirty="0" err="1">
                <a:latin typeface="Arial" panose="020B0604020202020204" pitchFamily="34" charset="0"/>
                <a:cs typeface="Arial" panose="020B0604020202020204" pitchFamily="34" charset="0"/>
              </a:rPr>
              <a:t>Bunphot</a:t>
            </a:r>
            <a:r>
              <a:rPr lang="en-US" sz="800" dirty="0">
                <a:latin typeface="Arial" panose="020B0604020202020204" pitchFamily="34" charset="0"/>
                <a:cs typeface="Arial" panose="020B0604020202020204" pitchFamily="34" charset="0"/>
              </a:rPr>
              <a:t>/Getty Images.</a:t>
            </a:r>
          </a:p>
        </p:txBody>
      </p:sp>
      <p:sp>
        <p:nvSpPr>
          <p:cNvPr id="6" name="Rectangle 5">
            <a:extLst>
              <a:ext uri="{FF2B5EF4-FFF2-40B4-BE49-F238E27FC236}">
                <a16:creationId xmlns:a16="http://schemas.microsoft.com/office/drawing/2014/main" id="{A4FD052D-18CE-1249-A891-AB3E165F4441}"/>
              </a:ext>
            </a:extLst>
          </p:cNvPr>
          <p:cNvSpPr/>
          <p:nvPr userDrawn="1"/>
        </p:nvSpPr>
        <p:spPr>
          <a:xfrm>
            <a:off x="0" y="2274570"/>
            <a:ext cx="12192000" cy="176022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8C0E0F34-F7A9-8D4B-9F49-A76F8B00661D}"/>
              </a:ext>
            </a:extLst>
          </p:cNvPr>
          <p:cNvSpPr>
            <a:spLocks noGrp="1"/>
          </p:cNvSpPr>
          <p:nvPr>
            <p:ph type="body" sz="quarter" idx="10" hasCustomPrompt="1"/>
          </p:nvPr>
        </p:nvSpPr>
        <p:spPr>
          <a:xfrm>
            <a:off x="935038" y="2571750"/>
            <a:ext cx="10321925" cy="1165225"/>
          </a:xfrm>
        </p:spPr>
        <p:txBody>
          <a:bodyPr anchor="ctr" anchorCtr="0"/>
          <a:lstStyle>
            <a:lvl1pPr marL="0" indent="0" algn="ctr">
              <a:buNone/>
              <a:defRPr sz="4800" b="1">
                <a:solidFill>
                  <a:srgbClr val="FFFFFF"/>
                </a:solidFill>
              </a:defRPr>
            </a:lvl1pPr>
          </a:lstStyle>
          <a:p>
            <a:pPr lvl="0"/>
            <a:r>
              <a:rPr lang="en-US" dirty="0"/>
              <a:t>Divider</a:t>
            </a: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
        <p:nvSpPr>
          <p:cNvPr id="3" name="Content Placeholder 2"/>
          <p:cNvSpPr>
            <a:spLocks noGrp="1"/>
          </p:cNvSpPr>
          <p:nvPr>
            <p:ph idx="1"/>
          </p:nvPr>
        </p:nvSpPr>
        <p:spPr>
          <a:xfrm>
            <a:off x="925830" y="1490870"/>
            <a:ext cx="10287000" cy="469904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
        <p:nvSpPr>
          <p:cNvPr id="3" name="Content Placeholder 2"/>
          <p:cNvSpPr>
            <a:spLocks noGrp="1"/>
          </p:cNvSpPr>
          <p:nvPr>
            <p:ph sz="half" idx="1"/>
          </p:nvPr>
        </p:nvSpPr>
        <p:spPr>
          <a:xfrm>
            <a:off x="914400" y="1461052"/>
            <a:ext cx="4855464" cy="47294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6415368" y="1461052"/>
            <a:ext cx="4862232" cy="47294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3" name="Text Placeholder 2"/>
          <p:cNvSpPr>
            <a:spLocks noGrp="1"/>
          </p:cNvSpPr>
          <p:nvPr>
            <p:ph type="body" idx="1"/>
          </p:nvPr>
        </p:nvSpPr>
        <p:spPr>
          <a:xfrm>
            <a:off x="777240" y="1496187"/>
            <a:ext cx="4992624" cy="470916"/>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777240" y="2077278"/>
            <a:ext cx="4992624" cy="43908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1" name="Picture Placeholder 10">
            <a:extLst>
              <a:ext uri="{FF2B5EF4-FFF2-40B4-BE49-F238E27FC236}">
                <a16:creationId xmlns:a16="http://schemas.microsoft.com/office/drawing/2014/main" id="{A3169499-437D-8F4D-94AA-E2299357328F}"/>
              </a:ext>
            </a:extLst>
          </p:cNvPr>
          <p:cNvSpPr>
            <a:spLocks noGrp="1"/>
          </p:cNvSpPr>
          <p:nvPr>
            <p:ph type="pic" sz="quarter" idx="10"/>
          </p:nvPr>
        </p:nvSpPr>
        <p:spPr>
          <a:xfrm>
            <a:off x="6096000" y="1496186"/>
            <a:ext cx="5208588" cy="4556743"/>
          </a:xfrm>
        </p:spPr>
        <p:txBody>
          <a:bodyPr/>
          <a:lstStyle/>
          <a:p>
            <a:endParaRPr lang="en-US"/>
          </a:p>
        </p:txBody>
      </p:sp>
      <p:sp>
        <p:nvSpPr>
          <p:cNvPr id="12" name="Text Placeholder 8">
            <a:extLst>
              <a:ext uri="{FF2B5EF4-FFF2-40B4-BE49-F238E27FC236}">
                <a16:creationId xmlns:a16="http://schemas.microsoft.com/office/drawing/2014/main" id="{B116746D-2971-C346-AB96-03BED323E049}"/>
              </a:ext>
            </a:extLst>
          </p:cNvPr>
          <p:cNvSpPr>
            <a:spLocks noGrp="1"/>
          </p:cNvSpPr>
          <p:nvPr>
            <p:ph type="body" sz="quarter" idx="11" hasCustomPrompt="1"/>
          </p:nvPr>
        </p:nvSpPr>
        <p:spPr>
          <a:xfrm>
            <a:off x="6096000" y="6142515"/>
            <a:ext cx="5208588" cy="651192"/>
          </a:xfrm>
        </p:spPr>
        <p:txBody>
          <a:bodyPr/>
          <a:lstStyle>
            <a:lvl1pPr marL="0" indent="0">
              <a:buNone/>
              <a:defRPr sz="1000"/>
            </a:lvl1pPr>
          </a:lstStyle>
          <a:p>
            <a:pPr lvl="0"/>
            <a:r>
              <a:rPr lang="en-US" dirty="0"/>
              <a:t>Credit line FPO</a:t>
            </a: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880110" y="1510748"/>
            <a:ext cx="4246582" cy="4404625"/>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Text Placeholder 8">
            <a:extLst>
              <a:ext uri="{FF2B5EF4-FFF2-40B4-BE49-F238E27FC236}">
                <a16:creationId xmlns:a16="http://schemas.microsoft.com/office/drawing/2014/main" id="{752B3F09-47B3-324C-BCD8-DE2A52443CC0}"/>
              </a:ext>
            </a:extLst>
          </p:cNvPr>
          <p:cNvSpPr>
            <a:spLocks noGrp="1"/>
          </p:cNvSpPr>
          <p:nvPr>
            <p:ph type="body" sz="quarter" idx="10" hasCustomPrompt="1"/>
          </p:nvPr>
        </p:nvSpPr>
        <p:spPr>
          <a:xfrm>
            <a:off x="5518150" y="6046788"/>
            <a:ext cx="5792992" cy="651192"/>
          </a:xfrm>
        </p:spPr>
        <p:txBody>
          <a:bodyPr/>
          <a:lstStyle>
            <a:lvl1pPr marL="0" indent="0">
              <a:buNone/>
              <a:defRPr sz="1000"/>
            </a:lvl1pPr>
          </a:lstStyle>
          <a:p>
            <a:pPr lvl="0"/>
            <a:r>
              <a:rPr lang="en-US" dirty="0"/>
              <a:t>Credit line FPO</a:t>
            </a:r>
          </a:p>
        </p:txBody>
      </p:sp>
      <p:sp>
        <p:nvSpPr>
          <p:cNvPr id="11" name="Picture Placeholder 10">
            <a:extLst>
              <a:ext uri="{FF2B5EF4-FFF2-40B4-BE49-F238E27FC236}">
                <a16:creationId xmlns:a16="http://schemas.microsoft.com/office/drawing/2014/main" id="{8A3226D5-00A8-E049-8469-4BFBE39DD467}"/>
              </a:ext>
            </a:extLst>
          </p:cNvPr>
          <p:cNvSpPr>
            <a:spLocks noGrp="1"/>
          </p:cNvSpPr>
          <p:nvPr>
            <p:ph type="pic" sz="quarter" idx="11"/>
          </p:nvPr>
        </p:nvSpPr>
        <p:spPr>
          <a:xfrm>
            <a:off x="5518150" y="1508815"/>
            <a:ext cx="5792788" cy="4404624"/>
          </a:xfrm>
        </p:spPr>
        <p:txBody>
          <a:bodyPr/>
          <a:lstStyle/>
          <a:p>
            <a:endParaRPr lang="en-US"/>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3" name="Content Placeholder 3"/>
          <p:cNvSpPr>
            <a:spLocks noGrp="1"/>
          </p:cNvSpPr>
          <p:nvPr>
            <p:ph idx="1" hasCustomPrompt="1"/>
          </p:nvPr>
        </p:nvSpPr>
        <p:spPr>
          <a:xfrm>
            <a:off x="921496" y="1461052"/>
            <a:ext cx="3181874" cy="4895328"/>
          </a:xfrm>
        </p:spPr>
        <p:txBody>
          <a:bodyPr>
            <a:normAutofit/>
          </a:bodyPr>
          <a:lstStyle>
            <a:lvl1pPr marL="0" indent="0">
              <a:buNone/>
              <a:defRPr sz="2200"/>
            </a:lvl1pPr>
            <a:lvl2pPr marL="457200" indent="0">
              <a:buNone/>
              <a:defRPr sz="2000"/>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dirty="0"/>
              <a:t>Sample text</a:t>
            </a:r>
            <a:endParaRPr dirty="0"/>
          </a:p>
        </p:txBody>
      </p:sp>
      <p:sp>
        <p:nvSpPr>
          <p:cNvPr id="7" name="Content Placeholder 3">
            <a:extLst>
              <a:ext uri="{FF2B5EF4-FFF2-40B4-BE49-F238E27FC236}">
                <a16:creationId xmlns:a16="http://schemas.microsoft.com/office/drawing/2014/main" id="{40A1ED7B-82D7-5A47-A193-C7C24693D3C4}"/>
              </a:ext>
            </a:extLst>
          </p:cNvPr>
          <p:cNvSpPr>
            <a:spLocks noGrp="1"/>
          </p:cNvSpPr>
          <p:nvPr>
            <p:ph idx="10" hasCustomPrompt="1"/>
          </p:nvPr>
        </p:nvSpPr>
        <p:spPr>
          <a:xfrm>
            <a:off x="448765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
        <p:nvSpPr>
          <p:cNvPr id="8" name="Content Placeholder 3">
            <a:extLst>
              <a:ext uri="{FF2B5EF4-FFF2-40B4-BE49-F238E27FC236}">
                <a16:creationId xmlns:a16="http://schemas.microsoft.com/office/drawing/2014/main" id="{43872FE9-5E92-4F44-8A71-024A081C439C}"/>
              </a:ext>
            </a:extLst>
          </p:cNvPr>
          <p:cNvSpPr>
            <a:spLocks noGrp="1"/>
          </p:cNvSpPr>
          <p:nvPr>
            <p:ph idx="11" hasCustomPrompt="1"/>
          </p:nvPr>
        </p:nvSpPr>
        <p:spPr>
          <a:xfrm>
            <a:off x="805381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Tree>
    <p:extLst>
      <p:ext uri="{BB962C8B-B14F-4D97-AF65-F5344CB8AC3E}">
        <p14:creationId xmlns:p14="http://schemas.microsoft.com/office/powerpoint/2010/main" val="311169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2188952" cy="1188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Placeholder 1"/>
          <p:cNvSpPr>
            <a:spLocks noGrp="1"/>
          </p:cNvSpPr>
          <p:nvPr>
            <p:ph type="title"/>
          </p:nvPr>
        </p:nvSpPr>
        <p:spPr bwMode="black">
          <a:xfrm>
            <a:off x="0" y="121033"/>
            <a:ext cx="12192000" cy="1002089"/>
          </a:xfrm>
          <a:prstGeom prst="rect">
            <a:avLst/>
          </a:prstGeom>
          <a:solidFill>
            <a:srgbClr val="003B74"/>
          </a:solidFill>
        </p:spPr>
        <p:txBody>
          <a:bodyPr vert="horz" lIns="914400" tIns="45720" rIns="914400" bIns="45720" rtlCol="0" anchor="ctr">
            <a:normAutofit/>
          </a:bodyPr>
          <a:lstStyle/>
          <a:p>
            <a:r>
              <a:rPr lang="en-US" dirty="0"/>
              <a:t>Click to edit Master title style</a:t>
            </a:r>
            <a:endParaRPr dirty="0"/>
          </a:p>
        </p:txBody>
      </p:sp>
      <p:sp>
        <p:nvSpPr>
          <p:cNvPr id="3" name="Text Placeholder 2"/>
          <p:cNvSpPr>
            <a:spLocks noGrp="1"/>
          </p:cNvSpPr>
          <p:nvPr>
            <p:ph type="body" idx="1"/>
          </p:nvPr>
        </p:nvSpPr>
        <p:spPr>
          <a:xfrm>
            <a:off x="891540" y="2203704"/>
            <a:ext cx="10435590" cy="398621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Rectangle 6">
            <a:extLst>
              <a:ext uri="{FF2B5EF4-FFF2-40B4-BE49-F238E27FC236}">
                <a16:creationId xmlns:a16="http://schemas.microsoft.com/office/drawing/2014/main" id="{21F38BD8-3F75-CE4C-AFEF-0C6B45F77F8C}"/>
              </a:ext>
            </a:extLst>
          </p:cNvPr>
          <p:cNvSpPr/>
          <p:nvPr userDrawn="1"/>
        </p:nvSpPr>
        <p:spPr>
          <a:xfrm rot="5400000">
            <a:off x="9544258" y="4245031"/>
            <a:ext cx="5010495" cy="21544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Copyright © 2022 by Jones &amp; Bartlett Learning, LLC an Ascend Learning Company. </a:t>
            </a:r>
            <a:r>
              <a:rPr lang="en-US" sz="800" dirty="0" err="1">
                <a:latin typeface="Arial" panose="020B0604020202020204" pitchFamily="34" charset="0"/>
                <a:cs typeface="Arial" panose="020B0604020202020204" pitchFamily="34" charset="0"/>
              </a:rPr>
              <a:t>www.jblearning.com</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3" r:id="rId5"/>
    <p:sldLayoutId id="2147483654" r:id="rId6"/>
    <p:sldLayoutId id="2147483656" r:id="rId7"/>
    <p:sldLayoutId id="2147483657"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b="1" kern="1200">
          <a:solidFill>
            <a:schemeClr val="bg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a16="http://schemas.microsoft.com/office/drawing/2014/main" id="{CF4F1586-DE6A-1A40-AEF4-23ADA41937E4}"/>
              </a:ext>
            </a:extLst>
          </p:cNvPr>
          <p:cNvSpPr>
            <a:spLocks noGrp="1"/>
          </p:cNvSpPr>
          <p:nvPr>
            <p:ph type="subTitle" idx="1"/>
          </p:nvPr>
        </p:nvSpPr>
        <p:spPr/>
        <p:txBody>
          <a:bodyPr/>
          <a:lstStyle/>
          <a:p>
            <a:r>
              <a:rPr lang="en-US" dirty="0"/>
              <a:t>CHAPTER 16</a:t>
            </a:r>
          </a:p>
        </p:txBody>
      </p:sp>
      <p:sp>
        <p:nvSpPr>
          <p:cNvPr id="19" name="Title 18">
            <a:extLst>
              <a:ext uri="{FF2B5EF4-FFF2-40B4-BE49-F238E27FC236}">
                <a16:creationId xmlns:a16="http://schemas.microsoft.com/office/drawing/2014/main" id="{A58A35F8-EA88-094E-8EAD-88FE6A07C447}"/>
              </a:ext>
            </a:extLst>
          </p:cNvPr>
          <p:cNvSpPr>
            <a:spLocks noGrp="1"/>
          </p:cNvSpPr>
          <p:nvPr>
            <p:ph type="ctrTitle"/>
          </p:nvPr>
        </p:nvSpPr>
        <p:spPr/>
        <p:txBody>
          <a:bodyPr/>
          <a:lstStyle/>
          <a:p>
            <a:r>
              <a:rPr lang="en-US" dirty="0"/>
              <a:t>Childbirth</a:t>
            </a:r>
          </a:p>
        </p:txBody>
      </p:sp>
      <p:pic>
        <p:nvPicPr>
          <p:cNvPr id="5" name="Picture 4" descr="A cover page shows the logo of A A O S on the left end with the text American Academy of Orthopaedic Surgeons below it. The book title reads, Seventh Edition, Emergency Medical Responder, Your First Response in Emergency Care, authored by David Schottke; Series Editor: Andrew N. Pollak, MD, FAAOS . At the bottom is the logo of Navigate eBook.">
            <a:extLst>
              <a:ext uri="{FF2B5EF4-FFF2-40B4-BE49-F238E27FC236}">
                <a16:creationId xmlns:a16="http://schemas.microsoft.com/office/drawing/2014/main" id="{A8280651-A45A-1342-9DDA-D8CFB0746F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73715" y="0"/>
            <a:ext cx="5618285" cy="6858000"/>
          </a:xfrm>
          <a:prstGeom prst="rect">
            <a:avLst/>
          </a:prstGeom>
        </p:spPr>
      </p:pic>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a:extLst>
              <a:ext uri="{FF2B5EF4-FFF2-40B4-BE49-F238E27FC236}">
                <a16:creationId xmlns:a16="http://schemas.microsoft.com/office/drawing/2014/main" id="{4D7A492F-9EE6-4D4B-A7F6-35133B9AB005}"/>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(1 of 6)</a:t>
            </a:r>
          </a:p>
        </p:txBody>
      </p:sp>
      <p:sp>
        <p:nvSpPr>
          <p:cNvPr id="5122" name="Rectangle 3">
            <a:extLst>
              <a:ext uri="{FF2B5EF4-FFF2-40B4-BE49-F238E27FC236}">
                <a16:creationId xmlns:a16="http://schemas.microsoft.com/office/drawing/2014/main" id="{F3070179-2A3E-324F-A22F-977E570775E6}"/>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0" indent="0">
              <a:buNone/>
            </a:pPr>
            <a:r>
              <a:rPr lang="en-US" altLang="en-US" dirty="0">
                <a:latin typeface="Arial Black" panose="020B0604020202020204" pitchFamily="34" charset="0"/>
              </a:rPr>
              <a:t>Special Patient Populations:</a:t>
            </a:r>
          </a:p>
          <a:p>
            <a:pPr marL="0" indent="0">
              <a:spcBef>
                <a:spcPct val="35000"/>
              </a:spcBef>
              <a:buNone/>
            </a:pPr>
            <a:r>
              <a:rPr lang="en-US" altLang="en-US" dirty="0"/>
              <a:t>Recognizes and manages life threats based on simple assessment findings for a patient with special needs while awaiting additional emergency response.</a:t>
            </a:r>
          </a:p>
        </p:txBody>
      </p:sp>
    </p:spTree>
    <p:extLst>
      <p:ext uri="{BB962C8B-B14F-4D97-AF65-F5344CB8AC3E}">
        <p14:creationId xmlns:p14="http://schemas.microsoft.com/office/powerpoint/2010/main" val="777214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a:extLst>
              <a:ext uri="{FF2B5EF4-FFF2-40B4-BE49-F238E27FC236}">
                <a16:creationId xmlns:a16="http://schemas.microsoft.com/office/drawing/2014/main" id="{9F682236-33E5-184C-BA8B-A3E82641DA8F}"/>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(2 of 6)</a:t>
            </a:r>
          </a:p>
        </p:txBody>
      </p:sp>
      <p:sp>
        <p:nvSpPr>
          <p:cNvPr id="7170" name="Rectangle 3">
            <a:extLst>
              <a:ext uri="{FF2B5EF4-FFF2-40B4-BE49-F238E27FC236}">
                <a16:creationId xmlns:a16="http://schemas.microsoft.com/office/drawing/2014/main" id="{E3CDA424-18C3-6044-A51D-A3BBA8E341DC}"/>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buFontTx/>
              <a:buNone/>
            </a:pPr>
            <a:r>
              <a:rPr lang="en-US" altLang="en-US" dirty="0">
                <a:latin typeface="Arial Black" panose="020B0604020202020204" pitchFamily="34" charset="0"/>
              </a:rPr>
              <a:t>Obstetrics:</a:t>
            </a:r>
          </a:p>
          <a:p>
            <a:pPr eaLnBrk="1" hangingPunct="1">
              <a:spcBef>
                <a:spcPct val="35000"/>
              </a:spcBef>
              <a:buFontTx/>
              <a:buNone/>
            </a:pPr>
            <a:r>
              <a:rPr lang="en-US" altLang="en-US" dirty="0"/>
              <a:t>Recognition and management of:</a:t>
            </a:r>
          </a:p>
          <a:p>
            <a:pPr eaLnBrk="1" hangingPunct="1">
              <a:spcBef>
                <a:spcPct val="35000"/>
              </a:spcBef>
            </a:pPr>
            <a:r>
              <a:rPr lang="en-US" altLang="en-US" dirty="0"/>
              <a:t>Normal delivery.</a:t>
            </a:r>
          </a:p>
          <a:p>
            <a:pPr eaLnBrk="1" hangingPunct="1">
              <a:spcBef>
                <a:spcPct val="35000"/>
              </a:spcBef>
            </a:pPr>
            <a:r>
              <a:rPr lang="en-US" altLang="en-US" dirty="0"/>
              <a:t>Vaginal bleeding in pregnant patient.</a:t>
            </a:r>
          </a:p>
          <a:p>
            <a:pPr eaLnBrk="1" hangingPunct="1">
              <a:spcBef>
                <a:spcPct val="100000"/>
              </a:spcBef>
              <a:buFontTx/>
              <a:buNone/>
            </a:pPr>
            <a:r>
              <a:rPr lang="en-US" altLang="en-US" dirty="0">
                <a:latin typeface="Arial Black" panose="020B0604020202020204" pitchFamily="34" charset="0"/>
              </a:rPr>
              <a:t>Neonatal Care:</a:t>
            </a:r>
          </a:p>
          <a:p>
            <a:pPr eaLnBrk="1" hangingPunct="1">
              <a:spcBef>
                <a:spcPct val="35000"/>
              </a:spcBef>
            </a:pPr>
            <a:r>
              <a:rPr lang="en-US" altLang="en-US" dirty="0"/>
              <a:t>Newborn care.</a:t>
            </a:r>
          </a:p>
          <a:p>
            <a:pPr eaLnBrk="1" hangingPunct="1">
              <a:spcBef>
                <a:spcPct val="35000"/>
              </a:spcBef>
            </a:pPr>
            <a:r>
              <a:rPr lang="en-US" altLang="en-US" dirty="0"/>
              <a:t>Neonatal resuscitation.</a:t>
            </a:r>
          </a:p>
        </p:txBody>
      </p:sp>
    </p:spTree>
    <p:extLst>
      <p:ext uri="{BB962C8B-B14F-4D97-AF65-F5344CB8AC3E}">
        <p14:creationId xmlns:p14="http://schemas.microsoft.com/office/powerpoint/2010/main" val="3078380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2">
            <a:extLst>
              <a:ext uri="{FF2B5EF4-FFF2-40B4-BE49-F238E27FC236}">
                <a16:creationId xmlns:a16="http://schemas.microsoft.com/office/drawing/2014/main" id="{16E5BF56-F5E1-7B46-92E1-146175253EBF}"/>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(3 of 6)</a:t>
            </a:r>
          </a:p>
        </p:txBody>
      </p:sp>
      <p:sp>
        <p:nvSpPr>
          <p:cNvPr id="9218" name="Rectangle 3">
            <a:extLst>
              <a:ext uri="{FF2B5EF4-FFF2-40B4-BE49-F238E27FC236}">
                <a16:creationId xmlns:a16="http://schemas.microsoft.com/office/drawing/2014/main" id="{403DE12B-4FE9-FC4D-9A3A-54C577CE5BA4}"/>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0" indent="0">
              <a:buNone/>
            </a:pPr>
            <a:r>
              <a:rPr lang="en-US" altLang="en-US" dirty="0">
                <a:latin typeface="Arial Black" panose="020B0604020202020204" pitchFamily="34" charset="0"/>
              </a:rPr>
              <a:t>Medicine:</a:t>
            </a:r>
          </a:p>
          <a:p>
            <a:pPr marL="0" indent="0">
              <a:spcBef>
                <a:spcPct val="35000"/>
              </a:spcBef>
              <a:buNone/>
            </a:pPr>
            <a:r>
              <a:rPr lang="en-US" altLang="en-US" dirty="0"/>
              <a:t>Recognizes and manages life threats based on assessment findings of a patient with a medical emergency while awaiting additional emergency response.</a:t>
            </a:r>
          </a:p>
        </p:txBody>
      </p:sp>
    </p:spTree>
    <p:extLst>
      <p:ext uri="{BB962C8B-B14F-4D97-AF65-F5344CB8AC3E}">
        <p14:creationId xmlns:p14="http://schemas.microsoft.com/office/powerpoint/2010/main" val="409241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a:extLst>
              <a:ext uri="{FF2B5EF4-FFF2-40B4-BE49-F238E27FC236}">
                <a16:creationId xmlns:a16="http://schemas.microsoft.com/office/drawing/2014/main" id="{F9F9B0BC-D7BF-654B-AF72-9F6BBF9BE484}"/>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(4 of 6)</a:t>
            </a:r>
          </a:p>
        </p:txBody>
      </p:sp>
      <p:sp>
        <p:nvSpPr>
          <p:cNvPr id="11266" name="Rectangle 3">
            <a:extLst>
              <a:ext uri="{FF2B5EF4-FFF2-40B4-BE49-F238E27FC236}">
                <a16:creationId xmlns:a16="http://schemas.microsoft.com/office/drawing/2014/main" id="{0B0CA08D-65F6-CA4A-B608-4298D94F1A8C}"/>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0" indent="0">
              <a:spcBef>
                <a:spcPct val="35000"/>
              </a:spcBef>
              <a:buNone/>
            </a:pPr>
            <a:r>
              <a:rPr lang="en-US" altLang="en-US" dirty="0">
                <a:latin typeface="Arial Black" panose="020B0604020202020204" pitchFamily="34" charset="0"/>
              </a:rPr>
              <a:t>Gynecology:</a:t>
            </a:r>
          </a:p>
          <a:p>
            <a:pPr marL="0" indent="0">
              <a:spcBef>
                <a:spcPct val="35000"/>
              </a:spcBef>
              <a:buNone/>
            </a:pPr>
            <a:r>
              <a:rPr lang="en-US" altLang="en-US" dirty="0"/>
              <a:t>Recognition and management of shock associated with:</a:t>
            </a:r>
          </a:p>
          <a:p>
            <a:pPr marL="0" indent="0">
              <a:spcBef>
                <a:spcPct val="35000"/>
              </a:spcBef>
            </a:pPr>
            <a:r>
              <a:rPr lang="en-US" altLang="en-US" dirty="0"/>
              <a:t> Vaginal bleeding.</a:t>
            </a:r>
          </a:p>
        </p:txBody>
      </p:sp>
    </p:spTree>
    <p:extLst>
      <p:ext uri="{BB962C8B-B14F-4D97-AF65-F5344CB8AC3E}">
        <p14:creationId xmlns:p14="http://schemas.microsoft.com/office/powerpoint/2010/main" val="4125022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a:extLst>
              <a:ext uri="{FF2B5EF4-FFF2-40B4-BE49-F238E27FC236}">
                <a16:creationId xmlns:a16="http://schemas.microsoft.com/office/drawing/2014/main" id="{0BB19D92-975F-1048-A05E-553B07B33A59}"/>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(5 of 6)</a:t>
            </a:r>
          </a:p>
        </p:txBody>
      </p:sp>
      <p:sp>
        <p:nvSpPr>
          <p:cNvPr id="13314" name="Rectangle 3">
            <a:extLst>
              <a:ext uri="{FF2B5EF4-FFF2-40B4-BE49-F238E27FC236}">
                <a16:creationId xmlns:a16="http://schemas.microsoft.com/office/drawing/2014/main" id="{11501C20-6340-5943-8175-262DF832F553}"/>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0" indent="0">
              <a:buNone/>
            </a:pPr>
            <a:r>
              <a:rPr lang="en-US" altLang="en-US" dirty="0">
                <a:latin typeface="Arial Black" panose="020B0604020202020204" pitchFamily="34" charset="0"/>
              </a:rPr>
              <a:t>Trauma:</a:t>
            </a:r>
          </a:p>
          <a:p>
            <a:pPr marL="0" indent="0">
              <a:spcBef>
                <a:spcPct val="35000"/>
              </a:spcBef>
              <a:buNone/>
            </a:pPr>
            <a:r>
              <a:rPr lang="en-US" altLang="en-US" dirty="0"/>
              <a:t>Uses simple knowledge to recognize and manage life threats based on assessment findings of an acutely injured patient while awaiting additional emergency response.</a:t>
            </a:r>
          </a:p>
        </p:txBody>
      </p:sp>
    </p:spTree>
    <p:extLst>
      <p:ext uri="{BB962C8B-B14F-4D97-AF65-F5344CB8AC3E}">
        <p14:creationId xmlns:p14="http://schemas.microsoft.com/office/powerpoint/2010/main" val="147005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a:extLst>
              <a:ext uri="{FF2B5EF4-FFF2-40B4-BE49-F238E27FC236}">
                <a16:creationId xmlns:a16="http://schemas.microsoft.com/office/drawing/2014/main" id="{5A194C8E-A74B-9445-9B29-BF64CD6927A5}"/>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(6 of 6)</a:t>
            </a:r>
          </a:p>
        </p:txBody>
      </p:sp>
      <p:sp>
        <p:nvSpPr>
          <p:cNvPr id="15362" name="Rectangle 3">
            <a:extLst>
              <a:ext uri="{FF2B5EF4-FFF2-40B4-BE49-F238E27FC236}">
                <a16:creationId xmlns:a16="http://schemas.microsoft.com/office/drawing/2014/main" id="{2410FFB9-FEE0-7441-97C9-C8A7179F63E0}"/>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buFontTx/>
              <a:buNone/>
            </a:pPr>
            <a:r>
              <a:rPr lang="en-US" altLang="en-US" dirty="0">
                <a:latin typeface="Arial Black" panose="020B0604020202020204" pitchFamily="34" charset="0"/>
              </a:rPr>
              <a:t>Special Considerations in Trauma:</a:t>
            </a:r>
          </a:p>
          <a:p>
            <a:pPr eaLnBrk="1" hangingPunct="1">
              <a:spcBef>
                <a:spcPct val="35000"/>
              </a:spcBef>
              <a:buFontTx/>
              <a:buNone/>
            </a:pPr>
            <a:r>
              <a:rPr lang="en-US" altLang="en-US" dirty="0"/>
              <a:t>Recognition and management of trauma in:</a:t>
            </a:r>
          </a:p>
          <a:p>
            <a:pPr eaLnBrk="1" hangingPunct="1">
              <a:spcBef>
                <a:spcPct val="35000"/>
              </a:spcBef>
            </a:pPr>
            <a:r>
              <a:rPr lang="en-US" altLang="en-US" dirty="0"/>
              <a:t>Pregnant patient.</a:t>
            </a:r>
          </a:p>
          <a:p>
            <a:pPr eaLnBrk="1" hangingPunct="1">
              <a:spcBef>
                <a:spcPct val="35000"/>
              </a:spcBef>
            </a:pPr>
            <a:r>
              <a:rPr lang="en-US" altLang="en-US" dirty="0"/>
              <a:t>Pediatric patient.</a:t>
            </a:r>
          </a:p>
          <a:p>
            <a:pPr eaLnBrk="1" hangingPunct="1">
              <a:spcBef>
                <a:spcPct val="35000"/>
              </a:spcBef>
            </a:pPr>
            <a:r>
              <a:rPr lang="en-US" altLang="en-US" dirty="0"/>
              <a:t>Geriatric patient.</a:t>
            </a:r>
          </a:p>
        </p:txBody>
      </p:sp>
    </p:spTree>
    <p:extLst>
      <p:ext uri="{BB962C8B-B14F-4D97-AF65-F5344CB8AC3E}">
        <p14:creationId xmlns:p14="http://schemas.microsoft.com/office/powerpoint/2010/main" val="4261315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a:extLst>
              <a:ext uri="{FF2B5EF4-FFF2-40B4-BE49-F238E27FC236}">
                <a16:creationId xmlns:a16="http://schemas.microsoft.com/office/drawing/2014/main" id="{01D193EA-85A4-5948-A76C-6CFE02CA5AF2}"/>
              </a:ext>
            </a:extLst>
          </p:cNvPr>
          <p:cNvSpPr>
            <a:spLocks noGrp="1" noChangeArrowheads="1"/>
          </p:cNvSpPr>
          <p:nvPr>
            <p:ph type="title"/>
          </p:nvPr>
        </p:nvSpPr>
        <p:spPr/>
        <p:txBody>
          <a:bodyPr/>
          <a:lstStyle/>
          <a:p>
            <a:pPr eaLnBrk="1" hangingPunct="1">
              <a:lnSpc>
                <a:spcPct val="85000"/>
              </a:lnSpc>
              <a:defRPr/>
            </a:pPr>
            <a:r>
              <a:rPr lang="en-US" dirty="0"/>
              <a:t>Introduction</a:t>
            </a:r>
          </a:p>
        </p:txBody>
      </p:sp>
      <p:sp>
        <p:nvSpPr>
          <p:cNvPr id="17410" name="Rectangle 3">
            <a:extLst>
              <a:ext uri="{FF2B5EF4-FFF2-40B4-BE49-F238E27FC236}">
                <a16:creationId xmlns:a16="http://schemas.microsoft.com/office/drawing/2014/main" id="{4CC66255-0F71-4D4A-8946-11EAC2ABA411}"/>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Childbirth is a normal, natural part of life.</a:t>
            </a:r>
          </a:p>
          <a:p>
            <a:pPr lvl="1" eaLnBrk="1" hangingPunct="1">
              <a:spcBef>
                <a:spcPct val="35000"/>
              </a:spcBef>
            </a:pPr>
            <a:r>
              <a:rPr lang="en-US" altLang="en-US" dirty="0"/>
              <a:t>Your part of process involves helping, guiding, and supporting newborn as it is born.</a:t>
            </a:r>
          </a:p>
          <a:p>
            <a:pPr lvl="1" eaLnBrk="1" hangingPunct="1">
              <a:spcBef>
                <a:spcPct val="35000"/>
              </a:spcBef>
            </a:pPr>
            <a:r>
              <a:rPr lang="en-US" altLang="en-US" dirty="0"/>
              <a:t>After birth, you should ensure newborn is breathing adequately and being kept warm.</a:t>
            </a:r>
          </a:p>
          <a:p>
            <a:pPr eaLnBrk="1" hangingPunct="1">
              <a:spcBef>
                <a:spcPct val="35000"/>
              </a:spcBef>
            </a:pPr>
            <a:r>
              <a:rPr lang="en-US" altLang="en-US" dirty="0"/>
              <a:t>Two indicators of an impending birth:</a:t>
            </a:r>
          </a:p>
          <a:p>
            <a:pPr lvl="1" eaLnBrk="1" hangingPunct="1">
              <a:spcBef>
                <a:spcPct val="35000"/>
              </a:spcBef>
            </a:pPr>
            <a:r>
              <a:rPr lang="en-US" altLang="en-US" dirty="0"/>
              <a:t>Frequency of contractions.</a:t>
            </a:r>
          </a:p>
          <a:p>
            <a:pPr lvl="1" eaLnBrk="1" hangingPunct="1">
              <a:spcBef>
                <a:spcPct val="35000"/>
              </a:spcBef>
            </a:pPr>
            <a:r>
              <a:rPr lang="en-US" altLang="en-US" dirty="0"/>
              <a:t>Crowning.</a:t>
            </a:r>
          </a:p>
        </p:txBody>
      </p:sp>
    </p:spTree>
    <p:extLst>
      <p:ext uri="{BB962C8B-B14F-4D97-AF65-F5344CB8AC3E}">
        <p14:creationId xmlns:p14="http://schemas.microsoft.com/office/powerpoint/2010/main" val="766842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a:extLst>
              <a:ext uri="{FF2B5EF4-FFF2-40B4-BE49-F238E27FC236}">
                <a16:creationId xmlns:a16="http://schemas.microsoft.com/office/drawing/2014/main" id="{B6D5287E-514C-9A47-A2F7-697CCDC2F410}"/>
              </a:ext>
            </a:extLst>
          </p:cNvPr>
          <p:cNvSpPr>
            <a:spLocks noGrp="1" noChangeArrowheads="1"/>
          </p:cNvSpPr>
          <p:nvPr>
            <p:ph type="title"/>
          </p:nvPr>
        </p:nvSpPr>
        <p:spPr/>
        <p:txBody>
          <a:bodyPr/>
          <a:lstStyle/>
          <a:p>
            <a:pPr eaLnBrk="1" hangingPunct="1">
              <a:lnSpc>
                <a:spcPct val="85000"/>
              </a:lnSpc>
              <a:defRPr/>
            </a:pPr>
            <a:r>
              <a:rPr lang="en-US" sz="3400" dirty="0"/>
              <a:t>Anatomy and Function of Female Reproductive System</a:t>
            </a:r>
            <a:r>
              <a:rPr lang="en-US" dirty="0"/>
              <a:t> </a:t>
            </a:r>
            <a:r>
              <a:rPr lang="en-US" sz="2800" b="0" dirty="0"/>
              <a:t>(1 of 2)</a:t>
            </a:r>
          </a:p>
        </p:txBody>
      </p:sp>
      <p:sp>
        <p:nvSpPr>
          <p:cNvPr id="19458" name="Rectangle 3">
            <a:extLst>
              <a:ext uri="{FF2B5EF4-FFF2-40B4-BE49-F238E27FC236}">
                <a16:creationId xmlns:a16="http://schemas.microsoft.com/office/drawing/2014/main" id="{B478EF0E-1629-964E-B901-0A5CC4549310}"/>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Ovaries produce eggs.</a:t>
            </a:r>
          </a:p>
          <a:p>
            <a:pPr lvl="1" eaLnBrk="1" hangingPunct="1">
              <a:spcBef>
                <a:spcPct val="35000"/>
              </a:spcBef>
            </a:pPr>
            <a:r>
              <a:rPr lang="en-US" altLang="en-US" dirty="0"/>
              <a:t>Egg travels through fallopian tube to uterus.</a:t>
            </a:r>
          </a:p>
          <a:p>
            <a:pPr eaLnBrk="1" hangingPunct="1">
              <a:spcBef>
                <a:spcPct val="35000"/>
              </a:spcBef>
            </a:pPr>
            <a:r>
              <a:rPr lang="en-US" altLang="en-US" dirty="0"/>
              <a:t>Uterus (womb) holds fertilized egg as it develops during a pregnancy.</a:t>
            </a:r>
          </a:p>
          <a:p>
            <a:pPr lvl="1" eaLnBrk="1" hangingPunct="1">
              <a:spcBef>
                <a:spcPct val="35000"/>
              </a:spcBef>
            </a:pPr>
            <a:r>
              <a:rPr lang="en-US" altLang="en-US" dirty="0"/>
              <a:t>Developing newborn (fetus) is encased in an amniotic sac for support and floats in amniotic fluid.</a:t>
            </a:r>
          </a:p>
        </p:txBody>
      </p:sp>
    </p:spTree>
    <p:extLst>
      <p:ext uri="{BB962C8B-B14F-4D97-AF65-F5344CB8AC3E}">
        <p14:creationId xmlns:p14="http://schemas.microsoft.com/office/powerpoint/2010/main" val="789621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a:extLst>
              <a:ext uri="{FF2B5EF4-FFF2-40B4-BE49-F238E27FC236}">
                <a16:creationId xmlns:a16="http://schemas.microsoft.com/office/drawing/2014/main" id="{8F8D2E09-8957-024D-94BC-189B7123CB47}"/>
              </a:ext>
            </a:extLst>
          </p:cNvPr>
          <p:cNvSpPr>
            <a:spLocks noGrp="1" noChangeArrowheads="1"/>
          </p:cNvSpPr>
          <p:nvPr>
            <p:ph type="title"/>
          </p:nvPr>
        </p:nvSpPr>
        <p:spPr/>
        <p:txBody>
          <a:bodyPr/>
          <a:lstStyle/>
          <a:p>
            <a:pPr eaLnBrk="1" hangingPunct="1">
              <a:lnSpc>
                <a:spcPct val="85000"/>
              </a:lnSpc>
              <a:defRPr/>
            </a:pPr>
            <a:r>
              <a:rPr lang="en-US" sz="3400" dirty="0"/>
              <a:t>Anatomy and Function of Female Reproductive System</a:t>
            </a:r>
            <a:r>
              <a:rPr lang="en-US" dirty="0"/>
              <a:t> </a:t>
            </a:r>
            <a:r>
              <a:rPr lang="en-US" sz="2800" b="0" dirty="0"/>
              <a:t>(2 of 2)</a:t>
            </a:r>
          </a:p>
        </p:txBody>
      </p:sp>
      <p:sp>
        <p:nvSpPr>
          <p:cNvPr id="21506" name="Rectangle 3">
            <a:extLst>
              <a:ext uri="{FF2B5EF4-FFF2-40B4-BE49-F238E27FC236}">
                <a16:creationId xmlns:a16="http://schemas.microsoft.com/office/drawing/2014/main" id="{736D72D7-6B4F-C440-9F59-1F76DE2D846F}"/>
              </a:ext>
            </a:extLst>
          </p:cNvPr>
          <p:cNvSpPr>
            <a:spLocks noGrp="1" noChangeArrowheads="1"/>
          </p:cNvSpPr>
          <p:nvPr>
            <p:ph idx="1"/>
          </p:nvPr>
        </p:nvSpPr>
        <p:spPr>
          <a:xfrm>
            <a:off x="6096000" y="1447800"/>
            <a:ext cx="3886200"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External opening is called birth canal (vagina).</a:t>
            </a:r>
          </a:p>
        </p:txBody>
      </p:sp>
      <p:sp>
        <p:nvSpPr>
          <p:cNvPr id="7" name="Rectangle 6"/>
          <p:cNvSpPr/>
          <p:nvPr/>
        </p:nvSpPr>
        <p:spPr>
          <a:xfrm>
            <a:off x="1258887" y="4753402"/>
            <a:ext cx="8729647" cy="3693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16-1 </a:t>
            </a:r>
            <a:r>
              <a:rPr lang="en-US" dirty="0"/>
              <a:t>Anatomy of a pregnant woman. </a:t>
            </a:r>
          </a:p>
        </p:txBody>
      </p:sp>
      <p:sp>
        <p:nvSpPr>
          <p:cNvPr id="8" name="Rectangle 7"/>
          <p:cNvSpPr/>
          <p:nvPr/>
        </p:nvSpPr>
        <p:spPr>
          <a:xfrm>
            <a:off x="1281154" y="5111403"/>
            <a:ext cx="7896895"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pic>
        <p:nvPicPr>
          <p:cNvPr id="1026" name="Picture 2" descr="The labeled parts in the side-view illustration of a pregnant woman are as follows: uterus, placenta, amniotic fluid, urinary bladder, sacrum, rectum, and vagina.&#10;" title="A labeled side-view illustration of the abdominal region shows the anatomy of a pregnant woman.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7" y="1645726"/>
            <a:ext cx="4456112" cy="3088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1752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a:extLst>
              <a:ext uri="{FF2B5EF4-FFF2-40B4-BE49-F238E27FC236}">
                <a16:creationId xmlns:a16="http://schemas.microsoft.com/office/drawing/2014/main" id="{6FDF0C94-DDD1-9943-AD73-B71259972F46}"/>
              </a:ext>
            </a:extLst>
          </p:cNvPr>
          <p:cNvSpPr>
            <a:spLocks noGrp="1" noChangeArrowheads="1"/>
          </p:cNvSpPr>
          <p:nvPr>
            <p:ph type="title"/>
          </p:nvPr>
        </p:nvSpPr>
        <p:spPr/>
        <p:txBody>
          <a:bodyPr/>
          <a:lstStyle/>
          <a:p>
            <a:pPr eaLnBrk="1" hangingPunct="1">
              <a:lnSpc>
                <a:spcPct val="85000"/>
              </a:lnSpc>
              <a:defRPr/>
            </a:pPr>
            <a:r>
              <a:rPr lang="en-US" dirty="0"/>
              <a:t>Stages of Labor </a:t>
            </a:r>
            <a:r>
              <a:rPr lang="en-US" sz="2800" b="0" dirty="0"/>
              <a:t>(1 of 3)</a:t>
            </a:r>
          </a:p>
        </p:txBody>
      </p:sp>
      <p:sp>
        <p:nvSpPr>
          <p:cNvPr id="23554" name="Rectangle 3">
            <a:extLst>
              <a:ext uri="{FF2B5EF4-FFF2-40B4-BE49-F238E27FC236}">
                <a16:creationId xmlns:a16="http://schemas.microsoft.com/office/drawing/2014/main" id="{D21F67D5-5438-A24B-971B-8F97778923D7}"/>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First stage: pregnant woman’s body prepares for birth.</a:t>
            </a:r>
            <a:endParaRPr lang="en-US" altLang="en-US" u="sng" dirty="0"/>
          </a:p>
          <a:p>
            <a:pPr eaLnBrk="1" hangingPunct="1">
              <a:spcBef>
                <a:spcPct val="35000"/>
              </a:spcBef>
            </a:pPr>
            <a:r>
              <a:rPr lang="en-US" altLang="en-US" dirty="0"/>
              <a:t>Characterized by these conditions:</a:t>
            </a:r>
          </a:p>
          <a:p>
            <a:pPr lvl="1" eaLnBrk="1" hangingPunct="1">
              <a:spcBef>
                <a:spcPct val="35000"/>
              </a:spcBef>
            </a:pPr>
            <a:r>
              <a:rPr lang="en-US" altLang="en-US" dirty="0"/>
              <a:t>Initial contractions occur.</a:t>
            </a:r>
          </a:p>
          <a:p>
            <a:pPr lvl="1" eaLnBrk="1" hangingPunct="1">
              <a:spcBef>
                <a:spcPct val="35000"/>
              </a:spcBef>
            </a:pPr>
            <a:r>
              <a:rPr lang="en-US" altLang="en-US" dirty="0"/>
              <a:t>Bag of waters breaks.</a:t>
            </a:r>
          </a:p>
          <a:p>
            <a:pPr lvl="1" eaLnBrk="1" hangingPunct="1">
              <a:spcBef>
                <a:spcPct val="35000"/>
              </a:spcBef>
            </a:pPr>
            <a:r>
              <a:rPr lang="en-US" altLang="en-US" dirty="0"/>
              <a:t>Bloody show occurs.</a:t>
            </a:r>
          </a:p>
          <a:p>
            <a:pPr lvl="1" eaLnBrk="1" hangingPunct="1">
              <a:spcBef>
                <a:spcPct val="35000"/>
              </a:spcBef>
            </a:pPr>
            <a:r>
              <a:rPr lang="en-US" altLang="en-US" dirty="0"/>
              <a:t>Newborn’s head does not appear during contractions.</a:t>
            </a:r>
          </a:p>
        </p:txBody>
      </p:sp>
    </p:spTree>
    <p:extLst>
      <p:ext uri="{BB962C8B-B14F-4D97-AF65-F5344CB8AC3E}">
        <p14:creationId xmlns:p14="http://schemas.microsoft.com/office/powerpoint/2010/main" val="4118975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a:extLst>
              <a:ext uri="{FF2B5EF4-FFF2-40B4-BE49-F238E27FC236}">
                <a16:creationId xmlns:a16="http://schemas.microsoft.com/office/drawing/2014/main" id="{00DFCE4F-3D39-8E4B-8F60-A7ECC1B5095E}"/>
              </a:ext>
            </a:extLst>
          </p:cNvPr>
          <p:cNvSpPr>
            <a:spLocks noGrp="1" noChangeArrowheads="1"/>
          </p:cNvSpPr>
          <p:nvPr>
            <p:ph type="title"/>
          </p:nvPr>
        </p:nvSpPr>
        <p:spPr/>
        <p:txBody>
          <a:bodyPr/>
          <a:lstStyle/>
          <a:p>
            <a:pPr eaLnBrk="1" hangingPunct="1">
              <a:lnSpc>
                <a:spcPct val="85000"/>
              </a:lnSpc>
              <a:defRPr/>
            </a:pPr>
            <a:r>
              <a:rPr lang="en-US" dirty="0"/>
              <a:t>Stages of Labor </a:t>
            </a:r>
            <a:r>
              <a:rPr lang="en-US" sz="2800" b="0" dirty="0"/>
              <a:t>(2 of 3)</a:t>
            </a:r>
          </a:p>
        </p:txBody>
      </p:sp>
      <p:sp>
        <p:nvSpPr>
          <p:cNvPr id="25602" name="Rectangle 3">
            <a:extLst>
              <a:ext uri="{FF2B5EF4-FFF2-40B4-BE49-F238E27FC236}">
                <a16:creationId xmlns:a16="http://schemas.microsoft.com/office/drawing/2014/main" id="{E89F2EB5-E537-5646-9C65-709C19A5F27E}"/>
              </a:ext>
            </a:extLst>
          </p:cNvPr>
          <p:cNvSpPr>
            <a:spLocks noGrp="1" noChangeArrowheads="1"/>
          </p:cNvSpPr>
          <p:nvPr>
            <p:ph idx="1"/>
          </p:nvPr>
        </p:nvSpPr>
        <p:spPr>
          <a:xfrm>
            <a:off x="6095999" y="1447800"/>
            <a:ext cx="5571835"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Second stage: birth of newborn.</a:t>
            </a:r>
            <a:endParaRPr lang="en-US" altLang="en-US" u="sng" dirty="0"/>
          </a:p>
          <a:p>
            <a:pPr lvl="1" eaLnBrk="1" hangingPunct="1">
              <a:spcBef>
                <a:spcPct val="35000"/>
              </a:spcBef>
            </a:pPr>
            <a:r>
              <a:rPr lang="en-US" altLang="en-US" dirty="0"/>
              <a:t>You will see newborn’s head crowning during contractions.</a:t>
            </a:r>
          </a:p>
          <a:p>
            <a:pPr lvl="1" eaLnBrk="1" hangingPunct="1">
              <a:spcBef>
                <a:spcPct val="35000"/>
              </a:spcBef>
            </a:pPr>
            <a:r>
              <a:rPr lang="en-US" altLang="en-US" dirty="0"/>
              <a:t>There is no time for transport.</a:t>
            </a:r>
          </a:p>
        </p:txBody>
      </p:sp>
      <p:sp>
        <p:nvSpPr>
          <p:cNvPr id="7" name="Rectangle 6"/>
          <p:cNvSpPr/>
          <p:nvPr/>
        </p:nvSpPr>
        <p:spPr>
          <a:xfrm>
            <a:off x="1159676" y="4643625"/>
            <a:ext cx="4669624"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16-2 </a:t>
            </a:r>
            <a:r>
              <a:rPr lang="en-US" dirty="0"/>
              <a:t>Crowning occurs when the newborn’s head appears at the vaginal opening. </a:t>
            </a:r>
          </a:p>
        </p:txBody>
      </p:sp>
      <p:sp>
        <p:nvSpPr>
          <p:cNvPr id="8" name="Rectangle 7"/>
          <p:cNvSpPr/>
          <p:nvPr/>
        </p:nvSpPr>
        <p:spPr>
          <a:xfrm>
            <a:off x="1159676" y="5275261"/>
            <a:ext cx="7896895"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University of Maryland Shock Trauma Center/MIEMSS. </a:t>
            </a:r>
          </a:p>
        </p:txBody>
      </p:sp>
      <p:pic>
        <p:nvPicPr>
          <p:cNvPr id="2050" name="Picture 2" descr="A photo shows the crowning stage of childbirth, where the newborn's head appears at the vaginal opening. A medical personnel's gloved hand can be seen on the baby's head.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9101" y="1638300"/>
            <a:ext cx="3962400"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5332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a:extLst>
              <a:ext uri="{FF2B5EF4-FFF2-40B4-BE49-F238E27FC236}">
                <a16:creationId xmlns:a16="http://schemas.microsoft.com/office/drawing/2014/main" id="{00ED96BB-C914-0B48-BE23-395778008F56}"/>
              </a:ext>
            </a:extLst>
          </p:cNvPr>
          <p:cNvSpPr>
            <a:spLocks noGrp="1" noChangeArrowheads="1"/>
          </p:cNvSpPr>
          <p:nvPr>
            <p:ph type="title"/>
          </p:nvPr>
        </p:nvSpPr>
        <p:spPr/>
        <p:txBody>
          <a:bodyPr/>
          <a:lstStyle/>
          <a:p>
            <a:pPr eaLnBrk="1" hangingPunct="1">
              <a:lnSpc>
                <a:spcPct val="85000"/>
              </a:lnSpc>
              <a:defRPr/>
            </a:pPr>
            <a:r>
              <a:rPr lang="en-US" dirty="0"/>
              <a:t>Stages of Labor </a:t>
            </a:r>
            <a:r>
              <a:rPr lang="en-US" sz="2800" b="0" dirty="0"/>
              <a:t>(3 of 3)</a:t>
            </a:r>
          </a:p>
        </p:txBody>
      </p:sp>
      <p:sp>
        <p:nvSpPr>
          <p:cNvPr id="27650" name="Rectangle 3">
            <a:extLst>
              <a:ext uri="{FF2B5EF4-FFF2-40B4-BE49-F238E27FC236}">
                <a16:creationId xmlns:a16="http://schemas.microsoft.com/office/drawing/2014/main" id="{9C955A64-DC98-764B-81B4-62FEA7D18006}"/>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Third stage: delivery of placenta (afterbirth).</a:t>
            </a:r>
            <a:endParaRPr lang="en-US" altLang="en-US" u="sng" dirty="0"/>
          </a:p>
          <a:p>
            <a:pPr lvl="1" eaLnBrk="1" hangingPunct="1">
              <a:spcBef>
                <a:spcPct val="35000"/>
              </a:spcBef>
            </a:pPr>
            <a:r>
              <a:rPr lang="en-US" altLang="en-US" dirty="0"/>
              <a:t>You must assist in stabilizing condition of mother and newborn and delivering placenta.</a:t>
            </a:r>
          </a:p>
        </p:txBody>
      </p:sp>
    </p:spTree>
    <p:extLst>
      <p:ext uri="{BB962C8B-B14F-4D97-AF65-F5344CB8AC3E}">
        <p14:creationId xmlns:p14="http://schemas.microsoft.com/office/powerpoint/2010/main" val="2447879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a:extLst>
              <a:ext uri="{FF2B5EF4-FFF2-40B4-BE49-F238E27FC236}">
                <a16:creationId xmlns:a16="http://schemas.microsoft.com/office/drawing/2014/main" id="{431A0786-2B5B-B84C-B012-DD9B20FBA3E0}"/>
              </a:ext>
            </a:extLst>
          </p:cNvPr>
          <p:cNvSpPr>
            <a:spLocks noGrp="1" noChangeArrowheads="1"/>
          </p:cNvSpPr>
          <p:nvPr>
            <p:ph type="title"/>
          </p:nvPr>
        </p:nvSpPr>
        <p:spPr/>
        <p:txBody>
          <a:bodyPr/>
          <a:lstStyle/>
          <a:p>
            <a:pPr eaLnBrk="1" hangingPunct="1">
              <a:lnSpc>
                <a:spcPct val="85000"/>
              </a:lnSpc>
              <a:defRPr/>
            </a:pPr>
            <a:r>
              <a:rPr lang="en-US" dirty="0"/>
              <a:t>Is There Time to Reach Hospital? </a:t>
            </a:r>
            <a:r>
              <a:rPr lang="en-US" sz="2800" b="0" dirty="0"/>
              <a:t>(1 of 3)</a:t>
            </a:r>
          </a:p>
        </p:txBody>
      </p:sp>
      <p:sp>
        <p:nvSpPr>
          <p:cNvPr id="29698" name="Rectangle 3">
            <a:extLst>
              <a:ext uri="{FF2B5EF4-FFF2-40B4-BE49-F238E27FC236}">
                <a16:creationId xmlns:a16="http://schemas.microsoft.com/office/drawing/2014/main" id="{3D33A31D-3022-204D-8ADF-EA50504162AA}"/>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Is this woman’s first pregnancy?</a:t>
            </a:r>
          </a:p>
          <a:p>
            <a:pPr lvl="1" eaLnBrk="1" hangingPunct="1">
              <a:spcBef>
                <a:spcPct val="35000"/>
              </a:spcBef>
            </a:pPr>
            <a:r>
              <a:rPr lang="en-US" altLang="en-US" dirty="0"/>
              <a:t>A woman experiencing her first labor will usually have more time to reach hospital.</a:t>
            </a:r>
          </a:p>
          <a:p>
            <a:pPr eaLnBrk="1" hangingPunct="1">
              <a:spcBef>
                <a:spcPct val="35000"/>
              </a:spcBef>
            </a:pPr>
            <a:r>
              <a:rPr lang="en-US" altLang="en-US" dirty="0"/>
              <a:t>Has woman experienced a bloody show?</a:t>
            </a:r>
          </a:p>
          <a:p>
            <a:pPr eaLnBrk="1" hangingPunct="1">
              <a:spcBef>
                <a:spcPct val="35000"/>
              </a:spcBef>
            </a:pPr>
            <a:r>
              <a:rPr lang="en-US" altLang="en-US" dirty="0"/>
              <a:t>Has bag of waters broken?</a:t>
            </a:r>
          </a:p>
          <a:p>
            <a:pPr lvl="1" eaLnBrk="1" hangingPunct="1">
              <a:spcBef>
                <a:spcPct val="35000"/>
              </a:spcBef>
            </a:pPr>
            <a:r>
              <a:rPr lang="en-US" altLang="en-US" dirty="0"/>
              <a:t>Bag of waters usually breaks toward end of first stage of labor.</a:t>
            </a:r>
          </a:p>
        </p:txBody>
      </p:sp>
    </p:spTree>
    <p:extLst>
      <p:ext uri="{BB962C8B-B14F-4D97-AF65-F5344CB8AC3E}">
        <p14:creationId xmlns:p14="http://schemas.microsoft.com/office/powerpoint/2010/main" val="1073011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a:extLst>
              <a:ext uri="{FF2B5EF4-FFF2-40B4-BE49-F238E27FC236}">
                <a16:creationId xmlns:a16="http://schemas.microsoft.com/office/drawing/2014/main" id="{01392CAE-97D3-8342-BFA3-45B109B4C041}"/>
              </a:ext>
            </a:extLst>
          </p:cNvPr>
          <p:cNvSpPr>
            <a:spLocks noGrp="1" noChangeArrowheads="1"/>
          </p:cNvSpPr>
          <p:nvPr>
            <p:ph type="title"/>
          </p:nvPr>
        </p:nvSpPr>
        <p:spPr/>
        <p:txBody>
          <a:bodyPr/>
          <a:lstStyle/>
          <a:p>
            <a:pPr eaLnBrk="1" hangingPunct="1">
              <a:lnSpc>
                <a:spcPct val="85000"/>
              </a:lnSpc>
              <a:defRPr/>
            </a:pPr>
            <a:r>
              <a:rPr lang="en-US" dirty="0"/>
              <a:t>Is There Time to Reach Hospital? </a:t>
            </a:r>
            <a:r>
              <a:rPr lang="en-US" sz="2800" b="0" dirty="0"/>
              <a:t>(2 of 3)</a:t>
            </a:r>
          </a:p>
        </p:txBody>
      </p:sp>
      <p:sp>
        <p:nvSpPr>
          <p:cNvPr id="31746" name="Rectangle 3">
            <a:extLst>
              <a:ext uri="{FF2B5EF4-FFF2-40B4-BE49-F238E27FC236}">
                <a16:creationId xmlns:a16="http://schemas.microsoft.com/office/drawing/2014/main" id="{28A3BFCE-0E86-EF42-8389-4BE23E96B1A7}"/>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How frequent are contractions?</a:t>
            </a:r>
          </a:p>
          <a:p>
            <a:pPr lvl="1" eaLnBrk="1" hangingPunct="1">
              <a:spcBef>
                <a:spcPct val="35000"/>
              </a:spcBef>
            </a:pPr>
            <a:r>
              <a:rPr lang="en-US" altLang="en-US" dirty="0"/>
              <a:t>Contractions less than 2 minutes apart usually indicate that delivery will occur very soon.</a:t>
            </a:r>
          </a:p>
          <a:p>
            <a:pPr eaLnBrk="1" hangingPunct="1">
              <a:spcBef>
                <a:spcPct val="35000"/>
              </a:spcBef>
            </a:pPr>
            <a:r>
              <a:rPr lang="en-US" altLang="en-US" dirty="0"/>
              <a:t>Does woman feel an urge to move her bowels?</a:t>
            </a:r>
          </a:p>
          <a:p>
            <a:pPr lvl="1" eaLnBrk="1" hangingPunct="1">
              <a:spcBef>
                <a:spcPct val="35000"/>
              </a:spcBef>
            </a:pPr>
            <a:r>
              <a:rPr lang="en-US" altLang="en-US" dirty="0"/>
              <a:t>When newborn’s head is in birth canal, it presses against rectum.</a:t>
            </a:r>
          </a:p>
          <a:p>
            <a:pPr lvl="1" eaLnBrk="1" hangingPunct="1">
              <a:spcBef>
                <a:spcPct val="35000"/>
              </a:spcBef>
            </a:pPr>
            <a:r>
              <a:rPr lang="en-US" altLang="en-US" dirty="0"/>
              <a:t>Do not allow her to go to toilet.</a:t>
            </a:r>
          </a:p>
          <a:p>
            <a:pPr eaLnBrk="1" hangingPunct="1"/>
            <a:endParaRPr lang="en-US" altLang="en-US" sz="2400" dirty="0"/>
          </a:p>
        </p:txBody>
      </p:sp>
    </p:spTree>
    <p:extLst>
      <p:ext uri="{BB962C8B-B14F-4D97-AF65-F5344CB8AC3E}">
        <p14:creationId xmlns:p14="http://schemas.microsoft.com/office/powerpoint/2010/main" val="3438182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a:extLst>
              <a:ext uri="{FF2B5EF4-FFF2-40B4-BE49-F238E27FC236}">
                <a16:creationId xmlns:a16="http://schemas.microsoft.com/office/drawing/2014/main" id="{3B46CB7B-5A4A-F64D-B332-746D522C0CCC}"/>
              </a:ext>
            </a:extLst>
          </p:cNvPr>
          <p:cNvSpPr>
            <a:spLocks noGrp="1" noChangeArrowheads="1"/>
          </p:cNvSpPr>
          <p:nvPr>
            <p:ph type="title"/>
          </p:nvPr>
        </p:nvSpPr>
        <p:spPr/>
        <p:txBody>
          <a:bodyPr/>
          <a:lstStyle/>
          <a:p>
            <a:pPr eaLnBrk="1" hangingPunct="1">
              <a:lnSpc>
                <a:spcPct val="85000"/>
              </a:lnSpc>
              <a:defRPr/>
            </a:pPr>
            <a:r>
              <a:rPr lang="en-US" dirty="0"/>
              <a:t>Is There Time to Reach Hospital? </a:t>
            </a:r>
            <a:r>
              <a:rPr lang="en-US" sz="2800" b="0" dirty="0"/>
              <a:t>(3 of 3)</a:t>
            </a:r>
          </a:p>
        </p:txBody>
      </p:sp>
      <p:sp>
        <p:nvSpPr>
          <p:cNvPr id="33794" name="Rectangle 3">
            <a:extLst>
              <a:ext uri="{FF2B5EF4-FFF2-40B4-BE49-F238E27FC236}">
                <a16:creationId xmlns:a16="http://schemas.microsoft.com/office/drawing/2014/main" id="{4B41A033-830A-834B-A585-E3A83A1A069C}"/>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Is newborn’s head crowning?</a:t>
            </a:r>
          </a:p>
          <a:p>
            <a:pPr eaLnBrk="1" hangingPunct="1">
              <a:spcBef>
                <a:spcPct val="35000"/>
              </a:spcBef>
            </a:pPr>
            <a:r>
              <a:rPr lang="en-US" altLang="en-US" dirty="0"/>
              <a:t>Is transportation available?</a:t>
            </a:r>
          </a:p>
          <a:p>
            <a:pPr lvl="1" eaLnBrk="1" hangingPunct="1">
              <a:spcBef>
                <a:spcPct val="35000"/>
              </a:spcBef>
            </a:pPr>
            <a:r>
              <a:rPr lang="en-US" altLang="en-US" dirty="0"/>
              <a:t>Is ambulance responding?</a:t>
            </a:r>
          </a:p>
          <a:p>
            <a:pPr lvl="1" eaLnBrk="1" hangingPunct="1">
              <a:spcBef>
                <a:spcPct val="35000"/>
              </a:spcBef>
            </a:pPr>
            <a:r>
              <a:rPr lang="en-US" altLang="en-US" dirty="0"/>
              <a:t>How far is it to hospital?</a:t>
            </a:r>
          </a:p>
          <a:p>
            <a:pPr lvl="1" eaLnBrk="1" hangingPunct="1">
              <a:spcBef>
                <a:spcPct val="35000"/>
              </a:spcBef>
            </a:pPr>
            <a:r>
              <a:rPr lang="en-US" altLang="en-US" dirty="0"/>
              <a:t>Will bad weather, a natural disaster, or traffic prevent prompt arrival of transportation?</a:t>
            </a:r>
          </a:p>
        </p:txBody>
      </p:sp>
    </p:spTree>
    <p:extLst>
      <p:ext uri="{BB962C8B-B14F-4D97-AF65-F5344CB8AC3E}">
        <p14:creationId xmlns:p14="http://schemas.microsoft.com/office/powerpoint/2010/main" val="4288899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a:extLst>
              <a:ext uri="{FF2B5EF4-FFF2-40B4-BE49-F238E27FC236}">
                <a16:creationId xmlns:a16="http://schemas.microsoft.com/office/drawing/2014/main" id="{25A8F964-2413-2249-842C-AD853A5CDC64}"/>
              </a:ext>
            </a:extLst>
          </p:cNvPr>
          <p:cNvSpPr>
            <a:spLocks noGrp="1" noChangeArrowheads="1"/>
          </p:cNvSpPr>
          <p:nvPr>
            <p:ph type="title"/>
          </p:nvPr>
        </p:nvSpPr>
        <p:spPr/>
        <p:txBody>
          <a:bodyPr/>
          <a:lstStyle/>
          <a:p>
            <a:pPr eaLnBrk="1" hangingPunct="1">
              <a:lnSpc>
                <a:spcPct val="85000"/>
              </a:lnSpc>
              <a:defRPr/>
            </a:pPr>
            <a:r>
              <a:rPr lang="en-US" dirty="0"/>
              <a:t>Timing Contraction Cycles</a:t>
            </a:r>
          </a:p>
        </p:txBody>
      </p:sp>
      <p:sp>
        <p:nvSpPr>
          <p:cNvPr id="35842" name="Rectangle 3">
            <a:extLst>
              <a:ext uri="{FF2B5EF4-FFF2-40B4-BE49-F238E27FC236}">
                <a16:creationId xmlns:a16="http://schemas.microsoft.com/office/drawing/2014/main" id="{1A4FD628-0D78-AF42-BFAF-14EDE2AF3C94}"/>
              </a:ext>
            </a:extLst>
          </p:cNvPr>
          <p:cNvSpPr>
            <a:spLocks noGrp="1" noChangeArrowheads="1"/>
          </p:cNvSpPr>
          <p:nvPr>
            <p:ph idx="1"/>
          </p:nvPr>
        </p:nvSpPr>
        <p:spPr>
          <a:xfrm>
            <a:off x="735818" y="1540054"/>
            <a:ext cx="10349523" cy="1819274"/>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lnSpc>
                <a:spcPct val="95000"/>
              </a:lnSpc>
              <a:spcBef>
                <a:spcPct val="35000"/>
              </a:spcBef>
            </a:pPr>
            <a:r>
              <a:rPr lang="en-US" altLang="en-US" dirty="0"/>
              <a:t>Time contraction cycles from beginning of one contraction to beginning of next.</a:t>
            </a:r>
          </a:p>
          <a:p>
            <a:pPr eaLnBrk="1" hangingPunct="1">
              <a:lnSpc>
                <a:spcPct val="95000"/>
              </a:lnSpc>
              <a:spcBef>
                <a:spcPct val="35000"/>
              </a:spcBef>
            </a:pPr>
            <a:r>
              <a:rPr lang="en-US" altLang="en-US" dirty="0"/>
              <a:t>If contractions are less than 3 minutes apart, delivery is close.</a:t>
            </a:r>
          </a:p>
        </p:txBody>
      </p:sp>
      <p:sp>
        <p:nvSpPr>
          <p:cNvPr id="7" name="Rectangle 6"/>
          <p:cNvSpPr/>
          <p:nvPr/>
        </p:nvSpPr>
        <p:spPr>
          <a:xfrm>
            <a:off x="2882900" y="5284232"/>
            <a:ext cx="5734050"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16-3 </a:t>
            </a:r>
            <a:r>
              <a:rPr lang="en-US" dirty="0"/>
              <a:t>Time the contractions from the beginning of one to the beginning of the next. </a:t>
            </a:r>
          </a:p>
        </p:txBody>
      </p:sp>
      <p:sp>
        <p:nvSpPr>
          <p:cNvPr id="8" name="Rectangle 7"/>
          <p:cNvSpPr/>
          <p:nvPr/>
        </p:nvSpPr>
        <p:spPr>
          <a:xfrm>
            <a:off x="2890077" y="5904409"/>
            <a:ext cx="7896895"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pic>
        <p:nvPicPr>
          <p:cNvPr id="3074" name="Picture 2" descr="The graph titled 'Contractions' depicts the time (in minutes) on the x-axis and the pain intensity on the y-axis. A regular waveform is seen on the graph. The time from the point at which each wave begins and rises, to the point it returns to the same level (before climbing again) is marked as 'time to be measured'.&#10;" title="A graph shows the timing of contractions in terms of pain inten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0999" y="2531890"/>
            <a:ext cx="5448302" cy="2729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3190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a:extLst>
              <a:ext uri="{FF2B5EF4-FFF2-40B4-BE49-F238E27FC236}">
                <a16:creationId xmlns:a16="http://schemas.microsoft.com/office/drawing/2014/main" id="{4DB714DA-782F-4043-8CA0-611D4E0C6B5D}"/>
              </a:ext>
            </a:extLst>
          </p:cNvPr>
          <p:cNvSpPr>
            <a:spLocks noGrp="1" noChangeArrowheads="1"/>
          </p:cNvSpPr>
          <p:nvPr>
            <p:ph type="title"/>
          </p:nvPr>
        </p:nvSpPr>
        <p:spPr/>
        <p:txBody>
          <a:bodyPr/>
          <a:lstStyle/>
          <a:p>
            <a:pPr eaLnBrk="1" hangingPunct="1">
              <a:lnSpc>
                <a:spcPct val="85000"/>
              </a:lnSpc>
              <a:defRPr/>
            </a:pPr>
            <a:r>
              <a:rPr lang="en-US" dirty="0"/>
              <a:t>Detecting Crowning</a:t>
            </a:r>
          </a:p>
        </p:txBody>
      </p:sp>
      <p:sp>
        <p:nvSpPr>
          <p:cNvPr id="37890" name="Rectangle 3">
            <a:extLst>
              <a:ext uri="{FF2B5EF4-FFF2-40B4-BE49-F238E27FC236}">
                <a16:creationId xmlns:a16="http://schemas.microsoft.com/office/drawing/2014/main" id="{B6F5B5C6-BD69-A64F-A1C7-688FBA547301}"/>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Observe vaginal opening during a contraction.</a:t>
            </a:r>
          </a:p>
          <a:p>
            <a:pPr eaLnBrk="1" hangingPunct="1">
              <a:spcBef>
                <a:spcPct val="35000"/>
              </a:spcBef>
            </a:pPr>
            <a:r>
              <a:rPr lang="en-US" altLang="en-US" dirty="0"/>
              <a:t>If you see head crowning during contraction, prepare for delivery.</a:t>
            </a:r>
          </a:p>
          <a:p>
            <a:pPr eaLnBrk="1" hangingPunct="1">
              <a:spcBef>
                <a:spcPct val="35000"/>
              </a:spcBef>
            </a:pPr>
            <a:r>
              <a:rPr lang="en-US" altLang="en-US" dirty="0"/>
              <a:t>Do not risk transporting woman to hospital.</a:t>
            </a:r>
          </a:p>
        </p:txBody>
      </p:sp>
    </p:spTree>
    <p:extLst>
      <p:ext uri="{BB962C8B-B14F-4D97-AF65-F5344CB8AC3E}">
        <p14:creationId xmlns:p14="http://schemas.microsoft.com/office/powerpoint/2010/main" val="202054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a:extLst>
              <a:ext uri="{FF2B5EF4-FFF2-40B4-BE49-F238E27FC236}">
                <a16:creationId xmlns:a16="http://schemas.microsoft.com/office/drawing/2014/main" id="{D27CF41C-AF49-204A-8853-6C53770C1D51}"/>
              </a:ext>
            </a:extLst>
          </p:cNvPr>
          <p:cNvSpPr>
            <a:spLocks noGrp="1" noChangeArrowheads="1"/>
          </p:cNvSpPr>
          <p:nvPr>
            <p:ph type="title"/>
          </p:nvPr>
        </p:nvSpPr>
        <p:spPr/>
        <p:txBody>
          <a:bodyPr/>
          <a:lstStyle/>
          <a:p>
            <a:pPr eaLnBrk="1" hangingPunct="1">
              <a:lnSpc>
                <a:spcPct val="85000"/>
              </a:lnSpc>
              <a:defRPr/>
            </a:pPr>
            <a:r>
              <a:rPr lang="en-US" dirty="0"/>
              <a:t>Preparing for Delivery </a:t>
            </a:r>
            <a:r>
              <a:rPr lang="en-US" sz="2800" b="0" dirty="0"/>
              <a:t>(1 of 3)</a:t>
            </a:r>
          </a:p>
        </p:txBody>
      </p:sp>
      <p:sp>
        <p:nvSpPr>
          <p:cNvPr id="39938" name="Rectangle 3">
            <a:extLst>
              <a:ext uri="{FF2B5EF4-FFF2-40B4-BE49-F238E27FC236}">
                <a16:creationId xmlns:a16="http://schemas.microsoft.com/office/drawing/2014/main" id="{E6870C09-5E8B-BB4A-808E-EB7AF98A8C90}"/>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As you prepare to assist patient in delivery, keep two things in mind:</a:t>
            </a:r>
          </a:p>
          <a:p>
            <a:pPr lvl="1" eaLnBrk="1" hangingPunct="1">
              <a:spcBef>
                <a:spcPct val="35000"/>
              </a:spcBef>
            </a:pPr>
            <a:r>
              <a:rPr lang="en-US" altLang="en-US" dirty="0"/>
              <a:t>Calm woman: Delivery is a natural process.</a:t>
            </a:r>
          </a:p>
          <a:p>
            <a:pPr lvl="1" eaLnBrk="1" hangingPunct="1">
              <a:spcBef>
                <a:spcPct val="35000"/>
              </a:spcBef>
            </a:pPr>
            <a:r>
              <a:rPr lang="en-US" altLang="en-US" dirty="0"/>
              <a:t>Calm yourself: You are there to help.</a:t>
            </a:r>
          </a:p>
        </p:txBody>
      </p:sp>
    </p:spTree>
    <p:extLst>
      <p:ext uri="{BB962C8B-B14F-4D97-AF65-F5344CB8AC3E}">
        <p14:creationId xmlns:p14="http://schemas.microsoft.com/office/powerpoint/2010/main" val="3430505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a:extLst>
              <a:ext uri="{FF2B5EF4-FFF2-40B4-BE49-F238E27FC236}">
                <a16:creationId xmlns:a16="http://schemas.microsoft.com/office/drawing/2014/main" id="{0A6F39F4-8203-B241-81BB-350E2F767944}"/>
              </a:ext>
            </a:extLst>
          </p:cNvPr>
          <p:cNvSpPr>
            <a:spLocks noGrp="1" noChangeArrowheads="1"/>
          </p:cNvSpPr>
          <p:nvPr>
            <p:ph type="title"/>
          </p:nvPr>
        </p:nvSpPr>
        <p:spPr/>
        <p:txBody>
          <a:bodyPr/>
          <a:lstStyle/>
          <a:p>
            <a:pPr eaLnBrk="1" hangingPunct="1">
              <a:lnSpc>
                <a:spcPct val="85000"/>
              </a:lnSpc>
              <a:defRPr/>
            </a:pPr>
            <a:r>
              <a:rPr lang="en-US" dirty="0"/>
              <a:t>Preparing for Delivery </a:t>
            </a:r>
            <a:r>
              <a:rPr lang="en-US" sz="2800" b="0" dirty="0"/>
              <a:t>(2 of 3)</a:t>
            </a:r>
          </a:p>
        </p:txBody>
      </p:sp>
      <p:sp>
        <p:nvSpPr>
          <p:cNvPr id="41986" name="Rectangle 3">
            <a:extLst>
              <a:ext uri="{FF2B5EF4-FFF2-40B4-BE49-F238E27FC236}">
                <a16:creationId xmlns:a16="http://schemas.microsoft.com/office/drawing/2014/main" id="{82143F3E-4B71-1742-B73D-BAA331E06D83}"/>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You will not be able to maintain sterile conditions.</a:t>
            </a:r>
          </a:p>
          <a:p>
            <a:pPr lvl="1" eaLnBrk="1" hangingPunct="1">
              <a:spcBef>
                <a:spcPct val="35000"/>
              </a:spcBef>
            </a:pPr>
            <a:r>
              <a:rPr lang="en-US" altLang="en-US" dirty="0"/>
              <a:t>Attempt to be as clean as possible.</a:t>
            </a:r>
          </a:p>
          <a:p>
            <a:pPr lvl="1" eaLnBrk="1" hangingPunct="1">
              <a:spcBef>
                <a:spcPct val="35000"/>
              </a:spcBef>
            </a:pPr>
            <a:r>
              <a:rPr lang="en-US" altLang="en-US" dirty="0"/>
              <a:t>Wash your hands thoroughly.</a:t>
            </a:r>
          </a:p>
          <a:p>
            <a:pPr lvl="1" eaLnBrk="1" hangingPunct="1">
              <a:spcBef>
                <a:spcPct val="35000"/>
              </a:spcBef>
            </a:pPr>
            <a:r>
              <a:rPr lang="en-US" altLang="en-US" dirty="0"/>
              <a:t>If you do not have a sterile delivery kit, use gloves from your EMR life support kit.</a:t>
            </a:r>
          </a:p>
          <a:p>
            <a:pPr lvl="1" eaLnBrk="1" hangingPunct="1">
              <a:spcBef>
                <a:spcPct val="35000"/>
              </a:spcBef>
            </a:pPr>
            <a:r>
              <a:rPr lang="en-US" altLang="en-US" dirty="0"/>
              <a:t>Have plenty of clean towels ready.</a:t>
            </a:r>
          </a:p>
        </p:txBody>
      </p:sp>
    </p:spTree>
    <p:extLst>
      <p:ext uri="{BB962C8B-B14F-4D97-AF65-F5344CB8AC3E}">
        <p14:creationId xmlns:p14="http://schemas.microsoft.com/office/powerpoint/2010/main" val="224864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a:extLst>
              <a:ext uri="{FF2B5EF4-FFF2-40B4-BE49-F238E27FC236}">
                <a16:creationId xmlns:a16="http://schemas.microsoft.com/office/drawing/2014/main" id="{9CEDD307-29F0-1243-97CD-742EC8D5343A}"/>
              </a:ext>
            </a:extLst>
          </p:cNvPr>
          <p:cNvSpPr>
            <a:spLocks noGrp="1" noChangeArrowheads="1"/>
          </p:cNvSpPr>
          <p:nvPr>
            <p:ph type="title"/>
          </p:nvPr>
        </p:nvSpPr>
        <p:spPr/>
        <p:txBody>
          <a:bodyPr/>
          <a:lstStyle/>
          <a:p>
            <a:pPr eaLnBrk="1" hangingPunct="1">
              <a:lnSpc>
                <a:spcPct val="85000"/>
              </a:lnSpc>
              <a:defRPr/>
            </a:pPr>
            <a:r>
              <a:rPr lang="en-US" dirty="0"/>
              <a:t>Preparing for Delivery </a:t>
            </a:r>
            <a:r>
              <a:rPr lang="en-US" sz="2800" b="0" dirty="0"/>
              <a:t>(3 of 3)</a:t>
            </a:r>
          </a:p>
        </p:txBody>
      </p:sp>
      <p:sp>
        <p:nvSpPr>
          <p:cNvPr id="44034" name="Rectangle 3">
            <a:extLst>
              <a:ext uri="{FF2B5EF4-FFF2-40B4-BE49-F238E27FC236}">
                <a16:creationId xmlns:a16="http://schemas.microsoft.com/office/drawing/2014/main" id="{A395D816-085F-004D-927F-C63F059E12A0}"/>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Place patient on a firm surface that is padded with blankets, folded sheets, or towels.</a:t>
            </a:r>
          </a:p>
          <a:p>
            <a:pPr eaLnBrk="1" hangingPunct="1">
              <a:spcBef>
                <a:spcPct val="35000"/>
              </a:spcBef>
            </a:pPr>
            <a:r>
              <a:rPr lang="en-US" altLang="en-US" dirty="0"/>
              <a:t>Elevate woman’s hips 2" to 4" with pillows and blankets.</a:t>
            </a:r>
          </a:p>
          <a:p>
            <a:pPr eaLnBrk="1" hangingPunct="1">
              <a:spcBef>
                <a:spcPct val="35000"/>
              </a:spcBef>
            </a:pPr>
            <a:r>
              <a:rPr lang="en-US" altLang="en-US" dirty="0"/>
              <a:t>Place woman on her back with knees bent and feet flat on surface beneath her.</a:t>
            </a:r>
          </a:p>
        </p:txBody>
      </p:sp>
    </p:spTree>
    <p:extLst>
      <p:ext uri="{BB962C8B-B14F-4D97-AF65-F5344CB8AC3E}">
        <p14:creationId xmlns:p14="http://schemas.microsoft.com/office/powerpoint/2010/main" val="1135097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a:extLst>
              <a:ext uri="{FF2B5EF4-FFF2-40B4-BE49-F238E27FC236}">
                <a16:creationId xmlns:a16="http://schemas.microsoft.com/office/drawing/2014/main" id="{2AAD9C46-3383-D64E-A460-ED1FC3917455}"/>
              </a:ext>
            </a:extLst>
          </p:cNvPr>
          <p:cNvSpPr>
            <a:spLocks noGrp="1" noChangeArrowheads="1"/>
          </p:cNvSpPr>
          <p:nvPr>
            <p:ph type="title"/>
          </p:nvPr>
        </p:nvSpPr>
        <p:spPr/>
        <p:txBody>
          <a:bodyPr/>
          <a:lstStyle/>
          <a:p>
            <a:pPr eaLnBrk="1" hangingPunct="1">
              <a:lnSpc>
                <a:spcPct val="85000"/>
              </a:lnSpc>
              <a:defRPr/>
            </a:pPr>
            <a:r>
              <a:rPr lang="en-US" dirty="0"/>
              <a:t>Standard Precautions </a:t>
            </a:r>
            <a:br>
              <a:rPr lang="en-US" dirty="0"/>
            </a:br>
            <a:r>
              <a:rPr lang="en-US" dirty="0"/>
              <a:t>and Childbirth</a:t>
            </a:r>
          </a:p>
        </p:txBody>
      </p:sp>
      <p:sp>
        <p:nvSpPr>
          <p:cNvPr id="46082" name="Rectangle 3">
            <a:extLst>
              <a:ext uri="{FF2B5EF4-FFF2-40B4-BE49-F238E27FC236}">
                <a16:creationId xmlns:a16="http://schemas.microsoft.com/office/drawing/2014/main" id="{F6ADF79E-82E5-CA47-9C8C-2840B51F5F00}"/>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 woman in childbirth will expel both blood and body fluids.</a:t>
            </a:r>
          </a:p>
          <a:p>
            <a:pPr lvl="1" eaLnBrk="1" hangingPunct="1">
              <a:spcBef>
                <a:spcPct val="35000"/>
              </a:spcBef>
            </a:pPr>
            <a:r>
              <a:rPr lang="en-US" altLang="en-US" dirty="0"/>
              <a:t>Use sterile gloves whenever possible.</a:t>
            </a:r>
          </a:p>
          <a:p>
            <a:pPr lvl="1" eaLnBrk="1" hangingPunct="1">
              <a:spcBef>
                <a:spcPct val="35000"/>
              </a:spcBef>
            </a:pPr>
            <a:r>
              <a:rPr lang="en-US" altLang="en-US" dirty="0"/>
              <a:t>Follow steps in </a:t>
            </a:r>
            <a:r>
              <a:rPr lang="en-US" altLang="en-US" b="1" dirty="0"/>
              <a:t>Skill Drill 16-1 </a:t>
            </a:r>
            <a:r>
              <a:rPr lang="en-US" altLang="en-US" dirty="0"/>
              <a:t>to put on sterile gloves.</a:t>
            </a:r>
          </a:p>
          <a:p>
            <a:pPr lvl="1" eaLnBrk="1" hangingPunct="1">
              <a:spcBef>
                <a:spcPct val="35000"/>
              </a:spcBef>
            </a:pPr>
            <a:r>
              <a:rPr lang="en-US" altLang="en-US" dirty="0"/>
              <a:t>Wear face and eye protection.</a:t>
            </a:r>
          </a:p>
          <a:p>
            <a:pPr lvl="1" eaLnBrk="1" hangingPunct="1">
              <a:spcBef>
                <a:spcPct val="35000"/>
              </a:spcBef>
            </a:pPr>
            <a:r>
              <a:rPr lang="en-US" altLang="en-US" dirty="0"/>
              <a:t>Wearing a surgical gown can help keep fluids off your body.</a:t>
            </a:r>
          </a:p>
        </p:txBody>
      </p:sp>
    </p:spTree>
    <p:extLst>
      <p:ext uri="{BB962C8B-B14F-4D97-AF65-F5344CB8AC3E}">
        <p14:creationId xmlns:p14="http://schemas.microsoft.com/office/powerpoint/2010/main" val="1037316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a:extLst>
              <a:ext uri="{FF2B5EF4-FFF2-40B4-BE49-F238E27FC236}">
                <a16:creationId xmlns:a16="http://schemas.microsoft.com/office/drawing/2014/main" id="{B5DA06D6-571B-D047-B083-53B052D7D2BE}"/>
              </a:ext>
            </a:extLst>
          </p:cNvPr>
          <p:cNvSpPr>
            <a:spLocks noGrp="1" noChangeArrowheads="1"/>
          </p:cNvSpPr>
          <p:nvPr>
            <p:ph type="title"/>
          </p:nvPr>
        </p:nvSpPr>
        <p:spPr/>
        <p:txBody>
          <a:bodyPr/>
          <a:lstStyle/>
          <a:p>
            <a:pPr eaLnBrk="1" hangingPunct="1">
              <a:lnSpc>
                <a:spcPct val="85000"/>
              </a:lnSpc>
              <a:defRPr/>
            </a:pPr>
            <a:r>
              <a:rPr lang="en-US" dirty="0"/>
              <a:t>Equipment </a:t>
            </a:r>
            <a:r>
              <a:rPr lang="en-US" sz="2800" b="0" dirty="0"/>
              <a:t>(1 of 3)</a:t>
            </a:r>
          </a:p>
        </p:txBody>
      </p:sp>
      <p:sp>
        <p:nvSpPr>
          <p:cNvPr id="48130" name="Rectangle 3">
            <a:extLst>
              <a:ext uri="{FF2B5EF4-FFF2-40B4-BE49-F238E27FC236}">
                <a16:creationId xmlns:a16="http://schemas.microsoft.com/office/drawing/2014/main" id="{79B86C3D-139B-6449-A677-67B0CC278DBF}"/>
              </a:ext>
            </a:extLst>
          </p:cNvPr>
          <p:cNvSpPr>
            <a:spLocks noGrp="1" noChangeArrowheads="1"/>
          </p:cNvSpPr>
          <p:nvPr>
            <p:ph idx="1"/>
          </p:nvPr>
        </p:nvSpPr>
        <p:spPr>
          <a:xfrm>
            <a:off x="6096000" y="1447800"/>
            <a:ext cx="5575300"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Your emergency care equipment should include a prepacked obstetric (OB) delivery kit, which includes:</a:t>
            </a:r>
          </a:p>
          <a:p>
            <a:pPr lvl="1" eaLnBrk="1" hangingPunct="1">
              <a:spcBef>
                <a:spcPct val="35000"/>
              </a:spcBef>
            </a:pPr>
            <a:r>
              <a:rPr lang="en-US" altLang="en-US" dirty="0"/>
              <a:t>Sterile gloves.</a:t>
            </a:r>
          </a:p>
          <a:p>
            <a:pPr lvl="1" eaLnBrk="1" hangingPunct="1">
              <a:spcBef>
                <a:spcPct val="35000"/>
              </a:spcBef>
            </a:pPr>
            <a:r>
              <a:rPr lang="en-US" altLang="en-US" dirty="0"/>
              <a:t>Umbilical cord clamp.</a:t>
            </a:r>
          </a:p>
        </p:txBody>
      </p:sp>
      <p:sp>
        <p:nvSpPr>
          <p:cNvPr id="7" name="Rectangle 6"/>
          <p:cNvSpPr/>
          <p:nvPr/>
        </p:nvSpPr>
        <p:spPr>
          <a:xfrm>
            <a:off x="912026" y="4872226"/>
            <a:ext cx="8729647" cy="3693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16-4 </a:t>
            </a:r>
            <a:r>
              <a:rPr lang="en-US" dirty="0"/>
              <a:t>Commercial obstetric (OB) kit. </a:t>
            </a:r>
          </a:p>
        </p:txBody>
      </p:sp>
      <p:sp>
        <p:nvSpPr>
          <p:cNvPr id="8" name="Rectangle 7"/>
          <p:cNvSpPr/>
          <p:nvPr/>
        </p:nvSpPr>
        <p:spPr>
          <a:xfrm>
            <a:off x="919204" y="5244753"/>
            <a:ext cx="7896895"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pic>
        <p:nvPicPr>
          <p:cNvPr id="4098" name="Picture 2" descr="A photo shows a set of packaged sterile dressings, sheets, a mask, etc., identified as being components of an obstetric kit in the figure caption.&#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449" y="1623508"/>
            <a:ext cx="4762500" cy="3172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3835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a:extLst>
              <a:ext uri="{FF2B5EF4-FFF2-40B4-BE49-F238E27FC236}">
                <a16:creationId xmlns:a16="http://schemas.microsoft.com/office/drawing/2014/main" id="{E252E2BD-A469-EB45-A965-5432DAA3BD6F}"/>
              </a:ext>
            </a:extLst>
          </p:cNvPr>
          <p:cNvSpPr>
            <a:spLocks noGrp="1" noChangeArrowheads="1"/>
          </p:cNvSpPr>
          <p:nvPr>
            <p:ph type="title"/>
          </p:nvPr>
        </p:nvSpPr>
        <p:spPr/>
        <p:txBody>
          <a:bodyPr/>
          <a:lstStyle/>
          <a:p>
            <a:pPr eaLnBrk="1" hangingPunct="1">
              <a:lnSpc>
                <a:spcPct val="85000"/>
              </a:lnSpc>
              <a:defRPr/>
            </a:pPr>
            <a:r>
              <a:rPr lang="en-US" dirty="0"/>
              <a:t>Equipment </a:t>
            </a:r>
            <a:r>
              <a:rPr lang="en-US" sz="2800" b="0" dirty="0"/>
              <a:t>(2 of 3)</a:t>
            </a:r>
          </a:p>
        </p:txBody>
      </p:sp>
      <p:sp>
        <p:nvSpPr>
          <p:cNvPr id="50178" name="Rectangle 3">
            <a:extLst>
              <a:ext uri="{FF2B5EF4-FFF2-40B4-BE49-F238E27FC236}">
                <a16:creationId xmlns:a16="http://schemas.microsoft.com/office/drawing/2014/main" id="{5F56866A-61A0-BD4E-A79B-C6FECECB0325}"/>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OB kit contents (cont'd):</a:t>
            </a:r>
            <a:endParaRPr lang="en-US" altLang="en-US" u="sng" dirty="0"/>
          </a:p>
          <a:p>
            <a:pPr lvl="1" eaLnBrk="1" hangingPunct="1">
              <a:spcBef>
                <a:spcPct val="35000"/>
              </a:spcBef>
            </a:pPr>
            <a:r>
              <a:rPr lang="en-US" altLang="en-US" dirty="0"/>
              <a:t>Sterile drapes and towels.</a:t>
            </a:r>
          </a:p>
          <a:p>
            <a:pPr lvl="1" eaLnBrk="1" hangingPunct="1">
              <a:spcBef>
                <a:spcPct val="35000"/>
              </a:spcBef>
            </a:pPr>
            <a:r>
              <a:rPr lang="en-US" altLang="en-US" dirty="0"/>
              <a:t>Sanitary pads.</a:t>
            </a:r>
          </a:p>
          <a:p>
            <a:pPr lvl="1" eaLnBrk="1" hangingPunct="1">
              <a:spcBef>
                <a:spcPct val="35000"/>
              </a:spcBef>
            </a:pPr>
            <a:r>
              <a:rPr lang="en-US" altLang="en-US" dirty="0"/>
              <a:t>4" </a:t>
            </a:r>
            <a:r>
              <a:rPr lang="en-US" altLang="en-US" dirty="0">
                <a:sym typeface="Symbol" pitchFamily="2" charset="2"/>
              </a:rPr>
              <a:t></a:t>
            </a:r>
            <a:r>
              <a:rPr lang="en-US" altLang="en-US" dirty="0"/>
              <a:t> 4" gauze pads.</a:t>
            </a:r>
          </a:p>
          <a:p>
            <a:pPr lvl="1" eaLnBrk="1" hangingPunct="1">
              <a:spcBef>
                <a:spcPct val="35000"/>
              </a:spcBef>
            </a:pPr>
            <a:r>
              <a:rPr lang="en-US" altLang="en-US" dirty="0"/>
              <a:t>Towel or blanket for newborn.</a:t>
            </a:r>
          </a:p>
          <a:p>
            <a:pPr lvl="1" eaLnBrk="1" hangingPunct="1">
              <a:spcBef>
                <a:spcPct val="35000"/>
              </a:spcBef>
            </a:pPr>
            <a:r>
              <a:rPr lang="en-US" altLang="en-US" dirty="0"/>
              <a:t>Bulb syringe.</a:t>
            </a:r>
          </a:p>
          <a:p>
            <a:pPr lvl="1" eaLnBrk="1" hangingPunct="1">
              <a:spcBef>
                <a:spcPct val="35000"/>
              </a:spcBef>
            </a:pPr>
            <a:r>
              <a:rPr lang="en-US" altLang="en-US" dirty="0"/>
              <a:t>Plastic placenta bag.</a:t>
            </a:r>
          </a:p>
        </p:txBody>
      </p:sp>
    </p:spTree>
    <p:extLst>
      <p:ext uri="{BB962C8B-B14F-4D97-AF65-F5344CB8AC3E}">
        <p14:creationId xmlns:p14="http://schemas.microsoft.com/office/powerpoint/2010/main" val="3106427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2">
            <a:extLst>
              <a:ext uri="{FF2B5EF4-FFF2-40B4-BE49-F238E27FC236}">
                <a16:creationId xmlns:a16="http://schemas.microsoft.com/office/drawing/2014/main" id="{1B54B6DB-CE9E-FB43-B591-30FD2FE45648}"/>
              </a:ext>
            </a:extLst>
          </p:cNvPr>
          <p:cNvSpPr>
            <a:spLocks noGrp="1" noChangeArrowheads="1"/>
          </p:cNvSpPr>
          <p:nvPr>
            <p:ph type="title"/>
          </p:nvPr>
        </p:nvSpPr>
        <p:spPr/>
        <p:txBody>
          <a:bodyPr/>
          <a:lstStyle/>
          <a:p>
            <a:pPr eaLnBrk="1" hangingPunct="1">
              <a:lnSpc>
                <a:spcPct val="85000"/>
              </a:lnSpc>
              <a:defRPr/>
            </a:pPr>
            <a:r>
              <a:rPr lang="en-US" dirty="0"/>
              <a:t>Equipment </a:t>
            </a:r>
            <a:r>
              <a:rPr lang="en-US" sz="2800" b="0" dirty="0"/>
              <a:t>(3 of 3)</a:t>
            </a:r>
          </a:p>
        </p:txBody>
      </p:sp>
      <p:sp>
        <p:nvSpPr>
          <p:cNvPr id="52226" name="Rectangle 3">
            <a:extLst>
              <a:ext uri="{FF2B5EF4-FFF2-40B4-BE49-F238E27FC236}">
                <a16:creationId xmlns:a16="http://schemas.microsoft.com/office/drawing/2014/main" id="{2861C9A0-F21A-5F4B-8ED4-22F7BF8C2843}"/>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You will also need following:</a:t>
            </a:r>
          </a:p>
          <a:p>
            <a:pPr lvl="1" eaLnBrk="1" hangingPunct="1">
              <a:spcBef>
                <a:spcPct val="35000"/>
              </a:spcBef>
            </a:pPr>
            <a:r>
              <a:rPr lang="en-US" altLang="en-US" dirty="0"/>
              <a:t>Sheets or towels for mother.</a:t>
            </a:r>
          </a:p>
          <a:p>
            <a:pPr lvl="1" eaLnBrk="1" hangingPunct="1">
              <a:spcBef>
                <a:spcPct val="35000"/>
              </a:spcBef>
            </a:pPr>
            <a:r>
              <a:rPr lang="en-US" altLang="en-US" dirty="0"/>
              <a:t>Suction (if available).</a:t>
            </a:r>
          </a:p>
          <a:p>
            <a:pPr lvl="1" eaLnBrk="1" hangingPunct="1">
              <a:spcBef>
                <a:spcPct val="35000"/>
              </a:spcBef>
            </a:pPr>
            <a:r>
              <a:rPr lang="en-US" altLang="en-US" dirty="0"/>
              <a:t>Oxygen (if available).</a:t>
            </a:r>
          </a:p>
          <a:p>
            <a:pPr lvl="1" eaLnBrk="1" hangingPunct="1">
              <a:spcBef>
                <a:spcPct val="35000"/>
              </a:spcBef>
            </a:pPr>
            <a:r>
              <a:rPr lang="en-US" altLang="en-US" dirty="0"/>
              <a:t>Newborn-sized face mask.</a:t>
            </a:r>
          </a:p>
          <a:p>
            <a:pPr eaLnBrk="1" hangingPunct="1">
              <a:spcBef>
                <a:spcPct val="35000"/>
              </a:spcBef>
            </a:pPr>
            <a:r>
              <a:rPr lang="en-US" altLang="en-US" dirty="0"/>
              <a:t>If you do not have a delivery kit, look for appropriate substitute materials.</a:t>
            </a:r>
          </a:p>
        </p:txBody>
      </p:sp>
    </p:spTree>
    <p:extLst>
      <p:ext uri="{BB962C8B-B14F-4D97-AF65-F5344CB8AC3E}">
        <p14:creationId xmlns:p14="http://schemas.microsoft.com/office/powerpoint/2010/main" val="121882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a:extLst>
              <a:ext uri="{FF2B5EF4-FFF2-40B4-BE49-F238E27FC236}">
                <a16:creationId xmlns:a16="http://schemas.microsoft.com/office/drawing/2014/main" id="{814C8199-CC38-DA41-BC0F-9B8090A086A7}"/>
              </a:ext>
            </a:extLst>
          </p:cNvPr>
          <p:cNvSpPr>
            <a:spLocks noGrp="1" noChangeArrowheads="1"/>
          </p:cNvSpPr>
          <p:nvPr>
            <p:ph type="title"/>
          </p:nvPr>
        </p:nvSpPr>
        <p:spPr/>
        <p:txBody>
          <a:bodyPr/>
          <a:lstStyle/>
          <a:p>
            <a:pPr eaLnBrk="1" hangingPunct="1">
              <a:lnSpc>
                <a:spcPct val="85000"/>
              </a:lnSpc>
              <a:defRPr/>
            </a:pPr>
            <a:r>
              <a:rPr lang="en-US" dirty="0"/>
              <a:t>Assisting With Delivery </a:t>
            </a:r>
            <a:r>
              <a:rPr lang="en-US" sz="2800" b="0" dirty="0"/>
              <a:t>(1 of 5)</a:t>
            </a:r>
          </a:p>
        </p:txBody>
      </p:sp>
      <p:sp>
        <p:nvSpPr>
          <p:cNvPr id="54274" name="Rectangle 3">
            <a:extLst>
              <a:ext uri="{FF2B5EF4-FFF2-40B4-BE49-F238E27FC236}">
                <a16:creationId xmlns:a16="http://schemas.microsoft.com/office/drawing/2014/main" id="{9DEB0978-5469-6343-97E2-0023ED4AA40D}"/>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There are two lives to be considered: life of mother and life of newborn.</a:t>
            </a:r>
          </a:p>
          <a:p>
            <a:pPr lvl="1" eaLnBrk="1" hangingPunct="1">
              <a:spcBef>
                <a:spcPct val="35000"/>
              </a:spcBef>
            </a:pPr>
            <a:r>
              <a:rPr lang="en-US" altLang="en-US" dirty="0"/>
              <a:t>Do not neglect to perform a patient assessment on woman.</a:t>
            </a:r>
          </a:p>
          <a:p>
            <a:pPr lvl="1" eaLnBrk="1" hangingPunct="1">
              <a:spcBef>
                <a:spcPct val="35000"/>
              </a:spcBef>
            </a:pPr>
            <a:r>
              <a:rPr lang="en-US" altLang="en-US" dirty="0"/>
              <a:t>Your primary purpose is to assist in delivery of newborn.</a:t>
            </a:r>
          </a:p>
          <a:p>
            <a:pPr lvl="1" eaLnBrk="1" hangingPunct="1">
              <a:spcBef>
                <a:spcPct val="35000"/>
              </a:spcBef>
            </a:pPr>
            <a:r>
              <a:rPr lang="en-US" altLang="en-US" dirty="0"/>
              <a:t>Be as clean as possible during entire delivery process.</a:t>
            </a:r>
          </a:p>
        </p:txBody>
      </p:sp>
    </p:spTree>
    <p:extLst>
      <p:ext uri="{BB962C8B-B14F-4D97-AF65-F5344CB8AC3E}">
        <p14:creationId xmlns:p14="http://schemas.microsoft.com/office/powerpoint/2010/main" val="1798647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2">
            <a:extLst>
              <a:ext uri="{FF2B5EF4-FFF2-40B4-BE49-F238E27FC236}">
                <a16:creationId xmlns:a16="http://schemas.microsoft.com/office/drawing/2014/main" id="{33E35CA2-B144-FF41-A5A9-777ADE0380A8}"/>
              </a:ext>
            </a:extLst>
          </p:cNvPr>
          <p:cNvSpPr>
            <a:spLocks noGrp="1" noChangeArrowheads="1"/>
          </p:cNvSpPr>
          <p:nvPr>
            <p:ph type="title"/>
          </p:nvPr>
        </p:nvSpPr>
        <p:spPr/>
        <p:txBody>
          <a:bodyPr/>
          <a:lstStyle/>
          <a:p>
            <a:pPr eaLnBrk="1" hangingPunct="1">
              <a:lnSpc>
                <a:spcPct val="85000"/>
              </a:lnSpc>
              <a:defRPr/>
            </a:pPr>
            <a:r>
              <a:rPr lang="en-US" dirty="0"/>
              <a:t>Assisting With Delivery </a:t>
            </a:r>
            <a:r>
              <a:rPr lang="en-US" sz="2800" b="0" dirty="0"/>
              <a:t>(2 of 5)</a:t>
            </a:r>
          </a:p>
        </p:txBody>
      </p:sp>
      <p:sp>
        <p:nvSpPr>
          <p:cNvPr id="56322" name="Rectangle 3">
            <a:extLst>
              <a:ext uri="{FF2B5EF4-FFF2-40B4-BE49-F238E27FC236}">
                <a16:creationId xmlns:a16="http://schemas.microsoft.com/office/drawing/2014/main" id="{AE2C7E37-8ED1-C14D-843F-8605D5BBF1C5}"/>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Newborn’s head should emerge slowly to prevent undue stress on newborn and tearing of vaginal tissues.</a:t>
            </a:r>
          </a:p>
          <a:p>
            <a:pPr lvl="1" eaLnBrk="1" hangingPunct="1">
              <a:spcBef>
                <a:spcPct val="35000"/>
              </a:spcBef>
            </a:pPr>
            <a:r>
              <a:rPr lang="en-US" altLang="en-US" dirty="0"/>
              <a:t>As head emerges, support newborn’s head and tell woman to stop pushing.</a:t>
            </a:r>
          </a:p>
          <a:p>
            <a:pPr lvl="1" eaLnBrk="1" hangingPunct="1">
              <a:spcBef>
                <a:spcPct val="35000"/>
              </a:spcBef>
            </a:pPr>
            <a:r>
              <a:rPr lang="en-US" altLang="en-US" dirty="0"/>
              <a:t>Do not attempt to pull newborn during delivery.</a:t>
            </a:r>
          </a:p>
        </p:txBody>
      </p:sp>
    </p:spTree>
    <p:extLst>
      <p:ext uri="{BB962C8B-B14F-4D97-AF65-F5344CB8AC3E}">
        <p14:creationId xmlns:p14="http://schemas.microsoft.com/office/powerpoint/2010/main" val="1739595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a:extLst>
              <a:ext uri="{FF2B5EF4-FFF2-40B4-BE49-F238E27FC236}">
                <a16:creationId xmlns:a16="http://schemas.microsoft.com/office/drawing/2014/main" id="{F46A4831-A1BD-6344-BDD0-36793616995A}"/>
              </a:ext>
            </a:extLst>
          </p:cNvPr>
          <p:cNvSpPr>
            <a:spLocks noGrp="1" noChangeArrowheads="1"/>
          </p:cNvSpPr>
          <p:nvPr>
            <p:ph type="title"/>
          </p:nvPr>
        </p:nvSpPr>
        <p:spPr/>
        <p:txBody>
          <a:bodyPr/>
          <a:lstStyle/>
          <a:p>
            <a:pPr eaLnBrk="1" hangingPunct="1">
              <a:lnSpc>
                <a:spcPct val="85000"/>
              </a:lnSpc>
              <a:defRPr/>
            </a:pPr>
            <a:r>
              <a:rPr lang="en-US" dirty="0"/>
              <a:t>Assisting With Delivery </a:t>
            </a:r>
            <a:r>
              <a:rPr lang="en-US" sz="2800" b="0" dirty="0"/>
              <a:t>(3 of 5)</a:t>
            </a:r>
          </a:p>
        </p:txBody>
      </p:sp>
      <p:sp>
        <p:nvSpPr>
          <p:cNvPr id="58370" name="Rectangle 3">
            <a:extLst>
              <a:ext uri="{FF2B5EF4-FFF2-40B4-BE49-F238E27FC236}">
                <a16:creationId xmlns:a16="http://schemas.microsoft.com/office/drawing/2014/main" id="{10319456-69E1-D747-91C0-B5101243DADE}"/>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In a normal birth:</a:t>
            </a:r>
          </a:p>
          <a:p>
            <a:pPr lvl="1" eaLnBrk="1" hangingPunct="1">
              <a:spcBef>
                <a:spcPct val="35000"/>
              </a:spcBef>
            </a:pPr>
            <a:r>
              <a:rPr lang="en-US" altLang="en-US" dirty="0"/>
              <a:t>Newborn will turn to its side by itself after head emerges.</a:t>
            </a:r>
          </a:p>
          <a:p>
            <a:pPr lvl="1" eaLnBrk="1" hangingPunct="1">
              <a:spcBef>
                <a:spcPct val="35000"/>
              </a:spcBef>
            </a:pPr>
            <a:r>
              <a:rPr lang="en-US" altLang="en-US" dirty="0"/>
              <a:t>Rest of body will be delivered spontaneously.</a:t>
            </a:r>
          </a:p>
          <a:p>
            <a:pPr lvl="1" eaLnBrk="1" hangingPunct="1">
              <a:spcBef>
                <a:spcPct val="35000"/>
              </a:spcBef>
            </a:pPr>
            <a:r>
              <a:rPr lang="en-US" altLang="en-US" dirty="0"/>
              <a:t>Newborn will be wet and slippery.</a:t>
            </a:r>
          </a:p>
          <a:p>
            <a:pPr eaLnBrk="1" hangingPunct="1">
              <a:spcBef>
                <a:spcPct val="35000"/>
              </a:spcBef>
            </a:pPr>
            <a:r>
              <a:rPr lang="en-US" altLang="en-US" dirty="0"/>
              <a:t>Keep newborn’s head at about level of woman’s vagina.</a:t>
            </a:r>
          </a:p>
          <a:p>
            <a:pPr lvl="1" eaLnBrk="1" hangingPunct="1"/>
            <a:endParaRPr lang="en-US" altLang="en-US" sz="2800" dirty="0"/>
          </a:p>
        </p:txBody>
      </p:sp>
    </p:spTree>
    <p:extLst>
      <p:ext uri="{BB962C8B-B14F-4D97-AF65-F5344CB8AC3E}">
        <p14:creationId xmlns:p14="http://schemas.microsoft.com/office/powerpoint/2010/main" val="1813525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a:extLst>
              <a:ext uri="{FF2B5EF4-FFF2-40B4-BE49-F238E27FC236}">
                <a16:creationId xmlns:a16="http://schemas.microsoft.com/office/drawing/2014/main" id="{B36E8FAA-9D7E-3448-A200-97E96D3C9400}"/>
              </a:ext>
            </a:extLst>
          </p:cNvPr>
          <p:cNvSpPr>
            <a:spLocks noGrp="1" noChangeArrowheads="1"/>
          </p:cNvSpPr>
          <p:nvPr>
            <p:ph type="title"/>
          </p:nvPr>
        </p:nvSpPr>
        <p:spPr/>
        <p:txBody>
          <a:bodyPr/>
          <a:lstStyle/>
          <a:p>
            <a:pPr eaLnBrk="1" hangingPunct="1">
              <a:defRPr/>
            </a:pPr>
            <a:r>
              <a:rPr lang="en-US" dirty="0"/>
              <a:t>Assisting With Delivery </a:t>
            </a:r>
            <a:r>
              <a:rPr lang="en-US" sz="2800" dirty="0"/>
              <a:t>(4 of 5)</a:t>
            </a:r>
          </a:p>
        </p:txBody>
      </p:sp>
      <p:sp>
        <p:nvSpPr>
          <p:cNvPr id="9" name="Rectangle 8"/>
          <p:cNvSpPr/>
          <p:nvPr/>
        </p:nvSpPr>
        <p:spPr>
          <a:xfrm>
            <a:off x="2924175" y="5743823"/>
            <a:ext cx="6267450" cy="92333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16-5 </a:t>
            </a:r>
            <a:r>
              <a:rPr lang="en-US" dirty="0"/>
              <a:t>Phases of the second stage of labor. A. The head begins to deliver. B. Delivery of the head. C. Delivery of the upper shoulder. D. Delivery of the lower shoulder. </a:t>
            </a:r>
          </a:p>
        </p:txBody>
      </p:sp>
      <p:sp>
        <p:nvSpPr>
          <p:cNvPr id="10" name="Rectangle 9"/>
          <p:cNvSpPr/>
          <p:nvPr/>
        </p:nvSpPr>
        <p:spPr>
          <a:xfrm>
            <a:off x="2900404" y="6610003"/>
            <a:ext cx="7896895"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University of Maryland Shock Trauma Center/MIEMSS. </a:t>
            </a:r>
          </a:p>
        </p:txBody>
      </p:sp>
      <p:pic>
        <p:nvPicPr>
          <p:cNvPr id="5122" name="Picture 2" descr="Photo A shows the crowning stage of childbirth, where the newborn's head appears at the vaginal opening. A medical personnel's gloved hand can be seen on the baby's head. Photo B shows the newborn's head fully emerging from the vaginal opening. The medical personnel's gloved hands support the newborn's head. Photo C shows the top of the upper shoulder of the newborn visible within the vaginal opening as the medical personnel grasps the head that is already completely out. Photo C shows the emergence of the head and shoulders of the newborn as it emerges from the vaginal opening. The medical personnel's hand support the newborn's head and neck. &#10;" title="Photos A to D show the stages involved in childbirth from crowning to the emergence of the newborn's lower shoulde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899" y="1155213"/>
            <a:ext cx="6096002" cy="4589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2298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a:extLst>
              <a:ext uri="{FF2B5EF4-FFF2-40B4-BE49-F238E27FC236}">
                <a16:creationId xmlns:a16="http://schemas.microsoft.com/office/drawing/2014/main" id="{AD79578E-2EFE-DF4F-AC79-FC0DD438FAF5}"/>
              </a:ext>
            </a:extLst>
          </p:cNvPr>
          <p:cNvSpPr>
            <a:spLocks noGrp="1" noChangeArrowheads="1"/>
          </p:cNvSpPr>
          <p:nvPr>
            <p:ph type="title"/>
          </p:nvPr>
        </p:nvSpPr>
        <p:spPr/>
        <p:txBody>
          <a:bodyPr/>
          <a:lstStyle/>
          <a:p>
            <a:pPr eaLnBrk="1" hangingPunct="1">
              <a:lnSpc>
                <a:spcPct val="85000"/>
              </a:lnSpc>
              <a:defRPr/>
            </a:pPr>
            <a:r>
              <a:rPr lang="en-US" dirty="0"/>
              <a:t>Assisting With Delivery </a:t>
            </a:r>
            <a:r>
              <a:rPr lang="en-US" sz="2800" b="0" dirty="0"/>
              <a:t>(5 of 5)</a:t>
            </a:r>
          </a:p>
        </p:txBody>
      </p:sp>
      <p:sp>
        <p:nvSpPr>
          <p:cNvPr id="62466" name="Rectangle 3">
            <a:extLst>
              <a:ext uri="{FF2B5EF4-FFF2-40B4-BE49-F238E27FC236}">
                <a16:creationId xmlns:a16="http://schemas.microsoft.com/office/drawing/2014/main" id="{65172C83-8772-8444-863A-84F404153BAD}"/>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If amniotic sac has not broken, tear it with your fingers and push it away from newborn’s head and mouth.</a:t>
            </a:r>
          </a:p>
          <a:p>
            <a:pPr eaLnBrk="1" hangingPunct="1">
              <a:spcBef>
                <a:spcPct val="35000"/>
              </a:spcBef>
            </a:pPr>
            <a:r>
              <a:rPr lang="en-US" altLang="en-US" dirty="0"/>
              <a:t>If umbilical cord is wrapped around neck, attempt to slip it over head.</a:t>
            </a:r>
          </a:p>
          <a:p>
            <a:pPr lvl="1" eaLnBrk="1" hangingPunct="1">
              <a:spcBef>
                <a:spcPct val="35000"/>
              </a:spcBef>
            </a:pPr>
            <a:r>
              <a:rPr lang="en-US" altLang="en-US" dirty="0"/>
              <a:t>If you cannot disentangle newborn, attempt to reduce pressure on cord.</a:t>
            </a:r>
          </a:p>
          <a:p>
            <a:pPr lvl="1" eaLnBrk="1" hangingPunct="1">
              <a:spcBef>
                <a:spcPct val="35000"/>
              </a:spcBef>
            </a:pPr>
            <a:r>
              <a:rPr lang="en-US" altLang="en-US" dirty="0"/>
              <a:t>Never pull on umbilical cord.</a:t>
            </a:r>
          </a:p>
        </p:txBody>
      </p:sp>
    </p:spTree>
    <p:extLst>
      <p:ext uri="{BB962C8B-B14F-4D97-AF65-F5344CB8AC3E}">
        <p14:creationId xmlns:p14="http://schemas.microsoft.com/office/powerpoint/2010/main" val="1041171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a:extLst>
              <a:ext uri="{FF2B5EF4-FFF2-40B4-BE49-F238E27FC236}">
                <a16:creationId xmlns:a16="http://schemas.microsoft.com/office/drawing/2014/main" id="{09FF72C7-6F3A-6F42-8335-A49A7DE3C6F6}"/>
              </a:ext>
            </a:extLst>
          </p:cNvPr>
          <p:cNvSpPr>
            <a:spLocks noGrp="1" noChangeArrowheads="1"/>
          </p:cNvSpPr>
          <p:nvPr>
            <p:ph type="title"/>
          </p:nvPr>
        </p:nvSpPr>
        <p:spPr/>
        <p:txBody>
          <a:bodyPr/>
          <a:lstStyle/>
          <a:p>
            <a:pPr eaLnBrk="1" hangingPunct="1">
              <a:lnSpc>
                <a:spcPct val="85000"/>
              </a:lnSpc>
              <a:defRPr/>
            </a:pPr>
            <a:r>
              <a:rPr lang="en-US" dirty="0"/>
              <a:t>Caring for Newborn </a:t>
            </a:r>
            <a:r>
              <a:rPr lang="en-US" sz="2800" b="0" dirty="0"/>
              <a:t>(1 of 4)</a:t>
            </a:r>
          </a:p>
        </p:txBody>
      </p:sp>
      <p:sp>
        <p:nvSpPr>
          <p:cNvPr id="64514" name="Rectangle 3">
            <a:extLst>
              <a:ext uri="{FF2B5EF4-FFF2-40B4-BE49-F238E27FC236}">
                <a16:creationId xmlns:a16="http://schemas.microsoft.com/office/drawing/2014/main" id="{08DBF2E4-2996-9841-A5AC-BEB7F71B4FF0}"/>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Clear newborn’s mouth and nose.</a:t>
            </a:r>
          </a:p>
          <a:p>
            <a:pPr lvl="1" eaLnBrk="1" hangingPunct="1">
              <a:spcBef>
                <a:spcPct val="35000"/>
              </a:spcBef>
            </a:pPr>
            <a:r>
              <a:rPr lang="en-US" altLang="en-US" dirty="0"/>
              <a:t>Use a bulb syringe if one is available.</a:t>
            </a:r>
          </a:p>
          <a:p>
            <a:pPr lvl="1" eaLnBrk="1" hangingPunct="1">
              <a:spcBef>
                <a:spcPct val="35000"/>
              </a:spcBef>
            </a:pPr>
            <a:r>
              <a:rPr lang="en-US" altLang="en-US" dirty="0"/>
              <a:t>Suction mouth first and then nostrils two to three times until they are clear.</a:t>
            </a:r>
          </a:p>
          <a:p>
            <a:pPr lvl="1" eaLnBrk="1" hangingPunct="1">
              <a:spcBef>
                <a:spcPct val="35000"/>
              </a:spcBef>
            </a:pPr>
            <a:r>
              <a:rPr lang="en-US" altLang="en-US" dirty="0"/>
              <a:t>If a bulb syringe is not available, wipe mouth and nose with a gauze pad.</a:t>
            </a:r>
          </a:p>
          <a:p>
            <a:pPr eaLnBrk="1" hangingPunct="1">
              <a:spcBef>
                <a:spcPct val="35000"/>
              </a:spcBef>
            </a:pPr>
            <a:r>
              <a:rPr lang="en-US" altLang="en-US" dirty="0"/>
              <a:t>Place newborn on mother’s abdomen to keep newborn from losing warmth.</a:t>
            </a:r>
          </a:p>
        </p:txBody>
      </p:sp>
    </p:spTree>
    <p:extLst>
      <p:ext uri="{BB962C8B-B14F-4D97-AF65-F5344CB8AC3E}">
        <p14:creationId xmlns:p14="http://schemas.microsoft.com/office/powerpoint/2010/main" val="1605688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a:extLst>
              <a:ext uri="{FF2B5EF4-FFF2-40B4-BE49-F238E27FC236}">
                <a16:creationId xmlns:a16="http://schemas.microsoft.com/office/drawing/2014/main" id="{74BEDCE3-4F93-5E49-98CD-29B826D5FF07}"/>
              </a:ext>
            </a:extLst>
          </p:cNvPr>
          <p:cNvSpPr>
            <a:spLocks noGrp="1" noChangeArrowheads="1"/>
          </p:cNvSpPr>
          <p:nvPr>
            <p:ph type="title"/>
          </p:nvPr>
        </p:nvSpPr>
        <p:spPr/>
        <p:txBody>
          <a:bodyPr/>
          <a:lstStyle/>
          <a:p>
            <a:pPr eaLnBrk="1" hangingPunct="1">
              <a:lnSpc>
                <a:spcPct val="85000"/>
              </a:lnSpc>
              <a:defRPr/>
            </a:pPr>
            <a:r>
              <a:rPr lang="en-US" dirty="0"/>
              <a:t>Caring for Newborn </a:t>
            </a:r>
            <a:r>
              <a:rPr lang="en-US" sz="2800" b="0" dirty="0"/>
              <a:t>(2 of 4)</a:t>
            </a:r>
          </a:p>
        </p:txBody>
      </p:sp>
      <p:sp>
        <p:nvSpPr>
          <p:cNvPr id="6" name="Rectangle 5"/>
          <p:cNvSpPr/>
          <p:nvPr/>
        </p:nvSpPr>
        <p:spPr>
          <a:xfrm>
            <a:off x="1764160" y="5783560"/>
            <a:ext cx="9254324"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16-6 </a:t>
            </a:r>
            <a:r>
              <a:rPr lang="en-US" dirty="0"/>
              <a:t>Suction the mouth and nose to clear the airway of mucus and amniotic fluid. Use a bulb syringe in a newborn’s mouth first, then use the bulb syringe to suction the newborn’s nose. </a:t>
            </a:r>
          </a:p>
        </p:txBody>
      </p:sp>
      <p:sp>
        <p:nvSpPr>
          <p:cNvPr id="7" name="Rectangle 6"/>
          <p:cNvSpPr/>
          <p:nvPr/>
        </p:nvSpPr>
        <p:spPr>
          <a:xfrm>
            <a:off x="1771338" y="6435487"/>
            <a:ext cx="7896895"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University of Maryland Shock Trauma Center/MIEMSS. </a:t>
            </a:r>
          </a:p>
        </p:txBody>
      </p:sp>
      <p:pic>
        <p:nvPicPr>
          <p:cNvPr id="6146" name="Picture 2" descr="A photo shows a bulbous suction device placed within a crying newborn's mouth by a person wearing gloves.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406525"/>
            <a:ext cx="3048000" cy="4389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7922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a:extLst>
              <a:ext uri="{FF2B5EF4-FFF2-40B4-BE49-F238E27FC236}">
                <a16:creationId xmlns:a16="http://schemas.microsoft.com/office/drawing/2014/main" id="{02AAE8F3-9DA8-1341-92E2-DEF73022D131}"/>
              </a:ext>
            </a:extLst>
          </p:cNvPr>
          <p:cNvSpPr>
            <a:spLocks noGrp="1" noChangeArrowheads="1"/>
          </p:cNvSpPr>
          <p:nvPr>
            <p:ph type="title"/>
          </p:nvPr>
        </p:nvSpPr>
        <p:spPr/>
        <p:txBody>
          <a:bodyPr/>
          <a:lstStyle/>
          <a:p>
            <a:pPr eaLnBrk="1" hangingPunct="1">
              <a:lnSpc>
                <a:spcPct val="85000"/>
              </a:lnSpc>
              <a:defRPr/>
            </a:pPr>
            <a:r>
              <a:rPr lang="en-US" dirty="0"/>
              <a:t>Caring for Newborn </a:t>
            </a:r>
            <a:r>
              <a:rPr lang="en-US" sz="2800" b="0" dirty="0"/>
              <a:t>(3 of 4)</a:t>
            </a:r>
          </a:p>
        </p:txBody>
      </p:sp>
      <p:sp>
        <p:nvSpPr>
          <p:cNvPr id="68610" name="Rectangle 3">
            <a:extLst>
              <a:ext uri="{FF2B5EF4-FFF2-40B4-BE49-F238E27FC236}">
                <a16:creationId xmlns:a16="http://schemas.microsoft.com/office/drawing/2014/main" id="{5F403E77-39AA-3D40-A668-D20F0DB97FB7}"/>
              </a:ext>
            </a:extLst>
          </p:cNvPr>
          <p:cNvSpPr>
            <a:spLocks noGrp="1" noChangeArrowheads="1"/>
          </p:cNvSpPr>
          <p:nvPr>
            <p:ph idx="1"/>
          </p:nvPr>
        </p:nvSpPr>
        <p:spPr>
          <a:xfrm>
            <a:off x="682283" y="1611572"/>
            <a:ext cx="9537700" cy="2513014"/>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sz="2400" dirty="0"/>
              <a:t>If newborn is not breathing, suction mouth and nose again.</a:t>
            </a:r>
          </a:p>
          <a:p>
            <a:pPr lvl="1" eaLnBrk="1" hangingPunct="1">
              <a:spcBef>
                <a:spcPct val="35000"/>
              </a:spcBef>
            </a:pPr>
            <a:r>
              <a:rPr lang="en-US" altLang="en-US" sz="2100" dirty="0"/>
              <a:t>Rub newborn’s back or flick the soles of newborn’s feet to stimulate breathing.</a:t>
            </a:r>
          </a:p>
          <a:p>
            <a:pPr eaLnBrk="1" hangingPunct="1">
              <a:spcBef>
                <a:spcPct val="35000"/>
              </a:spcBef>
            </a:pPr>
            <a:r>
              <a:rPr lang="en-US" altLang="en-US" sz="2400" dirty="0"/>
              <a:t>Use a towel to dry newborn and then wrap him or her in a blanket to keep him or her warm.</a:t>
            </a:r>
          </a:p>
        </p:txBody>
      </p:sp>
      <p:sp>
        <p:nvSpPr>
          <p:cNvPr id="7" name="Rectangle 6"/>
          <p:cNvSpPr/>
          <p:nvPr/>
        </p:nvSpPr>
        <p:spPr>
          <a:xfrm>
            <a:off x="3068256" y="5606117"/>
            <a:ext cx="5364544"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16-7 </a:t>
            </a:r>
            <a:r>
              <a:rPr lang="en-US" dirty="0"/>
              <a:t>Gently flick your fingers against the soles of the feet to stimulate breathing in the newborn. </a:t>
            </a:r>
          </a:p>
        </p:txBody>
      </p:sp>
      <p:sp>
        <p:nvSpPr>
          <p:cNvPr id="8" name="Rectangle 7"/>
          <p:cNvSpPr/>
          <p:nvPr/>
        </p:nvSpPr>
        <p:spPr>
          <a:xfrm>
            <a:off x="3068256" y="6265327"/>
            <a:ext cx="7896895"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pic>
        <p:nvPicPr>
          <p:cNvPr id="7170" name="Picture 2" descr="An illustration shows a person's gloved hand flicking the sole of a newborn's foot. The umbilical cord can be seen still attached to the newborn's navel.&#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2850" y="3763989"/>
            <a:ext cx="4686300" cy="1687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6223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a:extLst>
              <a:ext uri="{FF2B5EF4-FFF2-40B4-BE49-F238E27FC236}">
                <a16:creationId xmlns:a16="http://schemas.microsoft.com/office/drawing/2014/main" id="{D17D5996-1D26-B242-8EE9-3531CA18C655}"/>
              </a:ext>
            </a:extLst>
          </p:cNvPr>
          <p:cNvSpPr>
            <a:spLocks noGrp="1" noChangeArrowheads="1"/>
          </p:cNvSpPr>
          <p:nvPr>
            <p:ph type="title"/>
          </p:nvPr>
        </p:nvSpPr>
        <p:spPr/>
        <p:txBody>
          <a:bodyPr/>
          <a:lstStyle/>
          <a:p>
            <a:pPr eaLnBrk="1" hangingPunct="1">
              <a:lnSpc>
                <a:spcPct val="85000"/>
              </a:lnSpc>
              <a:defRPr/>
            </a:pPr>
            <a:r>
              <a:rPr lang="en-US" dirty="0"/>
              <a:t>Caring for Newborn </a:t>
            </a:r>
            <a:r>
              <a:rPr lang="en-US" sz="2800" b="0" dirty="0"/>
              <a:t>(4 of 4)</a:t>
            </a:r>
          </a:p>
        </p:txBody>
      </p:sp>
      <p:sp>
        <p:nvSpPr>
          <p:cNvPr id="70658" name="Rectangle 3">
            <a:extLst>
              <a:ext uri="{FF2B5EF4-FFF2-40B4-BE49-F238E27FC236}">
                <a16:creationId xmlns:a16="http://schemas.microsoft.com/office/drawing/2014/main" id="{9EA33D18-D2DA-CA40-9BF4-58833D8A96CB}"/>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Place newborn on its side with head slightly lower than trunk.</a:t>
            </a:r>
          </a:p>
          <a:p>
            <a:pPr eaLnBrk="1" hangingPunct="1">
              <a:spcBef>
                <a:spcPct val="35000"/>
              </a:spcBef>
            </a:pPr>
            <a:r>
              <a:rPr lang="en-US" altLang="en-US" dirty="0"/>
              <a:t>When umbilical cord stops pulsating, clamp it with umbilical cord clamps or tie it with gauze.</a:t>
            </a:r>
          </a:p>
          <a:p>
            <a:pPr eaLnBrk="1" hangingPunct="1">
              <a:spcBef>
                <a:spcPct val="35000"/>
              </a:spcBef>
            </a:pPr>
            <a:r>
              <a:rPr lang="en-US" altLang="en-US" dirty="0"/>
              <a:t>Note time of delivery.</a:t>
            </a:r>
          </a:p>
          <a:p>
            <a:pPr eaLnBrk="1" hangingPunct="1">
              <a:spcBef>
                <a:spcPct val="35000"/>
              </a:spcBef>
            </a:pPr>
            <a:r>
              <a:rPr lang="en-US" altLang="en-US" dirty="0"/>
              <a:t>If there are multiple births, prepare for second delivery.</a:t>
            </a:r>
          </a:p>
        </p:txBody>
      </p:sp>
    </p:spTree>
    <p:extLst>
      <p:ext uri="{BB962C8B-B14F-4D97-AF65-F5344CB8AC3E}">
        <p14:creationId xmlns:p14="http://schemas.microsoft.com/office/powerpoint/2010/main" val="1977541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a:extLst>
              <a:ext uri="{FF2B5EF4-FFF2-40B4-BE49-F238E27FC236}">
                <a16:creationId xmlns:a16="http://schemas.microsoft.com/office/drawing/2014/main" id="{72B4EC51-54E9-8E4A-9BDA-FEF75626D463}"/>
              </a:ext>
            </a:extLst>
          </p:cNvPr>
          <p:cNvSpPr>
            <a:spLocks noGrp="1" noChangeArrowheads="1"/>
          </p:cNvSpPr>
          <p:nvPr>
            <p:ph type="title"/>
          </p:nvPr>
        </p:nvSpPr>
        <p:spPr/>
        <p:txBody>
          <a:bodyPr/>
          <a:lstStyle/>
          <a:p>
            <a:pPr eaLnBrk="1" hangingPunct="1">
              <a:lnSpc>
                <a:spcPct val="85000"/>
              </a:lnSpc>
              <a:defRPr/>
            </a:pPr>
            <a:r>
              <a:rPr lang="en-US" dirty="0"/>
              <a:t>Delivery of Placenta </a:t>
            </a:r>
            <a:r>
              <a:rPr lang="en-US" sz="2800" b="0" dirty="0"/>
              <a:t>(1 of 3)</a:t>
            </a:r>
          </a:p>
        </p:txBody>
      </p:sp>
      <p:sp>
        <p:nvSpPr>
          <p:cNvPr id="72706" name="Rectangle 3">
            <a:extLst>
              <a:ext uri="{FF2B5EF4-FFF2-40B4-BE49-F238E27FC236}">
                <a16:creationId xmlns:a16="http://schemas.microsoft.com/office/drawing/2014/main" id="{B91D6410-0304-5F47-941E-DC9C2B69EC65}"/>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Placenta usually delivers on its own within 30 minutes after delivery.</a:t>
            </a:r>
          </a:p>
          <a:p>
            <a:pPr eaLnBrk="1" hangingPunct="1">
              <a:spcBef>
                <a:spcPct val="35000"/>
              </a:spcBef>
            </a:pPr>
            <a:r>
              <a:rPr lang="en-US" altLang="en-US" dirty="0"/>
              <a:t>Never pull on umbilical cord.</a:t>
            </a:r>
          </a:p>
          <a:p>
            <a:pPr eaLnBrk="1" hangingPunct="1">
              <a:spcBef>
                <a:spcPct val="35000"/>
              </a:spcBef>
            </a:pPr>
            <a:r>
              <a:rPr lang="en-US" altLang="en-US" dirty="0"/>
              <a:t>Leave umbilical cord uncut and attached to placenta and newborn until EMS unit arrives.</a:t>
            </a:r>
          </a:p>
        </p:txBody>
      </p:sp>
    </p:spTree>
    <p:extLst>
      <p:ext uri="{BB962C8B-B14F-4D97-AF65-F5344CB8AC3E}">
        <p14:creationId xmlns:p14="http://schemas.microsoft.com/office/powerpoint/2010/main" val="1524901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a:extLst>
              <a:ext uri="{FF2B5EF4-FFF2-40B4-BE49-F238E27FC236}">
                <a16:creationId xmlns:a16="http://schemas.microsoft.com/office/drawing/2014/main" id="{A977D2DC-37A9-F04B-ACF5-925155C9E186}"/>
              </a:ext>
            </a:extLst>
          </p:cNvPr>
          <p:cNvSpPr>
            <a:spLocks noGrp="1" noChangeArrowheads="1"/>
          </p:cNvSpPr>
          <p:nvPr>
            <p:ph type="title"/>
          </p:nvPr>
        </p:nvSpPr>
        <p:spPr/>
        <p:txBody>
          <a:bodyPr/>
          <a:lstStyle/>
          <a:p>
            <a:pPr eaLnBrk="1" hangingPunct="1">
              <a:lnSpc>
                <a:spcPct val="85000"/>
              </a:lnSpc>
              <a:defRPr/>
            </a:pPr>
            <a:r>
              <a:rPr lang="en-US" dirty="0"/>
              <a:t>Delivery of Placenta </a:t>
            </a:r>
            <a:r>
              <a:rPr lang="en-US" sz="2800" b="0" dirty="0"/>
              <a:t>(2 of 3)</a:t>
            </a:r>
          </a:p>
        </p:txBody>
      </p:sp>
      <p:sp>
        <p:nvSpPr>
          <p:cNvPr id="74754" name="Rectangle 3">
            <a:extLst>
              <a:ext uri="{FF2B5EF4-FFF2-40B4-BE49-F238E27FC236}">
                <a16:creationId xmlns:a16="http://schemas.microsoft.com/office/drawing/2014/main" id="{5FFA9717-EA75-4241-AD53-CFF7CFE03937}"/>
              </a:ext>
            </a:extLst>
          </p:cNvPr>
          <p:cNvSpPr>
            <a:spLocks noGrp="1" noChangeArrowheads="1"/>
          </p:cNvSpPr>
          <p:nvPr>
            <p:ph idx="1"/>
          </p:nvPr>
        </p:nvSpPr>
        <p:spPr>
          <a:xfrm>
            <a:off x="6096000" y="1447800"/>
            <a:ext cx="5461000" cy="51054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After placenta is delivered: </a:t>
            </a:r>
          </a:p>
          <a:p>
            <a:pPr lvl="1" eaLnBrk="1" hangingPunct="1">
              <a:spcBef>
                <a:spcPct val="35000"/>
              </a:spcBef>
            </a:pPr>
            <a:r>
              <a:rPr lang="en-US" altLang="en-US" dirty="0"/>
              <a:t>Wrap it in a towel or newspaper with three-quarters of umbilical cord.</a:t>
            </a:r>
          </a:p>
          <a:p>
            <a:pPr lvl="1" eaLnBrk="1" hangingPunct="1">
              <a:spcBef>
                <a:spcPct val="35000"/>
              </a:spcBef>
            </a:pPr>
            <a:r>
              <a:rPr lang="en-US" altLang="en-US" dirty="0"/>
              <a:t>Place it in a plastic bag and transport it to hospital.</a:t>
            </a:r>
          </a:p>
          <a:p>
            <a:pPr lvl="1" eaLnBrk="1" hangingPunct="1">
              <a:spcBef>
                <a:spcPct val="35000"/>
              </a:spcBef>
            </a:pPr>
            <a:r>
              <a:rPr lang="en-US" altLang="en-US" dirty="0"/>
              <a:t>Keep it at same level as newborn.</a:t>
            </a:r>
          </a:p>
        </p:txBody>
      </p:sp>
      <p:sp>
        <p:nvSpPr>
          <p:cNvPr id="7" name="Rectangle 6"/>
          <p:cNvSpPr/>
          <p:nvPr/>
        </p:nvSpPr>
        <p:spPr>
          <a:xfrm>
            <a:off x="839788" y="4037449"/>
            <a:ext cx="5256212" cy="120032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16-8 </a:t>
            </a:r>
            <a:r>
              <a:rPr lang="en-US" dirty="0"/>
              <a:t>If sterile supplies are unavailable and you cannot cut the umbilical cord, keep the placenta, still attached at the cord, at the same level as the newborn during transport to the hospital. </a:t>
            </a:r>
          </a:p>
        </p:txBody>
      </p:sp>
      <p:sp>
        <p:nvSpPr>
          <p:cNvPr id="8" name="Rectangle 7"/>
          <p:cNvSpPr/>
          <p:nvPr/>
        </p:nvSpPr>
        <p:spPr>
          <a:xfrm>
            <a:off x="839788" y="5231081"/>
            <a:ext cx="7896895"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pic>
        <p:nvPicPr>
          <p:cNvPr id="8194" name="Picture 2" descr="An illustration shows a newborn wrapped in a blanket with the umbilical cord extending from the newborn. The cord is connected to the reddish placenta within a transparent sac that has been aligned at the same level as the newborn by placing it on a stack of folded sheets.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788" y="1613231"/>
            <a:ext cx="4875212" cy="2374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6359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a:extLst>
              <a:ext uri="{FF2B5EF4-FFF2-40B4-BE49-F238E27FC236}">
                <a16:creationId xmlns:a16="http://schemas.microsoft.com/office/drawing/2014/main" id="{1768BE1D-474C-5741-A5F7-B4EC2F3E4DC2}"/>
              </a:ext>
            </a:extLst>
          </p:cNvPr>
          <p:cNvSpPr>
            <a:spLocks noGrp="1" noChangeArrowheads="1"/>
          </p:cNvSpPr>
          <p:nvPr>
            <p:ph type="title"/>
          </p:nvPr>
        </p:nvSpPr>
        <p:spPr/>
        <p:txBody>
          <a:bodyPr/>
          <a:lstStyle/>
          <a:p>
            <a:pPr eaLnBrk="1" hangingPunct="1">
              <a:lnSpc>
                <a:spcPct val="85000"/>
              </a:lnSpc>
              <a:defRPr/>
            </a:pPr>
            <a:r>
              <a:rPr lang="en-US" dirty="0"/>
              <a:t>Delivery of Placenta </a:t>
            </a:r>
            <a:r>
              <a:rPr lang="en-US" sz="2800" b="0" dirty="0"/>
              <a:t>(3 of 3)</a:t>
            </a:r>
          </a:p>
        </p:txBody>
      </p:sp>
      <p:sp>
        <p:nvSpPr>
          <p:cNvPr id="76802" name="Rectangle 3">
            <a:extLst>
              <a:ext uri="{FF2B5EF4-FFF2-40B4-BE49-F238E27FC236}">
                <a16:creationId xmlns:a16="http://schemas.microsoft.com/office/drawing/2014/main" id="{5F2FB87E-4FC8-4D4F-8814-AA6DDCFD6EBF}"/>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Mother’s bleeding usually stops after placenta is delivered.</a:t>
            </a:r>
          </a:p>
          <a:p>
            <a:pPr eaLnBrk="1" hangingPunct="1">
              <a:spcBef>
                <a:spcPct val="35000"/>
              </a:spcBef>
            </a:pPr>
            <a:r>
              <a:rPr lang="en-US" altLang="en-US" dirty="0"/>
              <a:t>If it does not, massage uterus.</a:t>
            </a:r>
          </a:p>
          <a:p>
            <a:pPr lvl="1" eaLnBrk="1" hangingPunct="1">
              <a:spcBef>
                <a:spcPct val="35000"/>
              </a:spcBef>
            </a:pPr>
            <a:r>
              <a:rPr lang="en-US" altLang="en-US" dirty="0"/>
              <a:t>Place one hand just above mother’s pubic bone.</a:t>
            </a:r>
          </a:p>
          <a:p>
            <a:pPr lvl="1" eaLnBrk="1" hangingPunct="1">
              <a:spcBef>
                <a:spcPct val="35000"/>
              </a:spcBef>
            </a:pPr>
            <a:r>
              <a:rPr lang="en-US" altLang="en-US" dirty="0"/>
              <a:t>Use your other hand to press down into abdomen and, using a circular motion, massage uterus until it becomes firm.</a:t>
            </a:r>
          </a:p>
          <a:p>
            <a:pPr lvl="1" eaLnBrk="1" hangingPunct="1">
              <a:spcBef>
                <a:spcPct val="35000"/>
              </a:spcBef>
            </a:pPr>
            <a:r>
              <a:rPr lang="en-US" altLang="en-US" dirty="0"/>
              <a:t>This should take 3 to 5 minutes.</a:t>
            </a:r>
          </a:p>
        </p:txBody>
      </p:sp>
    </p:spTree>
    <p:extLst>
      <p:ext uri="{BB962C8B-B14F-4D97-AF65-F5344CB8AC3E}">
        <p14:creationId xmlns:p14="http://schemas.microsoft.com/office/powerpoint/2010/main" val="3322040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a:extLst>
              <a:ext uri="{FF2B5EF4-FFF2-40B4-BE49-F238E27FC236}">
                <a16:creationId xmlns:a16="http://schemas.microsoft.com/office/drawing/2014/main" id="{1615A265-1CBA-E141-A257-4A31F9880B40}"/>
              </a:ext>
            </a:extLst>
          </p:cNvPr>
          <p:cNvSpPr>
            <a:spLocks noGrp="1" noChangeArrowheads="1"/>
          </p:cNvSpPr>
          <p:nvPr>
            <p:ph type="title"/>
          </p:nvPr>
        </p:nvSpPr>
        <p:spPr/>
        <p:txBody>
          <a:bodyPr/>
          <a:lstStyle/>
          <a:p>
            <a:pPr eaLnBrk="1" hangingPunct="1">
              <a:lnSpc>
                <a:spcPct val="85000"/>
              </a:lnSpc>
              <a:defRPr/>
            </a:pPr>
            <a:r>
              <a:rPr lang="en-US" dirty="0"/>
              <a:t>Aftercare of Mother </a:t>
            </a:r>
            <a:br>
              <a:rPr lang="en-US" dirty="0"/>
            </a:br>
            <a:r>
              <a:rPr lang="en-US" dirty="0"/>
              <a:t>and Newborn </a:t>
            </a:r>
            <a:r>
              <a:rPr lang="en-US" sz="2800" b="0" dirty="0"/>
              <a:t>(1 of 2)</a:t>
            </a:r>
          </a:p>
        </p:txBody>
      </p:sp>
      <p:sp>
        <p:nvSpPr>
          <p:cNvPr id="78850" name="Rectangle 3">
            <a:extLst>
              <a:ext uri="{FF2B5EF4-FFF2-40B4-BE49-F238E27FC236}">
                <a16:creationId xmlns:a16="http://schemas.microsoft.com/office/drawing/2014/main" id="{1176F9EF-71D8-7D4A-B5C5-F3F512855D82}"/>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Continue to observe mother and newborn and keep both warm.</a:t>
            </a:r>
          </a:p>
          <a:p>
            <a:pPr eaLnBrk="1" hangingPunct="1">
              <a:spcBef>
                <a:spcPct val="35000"/>
              </a:spcBef>
            </a:pPr>
            <a:r>
              <a:rPr lang="en-US" altLang="en-US" dirty="0"/>
              <a:t>About every 3 to 5 minutes, check uterus for firmness.</a:t>
            </a:r>
          </a:p>
          <a:p>
            <a:pPr eaLnBrk="1" hangingPunct="1">
              <a:spcBef>
                <a:spcPct val="35000"/>
              </a:spcBef>
            </a:pPr>
            <a:r>
              <a:rPr lang="en-US" altLang="en-US" dirty="0"/>
              <a:t>Recheck vagina for any excessive bleeding.</a:t>
            </a:r>
          </a:p>
          <a:p>
            <a:pPr lvl="1" eaLnBrk="1" hangingPunct="1">
              <a:spcBef>
                <a:spcPct val="35000"/>
              </a:spcBef>
            </a:pPr>
            <a:r>
              <a:rPr lang="en-US" altLang="en-US" dirty="0"/>
              <a:t>In a normal delivery, mother will lose 300 to 500 mL (1 to 2 cups) of blood.</a:t>
            </a:r>
          </a:p>
        </p:txBody>
      </p:sp>
    </p:spTree>
    <p:extLst>
      <p:ext uri="{BB962C8B-B14F-4D97-AF65-F5344CB8AC3E}">
        <p14:creationId xmlns:p14="http://schemas.microsoft.com/office/powerpoint/2010/main" val="2577924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a:extLst>
              <a:ext uri="{FF2B5EF4-FFF2-40B4-BE49-F238E27FC236}">
                <a16:creationId xmlns:a16="http://schemas.microsoft.com/office/drawing/2014/main" id="{396B418C-71C7-724F-B96F-73127F7D9382}"/>
              </a:ext>
            </a:extLst>
          </p:cNvPr>
          <p:cNvSpPr>
            <a:spLocks noGrp="1" noChangeArrowheads="1"/>
          </p:cNvSpPr>
          <p:nvPr>
            <p:ph type="title"/>
          </p:nvPr>
        </p:nvSpPr>
        <p:spPr/>
        <p:txBody>
          <a:bodyPr/>
          <a:lstStyle/>
          <a:p>
            <a:pPr eaLnBrk="1" hangingPunct="1">
              <a:lnSpc>
                <a:spcPct val="85000"/>
              </a:lnSpc>
              <a:defRPr/>
            </a:pPr>
            <a:r>
              <a:rPr lang="en-US" dirty="0"/>
              <a:t>Aftercare of Mother </a:t>
            </a:r>
            <a:br>
              <a:rPr lang="en-US" dirty="0"/>
            </a:br>
            <a:r>
              <a:rPr lang="en-US" dirty="0"/>
              <a:t>and Newborn </a:t>
            </a:r>
            <a:r>
              <a:rPr lang="en-US" sz="2800" b="0" dirty="0"/>
              <a:t>(2 of 2)</a:t>
            </a:r>
          </a:p>
        </p:txBody>
      </p:sp>
      <p:sp>
        <p:nvSpPr>
          <p:cNvPr id="80898" name="Rectangle 3">
            <a:extLst>
              <a:ext uri="{FF2B5EF4-FFF2-40B4-BE49-F238E27FC236}">
                <a16:creationId xmlns:a16="http://schemas.microsoft.com/office/drawing/2014/main" id="{AAC6AF20-460E-994F-8583-5EC74A5E1FA6}"/>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Continue to massage uterus if it is not firm or if bleeding continues.</a:t>
            </a:r>
          </a:p>
          <a:p>
            <a:pPr eaLnBrk="1" hangingPunct="1">
              <a:spcBef>
                <a:spcPct val="35000"/>
              </a:spcBef>
            </a:pPr>
            <a:r>
              <a:rPr lang="en-US" altLang="en-US" dirty="0"/>
              <a:t>Clean mother with clean, moist towels or cloths.</a:t>
            </a:r>
          </a:p>
          <a:p>
            <a:pPr eaLnBrk="1" hangingPunct="1">
              <a:spcBef>
                <a:spcPct val="35000"/>
              </a:spcBef>
            </a:pPr>
            <a:r>
              <a:rPr lang="en-US" altLang="en-US" dirty="0"/>
              <a:t>Give her small amounts of water to drink if she is thirsty.</a:t>
            </a:r>
          </a:p>
        </p:txBody>
      </p:sp>
    </p:spTree>
    <p:extLst>
      <p:ext uri="{BB962C8B-B14F-4D97-AF65-F5344CB8AC3E}">
        <p14:creationId xmlns:p14="http://schemas.microsoft.com/office/powerpoint/2010/main" val="2288435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a:extLst>
              <a:ext uri="{FF2B5EF4-FFF2-40B4-BE49-F238E27FC236}">
                <a16:creationId xmlns:a16="http://schemas.microsoft.com/office/drawing/2014/main" id="{0DAA4A8E-794D-EA42-AA59-FADDA8BB9539}"/>
              </a:ext>
            </a:extLst>
          </p:cNvPr>
          <p:cNvSpPr>
            <a:spLocks noGrp="1" noChangeArrowheads="1"/>
          </p:cNvSpPr>
          <p:nvPr>
            <p:ph type="title"/>
          </p:nvPr>
        </p:nvSpPr>
        <p:spPr/>
        <p:txBody>
          <a:bodyPr/>
          <a:lstStyle/>
          <a:p>
            <a:pPr eaLnBrk="1" hangingPunct="1">
              <a:lnSpc>
                <a:spcPct val="85000"/>
              </a:lnSpc>
              <a:defRPr/>
            </a:pPr>
            <a:r>
              <a:rPr lang="en-US" dirty="0"/>
              <a:t>Resuscitating Newborn</a:t>
            </a:r>
          </a:p>
        </p:txBody>
      </p:sp>
      <p:sp>
        <p:nvSpPr>
          <p:cNvPr id="82946" name="Rectangle 3">
            <a:extLst>
              <a:ext uri="{FF2B5EF4-FFF2-40B4-BE49-F238E27FC236}">
                <a16:creationId xmlns:a16="http://schemas.microsoft.com/office/drawing/2014/main" id="{F58DC66D-2F5D-F542-9EE4-CD2026E6E2DD}"/>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If newborn does not breathe on its own within first minute after birth, proceed with steps listed in </a:t>
            </a:r>
            <a:r>
              <a:rPr lang="en-US" altLang="en-US" b="1" dirty="0"/>
              <a:t>Skill Drill 16-2</a:t>
            </a:r>
            <a:r>
              <a:rPr lang="en-US" altLang="en-US" dirty="0"/>
              <a:t>.</a:t>
            </a:r>
          </a:p>
        </p:txBody>
      </p:sp>
    </p:spTree>
    <p:extLst>
      <p:ext uri="{BB962C8B-B14F-4D97-AF65-F5344CB8AC3E}">
        <p14:creationId xmlns:p14="http://schemas.microsoft.com/office/powerpoint/2010/main" val="2712951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a:extLst>
              <a:ext uri="{FF2B5EF4-FFF2-40B4-BE49-F238E27FC236}">
                <a16:creationId xmlns:a16="http://schemas.microsoft.com/office/drawing/2014/main" id="{BF94309A-E271-E648-BAED-48008D23325F}"/>
              </a:ext>
            </a:extLst>
          </p:cNvPr>
          <p:cNvSpPr>
            <a:spLocks noGrp="1" noChangeArrowheads="1"/>
          </p:cNvSpPr>
          <p:nvPr>
            <p:ph type="title"/>
          </p:nvPr>
        </p:nvSpPr>
        <p:spPr/>
        <p:txBody>
          <a:bodyPr/>
          <a:lstStyle/>
          <a:p>
            <a:pPr eaLnBrk="1" hangingPunct="1">
              <a:lnSpc>
                <a:spcPct val="85000"/>
              </a:lnSpc>
              <a:defRPr/>
            </a:pPr>
            <a:r>
              <a:rPr lang="en-US" dirty="0"/>
              <a:t>Complications of Pregnancy and Childbirth </a:t>
            </a:r>
            <a:r>
              <a:rPr lang="en-US" sz="2800" b="0" dirty="0"/>
              <a:t>(1 of 14)</a:t>
            </a:r>
          </a:p>
        </p:txBody>
      </p:sp>
      <p:sp>
        <p:nvSpPr>
          <p:cNvPr id="84994" name="Rectangle 3">
            <a:extLst>
              <a:ext uri="{FF2B5EF4-FFF2-40B4-BE49-F238E27FC236}">
                <a16:creationId xmlns:a16="http://schemas.microsoft.com/office/drawing/2014/main" id="{34A09698-EF58-374C-9A0A-9332BDFA4A1D}"/>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Ectopic pregnancy and shock in pregnant women:</a:t>
            </a:r>
          </a:p>
          <a:p>
            <a:pPr lvl="1" eaLnBrk="1" hangingPunct="1">
              <a:spcBef>
                <a:spcPct val="35000"/>
              </a:spcBef>
            </a:pPr>
            <a:r>
              <a:rPr lang="en-US" altLang="en-US" dirty="0"/>
              <a:t>An ectopic pregnancy occurs when a fertilized egg becomes implanted in fallopian tube rather than in uterus.</a:t>
            </a:r>
          </a:p>
          <a:p>
            <a:pPr lvl="1" eaLnBrk="1" hangingPunct="1">
              <a:spcBef>
                <a:spcPct val="35000"/>
              </a:spcBef>
            </a:pPr>
            <a:r>
              <a:rPr lang="en-US" altLang="en-US" dirty="0"/>
              <a:t>As embryo starts to grow, it expands and causes fallopian tube to rupture.</a:t>
            </a:r>
          </a:p>
        </p:txBody>
      </p:sp>
    </p:spTree>
    <p:extLst>
      <p:ext uri="{BB962C8B-B14F-4D97-AF65-F5344CB8AC3E}">
        <p14:creationId xmlns:p14="http://schemas.microsoft.com/office/powerpoint/2010/main" val="2653805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a:extLst>
              <a:ext uri="{FF2B5EF4-FFF2-40B4-BE49-F238E27FC236}">
                <a16:creationId xmlns:a16="http://schemas.microsoft.com/office/drawing/2014/main" id="{62F8524C-85F8-ED4D-985F-D4CA6224170C}"/>
              </a:ext>
            </a:extLst>
          </p:cNvPr>
          <p:cNvSpPr>
            <a:spLocks noGrp="1" noChangeArrowheads="1"/>
          </p:cNvSpPr>
          <p:nvPr>
            <p:ph type="title"/>
          </p:nvPr>
        </p:nvSpPr>
        <p:spPr/>
        <p:txBody>
          <a:bodyPr/>
          <a:lstStyle/>
          <a:p>
            <a:pPr eaLnBrk="1" hangingPunct="1">
              <a:lnSpc>
                <a:spcPct val="85000"/>
              </a:lnSpc>
              <a:defRPr/>
            </a:pPr>
            <a:r>
              <a:rPr lang="en-US" dirty="0"/>
              <a:t>Complications of Pregnancy and Childbirth </a:t>
            </a:r>
            <a:r>
              <a:rPr lang="en-US" sz="2800" b="0" dirty="0"/>
              <a:t>(2 of 14)</a:t>
            </a:r>
          </a:p>
        </p:txBody>
      </p:sp>
      <p:sp>
        <p:nvSpPr>
          <p:cNvPr id="87042" name="Rectangle 3">
            <a:extLst>
              <a:ext uri="{FF2B5EF4-FFF2-40B4-BE49-F238E27FC236}">
                <a16:creationId xmlns:a16="http://schemas.microsoft.com/office/drawing/2014/main" id="{CC8FEB5D-7C4A-D248-B5D6-BD8E7538AEDD}"/>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Ectopic pregnancy and shock in pregnant women (cont'd):</a:t>
            </a:r>
          </a:p>
          <a:p>
            <a:pPr lvl="1" eaLnBrk="1" hangingPunct="1">
              <a:spcBef>
                <a:spcPct val="35000"/>
              </a:spcBef>
            </a:pPr>
            <a:r>
              <a:rPr lang="en-US" altLang="en-US" dirty="0"/>
              <a:t>This rupture causes acute abdominal pain, internal bleeding, and shock.</a:t>
            </a:r>
          </a:p>
          <a:p>
            <a:pPr lvl="1" eaLnBrk="1" hangingPunct="1">
              <a:spcBef>
                <a:spcPct val="35000"/>
              </a:spcBef>
            </a:pPr>
            <a:r>
              <a:rPr lang="en-US" altLang="en-US" dirty="0"/>
              <a:t>Treat patient for shock.</a:t>
            </a:r>
          </a:p>
          <a:p>
            <a:pPr lvl="1" eaLnBrk="1" hangingPunct="1">
              <a:spcBef>
                <a:spcPct val="35000"/>
              </a:spcBef>
            </a:pPr>
            <a:r>
              <a:rPr lang="en-US" altLang="en-US" dirty="0"/>
              <a:t>Arrange for prompt transport.</a:t>
            </a:r>
          </a:p>
        </p:txBody>
      </p:sp>
    </p:spTree>
    <p:extLst>
      <p:ext uri="{BB962C8B-B14F-4D97-AF65-F5344CB8AC3E}">
        <p14:creationId xmlns:p14="http://schemas.microsoft.com/office/powerpoint/2010/main" val="3465715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a:extLst>
              <a:ext uri="{FF2B5EF4-FFF2-40B4-BE49-F238E27FC236}">
                <a16:creationId xmlns:a16="http://schemas.microsoft.com/office/drawing/2014/main" id="{B7C09F75-93B6-7945-9418-B567510EC6A9}"/>
              </a:ext>
            </a:extLst>
          </p:cNvPr>
          <p:cNvSpPr>
            <a:spLocks noGrp="1" noChangeArrowheads="1"/>
          </p:cNvSpPr>
          <p:nvPr>
            <p:ph type="title"/>
          </p:nvPr>
        </p:nvSpPr>
        <p:spPr/>
        <p:txBody>
          <a:bodyPr/>
          <a:lstStyle/>
          <a:p>
            <a:pPr eaLnBrk="1" hangingPunct="1">
              <a:lnSpc>
                <a:spcPct val="85000"/>
              </a:lnSpc>
              <a:defRPr/>
            </a:pPr>
            <a:r>
              <a:rPr lang="en-US" dirty="0"/>
              <a:t>Complications of Pregnancy and Childbirth </a:t>
            </a:r>
            <a:r>
              <a:rPr lang="en-US" sz="2800" b="0" dirty="0"/>
              <a:t>(3 of 14)</a:t>
            </a:r>
          </a:p>
        </p:txBody>
      </p:sp>
      <p:sp>
        <p:nvSpPr>
          <p:cNvPr id="89090" name="Rectangle 3">
            <a:extLst>
              <a:ext uri="{FF2B5EF4-FFF2-40B4-BE49-F238E27FC236}">
                <a16:creationId xmlns:a16="http://schemas.microsoft.com/office/drawing/2014/main" id="{FA8C88A8-E132-BB4B-AA9F-D88AAD0F9099}"/>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Miscarriage and vaginal bleeding:</a:t>
            </a:r>
          </a:p>
          <a:p>
            <a:pPr lvl="1" eaLnBrk="1" hangingPunct="1">
              <a:spcBef>
                <a:spcPct val="35000"/>
              </a:spcBef>
            </a:pPr>
            <a:r>
              <a:rPr lang="en-US" altLang="en-US" dirty="0"/>
              <a:t>A miscarriage (spontaneous abortion) is delivery of an incomplete or underdeveloped fetus.</a:t>
            </a:r>
          </a:p>
          <a:p>
            <a:pPr lvl="1" eaLnBrk="1" hangingPunct="1">
              <a:spcBef>
                <a:spcPct val="35000"/>
              </a:spcBef>
            </a:pPr>
            <a:r>
              <a:rPr lang="en-US" altLang="en-US" dirty="0"/>
              <a:t>If a miscarriage occurs:</a:t>
            </a:r>
          </a:p>
          <a:p>
            <a:pPr lvl="2" eaLnBrk="1" hangingPunct="1"/>
            <a:r>
              <a:rPr lang="en-US" altLang="en-US" sz="2000" dirty="0"/>
              <a:t>Save fetus and all tissues that pass from vagina.</a:t>
            </a:r>
          </a:p>
          <a:p>
            <a:pPr lvl="2" eaLnBrk="1" hangingPunct="1"/>
            <a:r>
              <a:rPr lang="en-US" altLang="en-US" sz="2000" dirty="0"/>
              <a:t>Control woman’s bleeding and treat for shock.</a:t>
            </a:r>
          </a:p>
          <a:p>
            <a:pPr lvl="2" eaLnBrk="1" hangingPunct="1"/>
            <a:r>
              <a:rPr lang="en-US" altLang="en-US" sz="2000" dirty="0"/>
              <a:t>Arrange for prompt transport.</a:t>
            </a:r>
          </a:p>
        </p:txBody>
      </p:sp>
    </p:spTree>
    <p:extLst>
      <p:ext uri="{BB962C8B-B14F-4D97-AF65-F5344CB8AC3E}">
        <p14:creationId xmlns:p14="http://schemas.microsoft.com/office/powerpoint/2010/main" val="2107963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2">
            <a:extLst>
              <a:ext uri="{FF2B5EF4-FFF2-40B4-BE49-F238E27FC236}">
                <a16:creationId xmlns:a16="http://schemas.microsoft.com/office/drawing/2014/main" id="{344026BD-4875-0448-A9FC-7129EBB0592A}"/>
              </a:ext>
            </a:extLst>
          </p:cNvPr>
          <p:cNvSpPr>
            <a:spLocks noGrp="1" noChangeArrowheads="1"/>
          </p:cNvSpPr>
          <p:nvPr>
            <p:ph type="title"/>
          </p:nvPr>
        </p:nvSpPr>
        <p:spPr/>
        <p:txBody>
          <a:bodyPr/>
          <a:lstStyle/>
          <a:p>
            <a:pPr eaLnBrk="1" hangingPunct="1">
              <a:lnSpc>
                <a:spcPct val="85000"/>
              </a:lnSpc>
              <a:defRPr/>
            </a:pPr>
            <a:r>
              <a:rPr lang="en-US" dirty="0"/>
              <a:t>Complications of Pregnancy and Childbirth </a:t>
            </a:r>
            <a:r>
              <a:rPr lang="en-US" sz="2800" b="0" dirty="0"/>
              <a:t>(4 of 14)</a:t>
            </a:r>
          </a:p>
        </p:txBody>
      </p:sp>
      <p:sp>
        <p:nvSpPr>
          <p:cNvPr id="91138" name="Rectangle 3">
            <a:extLst>
              <a:ext uri="{FF2B5EF4-FFF2-40B4-BE49-F238E27FC236}">
                <a16:creationId xmlns:a16="http://schemas.microsoft.com/office/drawing/2014/main" id="{FBE63B71-116C-764E-A82B-0FECBE1BB7C1}"/>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Miscarriage and vaginal bleeding (cont'd):</a:t>
            </a:r>
          </a:p>
          <a:p>
            <a:pPr lvl="1" eaLnBrk="1" hangingPunct="1">
              <a:spcBef>
                <a:spcPct val="35000"/>
              </a:spcBef>
            </a:pPr>
            <a:r>
              <a:rPr lang="en-US" altLang="en-US" dirty="0"/>
              <a:t>Vaginal bleeding is often first sign of a miscarriage.</a:t>
            </a:r>
          </a:p>
          <a:p>
            <a:pPr lvl="1" eaLnBrk="1" hangingPunct="1">
              <a:spcBef>
                <a:spcPct val="35000"/>
              </a:spcBef>
            </a:pPr>
            <a:r>
              <a:rPr lang="en-US" altLang="en-US" dirty="0"/>
              <a:t>When a woman experiences vaginal bleeding: </a:t>
            </a:r>
          </a:p>
          <a:p>
            <a:pPr lvl="2" eaLnBrk="1" hangingPunct="1"/>
            <a:r>
              <a:rPr lang="en-US" altLang="en-US" sz="2000" dirty="0"/>
              <a:t>Perform a patient assessment.</a:t>
            </a:r>
          </a:p>
          <a:p>
            <a:pPr lvl="2" eaLnBrk="1" hangingPunct="1"/>
            <a:r>
              <a:rPr lang="en-US" altLang="en-US" sz="2000" dirty="0"/>
              <a:t>Obtain a good medical history.</a:t>
            </a:r>
          </a:p>
          <a:p>
            <a:pPr lvl="2" eaLnBrk="1" hangingPunct="1"/>
            <a:r>
              <a:rPr lang="en-US" altLang="en-US" sz="2000" dirty="0"/>
              <a:t>Obtain a set of vital signs.</a:t>
            </a:r>
          </a:p>
          <a:p>
            <a:pPr lvl="2" eaLnBrk="1" hangingPunct="1"/>
            <a:r>
              <a:rPr lang="en-US" altLang="en-US" sz="2000" dirty="0"/>
              <a:t>Arrange for prompt transport.</a:t>
            </a:r>
          </a:p>
          <a:p>
            <a:pPr lvl="2" eaLnBrk="1" hangingPunct="1"/>
            <a:r>
              <a:rPr lang="en-US" altLang="en-US" sz="2000" dirty="0"/>
              <a:t>Provide emotional support if she miscarried.</a:t>
            </a:r>
          </a:p>
        </p:txBody>
      </p:sp>
    </p:spTree>
    <p:extLst>
      <p:ext uri="{BB962C8B-B14F-4D97-AF65-F5344CB8AC3E}">
        <p14:creationId xmlns:p14="http://schemas.microsoft.com/office/powerpoint/2010/main" val="630507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a:extLst>
              <a:ext uri="{FF2B5EF4-FFF2-40B4-BE49-F238E27FC236}">
                <a16:creationId xmlns:a16="http://schemas.microsoft.com/office/drawing/2014/main" id="{D36A9CC1-D34E-654A-94B9-EEE41776BDAC}"/>
              </a:ext>
            </a:extLst>
          </p:cNvPr>
          <p:cNvSpPr>
            <a:spLocks noGrp="1" noChangeArrowheads="1"/>
          </p:cNvSpPr>
          <p:nvPr>
            <p:ph type="title"/>
          </p:nvPr>
        </p:nvSpPr>
        <p:spPr/>
        <p:txBody>
          <a:bodyPr/>
          <a:lstStyle/>
          <a:p>
            <a:pPr eaLnBrk="1" hangingPunct="1">
              <a:lnSpc>
                <a:spcPct val="85000"/>
              </a:lnSpc>
              <a:defRPr/>
            </a:pPr>
            <a:r>
              <a:rPr lang="en-US" dirty="0"/>
              <a:t>Complications of Pregnancy and Childbirth </a:t>
            </a:r>
            <a:r>
              <a:rPr lang="en-US" sz="2800" b="0" dirty="0"/>
              <a:t>(5 of 14)</a:t>
            </a:r>
          </a:p>
        </p:txBody>
      </p:sp>
      <p:sp>
        <p:nvSpPr>
          <p:cNvPr id="93186" name="Rectangle 3">
            <a:extLst>
              <a:ext uri="{FF2B5EF4-FFF2-40B4-BE49-F238E27FC236}">
                <a16:creationId xmlns:a16="http://schemas.microsoft.com/office/drawing/2014/main" id="{E8DDAA03-E789-4648-8E6E-6E74688A9DC9}"/>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Premature birth:</a:t>
            </a:r>
          </a:p>
          <a:p>
            <a:pPr lvl="1" eaLnBrk="1" hangingPunct="1">
              <a:spcBef>
                <a:spcPct val="35000"/>
              </a:spcBef>
            </a:pPr>
            <a:r>
              <a:rPr lang="en-US" altLang="en-US" dirty="0"/>
              <a:t>Any newborn weighing less than 5 pounds (2 kg) or delivered before 36 weeks is premature.</a:t>
            </a:r>
          </a:p>
          <a:p>
            <a:pPr lvl="1" eaLnBrk="1" hangingPunct="1">
              <a:spcBef>
                <a:spcPct val="35000"/>
              </a:spcBef>
            </a:pPr>
            <a:r>
              <a:rPr lang="en-US" altLang="en-US" dirty="0"/>
              <a:t>Premature newborns are smaller, thinner, and usually redder than full-term newborns.</a:t>
            </a:r>
          </a:p>
          <a:p>
            <a:pPr lvl="1" eaLnBrk="1" hangingPunct="1">
              <a:spcBef>
                <a:spcPct val="35000"/>
              </a:spcBef>
            </a:pPr>
            <a:r>
              <a:rPr lang="en-US" altLang="en-US" dirty="0"/>
              <a:t>Keep premature newborns warm because they lose heat rapidly.</a:t>
            </a:r>
          </a:p>
          <a:p>
            <a:pPr lvl="1" eaLnBrk="1" hangingPunct="1">
              <a:spcBef>
                <a:spcPct val="35000"/>
              </a:spcBef>
            </a:pPr>
            <a:r>
              <a:rPr lang="en-US" altLang="en-US" dirty="0"/>
              <a:t>Arrange for prompt transport.</a:t>
            </a:r>
          </a:p>
        </p:txBody>
      </p:sp>
    </p:spTree>
    <p:extLst>
      <p:ext uri="{BB962C8B-B14F-4D97-AF65-F5344CB8AC3E}">
        <p14:creationId xmlns:p14="http://schemas.microsoft.com/office/powerpoint/2010/main" val="2852463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2">
            <a:extLst>
              <a:ext uri="{FF2B5EF4-FFF2-40B4-BE49-F238E27FC236}">
                <a16:creationId xmlns:a16="http://schemas.microsoft.com/office/drawing/2014/main" id="{1BE94FD9-1ABB-664D-842D-2BE236BBE3D2}"/>
              </a:ext>
            </a:extLst>
          </p:cNvPr>
          <p:cNvSpPr>
            <a:spLocks noGrp="1" noChangeArrowheads="1"/>
          </p:cNvSpPr>
          <p:nvPr>
            <p:ph type="title"/>
          </p:nvPr>
        </p:nvSpPr>
        <p:spPr/>
        <p:txBody>
          <a:bodyPr/>
          <a:lstStyle/>
          <a:p>
            <a:pPr eaLnBrk="1" hangingPunct="1">
              <a:lnSpc>
                <a:spcPct val="85000"/>
              </a:lnSpc>
              <a:defRPr/>
            </a:pPr>
            <a:r>
              <a:rPr lang="en-US" dirty="0"/>
              <a:t>Complications of Pregnancy and Childbirth </a:t>
            </a:r>
            <a:r>
              <a:rPr lang="en-US" sz="2800" b="0" dirty="0"/>
              <a:t>(6 of 14)</a:t>
            </a:r>
          </a:p>
        </p:txBody>
      </p:sp>
      <p:sp>
        <p:nvSpPr>
          <p:cNvPr id="95234" name="Rectangle 3">
            <a:extLst>
              <a:ext uri="{FF2B5EF4-FFF2-40B4-BE49-F238E27FC236}">
                <a16:creationId xmlns:a16="http://schemas.microsoft.com/office/drawing/2014/main" id="{AE8604E0-EA7E-714E-8B7A-8D1810D359F0}"/>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Unbroken bag of waters:</a:t>
            </a:r>
          </a:p>
          <a:p>
            <a:pPr lvl="1" eaLnBrk="1" hangingPunct="1">
              <a:spcBef>
                <a:spcPct val="35000"/>
              </a:spcBef>
            </a:pPr>
            <a:r>
              <a:rPr lang="en-US" altLang="en-US" dirty="0"/>
              <a:t>Carefully break bag and push it away from nose and mouth so newborn can breathe.</a:t>
            </a:r>
          </a:p>
          <a:p>
            <a:pPr lvl="1" eaLnBrk="1" hangingPunct="1">
              <a:spcBef>
                <a:spcPct val="35000"/>
              </a:spcBef>
            </a:pPr>
            <a:r>
              <a:rPr lang="en-US" altLang="en-US" dirty="0"/>
              <a:t>Be careful not to injure newborn in process.</a:t>
            </a:r>
          </a:p>
          <a:p>
            <a:pPr lvl="1" eaLnBrk="1" hangingPunct="1">
              <a:spcBef>
                <a:spcPct val="35000"/>
              </a:spcBef>
            </a:pPr>
            <a:r>
              <a:rPr lang="en-US" altLang="en-US" dirty="0"/>
              <a:t>Suction newborn’s mouth and then nose to help him or her to breathe.</a:t>
            </a:r>
          </a:p>
        </p:txBody>
      </p:sp>
    </p:spTree>
    <p:extLst>
      <p:ext uri="{BB962C8B-B14F-4D97-AF65-F5344CB8AC3E}">
        <p14:creationId xmlns:p14="http://schemas.microsoft.com/office/powerpoint/2010/main" val="3473327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a:extLst>
              <a:ext uri="{FF2B5EF4-FFF2-40B4-BE49-F238E27FC236}">
                <a16:creationId xmlns:a16="http://schemas.microsoft.com/office/drawing/2014/main" id="{49A2F23E-3043-6C4A-A8F4-1125CF07CC61}"/>
              </a:ext>
            </a:extLst>
          </p:cNvPr>
          <p:cNvSpPr>
            <a:spLocks noGrp="1" noChangeArrowheads="1"/>
          </p:cNvSpPr>
          <p:nvPr>
            <p:ph type="title"/>
          </p:nvPr>
        </p:nvSpPr>
        <p:spPr/>
        <p:txBody>
          <a:bodyPr/>
          <a:lstStyle/>
          <a:p>
            <a:pPr eaLnBrk="1" hangingPunct="1">
              <a:lnSpc>
                <a:spcPct val="85000"/>
              </a:lnSpc>
              <a:defRPr/>
            </a:pPr>
            <a:r>
              <a:rPr lang="en-US" dirty="0"/>
              <a:t>Complications of Pregnancy and Childbirth </a:t>
            </a:r>
            <a:r>
              <a:rPr lang="en-US" sz="2800" b="0" dirty="0"/>
              <a:t>(7 of 14)</a:t>
            </a:r>
          </a:p>
        </p:txBody>
      </p:sp>
      <p:sp>
        <p:nvSpPr>
          <p:cNvPr id="97282" name="Rectangle 3">
            <a:extLst>
              <a:ext uri="{FF2B5EF4-FFF2-40B4-BE49-F238E27FC236}">
                <a16:creationId xmlns:a16="http://schemas.microsoft.com/office/drawing/2014/main" id="{1271346A-D8A8-674D-9E6C-9FD01DFBEBBD}"/>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Prolapse of umbilical cord:</a:t>
            </a:r>
          </a:p>
          <a:p>
            <a:pPr lvl="1" eaLnBrk="1" hangingPunct="1">
              <a:spcBef>
                <a:spcPct val="35000"/>
              </a:spcBef>
            </a:pPr>
            <a:r>
              <a:rPr lang="en-US" altLang="en-US" dirty="0"/>
              <a:t>Cord may be compressed between newborn and woman’s pelvis during contractions.</a:t>
            </a:r>
          </a:p>
          <a:p>
            <a:pPr lvl="1" eaLnBrk="1" hangingPunct="1">
              <a:spcBef>
                <a:spcPct val="35000"/>
              </a:spcBef>
            </a:pPr>
            <a:r>
              <a:rPr lang="en-US" altLang="en-US" dirty="0"/>
              <a:t>Place pregnant patient in a position that raises her hips.</a:t>
            </a:r>
          </a:p>
          <a:p>
            <a:pPr lvl="1" eaLnBrk="1" hangingPunct="1">
              <a:spcBef>
                <a:spcPct val="35000"/>
              </a:spcBef>
            </a:pPr>
            <a:r>
              <a:rPr lang="en-US" altLang="en-US" dirty="0"/>
              <a:t>Keep cord covered and moist, and do not try to push it back into vagina.</a:t>
            </a:r>
          </a:p>
        </p:txBody>
      </p:sp>
    </p:spTree>
    <p:extLst>
      <p:ext uri="{BB962C8B-B14F-4D97-AF65-F5344CB8AC3E}">
        <p14:creationId xmlns:p14="http://schemas.microsoft.com/office/powerpoint/2010/main" val="2317938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a:extLst>
              <a:ext uri="{FF2B5EF4-FFF2-40B4-BE49-F238E27FC236}">
                <a16:creationId xmlns:a16="http://schemas.microsoft.com/office/drawing/2014/main" id="{98257252-EB76-634C-A2EB-EEE92615FEA6}"/>
              </a:ext>
            </a:extLst>
          </p:cNvPr>
          <p:cNvSpPr>
            <a:spLocks noGrp="1" noChangeArrowheads="1"/>
          </p:cNvSpPr>
          <p:nvPr>
            <p:ph type="title"/>
          </p:nvPr>
        </p:nvSpPr>
        <p:spPr/>
        <p:txBody>
          <a:bodyPr/>
          <a:lstStyle/>
          <a:p>
            <a:pPr eaLnBrk="1" hangingPunct="1">
              <a:lnSpc>
                <a:spcPct val="85000"/>
              </a:lnSpc>
              <a:defRPr/>
            </a:pPr>
            <a:r>
              <a:rPr lang="en-US" dirty="0"/>
              <a:t>Complications of Pregnancy and Childbirth </a:t>
            </a:r>
            <a:r>
              <a:rPr lang="en-US" sz="2800" b="0" dirty="0"/>
              <a:t>(8 of 14)</a:t>
            </a:r>
          </a:p>
        </p:txBody>
      </p:sp>
      <p:sp>
        <p:nvSpPr>
          <p:cNvPr id="99330" name="Rectangle 3">
            <a:extLst>
              <a:ext uri="{FF2B5EF4-FFF2-40B4-BE49-F238E27FC236}">
                <a16:creationId xmlns:a16="http://schemas.microsoft.com/office/drawing/2014/main" id="{D5F98851-4F32-3F45-BAFD-3ABA0F26BD04}"/>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Prolapse of umbilical cord (cont'd):</a:t>
            </a:r>
          </a:p>
          <a:p>
            <a:pPr lvl="1" eaLnBrk="1" hangingPunct="1">
              <a:spcBef>
                <a:spcPct val="35000"/>
              </a:spcBef>
            </a:pPr>
            <a:r>
              <a:rPr lang="en-US" altLang="en-US" dirty="0"/>
              <a:t>Administer oxygen if it is available.</a:t>
            </a:r>
          </a:p>
          <a:p>
            <a:pPr lvl="1" eaLnBrk="1" hangingPunct="1">
              <a:spcBef>
                <a:spcPct val="35000"/>
              </a:spcBef>
            </a:pPr>
            <a:r>
              <a:rPr lang="en-US" altLang="en-US" dirty="0"/>
              <a:t>Arrange for prompt transport.</a:t>
            </a:r>
          </a:p>
          <a:p>
            <a:pPr lvl="1" eaLnBrk="1" hangingPunct="1">
              <a:spcBef>
                <a:spcPct val="35000"/>
              </a:spcBef>
            </a:pPr>
            <a:r>
              <a:rPr lang="en-US" altLang="en-US" dirty="0"/>
              <a:t>Some EMS systems recommend placing woman in a kneeling position to take pressure off cord.</a:t>
            </a:r>
          </a:p>
        </p:txBody>
      </p:sp>
    </p:spTree>
    <p:extLst>
      <p:ext uri="{BB962C8B-B14F-4D97-AF65-F5344CB8AC3E}">
        <p14:creationId xmlns:p14="http://schemas.microsoft.com/office/powerpoint/2010/main" val="3492390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a:extLst>
              <a:ext uri="{FF2B5EF4-FFF2-40B4-BE49-F238E27FC236}">
                <a16:creationId xmlns:a16="http://schemas.microsoft.com/office/drawing/2014/main" id="{CE0D6D1B-0D35-E248-9AFF-59CDCD0C362E}"/>
              </a:ext>
            </a:extLst>
          </p:cNvPr>
          <p:cNvSpPr>
            <a:spLocks noGrp="1" noChangeArrowheads="1"/>
          </p:cNvSpPr>
          <p:nvPr>
            <p:ph type="title"/>
          </p:nvPr>
        </p:nvSpPr>
        <p:spPr/>
        <p:txBody>
          <a:bodyPr/>
          <a:lstStyle/>
          <a:p>
            <a:pPr eaLnBrk="1" hangingPunct="1">
              <a:lnSpc>
                <a:spcPct val="85000"/>
              </a:lnSpc>
              <a:defRPr/>
            </a:pPr>
            <a:r>
              <a:rPr lang="en-US" dirty="0"/>
              <a:t>Complications of Pregnancy and Childbirth </a:t>
            </a:r>
            <a:r>
              <a:rPr lang="en-US" sz="2800" b="0" dirty="0"/>
              <a:t>(9 of 14)</a:t>
            </a:r>
          </a:p>
        </p:txBody>
      </p:sp>
      <p:sp>
        <p:nvSpPr>
          <p:cNvPr id="101378" name="Rectangle 3">
            <a:extLst>
              <a:ext uri="{FF2B5EF4-FFF2-40B4-BE49-F238E27FC236}">
                <a16:creationId xmlns:a16="http://schemas.microsoft.com/office/drawing/2014/main" id="{07F559DF-CB72-C04C-BA0D-3E34C7012703}"/>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Breech birth:</a:t>
            </a:r>
          </a:p>
          <a:p>
            <a:pPr lvl="1" eaLnBrk="1" hangingPunct="1">
              <a:spcBef>
                <a:spcPct val="35000"/>
              </a:spcBef>
            </a:pPr>
            <a:r>
              <a:rPr lang="en-US" altLang="en-US" dirty="0"/>
              <a:t>Newborn’s buttocks come down birth canal first, rather than head.</a:t>
            </a:r>
          </a:p>
          <a:p>
            <a:pPr lvl="1" eaLnBrk="1" hangingPunct="1">
              <a:spcBef>
                <a:spcPct val="35000"/>
              </a:spcBef>
            </a:pPr>
            <a:r>
              <a:rPr lang="en-US" altLang="en-US" dirty="0"/>
              <a:t>Arrange for prompt transport.</a:t>
            </a:r>
          </a:p>
          <a:p>
            <a:pPr lvl="1" eaLnBrk="1" hangingPunct="1">
              <a:spcBef>
                <a:spcPct val="35000"/>
              </a:spcBef>
            </a:pPr>
            <a:r>
              <a:rPr lang="en-US" altLang="en-US" dirty="0"/>
              <a:t>Support newborn’s buttocks and legs as they are delivered.</a:t>
            </a:r>
          </a:p>
          <a:p>
            <a:pPr lvl="1" eaLnBrk="1" hangingPunct="1">
              <a:spcBef>
                <a:spcPct val="35000"/>
              </a:spcBef>
            </a:pPr>
            <a:r>
              <a:rPr lang="en-US" altLang="en-US" dirty="0"/>
              <a:t>Head usually follows on its own.</a:t>
            </a:r>
          </a:p>
        </p:txBody>
      </p:sp>
    </p:spTree>
    <p:extLst>
      <p:ext uri="{BB962C8B-B14F-4D97-AF65-F5344CB8AC3E}">
        <p14:creationId xmlns:p14="http://schemas.microsoft.com/office/powerpoint/2010/main" val="388179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a:extLst>
              <a:ext uri="{FF2B5EF4-FFF2-40B4-BE49-F238E27FC236}">
                <a16:creationId xmlns:a16="http://schemas.microsoft.com/office/drawing/2014/main" id="{94F84CB5-C998-0049-ABCD-7C29C6C9E798}"/>
              </a:ext>
            </a:extLst>
          </p:cNvPr>
          <p:cNvSpPr>
            <a:spLocks noGrp="1" noChangeArrowheads="1"/>
          </p:cNvSpPr>
          <p:nvPr>
            <p:ph type="title"/>
          </p:nvPr>
        </p:nvSpPr>
        <p:spPr/>
        <p:txBody>
          <a:bodyPr/>
          <a:lstStyle/>
          <a:p>
            <a:pPr eaLnBrk="1" hangingPunct="1">
              <a:lnSpc>
                <a:spcPct val="85000"/>
              </a:lnSpc>
              <a:defRPr/>
            </a:pPr>
            <a:r>
              <a:rPr lang="en-US" dirty="0"/>
              <a:t>Complications of Pregnancy and Childbirth </a:t>
            </a:r>
            <a:r>
              <a:rPr lang="en-US" sz="2800" b="0" dirty="0"/>
              <a:t>(10 of 14)</a:t>
            </a:r>
          </a:p>
        </p:txBody>
      </p:sp>
      <p:sp>
        <p:nvSpPr>
          <p:cNvPr id="103426" name="Rectangle 3">
            <a:extLst>
              <a:ext uri="{FF2B5EF4-FFF2-40B4-BE49-F238E27FC236}">
                <a16:creationId xmlns:a16="http://schemas.microsoft.com/office/drawing/2014/main" id="{23DA25B6-6E8A-FF4D-B6F1-394BFDD9635B}"/>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Breech birth (cont'd):</a:t>
            </a:r>
          </a:p>
          <a:p>
            <a:pPr lvl="1" eaLnBrk="1" hangingPunct="1">
              <a:spcBef>
                <a:spcPct val="35000"/>
              </a:spcBef>
            </a:pPr>
            <a:r>
              <a:rPr lang="en-US" altLang="en-US" dirty="0"/>
              <a:t>If head does not deliver within 3 minutes: </a:t>
            </a:r>
          </a:p>
          <a:p>
            <a:pPr lvl="2" eaLnBrk="1" hangingPunct="1"/>
            <a:r>
              <a:rPr lang="en-US" altLang="en-US" sz="2000" dirty="0"/>
              <a:t>Arrange for prompt transport.</a:t>
            </a:r>
          </a:p>
          <a:p>
            <a:pPr lvl="2" eaLnBrk="1" hangingPunct="1"/>
            <a:r>
              <a:rPr lang="en-US" altLang="en-US" sz="2000" dirty="0"/>
              <a:t>Insert a gloved hand into vagina and use your fingers to keep newborn’s airway open.</a:t>
            </a:r>
          </a:p>
          <a:p>
            <a:pPr lvl="1" eaLnBrk="1" hangingPunct="1">
              <a:spcBef>
                <a:spcPct val="35000"/>
              </a:spcBef>
            </a:pPr>
            <a:r>
              <a:rPr lang="en-US" altLang="en-US" dirty="0"/>
              <a:t>In very rare cases, arm or leg is first part of newborn to appear in birth canal.</a:t>
            </a:r>
          </a:p>
          <a:p>
            <a:pPr lvl="2" eaLnBrk="1" hangingPunct="1"/>
            <a:r>
              <a:rPr lang="en-US" altLang="en-US" sz="2000" dirty="0"/>
              <a:t>Limb presentation cannot be handled in field.</a:t>
            </a:r>
          </a:p>
        </p:txBody>
      </p:sp>
    </p:spTree>
    <p:extLst>
      <p:ext uri="{BB962C8B-B14F-4D97-AF65-F5344CB8AC3E}">
        <p14:creationId xmlns:p14="http://schemas.microsoft.com/office/powerpoint/2010/main" val="1598778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a:extLst>
              <a:ext uri="{FF2B5EF4-FFF2-40B4-BE49-F238E27FC236}">
                <a16:creationId xmlns:a16="http://schemas.microsoft.com/office/drawing/2014/main" id="{D117A4E4-2C0A-3D44-A7D8-C04BA6B0D748}"/>
              </a:ext>
            </a:extLst>
          </p:cNvPr>
          <p:cNvSpPr>
            <a:spLocks noGrp="1" noChangeArrowheads="1"/>
          </p:cNvSpPr>
          <p:nvPr>
            <p:ph type="title"/>
          </p:nvPr>
        </p:nvSpPr>
        <p:spPr/>
        <p:txBody>
          <a:bodyPr/>
          <a:lstStyle/>
          <a:p>
            <a:pPr eaLnBrk="1" hangingPunct="1">
              <a:lnSpc>
                <a:spcPct val="85000"/>
              </a:lnSpc>
              <a:defRPr/>
            </a:pPr>
            <a:r>
              <a:rPr lang="en-US" dirty="0"/>
              <a:t>Complications of Pregnancy and Childbirth </a:t>
            </a:r>
            <a:r>
              <a:rPr lang="en-US" sz="2800" b="0" dirty="0"/>
              <a:t>(11 of 14)</a:t>
            </a:r>
          </a:p>
        </p:txBody>
      </p:sp>
      <p:sp>
        <p:nvSpPr>
          <p:cNvPr id="105474" name="Rectangle 3">
            <a:extLst>
              <a:ext uri="{FF2B5EF4-FFF2-40B4-BE49-F238E27FC236}">
                <a16:creationId xmlns:a16="http://schemas.microsoft.com/office/drawing/2014/main" id="{1C546511-C41C-744A-BAEB-34D86454CF8C}"/>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Stillborn delivery:</a:t>
            </a:r>
          </a:p>
          <a:p>
            <a:pPr lvl="1" eaLnBrk="1" hangingPunct="1">
              <a:spcBef>
                <a:spcPct val="35000"/>
              </a:spcBef>
            </a:pPr>
            <a:r>
              <a:rPr lang="en-US" altLang="en-US" dirty="0"/>
              <a:t>Sometimes an newborn dies in uterus before labor.</a:t>
            </a:r>
          </a:p>
          <a:p>
            <a:pPr lvl="1" eaLnBrk="1" hangingPunct="1">
              <a:spcBef>
                <a:spcPct val="35000"/>
              </a:spcBef>
            </a:pPr>
            <a:r>
              <a:rPr lang="en-US" altLang="en-US" dirty="0"/>
              <a:t>Fetus will generally have an unpleasant odor and will not exhibit any signs of life.</a:t>
            </a:r>
          </a:p>
          <a:p>
            <a:pPr lvl="1" eaLnBrk="1" hangingPunct="1">
              <a:spcBef>
                <a:spcPct val="35000"/>
              </a:spcBef>
            </a:pPr>
            <a:r>
              <a:rPr lang="en-US" altLang="en-US" dirty="0"/>
              <a:t>Carefully wrap stillborn newborn in a blanket.</a:t>
            </a:r>
          </a:p>
          <a:p>
            <a:pPr lvl="1" eaLnBrk="1" hangingPunct="1">
              <a:spcBef>
                <a:spcPct val="35000"/>
              </a:spcBef>
            </a:pPr>
            <a:r>
              <a:rPr lang="en-US" altLang="en-US" dirty="0"/>
              <a:t>Turn your attention to mother and provide physical care and emotional support.</a:t>
            </a:r>
          </a:p>
        </p:txBody>
      </p:sp>
    </p:spTree>
    <p:extLst>
      <p:ext uri="{BB962C8B-B14F-4D97-AF65-F5344CB8AC3E}">
        <p14:creationId xmlns:p14="http://schemas.microsoft.com/office/powerpoint/2010/main" val="637289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a:extLst>
              <a:ext uri="{FF2B5EF4-FFF2-40B4-BE49-F238E27FC236}">
                <a16:creationId xmlns:a16="http://schemas.microsoft.com/office/drawing/2014/main" id="{E8427B95-2ECD-0C40-95A2-F54D118ABD55}"/>
              </a:ext>
            </a:extLst>
          </p:cNvPr>
          <p:cNvSpPr>
            <a:spLocks noGrp="1" noChangeArrowheads="1"/>
          </p:cNvSpPr>
          <p:nvPr>
            <p:ph type="title"/>
          </p:nvPr>
        </p:nvSpPr>
        <p:spPr/>
        <p:txBody>
          <a:bodyPr/>
          <a:lstStyle/>
          <a:p>
            <a:pPr eaLnBrk="1" hangingPunct="1">
              <a:lnSpc>
                <a:spcPct val="85000"/>
              </a:lnSpc>
              <a:defRPr/>
            </a:pPr>
            <a:r>
              <a:rPr lang="en-US" dirty="0"/>
              <a:t>Complications of Pregnancy and Childbirth </a:t>
            </a:r>
            <a:r>
              <a:rPr lang="en-US" sz="2800" b="0" dirty="0"/>
              <a:t>(12 of 14)</a:t>
            </a:r>
          </a:p>
        </p:txBody>
      </p:sp>
      <p:sp>
        <p:nvSpPr>
          <p:cNvPr id="107522" name="Rectangle 3">
            <a:extLst>
              <a:ext uri="{FF2B5EF4-FFF2-40B4-BE49-F238E27FC236}">
                <a16:creationId xmlns:a16="http://schemas.microsoft.com/office/drawing/2014/main" id="{44901F21-8B85-5E4A-99E9-DDFFA999F482}"/>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Multiple births:</a:t>
            </a:r>
          </a:p>
          <a:p>
            <a:pPr lvl="1" eaLnBrk="1" hangingPunct="1">
              <a:spcBef>
                <a:spcPct val="35000"/>
              </a:spcBef>
            </a:pPr>
            <a:r>
              <a:rPr lang="en-US" altLang="en-US" dirty="0"/>
              <a:t>Another set of labor contractions will begin shortly after delivery of first newborn.</a:t>
            </a:r>
          </a:p>
          <a:p>
            <a:pPr lvl="1" eaLnBrk="1" hangingPunct="1">
              <a:spcBef>
                <a:spcPct val="35000"/>
              </a:spcBef>
            </a:pPr>
            <a:r>
              <a:rPr lang="en-US" altLang="en-US" dirty="0"/>
              <a:t>Get ready to repeat procedure you completed for delivering first newborn.</a:t>
            </a:r>
          </a:p>
          <a:p>
            <a:pPr eaLnBrk="1" hangingPunct="1">
              <a:spcBef>
                <a:spcPct val="35000"/>
              </a:spcBef>
            </a:pPr>
            <a:r>
              <a:rPr lang="en-US" altLang="en-US" dirty="0"/>
              <a:t>Excessive bleeding after delivery:</a:t>
            </a:r>
          </a:p>
          <a:p>
            <a:pPr lvl="1" eaLnBrk="1" hangingPunct="1">
              <a:spcBef>
                <a:spcPct val="35000"/>
              </a:spcBef>
            </a:pPr>
            <a:r>
              <a:rPr lang="en-US" altLang="en-US" dirty="0"/>
              <a:t>Approximately 1 to 2 cups of blood is lost during normal childbirth.</a:t>
            </a:r>
          </a:p>
        </p:txBody>
      </p:sp>
    </p:spTree>
    <p:extLst>
      <p:ext uri="{BB962C8B-B14F-4D97-AF65-F5344CB8AC3E}">
        <p14:creationId xmlns:p14="http://schemas.microsoft.com/office/powerpoint/2010/main" val="1606692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a:extLst>
              <a:ext uri="{FF2B5EF4-FFF2-40B4-BE49-F238E27FC236}">
                <a16:creationId xmlns:a16="http://schemas.microsoft.com/office/drawing/2014/main" id="{C8008278-BB4A-A640-BE78-7CD817777982}"/>
              </a:ext>
            </a:extLst>
          </p:cNvPr>
          <p:cNvSpPr>
            <a:spLocks noGrp="1" noChangeArrowheads="1"/>
          </p:cNvSpPr>
          <p:nvPr>
            <p:ph type="title"/>
          </p:nvPr>
        </p:nvSpPr>
        <p:spPr/>
        <p:txBody>
          <a:bodyPr/>
          <a:lstStyle/>
          <a:p>
            <a:pPr eaLnBrk="1" hangingPunct="1">
              <a:lnSpc>
                <a:spcPct val="85000"/>
              </a:lnSpc>
              <a:defRPr/>
            </a:pPr>
            <a:r>
              <a:rPr lang="en-US" dirty="0"/>
              <a:t>Complications of Pregnancy and Childbirth </a:t>
            </a:r>
            <a:r>
              <a:rPr lang="en-US" sz="2800" b="0" dirty="0"/>
              <a:t>(13 of 14)</a:t>
            </a:r>
          </a:p>
        </p:txBody>
      </p:sp>
      <p:sp>
        <p:nvSpPr>
          <p:cNvPr id="109570" name="Rectangle 3">
            <a:extLst>
              <a:ext uri="{FF2B5EF4-FFF2-40B4-BE49-F238E27FC236}">
                <a16:creationId xmlns:a16="http://schemas.microsoft.com/office/drawing/2014/main" id="{B91F199A-10C2-6B40-BE49-83FB58370AEA}"/>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Excessive bleeding after delivery (cont'd):</a:t>
            </a:r>
          </a:p>
          <a:p>
            <a:pPr lvl="1" eaLnBrk="1" hangingPunct="1">
              <a:spcBef>
                <a:spcPct val="35000"/>
              </a:spcBef>
            </a:pPr>
            <a:r>
              <a:rPr lang="en-US" altLang="en-US" dirty="0"/>
              <a:t>If mother is bleeding severely:</a:t>
            </a:r>
          </a:p>
          <a:p>
            <a:pPr lvl="2" eaLnBrk="1" hangingPunct="1"/>
            <a:r>
              <a:rPr lang="en-US" altLang="en-US" sz="2000" dirty="0"/>
              <a:t>Place one or more clean sanitary pads at opening of vagina.</a:t>
            </a:r>
          </a:p>
          <a:p>
            <a:pPr lvl="2" eaLnBrk="1" hangingPunct="1"/>
            <a:r>
              <a:rPr lang="en-US" altLang="en-US" sz="2000" dirty="0"/>
              <a:t>Elevate her legs and hips.</a:t>
            </a:r>
          </a:p>
          <a:p>
            <a:pPr lvl="2" eaLnBrk="1" hangingPunct="1"/>
            <a:r>
              <a:rPr lang="en-US" altLang="en-US" sz="2000" dirty="0"/>
              <a:t>Treat her for shock.</a:t>
            </a:r>
          </a:p>
          <a:p>
            <a:pPr lvl="2" eaLnBrk="1" hangingPunct="1"/>
            <a:r>
              <a:rPr lang="en-US" altLang="en-US" sz="2000" dirty="0"/>
              <a:t>Arrange for rapid transport.</a:t>
            </a:r>
          </a:p>
        </p:txBody>
      </p:sp>
    </p:spTree>
    <p:extLst>
      <p:ext uri="{BB962C8B-B14F-4D97-AF65-F5344CB8AC3E}">
        <p14:creationId xmlns:p14="http://schemas.microsoft.com/office/powerpoint/2010/main" val="21839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a16="http://schemas.microsoft.com/office/drawing/2014/main" id="{E36CAFCF-C73D-064E-9C4A-AF00FEC48B74}"/>
              </a:ext>
            </a:extLst>
          </p:cNvPr>
          <p:cNvSpPr>
            <a:spLocks noGrp="1" noChangeArrowheads="1"/>
          </p:cNvSpPr>
          <p:nvPr>
            <p:ph type="title"/>
          </p:nvPr>
        </p:nvSpPr>
        <p:spPr/>
        <p:txBody>
          <a:bodyPr/>
          <a:lstStyle/>
          <a:p>
            <a:pPr eaLnBrk="1" hangingPunct="1">
              <a:lnSpc>
                <a:spcPct val="85000"/>
              </a:lnSpc>
              <a:defRPr/>
            </a:pPr>
            <a:r>
              <a:rPr lang="en-US" dirty="0"/>
              <a:t>Complications of Pregnancy and Childbirth </a:t>
            </a:r>
            <a:r>
              <a:rPr lang="en-US" sz="2800" b="0" dirty="0"/>
              <a:t>(14 of 14)</a:t>
            </a:r>
          </a:p>
        </p:txBody>
      </p:sp>
      <p:sp>
        <p:nvSpPr>
          <p:cNvPr id="111618" name="Rectangle 3">
            <a:extLst>
              <a:ext uri="{FF2B5EF4-FFF2-40B4-BE49-F238E27FC236}">
                <a16:creationId xmlns:a16="http://schemas.microsoft.com/office/drawing/2014/main" id="{F6DA6354-6329-4E41-BCA0-74F245575682}"/>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Excessive bleeding after delivery (cont'd):</a:t>
            </a:r>
          </a:p>
          <a:p>
            <a:pPr lvl="1" eaLnBrk="1" hangingPunct="1">
              <a:spcBef>
                <a:spcPct val="35000"/>
              </a:spcBef>
            </a:pPr>
            <a:r>
              <a:rPr lang="en-US" altLang="en-US" dirty="0"/>
              <a:t>Encourage newborn to nurse at mother’s breast.</a:t>
            </a:r>
          </a:p>
          <a:p>
            <a:pPr lvl="1" eaLnBrk="1" hangingPunct="1">
              <a:spcBef>
                <a:spcPct val="35000"/>
              </a:spcBef>
            </a:pPr>
            <a:r>
              <a:rPr lang="en-US" altLang="en-US" dirty="0"/>
              <a:t>Massage uterus with your hand.</a:t>
            </a:r>
          </a:p>
          <a:p>
            <a:pPr lvl="1" eaLnBrk="1" hangingPunct="1">
              <a:spcBef>
                <a:spcPct val="35000"/>
              </a:spcBef>
            </a:pPr>
            <a:r>
              <a:rPr lang="en-US" altLang="en-US" dirty="0"/>
              <a:t>If area between mother’s vagina and anus is torn and bleeding, treat it as you would an open wound.</a:t>
            </a:r>
          </a:p>
        </p:txBody>
      </p:sp>
    </p:spTree>
    <p:extLst>
      <p:ext uri="{BB962C8B-B14F-4D97-AF65-F5344CB8AC3E}">
        <p14:creationId xmlns:p14="http://schemas.microsoft.com/office/powerpoint/2010/main" val="1557658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a:extLst>
              <a:ext uri="{FF2B5EF4-FFF2-40B4-BE49-F238E27FC236}">
                <a16:creationId xmlns:a16="http://schemas.microsoft.com/office/drawing/2014/main" id="{882991C0-9D8E-954D-A5F1-89AF2CB2AC2C}"/>
              </a:ext>
            </a:extLst>
          </p:cNvPr>
          <p:cNvSpPr>
            <a:spLocks noGrp="1" noChangeArrowheads="1"/>
          </p:cNvSpPr>
          <p:nvPr>
            <p:ph type="title"/>
          </p:nvPr>
        </p:nvSpPr>
        <p:spPr/>
        <p:txBody>
          <a:bodyPr/>
          <a:lstStyle/>
          <a:p>
            <a:pPr eaLnBrk="1" hangingPunct="1">
              <a:lnSpc>
                <a:spcPct val="85000"/>
              </a:lnSpc>
              <a:defRPr/>
            </a:pPr>
            <a:r>
              <a:rPr lang="en-US" dirty="0"/>
              <a:t>Vehicle Collisions and Pregnant Women </a:t>
            </a:r>
            <a:r>
              <a:rPr lang="en-US" sz="2800" b="0" dirty="0"/>
              <a:t>(1 of 3)</a:t>
            </a:r>
          </a:p>
        </p:txBody>
      </p:sp>
      <p:sp>
        <p:nvSpPr>
          <p:cNvPr id="113666" name="Rectangle 3">
            <a:extLst>
              <a:ext uri="{FF2B5EF4-FFF2-40B4-BE49-F238E27FC236}">
                <a16:creationId xmlns:a16="http://schemas.microsoft.com/office/drawing/2014/main" id="{46759FAF-AEDA-734F-AB08-C71DCFBFAF46}"/>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Woman should be examined by a physician.</a:t>
            </a:r>
          </a:p>
          <a:p>
            <a:pPr lvl="1" eaLnBrk="1" hangingPunct="1">
              <a:spcBef>
                <a:spcPct val="35000"/>
              </a:spcBef>
            </a:pPr>
            <a:r>
              <a:rPr lang="en-US" altLang="en-US" dirty="0"/>
              <a:t>Forces involved in even a minor crash may be great enough to injure woman or unborn child.</a:t>
            </a:r>
          </a:p>
          <a:p>
            <a:pPr eaLnBrk="1" hangingPunct="1">
              <a:spcBef>
                <a:spcPct val="35000"/>
              </a:spcBef>
            </a:pPr>
            <a:r>
              <a:rPr lang="en-US" altLang="en-US" dirty="0"/>
              <a:t>Promptly assess patient and arrange transport to hospital.</a:t>
            </a:r>
          </a:p>
        </p:txBody>
      </p:sp>
    </p:spTree>
    <p:extLst>
      <p:ext uri="{BB962C8B-B14F-4D97-AF65-F5344CB8AC3E}">
        <p14:creationId xmlns:p14="http://schemas.microsoft.com/office/powerpoint/2010/main" val="52474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a:extLst>
              <a:ext uri="{FF2B5EF4-FFF2-40B4-BE49-F238E27FC236}">
                <a16:creationId xmlns:a16="http://schemas.microsoft.com/office/drawing/2014/main" id="{7A36F16C-A288-6E41-8F36-F74D4D3AA509}"/>
              </a:ext>
            </a:extLst>
          </p:cNvPr>
          <p:cNvSpPr>
            <a:spLocks noGrp="1" noChangeArrowheads="1"/>
          </p:cNvSpPr>
          <p:nvPr>
            <p:ph type="title"/>
          </p:nvPr>
        </p:nvSpPr>
        <p:spPr/>
        <p:txBody>
          <a:bodyPr/>
          <a:lstStyle/>
          <a:p>
            <a:pPr eaLnBrk="1" hangingPunct="1">
              <a:lnSpc>
                <a:spcPct val="85000"/>
              </a:lnSpc>
              <a:defRPr/>
            </a:pPr>
            <a:r>
              <a:rPr lang="en-US" dirty="0"/>
              <a:t>Vehicle Collisions and Pregnant Women </a:t>
            </a:r>
            <a:r>
              <a:rPr lang="en-US" sz="2800" b="0" dirty="0"/>
              <a:t>(2 of 3)</a:t>
            </a:r>
          </a:p>
        </p:txBody>
      </p:sp>
      <p:sp>
        <p:nvSpPr>
          <p:cNvPr id="115714" name="Rectangle 3">
            <a:extLst>
              <a:ext uri="{FF2B5EF4-FFF2-40B4-BE49-F238E27FC236}">
                <a16:creationId xmlns:a16="http://schemas.microsoft.com/office/drawing/2014/main" id="{A39C874F-76D2-5447-9ABA-AAE9C3112C23}"/>
              </a:ext>
            </a:extLst>
          </p:cNvPr>
          <p:cNvSpPr>
            <a:spLocks noGrp="1" noChangeArrowheads="1"/>
          </p:cNvSpPr>
          <p:nvPr>
            <p:ph idx="1"/>
          </p:nvPr>
        </p:nvSpPr>
        <p:spPr>
          <a:xfrm>
            <a:off x="831166" y="1572064"/>
            <a:ext cx="7772400"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If woman exhibits signs or symptoms of shock:</a:t>
            </a:r>
          </a:p>
          <a:p>
            <a:pPr lvl="1" eaLnBrk="1" hangingPunct="1">
              <a:spcBef>
                <a:spcPct val="35000"/>
              </a:spcBef>
            </a:pPr>
            <a:r>
              <a:rPr lang="en-US" altLang="en-US" dirty="0"/>
              <a:t>Monitor airway, breathing, and circulation.</a:t>
            </a:r>
          </a:p>
          <a:p>
            <a:pPr lvl="1" eaLnBrk="1" hangingPunct="1">
              <a:spcBef>
                <a:spcPct val="35000"/>
              </a:spcBef>
            </a:pPr>
            <a:r>
              <a:rPr lang="en-US" altLang="en-US" dirty="0"/>
              <a:t>Arrange for administration of high-flow oxygen.</a:t>
            </a:r>
          </a:p>
          <a:p>
            <a:pPr lvl="1" eaLnBrk="1" hangingPunct="1">
              <a:spcBef>
                <a:spcPct val="35000"/>
              </a:spcBef>
            </a:pPr>
            <a:r>
              <a:rPr lang="en-US" altLang="en-US" dirty="0"/>
              <a:t>Have woman lie on her left side rather than on her back.</a:t>
            </a:r>
          </a:p>
        </p:txBody>
      </p:sp>
    </p:spTree>
    <p:extLst>
      <p:ext uri="{BB962C8B-B14F-4D97-AF65-F5344CB8AC3E}">
        <p14:creationId xmlns:p14="http://schemas.microsoft.com/office/powerpoint/2010/main" val="1919007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a:extLst>
              <a:ext uri="{FF2B5EF4-FFF2-40B4-BE49-F238E27FC236}">
                <a16:creationId xmlns:a16="http://schemas.microsoft.com/office/drawing/2014/main" id="{3A76D45A-7BDB-1344-89E1-1C601EB78E04}"/>
              </a:ext>
            </a:extLst>
          </p:cNvPr>
          <p:cNvSpPr>
            <a:spLocks noGrp="1" noChangeArrowheads="1"/>
          </p:cNvSpPr>
          <p:nvPr>
            <p:ph type="title"/>
          </p:nvPr>
        </p:nvSpPr>
        <p:spPr/>
        <p:txBody>
          <a:bodyPr/>
          <a:lstStyle/>
          <a:p>
            <a:pPr eaLnBrk="1" hangingPunct="1">
              <a:lnSpc>
                <a:spcPct val="85000"/>
              </a:lnSpc>
              <a:defRPr/>
            </a:pPr>
            <a:r>
              <a:rPr lang="en-US" dirty="0"/>
              <a:t>Vehicle Collisions and Pregnant Women </a:t>
            </a:r>
            <a:r>
              <a:rPr lang="en-US" sz="2800" b="0" dirty="0"/>
              <a:t>(3 of 3)</a:t>
            </a:r>
          </a:p>
        </p:txBody>
      </p:sp>
      <p:sp>
        <p:nvSpPr>
          <p:cNvPr id="117762" name="Rectangle 3">
            <a:extLst>
              <a:ext uri="{FF2B5EF4-FFF2-40B4-BE49-F238E27FC236}">
                <a16:creationId xmlns:a16="http://schemas.microsoft.com/office/drawing/2014/main" id="{37FA421A-8E14-A44B-B1C9-C243A7852C6C}"/>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In rare cases, a crash can be severe enough to kill pregnant woman but not fetus.</a:t>
            </a:r>
          </a:p>
          <a:p>
            <a:pPr lvl="1" eaLnBrk="1" hangingPunct="1">
              <a:spcBef>
                <a:spcPct val="35000"/>
              </a:spcBef>
            </a:pPr>
            <a:r>
              <a:rPr lang="en-US" altLang="en-US" dirty="0"/>
              <a:t>Provide CPR to woman while transporting her to closest medical facility.</a:t>
            </a:r>
          </a:p>
        </p:txBody>
      </p:sp>
    </p:spTree>
    <p:extLst>
      <p:ext uri="{BB962C8B-B14F-4D97-AF65-F5344CB8AC3E}">
        <p14:creationId xmlns:p14="http://schemas.microsoft.com/office/powerpoint/2010/main" val="2713007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a:extLst>
              <a:ext uri="{FF2B5EF4-FFF2-40B4-BE49-F238E27FC236}">
                <a16:creationId xmlns:a16="http://schemas.microsoft.com/office/drawing/2014/main" id="{0D0FE4E9-793C-9A40-B517-4D689E062E62}"/>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(1 of 3)</a:t>
            </a:r>
          </a:p>
        </p:txBody>
      </p:sp>
      <p:sp>
        <p:nvSpPr>
          <p:cNvPr id="119810" name="Rectangle 3">
            <a:extLst>
              <a:ext uri="{FF2B5EF4-FFF2-40B4-BE49-F238E27FC236}">
                <a16:creationId xmlns:a16="http://schemas.microsoft.com/office/drawing/2014/main" id="{03A39E00-0865-8542-8FE5-7D1E6886B0D2}"/>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Key indicators in estimating how soon a delivery will occur are crowning and time between contractions.</a:t>
            </a:r>
          </a:p>
          <a:p>
            <a:pPr eaLnBrk="1" hangingPunct="1">
              <a:spcBef>
                <a:spcPct val="35000"/>
              </a:spcBef>
            </a:pPr>
            <a:r>
              <a:rPr lang="en-US" altLang="en-US" dirty="0"/>
              <a:t>Stage one of labor is characterized by following conditions: initial contractions occur, bag of waters breaks, and bloody show occurs, but newborn’s head does not appear.</a:t>
            </a:r>
          </a:p>
        </p:txBody>
      </p:sp>
    </p:spTree>
    <p:extLst>
      <p:ext uri="{BB962C8B-B14F-4D97-AF65-F5344CB8AC3E}">
        <p14:creationId xmlns:p14="http://schemas.microsoft.com/office/powerpoint/2010/main" val="946711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a:extLst>
              <a:ext uri="{FF2B5EF4-FFF2-40B4-BE49-F238E27FC236}">
                <a16:creationId xmlns:a16="http://schemas.microsoft.com/office/drawing/2014/main" id="{3E50B50D-6889-F643-B925-B075BE51F53B}"/>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(2 of 3)</a:t>
            </a:r>
          </a:p>
        </p:txBody>
      </p:sp>
      <p:sp>
        <p:nvSpPr>
          <p:cNvPr id="121858" name="Rectangle 3">
            <a:extLst>
              <a:ext uri="{FF2B5EF4-FFF2-40B4-BE49-F238E27FC236}">
                <a16:creationId xmlns:a16="http://schemas.microsoft.com/office/drawing/2014/main" id="{8DF39896-448F-C445-8C60-AA8C4A6D39DC}"/>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Stage two of labor involves actual birth. You will see newborn’s head crowning during contractions, at which time you must prepare to assist woman with delivery.</a:t>
            </a:r>
          </a:p>
          <a:p>
            <a:pPr eaLnBrk="1" hangingPunct="1">
              <a:spcBef>
                <a:spcPct val="35000"/>
              </a:spcBef>
            </a:pPr>
            <a:r>
              <a:rPr lang="en-US" altLang="en-US" dirty="0"/>
              <a:t>Stage three of labor involves delivery of placenta. You must assist in stabilizing condition of mother and newborn and delivering placenta.</a:t>
            </a:r>
          </a:p>
          <a:p>
            <a:pPr>
              <a:spcBef>
                <a:spcPct val="35000"/>
              </a:spcBef>
            </a:pPr>
            <a:r>
              <a:rPr lang="en-US" altLang="en-US" dirty="0"/>
              <a:t>Exercise standard precautions when assisting with a delivery.</a:t>
            </a:r>
          </a:p>
          <a:p>
            <a:pPr eaLnBrk="1" hangingPunct="1">
              <a:spcBef>
                <a:spcPct val="35000"/>
              </a:spcBef>
            </a:pPr>
            <a:endParaRPr lang="en-US" altLang="en-US" dirty="0"/>
          </a:p>
        </p:txBody>
      </p:sp>
    </p:spTree>
    <p:extLst>
      <p:ext uri="{BB962C8B-B14F-4D97-AF65-F5344CB8AC3E}">
        <p14:creationId xmlns:p14="http://schemas.microsoft.com/office/powerpoint/2010/main" val="3927493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a:extLst>
              <a:ext uri="{FF2B5EF4-FFF2-40B4-BE49-F238E27FC236}">
                <a16:creationId xmlns:a16="http://schemas.microsoft.com/office/drawing/2014/main" id="{89CD506B-1AB5-0F4C-8306-FA1D85DD2B25}"/>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(3 of 3)</a:t>
            </a:r>
          </a:p>
        </p:txBody>
      </p:sp>
      <p:sp>
        <p:nvSpPr>
          <p:cNvPr id="123906" name="Rectangle 3">
            <a:extLst>
              <a:ext uri="{FF2B5EF4-FFF2-40B4-BE49-F238E27FC236}">
                <a16:creationId xmlns:a16="http://schemas.microsoft.com/office/drawing/2014/main" id="{FC3E4C58-1291-BF48-88D5-1F9D72E399BC}"/>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After delivery, you have two patients to care for—mother and newborn.</a:t>
            </a:r>
          </a:p>
          <a:p>
            <a:pPr eaLnBrk="1" hangingPunct="1">
              <a:spcBef>
                <a:spcPct val="35000"/>
              </a:spcBef>
            </a:pPr>
            <a:r>
              <a:rPr lang="en-US" altLang="en-US" dirty="0"/>
              <a:t>If newborn does not breathe on its own within first minute after birth, proceed with steps to resuscitate.</a:t>
            </a:r>
          </a:p>
          <a:p>
            <a:pPr>
              <a:spcBef>
                <a:spcPct val="35000"/>
              </a:spcBef>
            </a:pPr>
            <a:r>
              <a:rPr lang="en-US" altLang="en-US" dirty="0"/>
              <a:t>Although most pregnancies and births are uneventful, you should be aware of possible complications, including ectopic pregnancies and shock, vaginal bleeding and miscarriage, premature births, an unbroken bag of waters, a prolapsed umbilical cord, breech birth, a stillborn delivery, multiple births, and excessive bleeding after delivery.</a:t>
            </a:r>
          </a:p>
          <a:p>
            <a:pPr eaLnBrk="1" hangingPunct="1">
              <a:spcBef>
                <a:spcPct val="35000"/>
              </a:spcBef>
            </a:pPr>
            <a:endParaRPr lang="en-US" altLang="en-US" dirty="0"/>
          </a:p>
        </p:txBody>
      </p:sp>
    </p:spTree>
    <p:extLst>
      <p:ext uri="{BB962C8B-B14F-4D97-AF65-F5344CB8AC3E}">
        <p14:creationId xmlns:p14="http://schemas.microsoft.com/office/powerpoint/2010/main" val="3868509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a:extLst>
              <a:ext uri="{FF2B5EF4-FFF2-40B4-BE49-F238E27FC236}">
                <a16:creationId xmlns:a16="http://schemas.microsoft.com/office/drawing/2014/main" id="{35FD9DCB-9E85-A142-BD4D-E9FCF1B975A0}"/>
              </a:ext>
            </a:extLst>
          </p:cNvPr>
          <p:cNvSpPr>
            <a:spLocks noGrp="1" noChangeArrowheads="1"/>
          </p:cNvSpPr>
          <p:nvPr>
            <p:ph type="title"/>
          </p:nvPr>
        </p:nvSpPr>
        <p:spPr/>
        <p:txBody>
          <a:bodyPr/>
          <a:lstStyle/>
          <a:p>
            <a:pPr eaLnBrk="1" hangingPunct="1">
              <a:lnSpc>
                <a:spcPct val="85000"/>
              </a:lnSpc>
              <a:defRPr/>
            </a:pPr>
            <a:r>
              <a:rPr lang="en-US" dirty="0"/>
              <a:t>Review </a:t>
            </a:r>
          </a:p>
        </p:txBody>
      </p:sp>
      <p:sp>
        <p:nvSpPr>
          <p:cNvPr id="128002" name="Rectangle 3">
            <a:extLst>
              <a:ext uri="{FF2B5EF4-FFF2-40B4-BE49-F238E27FC236}">
                <a16:creationId xmlns:a16="http://schemas.microsoft.com/office/drawing/2014/main" id="{45EC0922-ADAD-E747-AA29-DE1B290C6F4F}"/>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a:pPr>
            <a:r>
              <a:rPr lang="en-US" altLang="en-US" dirty="0"/>
              <a:t>For the EMR, assisting with delivery involves:</a:t>
            </a:r>
          </a:p>
          <a:p>
            <a:pPr marL="1028700" lvl="1" indent="-457200">
              <a:spcBef>
                <a:spcPct val="35000"/>
              </a:spcBef>
              <a:buFontTx/>
              <a:buAutoNum type="alphaUcPeriod"/>
            </a:pPr>
            <a:r>
              <a:rPr lang="en-US" altLang="en-US" dirty="0"/>
              <a:t>determining exactly when the woman will deliver.</a:t>
            </a:r>
          </a:p>
          <a:p>
            <a:pPr marL="1028700" lvl="1" indent="-457200">
              <a:spcBef>
                <a:spcPct val="35000"/>
              </a:spcBef>
              <a:buFontTx/>
              <a:buAutoNum type="alphaUcPeriod"/>
            </a:pPr>
            <a:r>
              <a:rPr lang="en-US" altLang="en-US" dirty="0"/>
              <a:t>transporting the pregnant woman only. </a:t>
            </a:r>
          </a:p>
          <a:p>
            <a:pPr marL="1028700" lvl="1" indent="-457200">
              <a:spcBef>
                <a:spcPct val="35000"/>
              </a:spcBef>
              <a:buFontTx/>
              <a:buAutoNum type="alphaUcPeriod"/>
            </a:pPr>
            <a:r>
              <a:rPr lang="en-US" altLang="en-US" dirty="0"/>
              <a:t>supporting the newborn’s head as it emerges and telling the woman to stop pushing.</a:t>
            </a:r>
          </a:p>
          <a:p>
            <a:pPr marL="1028700" lvl="1" indent="-457200">
              <a:spcBef>
                <a:spcPct val="35000"/>
              </a:spcBef>
              <a:buFontTx/>
              <a:buAutoNum type="alphaUcPeriod"/>
            </a:pPr>
            <a:r>
              <a:rPr lang="en-US" altLang="en-US" dirty="0"/>
              <a:t>pulling on the newborn to expedite birth. </a:t>
            </a:r>
          </a:p>
        </p:txBody>
      </p:sp>
    </p:spTree>
    <p:extLst>
      <p:ext uri="{BB962C8B-B14F-4D97-AF65-F5344CB8AC3E}">
        <p14:creationId xmlns:p14="http://schemas.microsoft.com/office/powerpoint/2010/main" val="992560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a:extLst>
              <a:ext uri="{FF2B5EF4-FFF2-40B4-BE49-F238E27FC236}">
                <a16:creationId xmlns:a16="http://schemas.microsoft.com/office/drawing/2014/main" id="{0931873A-7011-0246-8BC0-225ABB13E187}"/>
              </a:ext>
            </a:extLst>
          </p:cNvPr>
          <p:cNvSpPr>
            <a:spLocks noGrp="1" noChangeArrowheads="1"/>
          </p:cNvSpPr>
          <p:nvPr>
            <p:ph type="title"/>
          </p:nvPr>
        </p:nvSpPr>
        <p:spPr/>
        <p:txBody>
          <a:bodyPr/>
          <a:lstStyle/>
          <a:p>
            <a:pPr eaLnBrk="1" hangingPunct="1">
              <a:lnSpc>
                <a:spcPct val="85000"/>
              </a:lnSpc>
              <a:defRPr/>
            </a:pPr>
            <a:r>
              <a:rPr lang="en-US" dirty="0"/>
              <a:t>Review</a:t>
            </a:r>
          </a:p>
        </p:txBody>
      </p:sp>
      <p:sp>
        <p:nvSpPr>
          <p:cNvPr id="130050" name="Rectangle 3">
            <a:extLst>
              <a:ext uri="{FF2B5EF4-FFF2-40B4-BE49-F238E27FC236}">
                <a16:creationId xmlns:a16="http://schemas.microsoft.com/office/drawing/2014/main" id="{38708C4A-6B68-6740-A60B-46CD5599A47D}"/>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buNone/>
              <a:tabLst>
                <a:tab pos="457200" algn="l"/>
              </a:tabLst>
            </a:pPr>
            <a:r>
              <a:rPr lang="en-US" altLang="en-US" b="1" dirty="0"/>
              <a:t>Answer: </a:t>
            </a:r>
          </a:p>
          <a:p>
            <a:pPr marL="457200" indent="-457200">
              <a:spcBef>
                <a:spcPct val="35000"/>
              </a:spcBef>
              <a:buNone/>
              <a:tabLst>
                <a:tab pos="457200" algn="l"/>
              </a:tabLst>
            </a:pPr>
            <a:r>
              <a:rPr lang="en-US" altLang="en-US" b="1" dirty="0"/>
              <a:t>C.	supporting the newborn’s head as it emerges and telling the woman to stop pushing.</a:t>
            </a:r>
          </a:p>
        </p:txBody>
      </p:sp>
    </p:spTree>
    <p:extLst>
      <p:ext uri="{BB962C8B-B14F-4D97-AF65-F5344CB8AC3E}">
        <p14:creationId xmlns:p14="http://schemas.microsoft.com/office/powerpoint/2010/main" val="1757395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a:extLst>
              <a:ext uri="{FF2B5EF4-FFF2-40B4-BE49-F238E27FC236}">
                <a16:creationId xmlns:a16="http://schemas.microsoft.com/office/drawing/2014/main" id="{E0E5AE12-337F-A041-B4B4-84204F8EC03C}"/>
              </a:ext>
            </a:extLst>
          </p:cNvPr>
          <p:cNvSpPr>
            <a:spLocks noGrp="1" noChangeArrowheads="1"/>
          </p:cNvSpPr>
          <p:nvPr>
            <p:ph type="title"/>
          </p:nvPr>
        </p:nvSpPr>
        <p:spPr/>
        <p:txBody>
          <a:bodyPr/>
          <a:lstStyle/>
          <a:p>
            <a:pPr eaLnBrk="1" hangingPunct="1">
              <a:lnSpc>
                <a:spcPct val="85000"/>
              </a:lnSpc>
              <a:defRPr/>
            </a:pPr>
            <a:r>
              <a:rPr lang="en-US" dirty="0"/>
              <a:t>Review</a:t>
            </a:r>
          </a:p>
        </p:txBody>
      </p:sp>
      <p:sp>
        <p:nvSpPr>
          <p:cNvPr id="132098" name="Rectangle 3">
            <a:extLst>
              <a:ext uri="{FF2B5EF4-FFF2-40B4-BE49-F238E27FC236}">
                <a16:creationId xmlns:a16="http://schemas.microsoft.com/office/drawing/2014/main" id="{26C055F9-58DC-5241-B681-645096597A3D}"/>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startAt="2"/>
            </a:pPr>
            <a:r>
              <a:rPr lang="en-US" altLang="en-US" dirty="0"/>
              <a:t>As soon as a baby is born, it is important to:</a:t>
            </a:r>
          </a:p>
          <a:p>
            <a:pPr marL="1028700" lvl="1" indent="-457200">
              <a:spcBef>
                <a:spcPct val="35000"/>
              </a:spcBef>
              <a:buFontTx/>
              <a:buAutoNum type="alphaUcPeriod"/>
            </a:pPr>
            <a:r>
              <a:rPr lang="en-US" altLang="en-US" dirty="0"/>
              <a:t>cool the baby to stimulate breathing. </a:t>
            </a:r>
          </a:p>
          <a:p>
            <a:pPr marL="1028700" lvl="1" indent="-457200">
              <a:spcBef>
                <a:spcPct val="35000"/>
              </a:spcBef>
              <a:buFontTx/>
              <a:buAutoNum type="alphaUcPeriod"/>
            </a:pPr>
            <a:r>
              <a:rPr lang="en-US" altLang="en-US" dirty="0"/>
              <a:t>ensure that the baby is dried and warmed.</a:t>
            </a:r>
          </a:p>
          <a:p>
            <a:pPr marL="1028700" lvl="1" indent="-457200">
              <a:spcBef>
                <a:spcPct val="35000"/>
              </a:spcBef>
              <a:buFontTx/>
              <a:buAutoNum type="alphaUcPeriod"/>
            </a:pPr>
            <a:r>
              <a:rPr lang="en-US" altLang="en-US" dirty="0"/>
              <a:t>keep newborn’s head higher than its body. </a:t>
            </a:r>
          </a:p>
          <a:p>
            <a:pPr marL="1028700" lvl="1" indent="-457200">
              <a:spcBef>
                <a:spcPct val="35000"/>
              </a:spcBef>
              <a:buFontTx/>
              <a:buAutoNum type="alphaUcPeriod"/>
            </a:pPr>
            <a:r>
              <a:rPr lang="en-US" altLang="en-US" dirty="0"/>
              <a:t>immediately cut the umbilical cord.</a:t>
            </a:r>
          </a:p>
        </p:txBody>
      </p:sp>
    </p:spTree>
    <p:extLst>
      <p:ext uri="{BB962C8B-B14F-4D97-AF65-F5344CB8AC3E}">
        <p14:creationId xmlns:p14="http://schemas.microsoft.com/office/powerpoint/2010/main" val="1767380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a:extLst>
              <a:ext uri="{FF2B5EF4-FFF2-40B4-BE49-F238E27FC236}">
                <a16:creationId xmlns:a16="http://schemas.microsoft.com/office/drawing/2014/main" id="{A493222E-3D82-0A49-9DD2-BEB1EA9DBE06}"/>
              </a:ext>
            </a:extLst>
          </p:cNvPr>
          <p:cNvSpPr>
            <a:spLocks noGrp="1" noChangeArrowheads="1"/>
          </p:cNvSpPr>
          <p:nvPr>
            <p:ph type="title"/>
          </p:nvPr>
        </p:nvSpPr>
        <p:spPr/>
        <p:txBody>
          <a:bodyPr/>
          <a:lstStyle/>
          <a:p>
            <a:pPr eaLnBrk="1" hangingPunct="1">
              <a:lnSpc>
                <a:spcPct val="85000"/>
              </a:lnSpc>
              <a:defRPr/>
            </a:pPr>
            <a:r>
              <a:rPr lang="en-US" dirty="0"/>
              <a:t>Review</a:t>
            </a:r>
          </a:p>
        </p:txBody>
      </p:sp>
      <p:sp>
        <p:nvSpPr>
          <p:cNvPr id="134146" name="Rectangle 3">
            <a:extLst>
              <a:ext uri="{FF2B5EF4-FFF2-40B4-BE49-F238E27FC236}">
                <a16:creationId xmlns:a16="http://schemas.microsoft.com/office/drawing/2014/main" id="{56DB85B2-DD6B-5B45-BB63-2FEFCD7480EB}"/>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buNone/>
              <a:tabLst>
                <a:tab pos="457200" algn="l"/>
              </a:tabLst>
            </a:pPr>
            <a:r>
              <a:rPr lang="en-US" altLang="en-US" b="1" dirty="0"/>
              <a:t>Answer: </a:t>
            </a:r>
          </a:p>
          <a:p>
            <a:pPr marL="457200" indent="-457200">
              <a:spcBef>
                <a:spcPct val="35000"/>
              </a:spcBef>
              <a:buNone/>
              <a:tabLst>
                <a:tab pos="457200" algn="l"/>
              </a:tabLst>
            </a:pPr>
            <a:r>
              <a:rPr lang="en-US" altLang="en-US" b="1" dirty="0"/>
              <a:t>B.	ensure that the baby is dried and warmed.</a:t>
            </a:r>
          </a:p>
        </p:txBody>
      </p:sp>
    </p:spTree>
    <p:extLst>
      <p:ext uri="{BB962C8B-B14F-4D97-AF65-F5344CB8AC3E}">
        <p14:creationId xmlns:p14="http://schemas.microsoft.com/office/powerpoint/2010/main" val="3745904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a:extLst>
              <a:ext uri="{FF2B5EF4-FFF2-40B4-BE49-F238E27FC236}">
                <a16:creationId xmlns:a16="http://schemas.microsoft.com/office/drawing/2014/main" id="{A8F1E31F-A6EE-4848-9E1A-D35C94084E54}"/>
              </a:ext>
            </a:extLst>
          </p:cNvPr>
          <p:cNvSpPr>
            <a:spLocks noGrp="1" noChangeArrowheads="1"/>
          </p:cNvSpPr>
          <p:nvPr>
            <p:ph type="title"/>
          </p:nvPr>
        </p:nvSpPr>
        <p:spPr/>
        <p:txBody>
          <a:bodyPr/>
          <a:lstStyle/>
          <a:p>
            <a:pPr eaLnBrk="1" hangingPunct="1">
              <a:lnSpc>
                <a:spcPct val="85000"/>
              </a:lnSpc>
              <a:defRPr/>
            </a:pPr>
            <a:r>
              <a:rPr lang="en-US" dirty="0"/>
              <a:t>Review</a:t>
            </a:r>
          </a:p>
        </p:txBody>
      </p:sp>
      <p:sp>
        <p:nvSpPr>
          <p:cNvPr id="136194" name="Rectangle 3">
            <a:extLst>
              <a:ext uri="{FF2B5EF4-FFF2-40B4-BE49-F238E27FC236}">
                <a16:creationId xmlns:a16="http://schemas.microsoft.com/office/drawing/2014/main" id="{0BBE6E4E-900F-A44C-BE13-9B7257E98B8C}"/>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startAt="3"/>
            </a:pPr>
            <a:r>
              <a:rPr lang="en-US" altLang="en-US" dirty="0"/>
              <a:t>Complications of pregnancy include all of the following, </a:t>
            </a:r>
            <a:r>
              <a:rPr lang="en-US" altLang="en-US" i="1" dirty="0"/>
              <a:t>except</a:t>
            </a:r>
            <a:r>
              <a:rPr lang="en-US" altLang="en-US" dirty="0"/>
              <a:t>:</a:t>
            </a:r>
          </a:p>
          <a:p>
            <a:pPr marL="1028700" lvl="1" indent="-457200">
              <a:spcBef>
                <a:spcPct val="35000"/>
              </a:spcBef>
              <a:buFontTx/>
              <a:buAutoNum type="alphaUcPeriod"/>
            </a:pPr>
            <a:r>
              <a:rPr lang="en-US" altLang="en-US" dirty="0"/>
              <a:t>premature birth. </a:t>
            </a:r>
          </a:p>
          <a:p>
            <a:pPr marL="1028700" lvl="1" indent="-457200">
              <a:spcBef>
                <a:spcPct val="35000"/>
              </a:spcBef>
              <a:buFontTx/>
              <a:buAutoNum type="alphaUcPeriod"/>
            </a:pPr>
            <a:r>
              <a:rPr lang="en-US" altLang="en-US" dirty="0"/>
              <a:t>prolapsed cord. </a:t>
            </a:r>
          </a:p>
          <a:p>
            <a:pPr marL="1028700" lvl="1" indent="-457200">
              <a:spcBef>
                <a:spcPct val="35000"/>
              </a:spcBef>
              <a:buFontTx/>
              <a:buAutoNum type="alphaUcPeriod"/>
            </a:pPr>
            <a:r>
              <a:rPr lang="en-US" altLang="en-US" dirty="0"/>
              <a:t>breech birth. </a:t>
            </a:r>
          </a:p>
          <a:p>
            <a:pPr marL="1028700" lvl="1" indent="-457200">
              <a:spcBef>
                <a:spcPct val="35000"/>
              </a:spcBef>
              <a:buFontTx/>
              <a:buAutoNum type="alphaUcPeriod"/>
            </a:pPr>
            <a:r>
              <a:rPr lang="en-US" altLang="en-US" dirty="0"/>
              <a:t>multiple births. </a:t>
            </a:r>
          </a:p>
        </p:txBody>
      </p:sp>
    </p:spTree>
    <p:extLst>
      <p:ext uri="{BB962C8B-B14F-4D97-AF65-F5344CB8AC3E}">
        <p14:creationId xmlns:p14="http://schemas.microsoft.com/office/powerpoint/2010/main" val="1355050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2">
            <a:extLst>
              <a:ext uri="{FF2B5EF4-FFF2-40B4-BE49-F238E27FC236}">
                <a16:creationId xmlns:a16="http://schemas.microsoft.com/office/drawing/2014/main" id="{8EB174E5-3188-7F44-AD69-4531BBE1ECAD}"/>
              </a:ext>
            </a:extLst>
          </p:cNvPr>
          <p:cNvSpPr>
            <a:spLocks noGrp="1" noChangeArrowheads="1"/>
          </p:cNvSpPr>
          <p:nvPr>
            <p:ph type="title"/>
          </p:nvPr>
        </p:nvSpPr>
        <p:spPr/>
        <p:txBody>
          <a:bodyPr/>
          <a:lstStyle/>
          <a:p>
            <a:pPr eaLnBrk="1" hangingPunct="1">
              <a:lnSpc>
                <a:spcPct val="85000"/>
              </a:lnSpc>
              <a:defRPr/>
            </a:pPr>
            <a:r>
              <a:rPr lang="en-US" dirty="0"/>
              <a:t>Review</a:t>
            </a:r>
          </a:p>
        </p:txBody>
      </p:sp>
      <p:sp>
        <p:nvSpPr>
          <p:cNvPr id="138242" name="Rectangle 3">
            <a:extLst>
              <a:ext uri="{FF2B5EF4-FFF2-40B4-BE49-F238E27FC236}">
                <a16:creationId xmlns:a16="http://schemas.microsoft.com/office/drawing/2014/main" id="{DEBA3EFB-4125-6E4F-808F-93C205192A02}"/>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buFontTx/>
              <a:buNone/>
            </a:pPr>
            <a:r>
              <a:rPr lang="en-US" altLang="en-US" b="1"/>
              <a:t>Answer: </a:t>
            </a:r>
          </a:p>
          <a:p>
            <a:pPr eaLnBrk="1" hangingPunct="1">
              <a:spcBef>
                <a:spcPct val="35000"/>
              </a:spcBef>
              <a:buFontTx/>
              <a:buNone/>
            </a:pPr>
            <a:r>
              <a:rPr lang="en-US" altLang="en-US" b="1"/>
              <a:t>D. multiple births. </a:t>
            </a:r>
          </a:p>
        </p:txBody>
      </p:sp>
    </p:spTree>
    <p:extLst>
      <p:ext uri="{BB962C8B-B14F-4D97-AF65-F5344CB8AC3E}">
        <p14:creationId xmlns:p14="http://schemas.microsoft.com/office/powerpoint/2010/main" val="2261662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ducational subjects 16x9">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27.potx" id="{6B18C398-4F76-4BDC-B8A4-D02A96E0AA82}" vid="{FBF1AC64-E511-41D2-AA23-0E693E79CD77}"/>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602</TotalTime>
  <Words>7303</Words>
  <Application>Microsoft Macintosh PowerPoint</Application>
  <PresentationFormat>Widescreen</PresentationFormat>
  <Paragraphs>615</Paragraphs>
  <Slides>66</Slides>
  <Notes>65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66</vt:i4>
      </vt:variant>
    </vt:vector>
  </HeadingPairs>
  <TitlesOfParts>
    <vt:vector size="71" baseType="lpstr">
      <vt:lpstr>Arial</vt:lpstr>
      <vt:lpstr>Arial Black</vt:lpstr>
      <vt:lpstr>Calibri</vt:lpstr>
      <vt:lpstr>Wingdings</vt:lpstr>
      <vt:lpstr>Educational subjects 16x9</vt:lpstr>
      <vt:lpstr>Childbirth</vt:lpstr>
      <vt:lpstr>National EMS Education Standard Competencies (1 of 6)</vt:lpstr>
      <vt:lpstr>National EMS Education Standard Competencies (2 of 6)</vt:lpstr>
      <vt:lpstr>National EMS Education Standard Competencies (3 of 6)</vt:lpstr>
      <vt:lpstr>National EMS Education Standard Competencies (4 of 6)</vt:lpstr>
      <vt:lpstr>National EMS Education Standard Competencies (5 of 6)</vt:lpstr>
      <vt:lpstr>National EMS Education Standard Competencies (6 of 6)</vt:lpstr>
      <vt:lpstr>Introduction</vt:lpstr>
      <vt:lpstr>Anatomy and Function of Female Reproductive System (1 of 2)</vt:lpstr>
      <vt:lpstr>Anatomy and Function of Female Reproductive System (2 of 2)</vt:lpstr>
      <vt:lpstr>Stages of Labor (1 of 3)</vt:lpstr>
      <vt:lpstr>Stages of Labor (2 of 3)</vt:lpstr>
      <vt:lpstr>Stages of Labor (3 of 3)</vt:lpstr>
      <vt:lpstr>Is There Time to Reach Hospital? (1 of 3)</vt:lpstr>
      <vt:lpstr>Is There Time to Reach Hospital? (2 of 3)</vt:lpstr>
      <vt:lpstr>Is There Time to Reach Hospital? (3 of 3)</vt:lpstr>
      <vt:lpstr>Timing Contraction Cycles</vt:lpstr>
      <vt:lpstr>Detecting Crowning</vt:lpstr>
      <vt:lpstr>Preparing for Delivery (1 of 3)</vt:lpstr>
      <vt:lpstr>Preparing for Delivery (2 of 3)</vt:lpstr>
      <vt:lpstr>Preparing for Delivery (3 of 3)</vt:lpstr>
      <vt:lpstr>Standard Precautions  and Childbirth</vt:lpstr>
      <vt:lpstr>Equipment (1 of 3)</vt:lpstr>
      <vt:lpstr>Equipment (2 of 3)</vt:lpstr>
      <vt:lpstr>Equipment (3 of 3)</vt:lpstr>
      <vt:lpstr>Assisting With Delivery (1 of 5)</vt:lpstr>
      <vt:lpstr>Assisting With Delivery (2 of 5)</vt:lpstr>
      <vt:lpstr>Assisting With Delivery (3 of 5)</vt:lpstr>
      <vt:lpstr>Assisting With Delivery (4 of 5)</vt:lpstr>
      <vt:lpstr>Assisting With Delivery (5 of 5)</vt:lpstr>
      <vt:lpstr>Caring for Newborn (1 of 4)</vt:lpstr>
      <vt:lpstr>Caring for Newborn (2 of 4)</vt:lpstr>
      <vt:lpstr>Caring for Newborn (3 of 4)</vt:lpstr>
      <vt:lpstr>Caring for Newborn (4 of 4)</vt:lpstr>
      <vt:lpstr>Delivery of Placenta (1 of 3)</vt:lpstr>
      <vt:lpstr>Delivery of Placenta (2 of 3)</vt:lpstr>
      <vt:lpstr>Delivery of Placenta (3 of 3)</vt:lpstr>
      <vt:lpstr>Aftercare of Mother  and Newborn (1 of 2)</vt:lpstr>
      <vt:lpstr>Aftercare of Mother  and Newborn (2 of 2)</vt:lpstr>
      <vt:lpstr>Resuscitating Newborn</vt:lpstr>
      <vt:lpstr>Complications of Pregnancy and Childbirth (1 of 14)</vt:lpstr>
      <vt:lpstr>Complications of Pregnancy and Childbirth (2 of 14)</vt:lpstr>
      <vt:lpstr>Complications of Pregnancy and Childbirth (3 of 14)</vt:lpstr>
      <vt:lpstr>Complications of Pregnancy and Childbirth (4 of 14)</vt:lpstr>
      <vt:lpstr>Complications of Pregnancy and Childbirth (5 of 14)</vt:lpstr>
      <vt:lpstr>Complications of Pregnancy and Childbirth (6 of 14)</vt:lpstr>
      <vt:lpstr>Complications of Pregnancy and Childbirth (7 of 14)</vt:lpstr>
      <vt:lpstr>Complications of Pregnancy and Childbirth (8 of 14)</vt:lpstr>
      <vt:lpstr>Complications of Pregnancy and Childbirth (9 of 14)</vt:lpstr>
      <vt:lpstr>Complications of Pregnancy and Childbirth (10 of 14)</vt:lpstr>
      <vt:lpstr>Complications of Pregnancy and Childbirth (11 of 14)</vt:lpstr>
      <vt:lpstr>Complications of Pregnancy and Childbirth (12 of 14)</vt:lpstr>
      <vt:lpstr>Complications of Pregnancy and Childbirth (13 of 14)</vt:lpstr>
      <vt:lpstr>Complications of Pregnancy and Childbirth (14 of 14)</vt:lpstr>
      <vt:lpstr>Vehicle Collisions and Pregnant Women (1 of 3)</vt:lpstr>
      <vt:lpstr>Vehicle Collisions and Pregnant Women (2 of 3)</vt:lpstr>
      <vt:lpstr>Vehicle Collisions and Pregnant Women (3 of 3)</vt:lpstr>
      <vt:lpstr>Summary (1 of 3)</vt:lpstr>
      <vt:lpstr>Summary (2 of 3)</vt:lpstr>
      <vt:lpstr>Summary (3 of 3)</vt:lpstr>
      <vt:lpstr>Review </vt:lpstr>
      <vt:lpstr>Review</vt:lpstr>
      <vt:lpstr>Review</vt:lpstr>
      <vt:lpstr>Review</vt:lpstr>
      <vt:lpstr>Review</vt:lpstr>
      <vt:lpstr>Review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Kristin Parker</dc:creator>
  <cp:lastModifiedBy>Kelly Sylvester</cp:lastModifiedBy>
  <cp:revision>59</cp:revision>
  <dcterms:created xsi:type="dcterms:W3CDTF">2019-03-08T18:11:57Z</dcterms:created>
  <dcterms:modified xsi:type="dcterms:W3CDTF">2020-11-30T21:51:01Z</dcterms:modified>
</cp:coreProperties>
</file>