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Lst>
  <p:notesMasterIdLst>
    <p:notesMasterId r:id="rId31"/>
  </p:notesMasterIdLst>
  <p:handoutMasterIdLst>
    <p:handoutMasterId r:id="rId32"/>
  </p:handoutMasterIdLst>
  <p:sldIdLst>
    <p:sldId id="258" r:id="rId5"/>
    <p:sldId id="393" r:id="rId6"/>
    <p:sldId id="394" r:id="rId7"/>
    <p:sldId id="395" r:id="rId8"/>
    <p:sldId id="396" r:id="rId9"/>
    <p:sldId id="397" r:id="rId10"/>
    <p:sldId id="398" r:id="rId11"/>
    <p:sldId id="399" r:id="rId12"/>
    <p:sldId id="400" r:id="rId13"/>
    <p:sldId id="401" r:id="rId14"/>
    <p:sldId id="403" r:id="rId15"/>
    <p:sldId id="404" r:id="rId16"/>
    <p:sldId id="405" r:id="rId17"/>
    <p:sldId id="406" r:id="rId18"/>
    <p:sldId id="407" r:id="rId19"/>
    <p:sldId id="408" r:id="rId20"/>
    <p:sldId id="409" r:id="rId21"/>
    <p:sldId id="410" r:id="rId22"/>
    <p:sldId id="411" r:id="rId23"/>
    <p:sldId id="413" r:id="rId24"/>
    <p:sldId id="415" r:id="rId25"/>
    <p:sldId id="416" r:id="rId26"/>
    <p:sldId id="417" r:id="rId27"/>
    <p:sldId id="418" r:id="rId28"/>
    <p:sldId id="419" r:id="rId29"/>
    <p:sldId id="42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ather Ehlers" initials="HE"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B74"/>
    <a:srgbClr val="FFFFFF"/>
    <a:srgbClr val="FFC425"/>
    <a:srgbClr val="E5E6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961100-607A-47D1-BE8F-B234E087DCA0}" v="11" dt="2020-08-17T14:13:24.922"/>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96" autoAdjust="0"/>
    <p:restoredTop sz="83265"/>
  </p:normalViewPr>
  <p:slideViewPr>
    <p:cSldViewPr snapToGrid="0">
      <p:cViewPr>
        <p:scale>
          <a:sx n="100" d="100"/>
          <a:sy n="100" d="100"/>
        </p:scale>
        <p:origin x="1864" y="288"/>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latin typeface="Arial" panose="020B0604020202020204" pitchFamily="34" charset="0"/>
              </a:rPr>
              <a:t>11/30/20</a:t>
            </a:fld>
            <a:endParaRPr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latin typeface="Arial" panose="020B0604020202020204" pitchFamily="34" charset="0"/>
              </a:rPr>
              <a:t>‹#›</a:t>
            </a:fld>
            <a:endParaRPr dirty="0">
              <a:latin typeface="Arial" panose="020B0604020202020204" pitchFamily="34" charset="0"/>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37F6C43-988E-4257-9A1C-C162EF036D58}" type="datetimeFigureOut">
              <a:rPr lang="en-US" smtClean="0"/>
              <a:pPr/>
              <a:t>11/30/20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DED491D0-8E1B-49C7-849B-A28568D94497}" type="slidenum">
              <a:rPr lang="en-US" smtClean="0"/>
              <a:pPr/>
              <a:t>‹#›</a:t>
            </a:fld>
            <a:endParaRPr lang="en-US" dirty="0"/>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7B889973-59DF-7842-988C-A884055C7A1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0" name="Rectangle 3">
            <a:extLst>
              <a:ext uri="{FF2B5EF4-FFF2-40B4-BE49-F238E27FC236}">
                <a16:creationId xmlns:a16="http://schemas.microsoft.com/office/drawing/2014/main" id="{82E90F31-B6FA-2C41-B0CF-A99E3218DA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dirty="0"/>
              <a:t>EMS Operations:</a:t>
            </a:r>
          </a:p>
          <a:p>
            <a:r>
              <a:rPr lang="en-US" altLang="en-US" dirty="0"/>
              <a:t>Knowledge of operational roles and responsibilities to ensure safe patient, public, and personnel safety.</a:t>
            </a:r>
          </a:p>
          <a:p>
            <a:pPr eaLnBrk="1" hangingPunct="1"/>
            <a:endParaRPr lang="en-US" altLang="en-US" dirty="0"/>
          </a:p>
        </p:txBody>
      </p:sp>
    </p:spTree>
    <p:extLst>
      <p:ext uri="{BB962C8B-B14F-4D97-AF65-F5344CB8AC3E}">
        <p14:creationId xmlns:p14="http://schemas.microsoft.com/office/powerpoint/2010/main" val="3808781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6D879FA5-BDDE-5F4B-9B9A-DC6D2B8B536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8" name="Rectangle 3">
            <a:extLst>
              <a:ext uri="{FF2B5EF4-FFF2-40B4-BE49-F238E27FC236}">
                <a16:creationId xmlns:a16="http://schemas.microsoft.com/office/drawing/2014/main" id="{11006FA9-FFAD-754F-9FBC-BF763B465BF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1" i="1" dirty="0"/>
              <a:t>Principles of Safely Operating a Ground Ambulance:</a:t>
            </a:r>
          </a:p>
          <a:p>
            <a:r>
              <a:rPr lang="en-US" altLang="en-US" dirty="0"/>
              <a:t>• Risks and responsibilities of emergency response. (pp 402-404)</a:t>
            </a:r>
          </a:p>
          <a:p>
            <a:r>
              <a:rPr lang="en-US" altLang="en-US" b="1" i="1" dirty="0"/>
              <a:t>Air Medical:</a:t>
            </a:r>
          </a:p>
          <a:p>
            <a:r>
              <a:rPr lang="en-US" altLang="en-US" dirty="0"/>
              <a:t>• Safe air medical operations. (pp 406-407)</a:t>
            </a:r>
          </a:p>
          <a:p>
            <a:r>
              <a:rPr lang="en-US" altLang="en-US" dirty="0"/>
              <a:t>• Criteria for utilizing air medical response. (p 404)</a:t>
            </a:r>
          </a:p>
          <a:p>
            <a:pPr eaLnBrk="1" hangingPunct="1"/>
            <a:endParaRPr lang="en-US" altLang="en-US" dirty="0"/>
          </a:p>
        </p:txBody>
      </p:sp>
    </p:spTree>
    <p:extLst>
      <p:ext uri="{BB962C8B-B14F-4D97-AF65-F5344CB8AC3E}">
        <p14:creationId xmlns:p14="http://schemas.microsoft.com/office/powerpoint/2010/main" val="3866875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DA0E6D53-4640-224E-98A2-1DF1815E8B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6" name="Rectangle 3">
            <a:extLst>
              <a:ext uri="{FF2B5EF4-FFF2-40B4-BE49-F238E27FC236}">
                <a16:creationId xmlns:a16="http://schemas.microsoft.com/office/drawing/2014/main" id="{3EC55A1F-646C-DD40-B398-8E550CDA111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 Introduction:</a:t>
            </a:r>
          </a:p>
          <a:p>
            <a:r>
              <a:rPr lang="en-US" altLang="en-US" dirty="0"/>
              <a:t>A.	To be an effective EMR you need to: </a:t>
            </a:r>
          </a:p>
          <a:p>
            <a:r>
              <a:rPr lang="en-US" altLang="en-US" dirty="0"/>
              <a:t>	1.	Prepare for call. </a:t>
            </a:r>
          </a:p>
          <a:p>
            <a:r>
              <a:rPr lang="en-US" altLang="en-US" dirty="0"/>
              <a:t>	2.	Review dispatch information.</a:t>
            </a:r>
          </a:p>
          <a:p>
            <a:r>
              <a:rPr lang="en-US" altLang="en-US" dirty="0"/>
              <a:t>	3.	Respond safely to scene. </a:t>
            </a:r>
          </a:p>
          <a:p>
            <a:r>
              <a:rPr lang="en-US" altLang="en-US" dirty="0"/>
              <a:t>	4.	Perform a scene size-up. </a:t>
            </a:r>
          </a:p>
          <a:p>
            <a:r>
              <a:rPr lang="en-US" altLang="en-US" dirty="0"/>
              <a:t>	5.	Perform initial patient assessment and provide emergency care</a:t>
            </a:r>
          </a:p>
          <a:p>
            <a:r>
              <a:rPr lang="en-US" altLang="en-US" dirty="0"/>
              <a:t>	6.	Update other responding units and transfer care to other EMS personnel. </a:t>
            </a:r>
          </a:p>
          <a:p>
            <a:r>
              <a:rPr lang="en-US" altLang="en-US" dirty="0"/>
              <a:t>	7.	Complete </a:t>
            </a:r>
            <a:r>
              <a:rPr lang="en-US" altLang="en-US" dirty="0" err="1"/>
              <a:t>postrun</a:t>
            </a:r>
            <a:r>
              <a:rPr lang="en-US" altLang="en-US" dirty="0"/>
              <a:t> activities.</a:t>
            </a:r>
            <a:endParaRPr lang="en-US" altLang="en-US" b="1" dirty="0"/>
          </a:p>
          <a:p>
            <a:pPr eaLnBrk="1" hangingPunct="1"/>
            <a:endParaRPr lang="en-US" altLang="en-US" dirty="0"/>
          </a:p>
        </p:txBody>
      </p:sp>
    </p:spTree>
    <p:extLst>
      <p:ext uri="{BB962C8B-B14F-4D97-AF65-F5344CB8AC3E}">
        <p14:creationId xmlns:p14="http://schemas.microsoft.com/office/powerpoint/2010/main" val="2308755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94F3649C-A0BE-4441-BE0C-3E070FC077A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Rectangle 3">
            <a:extLst>
              <a:ext uri="{FF2B5EF4-FFF2-40B4-BE49-F238E27FC236}">
                <a16:creationId xmlns:a16="http://schemas.microsoft.com/office/drawing/2014/main" id="{1CD5D6B6-213D-FF46-8CB3-7F353D625AF8}"/>
              </a:ext>
            </a:extLst>
          </p:cNvPr>
          <p:cNvSpPr>
            <a:spLocks noGrp="1"/>
          </p:cNvSpPr>
          <p:nvPr>
            <p:ph type="body" idx="1"/>
          </p:nvPr>
        </p:nvSpPr>
        <p:spPr bwMode="auto"/>
        <p:txBody>
          <a:bodyPr wrap="square" numCol="1" anchor="t" anchorCtr="0" compatLnSpc="1">
            <a:prstTxWarp prst="textNoShape">
              <a:avLst/>
            </a:prstTxWarp>
            <a:normAutofit lnSpcReduction="10000"/>
          </a:bodyPr>
          <a:lstStyle/>
          <a:p>
            <a:pPr>
              <a:defRPr/>
            </a:pPr>
            <a:r>
              <a:rPr lang="en-US" dirty="0">
                <a:ea typeface="ＭＳ Ｐゴシック" charset="-128"/>
                <a:cs typeface="+mn-cs"/>
              </a:rPr>
              <a:t>A.</a:t>
            </a:r>
            <a:r>
              <a:rPr lang="en-US" b="1" dirty="0">
                <a:ea typeface="ＭＳ Ｐゴシック" charset="-128"/>
                <a:cs typeface="+mn-cs"/>
              </a:rPr>
              <a:t>	</a:t>
            </a:r>
            <a:r>
              <a:rPr lang="en-US" dirty="0">
                <a:ea typeface="ＭＳ Ｐゴシック" charset="-128"/>
                <a:cs typeface="+mn-cs"/>
              </a:rPr>
              <a:t>You may respond using a fire department vehicle, a law enforcement vehicle, your private vehicle, or on foot.</a:t>
            </a:r>
            <a:endParaRPr lang="en-US" b="1" dirty="0">
              <a:ea typeface="ＭＳ Ｐゴシック" charset="-128"/>
              <a:cs typeface="+mn-cs"/>
            </a:endParaRPr>
          </a:p>
          <a:p>
            <a:pPr>
              <a:defRPr/>
            </a:pPr>
            <a:r>
              <a:rPr lang="en-US" dirty="0">
                <a:ea typeface="ＭＳ Ｐゴシック" charset="-128"/>
                <a:cs typeface="+mn-cs"/>
              </a:rPr>
              <a:t>	1.	You must ensure that these vehicles are ready to respond at all times.</a:t>
            </a:r>
            <a:endParaRPr lang="en-US" b="1" dirty="0">
              <a:ea typeface="ＭＳ Ｐゴシック" charset="-128"/>
              <a:cs typeface="+mn-cs"/>
            </a:endParaRPr>
          </a:p>
          <a:p>
            <a:pPr>
              <a:defRPr/>
            </a:pPr>
            <a:r>
              <a:rPr lang="en-US" dirty="0">
                <a:ea typeface="ＭＳ Ｐゴシック" charset="-128"/>
                <a:cs typeface="+mn-cs"/>
              </a:rPr>
              <a:t>	2.	Follow a regular schedule to inspect and maintain all vehicles.</a:t>
            </a:r>
            <a:endParaRPr lang="en-US" b="1" dirty="0">
              <a:ea typeface="ＭＳ Ｐゴシック" charset="-128"/>
              <a:cs typeface="+mn-cs"/>
            </a:endParaRPr>
          </a:p>
          <a:p>
            <a:pPr>
              <a:defRPr/>
            </a:pPr>
            <a:r>
              <a:rPr lang="en-US" dirty="0">
                <a:ea typeface="ＭＳ Ｐゴシック" charset="-128"/>
                <a:cs typeface="+mn-cs"/>
              </a:rPr>
              <a:t>	3.	Check tire pressures, fluid levels, and fuel levels.</a:t>
            </a:r>
            <a:endParaRPr lang="en-US" b="1" dirty="0">
              <a:ea typeface="ＭＳ Ｐゴシック" charset="-128"/>
              <a:cs typeface="+mn-cs"/>
            </a:endParaRPr>
          </a:p>
          <a:p>
            <a:pPr>
              <a:defRPr/>
            </a:pPr>
            <a:r>
              <a:rPr lang="en-US" dirty="0">
                <a:ea typeface="ＭＳ Ｐゴシック" charset="-128"/>
                <a:cs typeface="+mn-cs"/>
              </a:rPr>
              <a:t>B.	Be prepared to respond promptly using most direct route available. </a:t>
            </a:r>
            <a:endParaRPr lang="en-US" b="1" dirty="0">
              <a:ea typeface="ＭＳ Ｐゴシック" charset="-128"/>
              <a:cs typeface="+mn-cs"/>
            </a:endParaRPr>
          </a:p>
          <a:p>
            <a:pPr>
              <a:defRPr/>
            </a:pPr>
            <a:r>
              <a:rPr lang="en-US" dirty="0">
                <a:ea typeface="ＭＳ Ｐゴシック" charset="-128"/>
                <a:cs typeface="+mn-cs"/>
              </a:rPr>
              <a:t>C.	Make sure you have proper equipment to perform your job, including:</a:t>
            </a:r>
          </a:p>
          <a:p>
            <a:pPr>
              <a:defRPr/>
            </a:pPr>
            <a:r>
              <a:rPr lang="en-US" dirty="0">
                <a:ea typeface="ＭＳ Ｐゴシック" charset="-128"/>
                <a:cs typeface="+mn-cs"/>
              </a:rPr>
              <a:t>	1.	Patient examination equipment.</a:t>
            </a:r>
          </a:p>
          <a:p>
            <a:pPr>
              <a:defRPr/>
            </a:pPr>
            <a:r>
              <a:rPr lang="en-US" dirty="0">
                <a:ea typeface="ＭＳ Ｐゴシック" charset="-128"/>
                <a:cs typeface="+mn-cs"/>
              </a:rPr>
              <a:t>	2.	Personal safety equipment. </a:t>
            </a:r>
          </a:p>
          <a:p>
            <a:pPr>
              <a:defRPr/>
            </a:pPr>
            <a:r>
              <a:rPr lang="en-US" dirty="0">
                <a:ea typeface="ＭＳ Ｐゴシック" charset="-128"/>
                <a:cs typeface="+mn-cs"/>
              </a:rPr>
              <a:t>	3.	Resuscitation equipment.</a:t>
            </a:r>
          </a:p>
          <a:p>
            <a:pPr>
              <a:defRPr/>
            </a:pPr>
            <a:r>
              <a:rPr lang="en-US" dirty="0">
                <a:ea typeface="ＭＳ Ｐゴシック" charset="-128"/>
                <a:cs typeface="+mn-cs"/>
              </a:rPr>
              <a:t>	4.	Bandaging and dressing equipment.</a:t>
            </a:r>
          </a:p>
          <a:p>
            <a:pPr>
              <a:defRPr/>
            </a:pPr>
            <a:r>
              <a:rPr lang="en-US" dirty="0">
                <a:ea typeface="ＭＳ Ｐゴシック" charset="-128"/>
                <a:cs typeface="+mn-cs"/>
              </a:rPr>
              <a:t>	5.	Patient immobilization equipment.</a:t>
            </a:r>
          </a:p>
          <a:p>
            <a:pPr>
              <a:defRPr/>
            </a:pPr>
            <a:r>
              <a:rPr lang="en-US" dirty="0">
                <a:ea typeface="ＭＳ Ｐゴシック" charset="-128"/>
                <a:cs typeface="+mn-cs"/>
              </a:rPr>
              <a:t>	6.	Extrication equipment.</a:t>
            </a:r>
          </a:p>
          <a:p>
            <a:pPr>
              <a:defRPr/>
            </a:pPr>
            <a:r>
              <a:rPr lang="en-US" dirty="0">
                <a:ea typeface="ＭＳ Ｐゴシック" charset="-128"/>
                <a:cs typeface="+mn-cs"/>
              </a:rPr>
              <a:t>D.	Equipment must be stocked and maintained on a regular basis according to schedule specified by your agency.</a:t>
            </a:r>
          </a:p>
          <a:p>
            <a:pPr eaLnBrk="1" hangingPunct="1">
              <a:defRPr/>
            </a:pPr>
            <a:endParaRPr lang="en-US" altLang="en-US" dirty="0">
              <a:ea typeface="ＭＳ Ｐゴシック" panose="020B0600070205080204" pitchFamily="34" charset="-128"/>
              <a:cs typeface="+mn-cs"/>
            </a:endParaRPr>
          </a:p>
          <a:p>
            <a:pPr eaLnBrk="1" hangingPunct="1">
              <a:defRPr/>
            </a:pPr>
            <a:r>
              <a:rPr lang="en-US" altLang="en-US" dirty="0">
                <a:ea typeface="ＭＳ Ｐゴシック" panose="020B0600070205080204" pitchFamily="34" charset="-128"/>
                <a:cs typeface="+mn-cs"/>
              </a:rPr>
              <a:t>Figure: Suggested contents of an EMR life support kit.</a:t>
            </a:r>
          </a:p>
        </p:txBody>
      </p:sp>
    </p:spTree>
    <p:extLst>
      <p:ext uri="{BB962C8B-B14F-4D97-AF65-F5344CB8AC3E}">
        <p14:creationId xmlns:p14="http://schemas.microsoft.com/office/powerpoint/2010/main" val="729041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F3975325-8639-634A-A4EB-4F9D053B1A1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2" name="Rectangle 3">
            <a:extLst>
              <a:ext uri="{FF2B5EF4-FFF2-40B4-BE49-F238E27FC236}">
                <a16:creationId xmlns:a16="http://schemas.microsoft.com/office/drawing/2014/main" id="{2F114FBD-DB2C-4448-93CE-9852BE13959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Table: Suggested Contents of an EMR Life Support Kit</a:t>
            </a:r>
          </a:p>
        </p:txBody>
      </p:sp>
    </p:spTree>
    <p:extLst>
      <p:ext uri="{BB962C8B-B14F-4D97-AF65-F5344CB8AC3E}">
        <p14:creationId xmlns:p14="http://schemas.microsoft.com/office/powerpoint/2010/main" val="17779573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F8898A5C-A804-534D-8018-55FB988304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0" name="Rectangle 3">
            <a:extLst>
              <a:ext uri="{FF2B5EF4-FFF2-40B4-BE49-F238E27FC236}">
                <a16:creationId xmlns:a16="http://schemas.microsoft.com/office/drawing/2014/main" id="{739CC37F-89E2-044D-B29B-E31A31EC284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III. Phases of an EMR Call:</a:t>
            </a:r>
          </a:p>
          <a:p>
            <a:r>
              <a:rPr lang="en-US" altLang="en-US" dirty="0"/>
              <a:t>A.	Dispatch:</a:t>
            </a:r>
          </a:p>
          <a:p>
            <a:r>
              <a:rPr lang="en-US" altLang="en-US" dirty="0"/>
              <a:t>	1.	Dispatch facility is a center that citizens can call to request emergency medical care. </a:t>
            </a:r>
          </a:p>
          <a:p>
            <a:r>
              <a:rPr lang="en-US" altLang="en-US" dirty="0"/>
              <a:t>	2.	Most centers are part of a 9-1-1 system that is responsible for dispatching fire, police, and EMS responders. </a:t>
            </a:r>
          </a:p>
          <a:p>
            <a:r>
              <a:rPr lang="en-US" altLang="en-US" dirty="0"/>
              <a:t>	3.	Dispatchers should obtain proper information from caller and instruct callers on how to perform life-saving techniques such as CPR until you arrive. </a:t>
            </a:r>
          </a:p>
          <a:p>
            <a:pPr eaLnBrk="1" hangingPunct="1"/>
            <a:endParaRPr lang="en-US" altLang="en-US" dirty="0"/>
          </a:p>
        </p:txBody>
      </p:sp>
    </p:spTree>
    <p:extLst>
      <p:ext uri="{BB962C8B-B14F-4D97-AF65-F5344CB8AC3E}">
        <p14:creationId xmlns:p14="http://schemas.microsoft.com/office/powerpoint/2010/main" val="23916332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14539D72-1F0E-9746-81E5-1747F124FD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8" name="Rectangle 3">
            <a:extLst>
              <a:ext uri="{FF2B5EF4-FFF2-40B4-BE49-F238E27FC236}">
                <a16:creationId xmlns:a16="http://schemas.microsoft.com/office/drawing/2014/main" id="{199CD6E5-5F49-6C4F-91FE-A422007C0DB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4.	You may receive your dispatch information by telephone, radio, pager, computer terminal, or written printout.</a:t>
            </a:r>
          </a:p>
          <a:p>
            <a:r>
              <a:rPr lang="en-US" altLang="en-US" dirty="0"/>
              <a:t>5.	Information from dispatch should include:</a:t>
            </a:r>
          </a:p>
          <a:p>
            <a:r>
              <a:rPr lang="en-US" altLang="en-US" dirty="0"/>
              <a:t>	a.	Nature of call.</a:t>
            </a:r>
          </a:p>
          <a:p>
            <a:r>
              <a:rPr lang="en-US" altLang="en-US" dirty="0"/>
              <a:t>	b.	Name and location of patient.</a:t>
            </a:r>
          </a:p>
          <a:p>
            <a:r>
              <a:rPr lang="en-US" altLang="en-US" dirty="0"/>
              <a:t>	c.	Number of patients.</a:t>
            </a:r>
          </a:p>
          <a:p>
            <a:r>
              <a:rPr lang="en-US" altLang="en-US" dirty="0"/>
              <a:t>	d.	Any special problems.</a:t>
            </a:r>
          </a:p>
          <a:p>
            <a:r>
              <a:rPr lang="en-US" altLang="en-US" dirty="0"/>
              <a:t>	e.	Call-back number from caller.</a:t>
            </a:r>
          </a:p>
          <a:p>
            <a:pPr eaLnBrk="1" hangingPunct="1"/>
            <a:endParaRPr lang="en-US" altLang="en-US" dirty="0"/>
          </a:p>
        </p:txBody>
      </p:sp>
    </p:spTree>
    <p:extLst>
      <p:ext uri="{BB962C8B-B14F-4D97-AF65-F5344CB8AC3E}">
        <p14:creationId xmlns:p14="http://schemas.microsoft.com/office/powerpoint/2010/main" val="3718337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045DB347-E1B7-0842-822B-97D5D585569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Rectangle 3">
            <a:extLst>
              <a:ext uri="{FF2B5EF4-FFF2-40B4-BE49-F238E27FC236}">
                <a16:creationId xmlns:a16="http://schemas.microsoft.com/office/drawing/2014/main" id="{EDD1FFB8-F9DE-E542-892B-8560E1E02E95}"/>
              </a:ext>
            </a:extLst>
          </p:cNvPr>
          <p:cNvSpPr>
            <a:spLocks noGrp="1"/>
          </p:cNvSpPr>
          <p:nvPr>
            <p:ph type="body" idx="1"/>
          </p:nvPr>
        </p:nvSpPr>
        <p:spPr bwMode="auto"/>
        <p:txBody>
          <a:bodyPr wrap="square" numCol="1" anchor="t" anchorCtr="0" compatLnSpc="1">
            <a:prstTxWarp prst="textNoShape">
              <a:avLst/>
            </a:prstTxWarp>
            <a:normAutofit lnSpcReduction="10000"/>
          </a:bodyPr>
          <a:lstStyle/>
          <a:p>
            <a:pPr>
              <a:defRPr/>
            </a:pPr>
            <a:r>
              <a:rPr lang="en-US" altLang="en-US" dirty="0"/>
              <a:t>B.	Response to scene:</a:t>
            </a:r>
          </a:p>
          <a:p>
            <a:pPr>
              <a:defRPr/>
            </a:pPr>
            <a:r>
              <a:rPr lang="en-US" altLang="en-US" dirty="0"/>
              <a:t>	1.	Your first priority is to get to scene quickly and safely.</a:t>
            </a:r>
          </a:p>
          <a:p>
            <a:pPr>
              <a:defRPr/>
            </a:pPr>
            <a:r>
              <a:rPr lang="en-US" altLang="en-US" dirty="0"/>
              <a:t>	2.	Consider traffic patterns and time of day before you select best route.</a:t>
            </a:r>
          </a:p>
          <a:p>
            <a:pPr>
              <a:defRPr/>
            </a:pPr>
            <a:r>
              <a:rPr lang="en-US" altLang="en-US" dirty="0"/>
              <a:t>	3.	Be sure you know how to get to location of call. </a:t>
            </a:r>
          </a:p>
          <a:p>
            <a:pPr>
              <a:defRPr/>
            </a:pPr>
            <a:r>
              <a:rPr lang="en-US" altLang="en-US" dirty="0"/>
              <a:t>	4.	Follow safety procedures.</a:t>
            </a:r>
          </a:p>
          <a:p>
            <a:pPr>
              <a:defRPr/>
            </a:pPr>
            <a:r>
              <a:rPr lang="en-US" altLang="en-US" dirty="0"/>
              <a:t>		a.	Be certain that all personnel are properly seated and secured with approved seatbelts.</a:t>
            </a:r>
          </a:p>
          <a:p>
            <a:pPr>
              <a:defRPr/>
            </a:pPr>
            <a:r>
              <a:rPr lang="en-US" altLang="en-US" dirty="0"/>
              <a:t>		b.	Keep all equipment secured. </a:t>
            </a:r>
          </a:p>
          <a:p>
            <a:pPr>
              <a:defRPr/>
            </a:pPr>
            <a:r>
              <a:rPr lang="en-US" altLang="en-US" dirty="0"/>
              <a:t>		c.	Use warning devices according to your state laws and according to regulations specified by your agency.</a:t>
            </a:r>
          </a:p>
          <a:p>
            <a:pPr>
              <a:defRPr/>
            </a:pPr>
            <a:r>
              <a:rPr lang="en-US" altLang="en-US" dirty="0"/>
              <a:t>			</a:t>
            </a:r>
            <a:r>
              <a:rPr lang="en-US" altLang="en-US" dirty="0" err="1"/>
              <a:t>i</a:t>
            </a:r>
            <a:r>
              <a:rPr lang="en-US" altLang="en-US" dirty="0"/>
              <a:t>.	Emergency warning devices allow you to request right of way; they do not guarantee it.</a:t>
            </a:r>
          </a:p>
          <a:p>
            <a:pPr>
              <a:defRPr/>
            </a:pPr>
            <a:r>
              <a:rPr lang="en-US" altLang="en-US" dirty="0"/>
              <a:t>			ii.	Be especially careful at intersections and railroad crossings.</a:t>
            </a:r>
          </a:p>
          <a:p>
            <a:pPr>
              <a:defRPr/>
            </a:pPr>
            <a:r>
              <a:rPr lang="en-US" altLang="en-US" dirty="0"/>
              <a:t>		d.	Do not exceed a safe speed for the vehicle you are operating.</a:t>
            </a:r>
          </a:p>
          <a:p>
            <a:pPr>
              <a:defRPr/>
            </a:pPr>
            <a:r>
              <a:rPr lang="en-US" altLang="en-US" dirty="0"/>
              <a:t>		e.	Drive defensively so you are not involved in a crash. </a:t>
            </a:r>
          </a:p>
          <a:p>
            <a:pPr eaLnBrk="1" hangingPunct="1">
              <a:defRPr/>
            </a:pPr>
            <a:endParaRPr lang="en-US" altLang="en-US" dirty="0"/>
          </a:p>
        </p:txBody>
      </p:sp>
    </p:spTree>
    <p:extLst>
      <p:ext uri="{BB962C8B-B14F-4D97-AF65-F5344CB8AC3E}">
        <p14:creationId xmlns:p14="http://schemas.microsoft.com/office/powerpoint/2010/main" val="4135596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343EB638-5D2D-7B4F-B4C8-80B1F30BF1C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4" name="Rectangle 3">
            <a:extLst>
              <a:ext uri="{FF2B5EF4-FFF2-40B4-BE49-F238E27FC236}">
                <a16:creationId xmlns:a16="http://schemas.microsoft.com/office/drawing/2014/main" id="{D0D40580-D158-B54D-A0FE-0ED59F64508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C.	Arrival at scene:</a:t>
            </a:r>
          </a:p>
          <a:p>
            <a:r>
              <a:rPr lang="en-US" altLang="en-US" dirty="0"/>
              <a:t>	1.	Place your vehicle in a safe location to minimize chance of injury.</a:t>
            </a:r>
          </a:p>
          <a:p>
            <a:r>
              <a:rPr lang="en-US" altLang="en-US" dirty="0"/>
              <a:t>	2.	Consider how best to use your vehicle warning lights.</a:t>
            </a:r>
          </a:p>
          <a:p>
            <a:r>
              <a:rPr lang="en-US" altLang="en-US" dirty="0"/>
              <a:t>	3.	Perform a scene size-up as outlined in patient assessment sequence. </a:t>
            </a:r>
          </a:p>
          <a:p>
            <a:r>
              <a:rPr lang="en-US" altLang="en-US" dirty="0"/>
              <a:t>	4.	Look for hazards:</a:t>
            </a:r>
          </a:p>
          <a:p>
            <a:r>
              <a:rPr lang="en-US" altLang="en-US" dirty="0"/>
              <a:t>		a.	Downed electrical lines.</a:t>
            </a:r>
          </a:p>
          <a:p>
            <a:r>
              <a:rPr lang="en-US" altLang="en-US" dirty="0"/>
              <a:t>		b.	Leaking fuel.</a:t>
            </a:r>
          </a:p>
          <a:p>
            <a:r>
              <a:rPr lang="en-US" altLang="en-US" dirty="0"/>
              <a:t>		c.	Broken glass.</a:t>
            </a:r>
          </a:p>
          <a:p>
            <a:r>
              <a:rPr lang="en-US" altLang="en-US" dirty="0"/>
              <a:t>		d.	Fire.</a:t>
            </a:r>
          </a:p>
          <a:p>
            <a:r>
              <a:rPr lang="en-US" altLang="en-US" dirty="0"/>
              <a:t>	5.	Control flow of traffic to ensure safety of rescuers, patients, and bystanders.</a:t>
            </a:r>
          </a:p>
          <a:p>
            <a:r>
              <a:rPr lang="en-US" altLang="en-US" dirty="0"/>
              <a:t>	6.	Determine number of patients and identify whether you need additional resources.</a:t>
            </a:r>
          </a:p>
          <a:p>
            <a:r>
              <a:rPr lang="en-US" altLang="en-US" dirty="0"/>
              <a:t>	7.	Provide patient care using knowledge and skills you have learned in this course. </a:t>
            </a:r>
          </a:p>
          <a:p>
            <a:pPr eaLnBrk="1" hangingPunct="1"/>
            <a:endParaRPr lang="en-US" altLang="en-US" dirty="0"/>
          </a:p>
        </p:txBody>
      </p:sp>
    </p:spTree>
    <p:extLst>
      <p:ext uri="{BB962C8B-B14F-4D97-AF65-F5344CB8AC3E}">
        <p14:creationId xmlns:p14="http://schemas.microsoft.com/office/powerpoint/2010/main" val="3417313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AA42B157-D8F2-9B45-8E80-5522BC0498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2" name="Rectangle 3">
            <a:extLst>
              <a:ext uri="{FF2B5EF4-FFF2-40B4-BE49-F238E27FC236}">
                <a16:creationId xmlns:a16="http://schemas.microsoft.com/office/drawing/2014/main" id="{4A6D0FFA-66DF-6A47-B81D-452F877152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D. Perform patient assessment and provide emergency care.</a:t>
            </a:r>
          </a:p>
          <a:p>
            <a:r>
              <a:rPr lang="en-US" altLang="en-US" dirty="0"/>
              <a:t>E.	Transferring care of patient to other EMS personnel</a:t>
            </a:r>
          </a:p>
          <a:p>
            <a:r>
              <a:rPr lang="en-US" altLang="en-US" dirty="0"/>
              <a:t>	1.	Transfer care to more highly trained personnel.</a:t>
            </a:r>
          </a:p>
          <a:p>
            <a:r>
              <a:rPr lang="en-US" altLang="en-US" dirty="0"/>
              <a:t>		a.	Give them a brief report of situation as you initially observed it and tell them what care you have provided.</a:t>
            </a:r>
          </a:p>
          <a:p>
            <a:r>
              <a:rPr lang="en-US" altLang="en-US" dirty="0"/>
              <a:t>		b.	Ask them if they have any questions for you.</a:t>
            </a:r>
          </a:p>
          <a:p>
            <a:r>
              <a:rPr lang="en-US" altLang="en-US" dirty="0"/>
              <a:t>		c.	Offer to assist them in caring for patient.</a:t>
            </a:r>
          </a:p>
          <a:p>
            <a:pPr eaLnBrk="1" hangingPunct="1"/>
            <a:endParaRPr lang="en-US" altLang="en-US" dirty="0"/>
          </a:p>
        </p:txBody>
      </p:sp>
    </p:spTree>
    <p:extLst>
      <p:ext uri="{BB962C8B-B14F-4D97-AF65-F5344CB8AC3E}">
        <p14:creationId xmlns:p14="http://schemas.microsoft.com/office/powerpoint/2010/main" val="6393908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503CA7C4-163A-8048-B7A4-F21EDBC6C49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0" name="Rectangle 3">
            <a:extLst>
              <a:ext uri="{FF2B5EF4-FFF2-40B4-BE49-F238E27FC236}">
                <a16:creationId xmlns:a16="http://schemas.microsoft.com/office/drawing/2014/main" id="{EE08AC10-5EBB-EC42-85CE-0F8908669FF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F.	</a:t>
            </a:r>
            <a:r>
              <a:rPr lang="en-US" altLang="en-US" dirty="0" err="1"/>
              <a:t>Postrun</a:t>
            </a:r>
            <a:r>
              <a:rPr lang="en-US" altLang="en-US" dirty="0"/>
              <a:t> activities:</a:t>
            </a:r>
          </a:p>
          <a:p>
            <a:r>
              <a:rPr lang="en-US" altLang="en-US" dirty="0"/>
              <a:t>	1.	Your job is not done until you have completed paperwork. </a:t>
            </a:r>
          </a:p>
          <a:p>
            <a:r>
              <a:rPr lang="en-US" altLang="en-US" dirty="0"/>
              <a:t>	2.	You must also clean your equipment and replace needed supplies. </a:t>
            </a:r>
          </a:p>
          <a:p>
            <a:r>
              <a:rPr lang="en-US" altLang="en-US" dirty="0"/>
              <a:t>	3.	Only after you have completed these activities should you resume regular duties or notify your dispatcher that you are ready for another call. </a:t>
            </a:r>
          </a:p>
          <a:p>
            <a:pPr eaLnBrk="1" hangingPunct="1"/>
            <a:endParaRPr lang="en-US" altLang="en-US" dirty="0"/>
          </a:p>
        </p:txBody>
      </p:sp>
    </p:spTree>
    <p:extLst>
      <p:ext uri="{BB962C8B-B14F-4D97-AF65-F5344CB8AC3E}">
        <p14:creationId xmlns:p14="http://schemas.microsoft.com/office/powerpoint/2010/main" val="27096399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5071A9EF-BD46-7F4A-AE11-D63568A775D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8" name="Rectangle 3">
            <a:extLst>
              <a:ext uri="{FF2B5EF4-FFF2-40B4-BE49-F238E27FC236}">
                <a16:creationId xmlns:a16="http://schemas.microsoft.com/office/drawing/2014/main" id="{69B8DC29-76E2-C241-BD0B-E5CAEACE1E4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IV. Helicopter Operations:</a:t>
            </a:r>
          </a:p>
          <a:p>
            <a:r>
              <a:rPr lang="en-US" altLang="en-US" dirty="0"/>
              <a:t>A.	Helicopters are used for following by EMS systems to:</a:t>
            </a:r>
          </a:p>
          <a:p>
            <a:r>
              <a:rPr lang="en-US" altLang="en-US" dirty="0"/>
              <a:t>	1.	Reach patients.</a:t>
            </a:r>
            <a:endParaRPr lang="en-US" altLang="en-US" b="1" dirty="0"/>
          </a:p>
          <a:p>
            <a:r>
              <a:rPr lang="en-US" altLang="en-US" dirty="0"/>
              <a:t>	2.	Transport patients to medical facilities.</a:t>
            </a:r>
            <a:endParaRPr lang="en-US" altLang="en-US" b="1" dirty="0"/>
          </a:p>
          <a:p>
            <a:r>
              <a:rPr lang="en-US" altLang="en-US" dirty="0"/>
              <a:t>	3.	Remove patients from inaccessible areas.</a:t>
            </a:r>
            <a:endParaRPr lang="en-US" altLang="en-US" b="1" dirty="0"/>
          </a:p>
          <a:p>
            <a:pPr eaLnBrk="1" hangingPunct="1"/>
            <a:endParaRPr lang="en-US" altLang="en-US" dirty="0"/>
          </a:p>
          <a:p>
            <a:pPr eaLnBrk="1" hangingPunct="1"/>
            <a:r>
              <a:rPr lang="en-US" altLang="en-US" dirty="0"/>
              <a:t>Figure: An EMS helicopter.</a:t>
            </a:r>
          </a:p>
        </p:txBody>
      </p:sp>
    </p:spTree>
    <p:extLst>
      <p:ext uri="{BB962C8B-B14F-4D97-AF65-F5344CB8AC3E}">
        <p14:creationId xmlns:p14="http://schemas.microsoft.com/office/powerpoint/2010/main" val="13171166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621890D6-0170-E147-986B-806984964D7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6" name="Rectangle 3">
            <a:extLst>
              <a:ext uri="{FF2B5EF4-FFF2-40B4-BE49-F238E27FC236}">
                <a16:creationId xmlns:a16="http://schemas.microsoft.com/office/drawing/2014/main" id="{6528D6EC-182A-4245-A4E3-685FF7CC2C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B.	Helicopters have several advantages.</a:t>
            </a:r>
          </a:p>
          <a:p>
            <a:r>
              <a:rPr lang="en-US" altLang="en-US"/>
              <a:t>	1.	They can respond quickly above traffic congestion and wilderness areas.</a:t>
            </a:r>
          </a:p>
          <a:p>
            <a:r>
              <a:rPr lang="en-US" altLang="en-US"/>
              <a:t>	2.	They usually carry specialized equipment.</a:t>
            </a:r>
          </a:p>
          <a:p>
            <a:r>
              <a:rPr lang="en-US" altLang="en-US"/>
              <a:t>	3.	Their personnel may be able to perform some advanced skills not available through personnel staffing ground ambulances.</a:t>
            </a:r>
          </a:p>
          <a:p>
            <a:r>
              <a:rPr lang="en-US" altLang="en-US"/>
              <a:t>C.	Helicopters are limited by bad weather, and they are unable to fly under conditions of limited visibility.</a:t>
            </a:r>
          </a:p>
          <a:p>
            <a:pPr eaLnBrk="1" hangingPunct="1"/>
            <a:endParaRPr lang="en-US" altLang="en-US"/>
          </a:p>
        </p:txBody>
      </p:sp>
    </p:spTree>
    <p:extLst>
      <p:ext uri="{BB962C8B-B14F-4D97-AF65-F5344CB8AC3E}">
        <p14:creationId xmlns:p14="http://schemas.microsoft.com/office/powerpoint/2010/main" val="32203793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B28DA607-2D44-B54F-B57B-2732CEBF841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Rectangle 3">
            <a:extLst>
              <a:ext uri="{FF2B5EF4-FFF2-40B4-BE49-F238E27FC236}">
                <a16:creationId xmlns:a16="http://schemas.microsoft.com/office/drawing/2014/main" id="{7C240F27-1A10-1143-9CE0-54A86AF2E36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D.	If your EMS system uses a helicopter:</a:t>
            </a:r>
          </a:p>
          <a:p>
            <a:r>
              <a:rPr lang="en-US" altLang="en-US" dirty="0"/>
              <a:t>	1.	Obtain a copy of ground operations procedures. </a:t>
            </a:r>
          </a:p>
          <a:p>
            <a:r>
              <a:rPr lang="en-US" altLang="en-US" dirty="0"/>
              <a:t>	2.	Schedule an orientation session with helicopter personnel.</a:t>
            </a:r>
          </a:p>
          <a:p>
            <a:r>
              <a:rPr lang="en-US" altLang="en-US" dirty="0"/>
              <a:t>	3.	Know how to request a helicopter response as well as what the criteria for calling a helicopter for trauma patients, medical patients, and wilderness response are.</a:t>
            </a:r>
          </a:p>
          <a:p>
            <a:pPr eaLnBrk="1" hangingPunct="1"/>
            <a:endParaRPr lang="en-US" altLang="en-US" dirty="0"/>
          </a:p>
        </p:txBody>
      </p:sp>
    </p:spTree>
    <p:extLst>
      <p:ext uri="{BB962C8B-B14F-4D97-AF65-F5344CB8AC3E}">
        <p14:creationId xmlns:p14="http://schemas.microsoft.com/office/powerpoint/2010/main" val="2644047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F41E7BD7-2063-EA41-AC9B-E1D1E14893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2" name="Rectangle 3">
            <a:extLst>
              <a:ext uri="{FF2B5EF4-FFF2-40B4-BE49-F238E27FC236}">
                <a16:creationId xmlns:a16="http://schemas.microsoft.com/office/drawing/2014/main" id="{76B0DB8F-2D5F-8848-91AA-25EA68EC8D8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E. Helicopter safety guidelines:</a:t>
            </a:r>
          </a:p>
          <a:p>
            <a:r>
              <a:rPr lang="en-US" altLang="en-US" dirty="0"/>
              <a:t>	1. Helicopters can provide lifesaving transport for patients with serious injuries to an appropriate medical facility.</a:t>
            </a:r>
          </a:p>
          <a:p>
            <a:r>
              <a:rPr lang="en-US" altLang="en-US" dirty="0"/>
              <a:t>	2. Helicopters are dangerous to untrained personnel. </a:t>
            </a:r>
          </a:p>
          <a:p>
            <a:r>
              <a:rPr lang="en-US" altLang="en-US" dirty="0"/>
              <a:t>		a. Main rotor spins at more than 300 revolutions per minute (rpm) and may be just 4′ above ground.</a:t>
            </a:r>
          </a:p>
          <a:p>
            <a:r>
              <a:rPr lang="en-US" altLang="en-US" dirty="0"/>
              <a:t>		b. Tail rotor spins at more than 3,000 rpm, and may be invisible to an unwary person.</a:t>
            </a:r>
          </a:p>
          <a:p>
            <a:r>
              <a:rPr lang="en-US" altLang="en-US" dirty="0"/>
              <a:t>		c. Rotors can generate a “wash” equivalent to winds of 60 to 80 mph. </a:t>
            </a:r>
          </a:p>
          <a:p>
            <a:pPr eaLnBrk="1" hangingPunct="1"/>
            <a:endParaRPr lang="en-US" altLang="en-US" dirty="0"/>
          </a:p>
        </p:txBody>
      </p:sp>
    </p:spTree>
    <p:extLst>
      <p:ext uri="{BB962C8B-B14F-4D97-AF65-F5344CB8AC3E}">
        <p14:creationId xmlns:p14="http://schemas.microsoft.com/office/powerpoint/2010/main" val="31736858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5102E3FF-7275-4242-A6A4-8C84FC646EC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0" name="Rectangle 3">
            <a:extLst>
              <a:ext uri="{FF2B5EF4-FFF2-40B4-BE49-F238E27FC236}">
                <a16:creationId xmlns:a16="http://schemas.microsoft.com/office/drawing/2014/main" id="{A747E634-EF7A-D347-8DD4-51F4C1061D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3.	Setting up landing zone (LZ): </a:t>
            </a:r>
          </a:p>
          <a:p>
            <a:r>
              <a:rPr lang="en-US" altLang="en-US" dirty="0"/>
              <a:t>	a.	Pilots usually land and take off into wind.</a:t>
            </a:r>
          </a:p>
          <a:p>
            <a:r>
              <a:rPr lang="en-US" altLang="en-US" dirty="0"/>
              <a:t>	b.	Size of a landing zone depends on the size of helicopter.</a:t>
            </a:r>
          </a:p>
          <a:p>
            <a:r>
              <a:rPr lang="en-US" altLang="en-US" dirty="0"/>
              <a:t>		</a:t>
            </a:r>
            <a:r>
              <a:rPr lang="en-US" altLang="en-US" dirty="0" err="1"/>
              <a:t>i</a:t>
            </a:r>
            <a:r>
              <a:rPr lang="en-US" altLang="en-US" dirty="0"/>
              <a:t>.	Most civilian helicopters need a landing zone of at least 100′ </a:t>
            </a:r>
            <a:r>
              <a:rPr lang="en-US" altLang="en-US" dirty="0">
                <a:sym typeface="Symbol" pitchFamily="2" charset="2"/>
              </a:rPr>
              <a:t></a:t>
            </a:r>
            <a:r>
              <a:rPr lang="en-US" altLang="en-US" dirty="0"/>
              <a:t> 100′ (30 x 30 m) which is 10,000 square feet.</a:t>
            </a:r>
          </a:p>
          <a:p>
            <a:r>
              <a:rPr lang="en-US" altLang="en-US" dirty="0"/>
              <a:t>		ii.	Military aircraft may need a larger area.</a:t>
            </a:r>
          </a:p>
          <a:p>
            <a:r>
              <a:rPr lang="en-US" altLang="en-US" dirty="0"/>
              <a:t>	c.	Landing zone should be as flat as possible and free of debris.</a:t>
            </a:r>
          </a:p>
          <a:p>
            <a:pPr eaLnBrk="1" hangingPunct="1"/>
            <a:endParaRPr lang="en-US" altLang="en-US" dirty="0"/>
          </a:p>
          <a:p>
            <a:pPr eaLnBrk="1" hangingPunct="1"/>
            <a:r>
              <a:rPr lang="en-US" altLang="en-US" dirty="0"/>
              <a:t>Figure: Landing zone with cones and warning devices in place.</a:t>
            </a:r>
          </a:p>
        </p:txBody>
      </p:sp>
    </p:spTree>
    <p:extLst>
      <p:ext uri="{BB962C8B-B14F-4D97-AF65-F5344CB8AC3E}">
        <p14:creationId xmlns:p14="http://schemas.microsoft.com/office/powerpoint/2010/main" val="3658421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24E48F0A-E3FF-2041-B235-5E4A1A40966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8" name="Rectangle 3">
            <a:extLst>
              <a:ext uri="{FF2B5EF4-FFF2-40B4-BE49-F238E27FC236}">
                <a16:creationId xmlns:a16="http://schemas.microsoft.com/office/drawing/2014/main" id="{0731B95A-17FF-2A4D-96EA-BDAA566924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	d.	Check for any nearby wires. </a:t>
            </a:r>
          </a:p>
          <a:p>
            <a:r>
              <a:rPr lang="en-US" altLang="en-US" dirty="0"/>
              <a:t>	e.	If site slopes or has any obstacles, notify pilot.</a:t>
            </a:r>
          </a:p>
          <a:p>
            <a:r>
              <a:rPr lang="en-US" altLang="en-US" dirty="0"/>
              <a:t>	f.	Check with the helicopter service to see how you should secure and mark perimeter of site. </a:t>
            </a:r>
          </a:p>
          <a:p>
            <a:r>
              <a:rPr lang="en-US" altLang="en-US" dirty="0"/>
              <a:t>		</a:t>
            </a:r>
            <a:r>
              <a:rPr lang="en-US" altLang="en-US" dirty="0" err="1"/>
              <a:t>i</a:t>
            </a:r>
            <a:r>
              <a:rPr lang="en-US" altLang="en-US" dirty="0"/>
              <a:t>.	Avoid using flags or other objects that can be blown away. </a:t>
            </a:r>
          </a:p>
          <a:p>
            <a:r>
              <a:rPr lang="en-US" altLang="en-US" dirty="0"/>
              <a:t>		ii.	</a:t>
            </a:r>
            <a:r>
              <a:rPr lang="en-US" altLang="en-US" dirty="0" err="1"/>
              <a:t>Fusees</a:t>
            </a:r>
            <a:r>
              <a:rPr lang="en-US" altLang="en-US" dirty="0"/>
              <a:t> (red signal flares) can create a fire hazard and should not be used. </a:t>
            </a:r>
          </a:p>
          <a:p>
            <a:r>
              <a:rPr lang="en-US" altLang="en-US" dirty="0"/>
              <a:t>		iii.	White lights and flashing emergency lights can interfere with pilot</a:t>
            </a:r>
            <a:r>
              <a:rPr lang="ja-JP" altLang="en-US"/>
              <a:t>’</a:t>
            </a:r>
            <a:r>
              <a:rPr lang="en-US" altLang="ja-JP" dirty="0"/>
              <a:t>s vision. </a:t>
            </a:r>
          </a:p>
          <a:p>
            <a:pPr lvl="2">
              <a:buFontTx/>
              <a:buAutoNum type="alphaLcPeriod" startAt="7"/>
            </a:pPr>
            <a:r>
              <a:rPr lang="en-US" altLang="en-US" dirty="0"/>
              <a:t>        Keep vehicles clear of LZ. </a:t>
            </a:r>
          </a:p>
          <a:p>
            <a:r>
              <a:rPr lang="en-US" altLang="en-US" dirty="0"/>
              <a:t>	h.	Close windows and doors of any nearby vehicles.</a:t>
            </a:r>
          </a:p>
          <a:p>
            <a:r>
              <a:rPr lang="en-US" altLang="en-US" dirty="0"/>
              <a:t>	</a:t>
            </a:r>
            <a:r>
              <a:rPr lang="en-US" altLang="en-US" dirty="0" err="1"/>
              <a:t>i</a:t>
            </a:r>
            <a:r>
              <a:rPr lang="en-US" altLang="en-US" dirty="0"/>
              <a:t>.	Some helicopter services request that a charged hose line be available for fire emergencies.</a:t>
            </a:r>
          </a:p>
          <a:p>
            <a:endParaRPr lang="en-US" altLang="en-US" dirty="0"/>
          </a:p>
        </p:txBody>
      </p:sp>
    </p:spTree>
    <p:extLst>
      <p:ext uri="{BB962C8B-B14F-4D97-AF65-F5344CB8AC3E}">
        <p14:creationId xmlns:p14="http://schemas.microsoft.com/office/powerpoint/2010/main" val="39024106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BF4FBF48-8F31-3D40-BA60-E41C51AD29C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6" name="Rectangle 3">
            <a:extLst>
              <a:ext uri="{FF2B5EF4-FFF2-40B4-BE49-F238E27FC236}">
                <a16:creationId xmlns:a16="http://schemas.microsoft.com/office/drawing/2014/main" id="{CCDB458D-C6DE-9348-A668-696FFEBA0E2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4.	Loading patients into helicopters:</a:t>
            </a:r>
          </a:p>
          <a:p>
            <a:r>
              <a:rPr lang="en-US" altLang="en-US" dirty="0"/>
              <a:t>	a.	Secure all loose clothing, sheets, and instruments.</a:t>
            </a:r>
          </a:p>
          <a:p>
            <a:r>
              <a:rPr lang="en-US" altLang="en-US" dirty="0"/>
              <a:t>	b.	Use eye protection to prevent debris from getting into your eyes.</a:t>
            </a:r>
          </a:p>
          <a:p>
            <a:r>
              <a:rPr lang="en-US" altLang="en-US" dirty="0"/>
              <a:t>	c.	Approach a helicopter from front and only after pilot or crew member signals that it is safe. </a:t>
            </a:r>
          </a:p>
          <a:p>
            <a:r>
              <a:rPr lang="en-US" altLang="en-US" dirty="0"/>
              <a:t>	d.	Follow flight crew’s instructions.</a:t>
            </a:r>
          </a:p>
          <a:p>
            <a:r>
              <a:rPr lang="en-US" altLang="en-US" dirty="0"/>
              <a:t>	e.	Give patient report to crew, away from helicopter’s noise, and offer your assistance.</a:t>
            </a:r>
          </a:p>
          <a:p>
            <a:r>
              <a:rPr lang="en-US" altLang="en-US" dirty="0"/>
              <a:t>	f.	Patients need to be packaged properly and securely.</a:t>
            </a:r>
          </a:p>
          <a:p>
            <a:r>
              <a:rPr lang="en-US" altLang="en-US" dirty="0"/>
              <a:t>	g.	If you will be working with a helicopter ambulance, arrange an orientation session with helicopter personnel so you will be prepared in an emergency.</a:t>
            </a:r>
          </a:p>
          <a:p>
            <a:pPr eaLnBrk="1" hangingPunct="1"/>
            <a:endParaRPr lang="en-US" altLang="en-US" dirty="0"/>
          </a:p>
          <a:p>
            <a:pPr eaLnBrk="1" hangingPunct="1"/>
            <a:r>
              <a:rPr lang="en-US" altLang="en-US" dirty="0"/>
              <a:t>Figure: Approach helicopters from front so pilot can see you.</a:t>
            </a:r>
          </a:p>
        </p:txBody>
      </p:sp>
    </p:spTree>
    <p:extLst>
      <p:ext uri="{BB962C8B-B14F-4D97-AF65-F5344CB8AC3E}">
        <p14:creationId xmlns:p14="http://schemas.microsoft.com/office/powerpoint/2010/main" val="25497840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3BF401F9-BB5D-1444-9DE3-522B527C869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2" name="Rectangle 3">
            <a:extLst>
              <a:ext uri="{FF2B5EF4-FFF2-40B4-BE49-F238E27FC236}">
                <a16:creationId xmlns:a16="http://schemas.microsoft.com/office/drawing/2014/main" id="{B7E98599-BBFD-6F48-886D-1C144FF3BDA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A.	In preparing yourself for a call, you must understand your role as a member of emergency medical system and be prepared to respond promptly.</a:t>
            </a:r>
          </a:p>
          <a:p>
            <a:r>
              <a:rPr lang="en-US" altLang="en-US" dirty="0"/>
              <a:t>B.	As an EMR, you need proper equipment on an emergency call, including medical equipment in your life support kit, your personal safety equipment, and equipment to safeguard accident scene.</a:t>
            </a:r>
          </a:p>
          <a:p>
            <a:r>
              <a:rPr lang="en-US" altLang="en-US" dirty="0"/>
              <a:t>C.	Six phases of an emergency call are preparation, dispatch, response to scene, arrival at scene, transferring care of patient to other EMS personnel, and </a:t>
            </a:r>
            <a:r>
              <a:rPr lang="en-US" altLang="en-US" dirty="0" err="1"/>
              <a:t>postrun</a:t>
            </a:r>
            <a:r>
              <a:rPr lang="en-US" altLang="en-US" dirty="0"/>
              <a:t> activities.</a:t>
            </a:r>
          </a:p>
          <a:p>
            <a:r>
              <a:rPr lang="en-US" altLang="en-US" dirty="0"/>
              <a:t>D. 	If you will be working with a medical helicopter, you need to know proper safety precautions and loading procedures for helicopter transport.</a:t>
            </a:r>
          </a:p>
          <a:p>
            <a:r>
              <a:rPr lang="en-US" altLang="en-US" dirty="0"/>
              <a:t>E.	By learning simple but important skills involving EMS operations, you can become an effective member of EMS system in your community.</a:t>
            </a:r>
          </a:p>
          <a:p>
            <a:pPr eaLnBrk="1" hangingPunct="1"/>
            <a:endParaRPr lang="en-US" altLang="en-US" dirty="0"/>
          </a:p>
        </p:txBody>
      </p:sp>
    </p:spTree>
    <p:extLst>
      <p:ext uri="{BB962C8B-B14F-4D97-AF65-F5344CB8AC3E}">
        <p14:creationId xmlns:p14="http://schemas.microsoft.com/office/powerpoint/2010/main" val="38437010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Image Placeholder 1">
            <a:extLst>
              <a:ext uri="{FF2B5EF4-FFF2-40B4-BE49-F238E27FC236}">
                <a16:creationId xmlns:a16="http://schemas.microsoft.com/office/drawing/2014/main" id="{725E5EF8-7B50-674B-989B-53A98C67A89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8" name="Notes Placeholder 2">
            <a:extLst>
              <a:ext uri="{FF2B5EF4-FFF2-40B4-BE49-F238E27FC236}">
                <a16:creationId xmlns:a16="http://schemas.microsoft.com/office/drawing/2014/main" id="{3C477DC0-1D62-3B49-9863-2D728012B3D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0179" name="Slide Number Placeholder 3">
            <a:extLst>
              <a:ext uri="{FF2B5EF4-FFF2-40B4-BE49-F238E27FC236}">
                <a16:creationId xmlns:a16="http://schemas.microsoft.com/office/drawing/2014/main" id="{788F064E-60CD-674B-9275-7CF4EE799079}"/>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pPr algn="r" eaLnBrk="1" hangingPunct="1"/>
            <a:fld id="{C1CA0E44-9D44-E546-9340-B2FBE5A9EB72}" type="slidenum">
              <a:rPr lang="en-US" altLang="en-US" sz="1200">
                <a:latin typeface="Arial" panose="020B0604020202020204" pitchFamily="34" charset="0"/>
              </a:rPr>
              <a:pPr algn="r" eaLnBrk="1" hangingPunct="1"/>
              <a:t>21</a:t>
            </a:fld>
            <a:endParaRPr lang="en-US" altLang="en-US" sz="1200">
              <a:latin typeface="Arial" panose="020B0604020202020204" pitchFamily="34" charset="0"/>
            </a:endParaRPr>
          </a:p>
        </p:txBody>
      </p:sp>
    </p:spTree>
    <p:extLst>
      <p:ext uri="{BB962C8B-B14F-4D97-AF65-F5344CB8AC3E}">
        <p14:creationId xmlns:p14="http://schemas.microsoft.com/office/powerpoint/2010/main" val="11181529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558867E7-2D74-394D-BA2E-4F04E5B7180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6" name="Rectangle 3">
            <a:extLst>
              <a:ext uri="{FF2B5EF4-FFF2-40B4-BE49-F238E27FC236}">
                <a16:creationId xmlns:a16="http://schemas.microsoft.com/office/drawing/2014/main" id="{68241338-3C9B-A843-80F8-F8F3981857B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extLst>
      <p:ext uri="{BB962C8B-B14F-4D97-AF65-F5344CB8AC3E}">
        <p14:creationId xmlns:p14="http://schemas.microsoft.com/office/powerpoint/2010/main" val="3375974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5F890644-C8CE-A84B-972E-8E18A68B98D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4" name="Notes Placeholder 2">
            <a:extLst>
              <a:ext uri="{FF2B5EF4-FFF2-40B4-BE49-F238E27FC236}">
                <a16:creationId xmlns:a16="http://schemas.microsoft.com/office/drawing/2014/main" id="{5429164C-B889-044C-97AE-AC15BEC2ACB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4275" name="Slide Number Placeholder 3">
            <a:extLst>
              <a:ext uri="{FF2B5EF4-FFF2-40B4-BE49-F238E27FC236}">
                <a16:creationId xmlns:a16="http://schemas.microsoft.com/office/drawing/2014/main" id="{3DD3CC0B-73C7-0A4C-BC3A-5D580D0D0DE0}"/>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pPr algn="r" eaLnBrk="1" hangingPunct="1"/>
            <a:fld id="{8405C34C-5D6C-1444-9930-AA26E344090A}" type="slidenum">
              <a:rPr lang="en-US" altLang="en-US" sz="1200">
                <a:latin typeface="Arial" panose="020B0604020202020204" pitchFamily="34" charset="0"/>
              </a:rPr>
              <a:pPr algn="r" eaLnBrk="1" hangingPunct="1"/>
              <a:t>23</a:t>
            </a:fld>
            <a:endParaRPr lang="en-US" altLang="en-US" sz="1200">
              <a:latin typeface="Arial" panose="020B0604020202020204" pitchFamily="34" charset="0"/>
            </a:endParaRPr>
          </a:p>
        </p:txBody>
      </p:sp>
    </p:spTree>
    <p:extLst>
      <p:ext uri="{BB962C8B-B14F-4D97-AF65-F5344CB8AC3E}">
        <p14:creationId xmlns:p14="http://schemas.microsoft.com/office/powerpoint/2010/main" val="33007578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4A54B87D-B38E-6D44-879A-479B92173AC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2" name="Rectangle 3">
            <a:extLst>
              <a:ext uri="{FF2B5EF4-FFF2-40B4-BE49-F238E27FC236}">
                <a16:creationId xmlns:a16="http://schemas.microsoft.com/office/drawing/2014/main" id="{DA57F624-B31B-EF4D-8D55-55120088C16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extLst>
      <p:ext uri="{BB962C8B-B14F-4D97-AF65-F5344CB8AC3E}">
        <p14:creationId xmlns:p14="http://schemas.microsoft.com/office/powerpoint/2010/main" val="21438797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Slide Image Placeholder 1">
            <a:extLst>
              <a:ext uri="{FF2B5EF4-FFF2-40B4-BE49-F238E27FC236}">
                <a16:creationId xmlns:a16="http://schemas.microsoft.com/office/drawing/2014/main" id="{899846B4-2239-4F46-A46A-1A4195D0F25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0" name="Notes Placeholder 2">
            <a:extLst>
              <a:ext uri="{FF2B5EF4-FFF2-40B4-BE49-F238E27FC236}">
                <a16:creationId xmlns:a16="http://schemas.microsoft.com/office/drawing/2014/main" id="{7FE85E1B-1CD8-C64F-A37C-E56060488C5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8371" name="Slide Number Placeholder 3">
            <a:extLst>
              <a:ext uri="{FF2B5EF4-FFF2-40B4-BE49-F238E27FC236}">
                <a16:creationId xmlns:a16="http://schemas.microsoft.com/office/drawing/2014/main" id="{1B782330-0DC2-8F4E-B877-75D154863AEF}"/>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ea typeface="ヒラギノ角ゴ Pro W3" panose="020B0300000000000000" pitchFamily="34" charset="-128"/>
              </a:defRPr>
            </a:lvl1pPr>
            <a:lvl2pPr marL="742950" indent="-285750">
              <a:defRPr sz="2400">
                <a:solidFill>
                  <a:schemeClr val="tx1"/>
                </a:solidFill>
                <a:latin typeface="Times New Roman" panose="02020603050405020304" pitchFamily="18" charset="0"/>
                <a:ea typeface="ヒラギノ角ゴ Pro W3" panose="020B0300000000000000" pitchFamily="34" charset="-128"/>
              </a:defRPr>
            </a:lvl2pPr>
            <a:lvl3pPr marL="1143000" indent="-228600">
              <a:defRPr sz="2400">
                <a:solidFill>
                  <a:schemeClr val="tx1"/>
                </a:solidFill>
                <a:latin typeface="Times New Roman" panose="02020603050405020304" pitchFamily="18" charset="0"/>
                <a:ea typeface="ヒラギノ角ゴ Pro W3" panose="020B0300000000000000" pitchFamily="34" charset="-128"/>
              </a:defRPr>
            </a:lvl3pPr>
            <a:lvl4pPr marL="1600200" indent="-228600">
              <a:defRPr sz="2400">
                <a:solidFill>
                  <a:schemeClr val="tx1"/>
                </a:solidFill>
                <a:latin typeface="Times New Roman" panose="02020603050405020304" pitchFamily="18" charset="0"/>
                <a:ea typeface="ヒラギノ角ゴ Pro W3" panose="020B0300000000000000" pitchFamily="34" charset="-128"/>
              </a:defRPr>
            </a:lvl4pPr>
            <a:lvl5pPr marL="2057400" indent="-228600">
              <a:defRPr sz="2400">
                <a:solidFill>
                  <a:schemeClr val="tx1"/>
                </a:solidFill>
                <a:latin typeface="Times New Roman" panose="02020603050405020304" pitchFamily="18" charset="0"/>
                <a:ea typeface="ヒラギノ角ゴ Pro W3" panose="020B0300000000000000"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ヒラギノ角ゴ Pro W3" panose="020B0300000000000000" pitchFamily="34" charset="-128"/>
              </a:defRPr>
            </a:lvl9pPr>
          </a:lstStyle>
          <a:p>
            <a:pPr algn="r" eaLnBrk="1" hangingPunct="1"/>
            <a:fld id="{6BFB1C3C-AF51-F742-8B69-52E979B548E2}" type="slidenum">
              <a:rPr lang="en-US" altLang="en-US" sz="1200">
                <a:latin typeface="Arial" panose="020B0604020202020204" pitchFamily="34" charset="0"/>
              </a:rPr>
              <a:pPr algn="r" eaLnBrk="1" hangingPunct="1"/>
              <a:t>25</a:t>
            </a:fld>
            <a:endParaRPr lang="en-US" altLang="en-US" sz="1200">
              <a:latin typeface="Arial" panose="020B0604020202020204" pitchFamily="34" charset="0"/>
            </a:endParaRPr>
          </a:p>
        </p:txBody>
      </p:sp>
    </p:spTree>
    <p:extLst>
      <p:ext uri="{BB962C8B-B14F-4D97-AF65-F5344CB8AC3E}">
        <p14:creationId xmlns:p14="http://schemas.microsoft.com/office/powerpoint/2010/main" val="24469044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EEA0297D-480A-2D43-8B00-EDA03079DAD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8" name="Rectangle 3">
            <a:extLst>
              <a:ext uri="{FF2B5EF4-FFF2-40B4-BE49-F238E27FC236}">
                <a16:creationId xmlns:a16="http://schemas.microsoft.com/office/drawing/2014/main" id="{6622E150-56FC-4A47-898A-D79084D18A4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Tree>
    <p:extLst>
      <p:ext uri="{BB962C8B-B14F-4D97-AF65-F5344CB8AC3E}">
        <p14:creationId xmlns:p14="http://schemas.microsoft.com/office/powerpoint/2010/main" val="3983514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invGray">
      <p:bgPr>
        <a:solidFill>
          <a:srgbClr val="003B74"/>
        </a:solidFill>
        <a:effectLst/>
      </p:bgPr>
    </p:bg>
    <p:spTree>
      <p:nvGrpSpPr>
        <p:cNvPr id="1" name=""/>
        <p:cNvGrpSpPr/>
        <p:nvPr/>
      </p:nvGrpSpPr>
      <p:grpSpPr>
        <a:xfrm>
          <a:off x="0" y="0"/>
          <a:ext cx="0" cy="0"/>
          <a:chOff x="0" y="0"/>
          <a:chExt cx="0" cy="0"/>
        </a:xfrm>
      </p:grpSpPr>
      <p:sp>
        <p:nvSpPr>
          <p:cNvPr id="9" name="Rectangle 8"/>
          <p:cNvSpPr/>
          <p:nvPr/>
        </p:nvSpPr>
        <p:spPr>
          <a:xfrm>
            <a:off x="0" y="1851660"/>
            <a:ext cx="12192000" cy="377190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10" name="Rectangle 9"/>
          <p:cNvSpPr/>
          <p:nvPr/>
        </p:nvSpPr>
        <p:spPr>
          <a:xfrm>
            <a:off x="-1" y="701802"/>
            <a:ext cx="12192001" cy="10332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1"/>
          <p:cNvSpPr>
            <a:spLocks noGrp="1"/>
          </p:cNvSpPr>
          <p:nvPr>
            <p:ph type="ctrTitle" hasCustomPrompt="1"/>
          </p:nvPr>
        </p:nvSpPr>
        <p:spPr bwMode="black">
          <a:xfrm>
            <a:off x="882217" y="2200275"/>
            <a:ext cx="6421553" cy="3074670"/>
          </a:xfrm>
          <a:noFill/>
        </p:spPr>
        <p:txBody>
          <a:bodyPr lIns="0" tIns="0" rIns="0" bIns="0" anchor="ctr" anchorCtr="0">
            <a:normAutofit/>
          </a:bodyPr>
          <a:lstStyle>
            <a:lvl1pPr algn="l">
              <a:lnSpc>
                <a:spcPct val="90000"/>
              </a:lnSpc>
              <a:defRPr sz="6000" b="1">
                <a:solidFill>
                  <a:schemeClr val="tx1"/>
                </a:solidFill>
              </a:defRPr>
            </a:lvl1pPr>
          </a:lstStyle>
          <a:p>
            <a:r>
              <a:rPr lang="en-US" dirty="0"/>
              <a:t>Chapter Title</a:t>
            </a:r>
            <a:endParaRPr dirty="0"/>
          </a:p>
        </p:txBody>
      </p:sp>
      <p:sp>
        <p:nvSpPr>
          <p:cNvPr id="3" name="Subtitle 2"/>
          <p:cNvSpPr>
            <a:spLocks noGrp="1"/>
          </p:cNvSpPr>
          <p:nvPr>
            <p:ph type="subTitle" idx="1" hasCustomPrompt="1"/>
          </p:nvPr>
        </p:nvSpPr>
        <p:spPr>
          <a:xfrm>
            <a:off x="882217" y="845820"/>
            <a:ext cx="6524423" cy="777639"/>
          </a:xfrm>
        </p:spPr>
        <p:txBody>
          <a:bodyPr lIns="0" tIns="0" rIns="0" bIns="0" anchor="ctr" anchorCtr="0">
            <a:normAutofit/>
          </a:bodyPr>
          <a:lstStyle>
            <a:lvl1pPr marL="0" indent="0" algn="l">
              <a:spcBef>
                <a:spcPts val="0"/>
              </a:spcBef>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endParaRPr dirty="0"/>
          </a:p>
        </p:txBody>
      </p:sp>
      <p:sp>
        <p:nvSpPr>
          <p:cNvPr id="7" name="Picture Placeholder 6">
            <a:extLst>
              <a:ext uri="{FF2B5EF4-FFF2-40B4-BE49-F238E27FC236}">
                <a16:creationId xmlns:a16="http://schemas.microsoft.com/office/drawing/2014/main" id="{EC9CFE91-0E8B-934B-8D25-5CBB7FD65D50}"/>
              </a:ext>
            </a:extLst>
          </p:cNvPr>
          <p:cNvSpPr>
            <a:spLocks noGrp="1"/>
          </p:cNvSpPr>
          <p:nvPr>
            <p:ph type="pic" sz="quarter" idx="10"/>
          </p:nvPr>
        </p:nvSpPr>
        <p:spPr>
          <a:xfrm>
            <a:off x="8100060" y="388500"/>
            <a:ext cx="3604981" cy="6081000"/>
          </a:xfrm>
        </p:spPr>
        <p:txBody>
          <a:bodyPr/>
          <a:lstStyle/>
          <a:p>
            <a:endParaRPr lang="en-US"/>
          </a:p>
        </p:txBody>
      </p:sp>
      <p:sp>
        <p:nvSpPr>
          <p:cNvPr id="17" name="Rectangle 16">
            <a:extLst>
              <a:ext uri="{FF2B5EF4-FFF2-40B4-BE49-F238E27FC236}">
                <a16:creationId xmlns:a16="http://schemas.microsoft.com/office/drawing/2014/main" id="{BEEECFBC-FB4D-9945-A4FF-28E342055AC3}"/>
              </a:ext>
            </a:extLst>
          </p:cNvPr>
          <p:cNvSpPr/>
          <p:nvPr userDrawn="1"/>
        </p:nvSpPr>
        <p:spPr>
          <a:xfrm>
            <a:off x="0" y="6503670"/>
            <a:ext cx="12192000" cy="215444"/>
          </a:xfrm>
          <a:prstGeom prst="rect">
            <a:avLst/>
          </a:prstGeom>
        </p:spPr>
        <p:txBody>
          <a:bodyPr wrap="square">
            <a:spAutoFit/>
          </a:bodyPr>
          <a:lstStyle/>
          <a:p>
            <a:pPr algn="ctr"/>
            <a:r>
              <a:rPr lang="en-US" sz="800" dirty="0">
                <a:solidFill>
                  <a:schemeClr val="bg2"/>
                </a:solidFill>
                <a:latin typeface="Arial" panose="020B0604020202020204" pitchFamily="34" charset="0"/>
                <a:cs typeface="Arial" panose="020B0604020202020204" pitchFamily="34" charset="0"/>
              </a:rPr>
              <a:t>Copyright © 2022 by Jones &amp; Bartlett Learning, LLC an Ascend Learning Company. </a:t>
            </a:r>
            <a:r>
              <a:rPr lang="en-US" sz="800" dirty="0" err="1">
                <a:solidFill>
                  <a:schemeClr val="bg2"/>
                </a:solidFill>
                <a:latin typeface="Arial" panose="020B0604020202020204" pitchFamily="34" charset="0"/>
                <a:cs typeface="Arial" panose="020B0604020202020204" pitchFamily="34" charset="0"/>
              </a:rPr>
              <a:t>www.jblearning.com</a:t>
            </a:r>
            <a:r>
              <a:rPr lang="en-US" sz="800" dirty="0">
                <a:solidFill>
                  <a:schemeClr val="bg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1E3BDFD-7FA5-2143-88E5-0CEE0A6011AD}"/>
              </a:ext>
            </a:extLst>
          </p:cNvPr>
          <p:cNvSpPr/>
          <p:nvPr userDrawn="1"/>
        </p:nvSpPr>
        <p:spPr>
          <a:xfrm>
            <a:off x="0" y="6503670"/>
            <a:ext cx="12192000" cy="215444"/>
          </a:xfrm>
          <a:prstGeom prst="rect">
            <a:avLst/>
          </a:prstGeom>
        </p:spPr>
        <p:txBody>
          <a:bodyPr wrap="square">
            <a:spAutoFit/>
          </a:bodyPr>
          <a:lstStyle/>
          <a:p>
            <a:pPr algn="ctr"/>
            <a:r>
              <a:rPr lang="en-US" sz="800" dirty="0">
                <a:latin typeface="Arial" panose="020B0604020202020204" pitchFamily="34" charset="0"/>
                <a:cs typeface="Arial" panose="020B0604020202020204" pitchFamily="34" charset="0"/>
              </a:rPr>
              <a:t>Copyright © 2020 by Jones &amp; Bartlett Learning, LLC an Ascend Learning Company. www.jblearning.com. Background texture © </a:t>
            </a:r>
            <a:r>
              <a:rPr lang="en-US" sz="800" dirty="0" err="1">
                <a:latin typeface="Arial" panose="020B0604020202020204" pitchFamily="34" charset="0"/>
                <a:cs typeface="Arial" panose="020B0604020202020204" pitchFamily="34" charset="0"/>
              </a:rPr>
              <a:t>Bunphot</a:t>
            </a:r>
            <a:r>
              <a:rPr lang="en-US" sz="800" dirty="0">
                <a:latin typeface="Arial" panose="020B0604020202020204" pitchFamily="34" charset="0"/>
                <a:cs typeface="Arial" panose="020B0604020202020204" pitchFamily="34" charset="0"/>
              </a:rPr>
              <a:t>/Getty Images.</a:t>
            </a:r>
          </a:p>
        </p:txBody>
      </p:sp>
      <p:sp>
        <p:nvSpPr>
          <p:cNvPr id="6" name="Rectangle 5">
            <a:extLst>
              <a:ext uri="{FF2B5EF4-FFF2-40B4-BE49-F238E27FC236}">
                <a16:creationId xmlns:a16="http://schemas.microsoft.com/office/drawing/2014/main" id="{A4FD052D-18CE-1249-A891-AB3E165F4441}"/>
              </a:ext>
            </a:extLst>
          </p:cNvPr>
          <p:cNvSpPr/>
          <p:nvPr userDrawn="1"/>
        </p:nvSpPr>
        <p:spPr>
          <a:xfrm>
            <a:off x="0" y="2274570"/>
            <a:ext cx="12192000" cy="1760220"/>
          </a:xfrm>
          <a:prstGeom prst="rect">
            <a:avLst/>
          </a:prstGeom>
          <a:solidFill>
            <a:srgbClr val="003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8C0E0F34-F7A9-8D4B-9F49-A76F8B00661D}"/>
              </a:ext>
            </a:extLst>
          </p:cNvPr>
          <p:cNvSpPr>
            <a:spLocks noGrp="1"/>
          </p:cNvSpPr>
          <p:nvPr>
            <p:ph type="body" sz="quarter" idx="10" hasCustomPrompt="1"/>
          </p:nvPr>
        </p:nvSpPr>
        <p:spPr>
          <a:xfrm>
            <a:off x="935038" y="2571750"/>
            <a:ext cx="10321925" cy="1165225"/>
          </a:xfrm>
        </p:spPr>
        <p:txBody>
          <a:bodyPr anchor="ctr" anchorCtr="0"/>
          <a:lstStyle>
            <a:lvl1pPr marL="0" indent="0" algn="ctr">
              <a:buNone/>
              <a:defRPr sz="4800" b="1">
                <a:solidFill>
                  <a:srgbClr val="FFFFFF"/>
                </a:solidFill>
              </a:defRPr>
            </a:lvl1pPr>
          </a:lstStyle>
          <a:p>
            <a:pPr lvl="0"/>
            <a:r>
              <a:rPr lang="en-US" dirty="0"/>
              <a:t>Divider</a:t>
            </a: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
        <p:nvSpPr>
          <p:cNvPr id="3" name="Content Placeholder 2"/>
          <p:cNvSpPr>
            <a:spLocks noGrp="1"/>
          </p:cNvSpPr>
          <p:nvPr>
            <p:ph idx="1"/>
          </p:nvPr>
        </p:nvSpPr>
        <p:spPr>
          <a:xfrm>
            <a:off x="925830" y="1490870"/>
            <a:ext cx="10287000" cy="469904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
        <p:nvSpPr>
          <p:cNvPr id="3" name="Content Placeholder 2"/>
          <p:cNvSpPr>
            <a:spLocks noGrp="1"/>
          </p:cNvSpPr>
          <p:nvPr>
            <p:ph sz="half" idx="1"/>
          </p:nvPr>
        </p:nvSpPr>
        <p:spPr>
          <a:xfrm>
            <a:off x="914400" y="1461052"/>
            <a:ext cx="4855464" cy="47294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6415368" y="1461052"/>
            <a:ext cx="4862232" cy="47294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sp>
        <p:nvSpPr>
          <p:cNvPr id="3" name="Text Placeholder 2"/>
          <p:cNvSpPr>
            <a:spLocks noGrp="1"/>
          </p:cNvSpPr>
          <p:nvPr>
            <p:ph type="body" idx="1"/>
          </p:nvPr>
        </p:nvSpPr>
        <p:spPr>
          <a:xfrm>
            <a:off x="777240" y="1496187"/>
            <a:ext cx="4992624" cy="470916"/>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777240" y="2077278"/>
            <a:ext cx="4992624" cy="43908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1" name="Picture Placeholder 10">
            <a:extLst>
              <a:ext uri="{FF2B5EF4-FFF2-40B4-BE49-F238E27FC236}">
                <a16:creationId xmlns:a16="http://schemas.microsoft.com/office/drawing/2014/main" id="{A3169499-437D-8F4D-94AA-E2299357328F}"/>
              </a:ext>
            </a:extLst>
          </p:cNvPr>
          <p:cNvSpPr>
            <a:spLocks noGrp="1"/>
          </p:cNvSpPr>
          <p:nvPr>
            <p:ph type="pic" sz="quarter" idx="10"/>
          </p:nvPr>
        </p:nvSpPr>
        <p:spPr>
          <a:xfrm>
            <a:off x="6096000" y="1496186"/>
            <a:ext cx="5208588" cy="4556743"/>
          </a:xfrm>
        </p:spPr>
        <p:txBody>
          <a:bodyPr/>
          <a:lstStyle/>
          <a:p>
            <a:endParaRPr lang="en-US"/>
          </a:p>
        </p:txBody>
      </p:sp>
      <p:sp>
        <p:nvSpPr>
          <p:cNvPr id="12" name="Text Placeholder 8">
            <a:extLst>
              <a:ext uri="{FF2B5EF4-FFF2-40B4-BE49-F238E27FC236}">
                <a16:creationId xmlns:a16="http://schemas.microsoft.com/office/drawing/2014/main" id="{B116746D-2971-C346-AB96-03BED323E049}"/>
              </a:ext>
            </a:extLst>
          </p:cNvPr>
          <p:cNvSpPr>
            <a:spLocks noGrp="1"/>
          </p:cNvSpPr>
          <p:nvPr>
            <p:ph type="body" sz="quarter" idx="11" hasCustomPrompt="1"/>
          </p:nvPr>
        </p:nvSpPr>
        <p:spPr>
          <a:xfrm>
            <a:off x="6096000" y="6142515"/>
            <a:ext cx="5208588" cy="651192"/>
          </a:xfrm>
        </p:spPr>
        <p:txBody>
          <a:bodyPr/>
          <a:lstStyle>
            <a:lvl1pPr marL="0" indent="0">
              <a:buNone/>
              <a:defRPr sz="1000"/>
            </a:lvl1pPr>
          </a:lstStyle>
          <a:p>
            <a:pPr lvl="0"/>
            <a:r>
              <a:rPr lang="en-US" dirty="0"/>
              <a:t>Credit line FPO</a:t>
            </a: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endParaRPr dirty="0"/>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2"/>
          <p:cNvSpPr>
            <a:spLocks noGrp="1"/>
          </p:cNvSpPr>
          <p:nvPr>
            <p:ph type="body" sz="half" idx="2"/>
          </p:nvPr>
        </p:nvSpPr>
        <p:spPr>
          <a:xfrm>
            <a:off x="880110" y="1510748"/>
            <a:ext cx="4246582" cy="4404625"/>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Text Placeholder 8">
            <a:extLst>
              <a:ext uri="{FF2B5EF4-FFF2-40B4-BE49-F238E27FC236}">
                <a16:creationId xmlns:a16="http://schemas.microsoft.com/office/drawing/2014/main" id="{752B3F09-47B3-324C-BCD8-DE2A52443CC0}"/>
              </a:ext>
            </a:extLst>
          </p:cNvPr>
          <p:cNvSpPr>
            <a:spLocks noGrp="1"/>
          </p:cNvSpPr>
          <p:nvPr>
            <p:ph type="body" sz="quarter" idx="10" hasCustomPrompt="1"/>
          </p:nvPr>
        </p:nvSpPr>
        <p:spPr>
          <a:xfrm>
            <a:off x="5518150" y="6046788"/>
            <a:ext cx="5792992" cy="651192"/>
          </a:xfrm>
        </p:spPr>
        <p:txBody>
          <a:bodyPr/>
          <a:lstStyle>
            <a:lvl1pPr marL="0" indent="0">
              <a:buNone/>
              <a:defRPr sz="1000"/>
            </a:lvl1pPr>
          </a:lstStyle>
          <a:p>
            <a:pPr lvl="0"/>
            <a:r>
              <a:rPr lang="en-US" dirty="0"/>
              <a:t>Credit line FPO</a:t>
            </a:r>
          </a:p>
        </p:txBody>
      </p:sp>
      <p:sp>
        <p:nvSpPr>
          <p:cNvPr id="11" name="Picture Placeholder 10">
            <a:extLst>
              <a:ext uri="{FF2B5EF4-FFF2-40B4-BE49-F238E27FC236}">
                <a16:creationId xmlns:a16="http://schemas.microsoft.com/office/drawing/2014/main" id="{8A3226D5-00A8-E049-8469-4BFBE39DD467}"/>
              </a:ext>
            </a:extLst>
          </p:cNvPr>
          <p:cNvSpPr>
            <a:spLocks noGrp="1"/>
          </p:cNvSpPr>
          <p:nvPr>
            <p:ph type="pic" sz="quarter" idx="11"/>
          </p:nvPr>
        </p:nvSpPr>
        <p:spPr>
          <a:xfrm>
            <a:off x="5518150" y="1508815"/>
            <a:ext cx="5792788" cy="4404624"/>
          </a:xfrm>
        </p:spPr>
        <p:txBody>
          <a:bodyPr/>
          <a:lstStyle/>
          <a:p>
            <a:endParaRPr lang="en-US"/>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3" name="Content Placeholder 3"/>
          <p:cNvSpPr>
            <a:spLocks noGrp="1"/>
          </p:cNvSpPr>
          <p:nvPr>
            <p:ph idx="1" hasCustomPrompt="1"/>
          </p:nvPr>
        </p:nvSpPr>
        <p:spPr>
          <a:xfrm>
            <a:off x="921496" y="1461052"/>
            <a:ext cx="3181874" cy="4895328"/>
          </a:xfrm>
        </p:spPr>
        <p:txBody>
          <a:bodyPr>
            <a:normAutofit/>
          </a:bodyPr>
          <a:lstStyle>
            <a:lvl1pPr marL="0" indent="0">
              <a:buNone/>
              <a:defRPr sz="2200"/>
            </a:lvl1pPr>
            <a:lvl2pPr marL="457200" indent="0">
              <a:buNone/>
              <a:defRPr sz="2000"/>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dirty="0"/>
              <a:t>Sample text</a:t>
            </a:r>
            <a:endParaRPr dirty="0"/>
          </a:p>
        </p:txBody>
      </p:sp>
      <p:sp>
        <p:nvSpPr>
          <p:cNvPr id="7" name="Content Placeholder 3">
            <a:extLst>
              <a:ext uri="{FF2B5EF4-FFF2-40B4-BE49-F238E27FC236}">
                <a16:creationId xmlns:a16="http://schemas.microsoft.com/office/drawing/2014/main" id="{40A1ED7B-82D7-5A47-A193-C7C24693D3C4}"/>
              </a:ext>
            </a:extLst>
          </p:cNvPr>
          <p:cNvSpPr>
            <a:spLocks noGrp="1"/>
          </p:cNvSpPr>
          <p:nvPr>
            <p:ph idx="10" hasCustomPrompt="1"/>
          </p:nvPr>
        </p:nvSpPr>
        <p:spPr>
          <a:xfrm>
            <a:off x="448765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
        <p:nvSpPr>
          <p:cNvPr id="8" name="Content Placeholder 3">
            <a:extLst>
              <a:ext uri="{FF2B5EF4-FFF2-40B4-BE49-F238E27FC236}">
                <a16:creationId xmlns:a16="http://schemas.microsoft.com/office/drawing/2014/main" id="{43872FE9-5E92-4F44-8A71-024A081C439C}"/>
              </a:ext>
            </a:extLst>
          </p:cNvPr>
          <p:cNvSpPr>
            <a:spLocks noGrp="1"/>
          </p:cNvSpPr>
          <p:nvPr>
            <p:ph idx="11" hasCustomPrompt="1"/>
          </p:nvPr>
        </p:nvSpPr>
        <p:spPr>
          <a:xfrm>
            <a:off x="805381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Tree>
    <p:extLst>
      <p:ext uri="{BB962C8B-B14F-4D97-AF65-F5344CB8AC3E}">
        <p14:creationId xmlns:p14="http://schemas.microsoft.com/office/powerpoint/2010/main" val="3111696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2188952" cy="1188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Placeholder 1"/>
          <p:cNvSpPr>
            <a:spLocks noGrp="1"/>
          </p:cNvSpPr>
          <p:nvPr>
            <p:ph type="title"/>
          </p:nvPr>
        </p:nvSpPr>
        <p:spPr bwMode="black">
          <a:xfrm>
            <a:off x="0" y="121033"/>
            <a:ext cx="12192000" cy="1002089"/>
          </a:xfrm>
          <a:prstGeom prst="rect">
            <a:avLst/>
          </a:prstGeom>
          <a:solidFill>
            <a:srgbClr val="003B74"/>
          </a:solidFill>
        </p:spPr>
        <p:txBody>
          <a:bodyPr vert="horz" lIns="914400" tIns="45720" rIns="914400" bIns="45720" rtlCol="0" anchor="ctr">
            <a:normAutofit/>
          </a:bodyPr>
          <a:lstStyle/>
          <a:p>
            <a:r>
              <a:rPr lang="en-US" dirty="0"/>
              <a:t>Click to edit Master title style</a:t>
            </a:r>
            <a:endParaRPr dirty="0"/>
          </a:p>
        </p:txBody>
      </p:sp>
      <p:sp>
        <p:nvSpPr>
          <p:cNvPr id="3" name="Text Placeholder 2"/>
          <p:cNvSpPr>
            <a:spLocks noGrp="1"/>
          </p:cNvSpPr>
          <p:nvPr>
            <p:ph type="body" idx="1"/>
          </p:nvPr>
        </p:nvSpPr>
        <p:spPr>
          <a:xfrm>
            <a:off x="891540" y="2203704"/>
            <a:ext cx="10435590" cy="398621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Rectangle 6">
            <a:extLst>
              <a:ext uri="{FF2B5EF4-FFF2-40B4-BE49-F238E27FC236}">
                <a16:creationId xmlns:a16="http://schemas.microsoft.com/office/drawing/2014/main" id="{21F38BD8-3F75-CE4C-AFEF-0C6B45F77F8C}"/>
              </a:ext>
            </a:extLst>
          </p:cNvPr>
          <p:cNvSpPr/>
          <p:nvPr userDrawn="1"/>
        </p:nvSpPr>
        <p:spPr>
          <a:xfrm rot="5400000">
            <a:off x="9544258" y="4245031"/>
            <a:ext cx="5010495" cy="215444"/>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Copyright © 2022 by Jones &amp; Bartlett Learning, LLC an Ascend Learning Company. </a:t>
            </a:r>
            <a:r>
              <a:rPr lang="en-US" sz="800" dirty="0" err="1">
                <a:latin typeface="Arial" panose="020B0604020202020204" pitchFamily="34" charset="0"/>
                <a:cs typeface="Arial" panose="020B0604020202020204" pitchFamily="34" charset="0"/>
              </a:rPr>
              <a:t>www.jblearning.com</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0" r:id="rId3"/>
    <p:sldLayoutId id="2147483652" r:id="rId4"/>
    <p:sldLayoutId id="2147483653" r:id="rId5"/>
    <p:sldLayoutId id="2147483654" r:id="rId6"/>
    <p:sldLayoutId id="2147483656" r:id="rId7"/>
    <p:sldLayoutId id="2147483657"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b="1" kern="1200">
          <a:solidFill>
            <a:schemeClr val="bg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ubtitle 14">
            <a:extLst>
              <a:ext uri="{FF2B5EF4-FFF2-40B4-BE49-F238E27FC236}">
                <a16:creationId xmlns:a16="http://schemas.microsoft.com/office/drawing/2014/main" id="{CF4F1586-DE6A-1A40-AEF4-23ADA41937E4}"/>
              </a:ext>
            </a:extLst>
          </p:cNvPr>
          <p:cNvSpPr>
            <a:spLocks noGrp="1"/>
          </p:cNvSpPr>
          <p:nvPr>
            <p:ph type="subTitle" idx="1"/>
          </p:nvPr>
        </p:nvSpPr>
        <p:spPr/>
        <p:txBody>
          <a:bodyPr/>
          <a:lstStyle/>
          <a:p>
            <a:r>
              <a:rPr lang="en-US" dirty="0"/>
              <a:t>CHAPTER 19</a:t>
            </a:r>
          </a:p>
        </p:txBody>
      </p:sp>
      <p:sp>
        <p:nvSpPr>
          <p:cNvPr id="19" name="Title 18">
            <a:extLst>
              <a:ext uri="{FF2B5EF4-FFF2-40B4-BE49-F238E27FC236}">
                <a16:creationId xmlns:a16="http://schemas.microsoft.com/office/drawing/2014/main" id="{A58A35F8-EA88-094E-8EAD-88FE6A07C447}"/>
              </a:ext>
            </a:extLst>
          </p:cNvPr>
          <p:cNvSpPr>
            <a:spLocks noGrp="1"/>
          </p:cNvSpPr>
          <p:nvPr>
            <p:ph type="ctrTitle"/>
          </p:nvPr>
        </p:nvSpPr>
        <p:spPr/>
        <p:txBody>
          <a:bodyPr/>
          <a:lstStyle/>
          <a:p>
            <a:r>
              <a:rPr lang="en-US" dirty="0"/>
              <a:t>Transport Operations</a:t>
            </a:r>
          </a:p>
        </p:txBody>
      </p:sp>
      <p:pic>
        <p:nvPicPr>
          <p:cNvPr id="5" name="Picture 4" descr="A cover page shows the logo of A A O S on the left end with the text American Academy of Orthopaedic Surgeons below it. The book title reads, Seventh Edition, Emergency Medical Responder, Your First Response in Emergency Care, authored by David Schottke; Series Editor: Andrew N. Pollak, MD, FAAOS . At the bottom is the logo of Navigate eBook.">
            <a:extLst>
              <a:ext uri="{FF2B5EF4-FFF2-40B4-BE49-F238E27FC236}">
                <a16:creationId xmlns:a16="http://schemas.microsoft.com/office/drawing/2014/main" id="{A8280651-A45A-1342-9DDA-D8CFB0746F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73715" y="0"/>
            <a:ext cx="5618285" cy="6858000"/>
          </a:xfrm>
          <a:prstGeom prst="rect">
            <a:avLst/>
          </a:prstGeom>
        </p:spPr>
      </p:pic>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19641563-63E0-D440-AF14-E359A95DE472}"/>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(1 of 2)</a:t>
            </a:r>
          </a:p>
        </p:txBody>
      </p:sp>
      <p:sp>
        <p:nvSpPr>
          <p:cNvPr id="6146" name="Rectangle 3">
            <a:extLst>
              <a:ext uri="{FF2B5EF4-FFF2-40B4-BE49-F238E27FC236}">
                <a16:creationId xmlns:a16="http://schemas.microsoft.com/office/drawing/2014/main" id="{0C30D73D-309E-724B-8B56-5FEB789085C1}"/>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0" indent="0">
              <a:buNone/>
            </a:pPr>
            <a:r>
              <a:rPr lang="en-US" altLang="en-US" dirty="0">
                <a:latin typeface="Arial Black" panose="020B0604020202020204" pitchFamily="34" charset="0"/>
              </a:rPr>
              <a:t>EMS Operations:</a:t>
            </a:r>
          </a:p>
          <a:p>
            <a:pPr marL="0" indent="0">
              <a:spcBef>
                <a:spcPct val="35000"/>
              </a:spcBef>
              <a:buNone/>
            </a:pPr>
            <a:r>
              <a:rPr lang="en-US" altLang="en-US" dirty="0"/>
              <a:t>Knowledge of operational roles and responsibilities to ensure safe patient, public, and personnel safety.</a:t>
            </a:r>
          </a:p>
        </p:txBody>
      </p:sp>
    </p:spTree>
    <p:extLst>
      <p:ext uri="{BB962C8B-B14F-4D97-AF65-F5344CB8AC3E}">
        <p14:creationId xmlns:p14="http://schemas.microsoft.com/office/powerpoint/2010/main" val="1279166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a:extLst>
              <a:ext uri="{FF2B5EF4-FFF2-40B4-BE49-F238E27FC236}">
                <a16:creationId xmlns:a16="http://schemas.microsoft.com/office/drawing/2014/main" id="{086E325B-92E5-8848-9FA0-69AC91B539DC}"/>
              </a:ext>
            </a:extLst>
          </p:cNvPr>
          <p:cNvSpPr>
            <a:spLocks noGrp="1" noChangeArrowheads="1"/>
          </p:cNvSpPr>
          <p:nvPr>
            <p:ph type="title"/>
          </p:nvPr>
        </p:nvSpPr>
        <p:spPr/>
        <p:txBody>
          <a:bodyPr/>
          <a:lstStyle/>
          <a:p>
            <a:pPr eaLnBrk="1" hangingPunct="1">
              <a:lnSpc>
                <a:spcPct val="85000"/>
              </a:lnSpc>
              <a:defRPr/>
            </a:pPr>
            <a:r>
              <a:rPr lang="en-US" dirty="0"/>
              <a:t>National EMS Education Standard Competencies </a:t>
            </a:r>
            <a:r>
              <a:rPr lang="en-US" sz="2800" b="0" dirty="0"/>
              <a:t>(2 of 2)</a:t>
            </a:r>
          </a:p>
        </p:txBody>
      </p:sp>
      <p:sp>
        <p:nvSpPr>
          <p:cNvPr id="8194" name="Rectangle 3">
            <a:extLst>
              <a:ext uri="{FF2B5EF4-FFF2-40B4-BE49-F238E27FC236}">
                <a16:creationId xmlns:a16="http://schemas.microsoft.com/office/drawing/2014/main" id="{31106129-F18C-C643-ADF4-CF3DC35D272E}"/>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buFontTx/>
              <a:buNone/>
            </a:pPr>
            <a:r>
              <a:rPr lang="en-US" altLang="en-US" b="1" dirty="0"/>
              <a:t>Principles of Safely Operating a Ground Ambulance:</a:t>
            </a:r>
          </a:p>
          <a:p>
            <a:pPr eaLnBrk="1" hangingPunct="1">
              <a:spcBef>
                <a:spcPct val="35000"/>
              </a:spcBef>
            </a:pPr>
            <a:r>
              <a:rPr lang="en-US" altLang="en-US" dirty="0"/>
              <a:t>Risk and responsibilities of emergency response.</a:t>
            </a:r>
          </a:p>
          <a:p>
            <a:pPr eaLnBrk="1" hangingPunct="1">
              <a:spcBef>
                <a:spcPct val="100000"/>
              </a:spcBef>
              <a:buFontTx/>
              <a:buNone/>
            </a:pPr>
            <a:r>
              <a:rPr lang="en-US" altLang="en-US" b="1" dirty="0"/>
              <a:t>Air Medical:</a:t>
            </a:r>
          </a:p>
          <a:p>
            <a:pPr eaLnBrk="1" hangingPunct="1">
              <a:spcBef>
                <a:spcPct val="35000"/>
              </a:spcBef>
            </a:pPr>
            <a:r>
              <a:rPr lang="en-US" altLang="en-US" dirty="0"/>
              <a:t>Safe air medical operations.</a:t>
            </a:r>
          </a:p>
          <a:p>
            <a:pPr eaLnBrk="1" hangingPunct="1">
              <a:spcBef>
                <a:spcPct val="35000"/>
              </a:spcBef>
            </a:pPr>
            <a:r>
              <a:rPr lang="en-US" altLang="en-US" dirty="0"/>
              <a:t>Criteria for utilizing air medical response.</a:t>
            </a:r>
          </a:p>
        </p:txBody>
      </p:sp>
    </p:spTree>
    <p:extLst>
      <p:ext uri="{BB962C8B-B14F-4D97-AF65-F5344CB8AC3E}">
        <p14:creationId xmlns:p14="http://schemas.microsoft.com/office/powerpoint/2010/main" val="945781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11F1603D-9ED0-7E45-A7C0-87674171055D}"/>
              </a:ext>
            </a:extLst>
          </p:cNvPr>
          <p:cNvSpPr>
            <a:spLocks noGrp="1" noChangeArrowheads="1"/>
          </p:cNvSpPr>
          <p:nvPr>
            <p:ph type="title"/>
          </p:nvPr>
        </p:nvSpPr>
        <p:spPr/>
        <p:txBody>
          <a:bodyPr/>
          <a:lstStyle/>
          <a:p>
            <a:pPr eaLnBrk="1" hangingPunct="1">
              <a:lnSpc>
                <a:spcPct val="85000"/>
              </a:lnSpc>
              <a:defRPr/>
            </a:pPr>
            <a:r>
              <a:rPr lang="en-US" dirty="0"/>
              <a:t>Introduction</a:t>
            </a:r>
          </a:p>
        </p:txBody>
      </p:sp>
      <p:sp>
        <p:nvSpPr>
          <p:cNvPr id="10242" name="Rectangle 3">
            <a:extLst>
              <a:ext uri="{FF2B5EF4-FFF2-40B4-BE49-F238E27FC236}">
                <a16:creationId xmlns:a16="http://schemas.microsoft.com/office/drawing/2014/main" id="{969E3F3A-8E04-4F45-9481-D422D76963D6}"/>
              </a:ext>
            </a:extLst>
          </p:cNvPr>
          <p:cNvSpPr>
            <a:spLocks noGrp="1" noChangeArrowheads="1"/>
          </p:cNvSpPr>
          <p:nvPr>
            <p:ph idx="1"/>
          </p:nvPr>
        </p:nvSpPr>
        <p:spPr>
          <a:xfrm>
            <a:off x="835743" y="1543334"/>
            <a:ext cx="8458200" cy="4392168"/>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To be an effective EMR, you need to:</a:t>
            </a:r>
          </a:p>
          <a:p>
            <a:pPr lvl="1" eaLnBrk="1" hangingPunct="1">
              <a:spcBef>
                <a:spcPct val="35000"/>
              </a:spcBef>
            </a:pPr>
            <a:r>
              <a:rPr lang="en-US" altLang="en-US" dirty="0"/>
              <a:t>Prepare for call.</a:t>
            </a:r>
          </a:p>
          <a:p>
            <a:pPr lvl="1" eaLnBrk="1" hangingPunct="1">
              <a:spcBef>
                <a:spcPct val="35000"/>
              </a:spcBef>
            </a:pPr>
            <a:r>
              <a:rPr lang="en-US" altLang="en-US" dirty="0"/>
              <a:t>Review dispatch information.</a:t>
            </a:r>
          </a:p>
          <a:p>
            <a:pPr lvl="1" eaLnBrk="1" hangingPunct="1">
              <a:spcBef>
                <a:spcPct val="35000"/>
              </a:spcBef>
            </a:pPr>
            <a:r>
              <a:rPr lang="en-US" altLang="en-US" dirty="0"/>
              <a:t>Respond safely to scene.</a:t>
            </a:r>
          </a:p>
          <a:p>
            <a:pPr lvl="1" eaLnBrk="1" hangingPunct="1">
              <a:spcBef>
                <a:spcPct val="35000"/>
              </a:spcBef>
            </a:pPr>
            <a:r>
              <a:rPr lang="en-US" altLang="en-US" dirty="0"/>
              <a:t>Perform a scene size-up.</a:t>
            </a:r>
          </a:p>
          <a:p>
            <a:pPr lvl="1" eaLnBrk="1" hangingPunct="1">
              <a:spcBef>
                <a:spcPct val="35000"/>
              </a:spcBef>
            </a:pPr>
            <a:r>
              <a:rPr lang="en-US" altLang="en-US" dirty="0"/>
              <a:t>Perform initial patient assessment and provide emergency care.</a:t>
            </a:r>
          </a:p>
          <a:p>
            <a:pPr lvl="1" eaLnBrk="1" hangingPunct="1">
              <a:spcBef>
                <a:spcPct val="35000"/>
              </a:spcBef>
            </a:pPr>
            <a:r>
              <a:rPr lang="en-US" altLang="en-US" dirty="0"/>
              <a:t>Update other responding units and transfer care to other EMS personnel.</a:t>
            </a:r>
          </a:p>
          <a:p>
            <a:pPr lvl="1" eaLnBrk="1" hangingPunct="1">
              <a:spcBef>
                <a:spcPct val="35000"/>
              </a:spcBef>
            </a:pPr>
            <a:r>
              <a:rPr lang="en-US" altLang="en-US" dirty="0"/>
              <a:t>Complete </a:t>
            </a:r>
            <a:r>
              <a:rPr lang="en-US" altLang="en-US" dirty="0" err="1"/>
              <a:t>postrun</a:t>
            </a:r>
            <a:r>
              <a:rPr lang="en-US" altLang="en-US" dirty="0"/>
              <a:t> activities.</a:t>
            </a:r>
          </a:p>
        </p:txBody>
      </p:sp>
    </p:spTree>
    <p:extLst>
      <p:ext uri="{BB962C8B-B14F-4D97-AF65-F5344CB8AC3E}">
        <p14:creationId xmlns:p14="http://schemas.microsoft.com/office/powerpoint/2010/main" val="1049047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71" name="Rectangle 7">
            <a:extLst>
              <a:ext uri="{FF2B5EF4-FFF2-40B4-BE49-F238E27FC236}">
                <a16:creationId xmlns:a16="http://schemas.microsoft.com/office/drawing/2014/main" id="{189B1B39-495F-3D45-A166-33213A78D3FE}"/>
              </a:ext>
            </a:extLst>
          </p:cNvPr>
          <p:cNvSpPr>
            <a:spLocks noGrp="1" noChangeArrowheads="1"/>
          </p:cNvSpPr>
          <p:nvPr>
            <p:ph type="title"/>
          </p:nvPr>
        </p:nvSpPr>
        <p:spPr/>
        <p:txBody>
          <a:bodyPr/>
          <a:lstStyle/>
          <a:p>
            <a:pPr eaLnBrk="1" hangingPunct="1">
              <a:defRPr/>
            </a:pPr>
            <a:r>
              <a:rPr lang="en-US" dirty="0"/>
              <a:t>Preparing for a Call </a:t>
            </a:r>
            <a:r>
              <a:rPr lang="en-US" sz="2800" dirty="0"/>
              <a:t>(1 of 2)</a:t>
            </a:r>
          </a:p>
        </p:txBody>
      </p:sp>
      <p:sp>
        <p:nvSpPr>
          <p:cNvPr id="12290" name="Rectangle 8">
            <a:extLst>
              <a:ext uri="{FF2B5EF4-FFF2-40B4-BE49-F238E27FC236}">
                <a16:creationId xmlns:a16="http://schemas.microsoft.com/office/drawing/2014/main" id="{11E612E0-1F39-B24E-9C47-2670C236B150}"/>
              </a:ext>
            </a:extLst>
          </p:cNvPr>
          <p:cNvSpPr>
            <a:spLocks noGrp="1" noChangeArrowheads="1"/>
          </p:cNvSpPr>
          <p:nvPr>
            <p:ph idx="1"/>
          </p:nvPr>
        </p:nvSpPr>
        <p:spPr>
          <a:xfrm>
            <a:off x="755904" y="1447800"/>
            <a:ext cx="5340096"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a:lstStyle/>
          <a:p>
            <a:pPr eaLnBrk="1" hangingPunct="1"/>
            <a:r>
              <a:rPr lang="en-US" altLang="en-US" dirty="0"/>
              <a:t>Preparing for a call:</a:t>
            </a:r>
          </a:p>
          <a:p>
            <a:pPr lvl="1" eaLnBrk="1" hangingPunct="1"/>
            <a:r>
              <a:rPr lang="en-US" altLang="en-US" sz="2300" dirty="0"/>
              <a:t>Ensure that your vehicle is ready to respond at all times.</a:t>
            </a:r>
          </a:p>
          <a:p>
            <a:pPr lvl="1" eaLnBrk="1" hangingPunct="1"/>
            <a:r>
              <a:rPr lang="en-US" altLang="en-US" sz="2300" dirty="0"/>
              <a:t>Be prepared to respond promptly using most direct route available.</a:t>
            </a:r>
          </a:p>
          <a:p>
            <a:pPr lvl="1" eaLnBrk="1" hangingPunct="1"/>
            <a:r>
              <a:rPr lang="en-US" altLang="en-US" sz="2300" dirty="0"/>
              <a:t>Make sure you have proper equipment.</a:t>
            </a:r>
          </a:p>
        </p:txBody>
      </p:sp>
      <p:sp>
        <p:nvSpPr>
          <p:cNvPr id="6" name="Rectangle 5"/>
          <p:cNvSpPr/>
          <p:nvPr/>
        </p:nvSpPr>
        <p:spPr>
          <a:xfrm>
            <a:off x="6537083" y="4935966"/>
            <a:ext cx="4043832"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19-1 </a:t>
            </a:r>
            <a:r>
              <a:rPr lang="en-US" dirty="0"/>
              <a:t>Suggested contents of an EMR life support kit. </a:t>
            </a:r>
          </a:p>
        </p:txBody>
      </p:sp>
      <p:sp>
        <p:nvSpPr>
          <p:cNvPr id="7" name="Rectangle 6"/>
          <p:cNvSpPr/>
          <p:nvPr/>
        </p:nvSpPr>
        <p:spPr>
          <a:xfrm>
            <a:off x="6537082" y="5554416"/>
            <a:ext cx="3948447"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Jones &amp; Bartlett Learning.  </a:t>
            </a:r>
          </a:p>
        </p:txBody>
      </p:sp>
      <p:pic>
        <p:nvPicPr>
          <p:cNvPr id="1026" name="Picture 2" descr="A photo shows a red emergency kit bag. The contents of the kit are seen outside it, which include dressings, bandages, protective gear, sheets, etc.&#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7082" y="1578685"/>
            <a:ext cx="4043832" cy="3347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79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728D7FE5-DB7B-4747-8E61-0F8BA7D73FF9}"/>
              </a:ext>
            </a:extLst>
          </p:cNvPr>
          <p:cNvSpPr>
            <a:spLocks noGrp="1" noChangeArrowheads="1"/>
          </p:cNvSpPr>
          <p:nvPr>
            <p:ph type="title"/>
          </p:nvPr>
        </p:nvSpPr>
        <p:spPr>
          <a:xfrm>
            <a:off x="0" y="107964"/>
            <a:ext cx="12192000" cy="914400"/>
          </a:xfrm>
        </p:spPr>
        <p:txBody>
          <a:bodyPr/>
          <a:lstStyle/>
          <a:p>
            <a:pPr eaLnBrk="1" hangingPunct="1">
              <a:defRPr/>
            </a:pPr>
            <a:r>
              <a:rPr lang="en-US" dirty="0"/>
              <a:t>Preparing for a Call </a:t>
            </a:r>
            <a:r>
              <a:rPr lang="en-US" sz="2800" dirty="0"/>
              <a:t>(2 of 2)</a:t>
            </a:r>
          </a:p>
        </p:txBody>
      </p:sp>
      <p:pic>
        <p:nvPicPr>
          <p:cNvPr id="2050" name="Picture 2" descr="The row entries are as follows: Row 1. Patient examination equipment: 1 flashlight. Row 2. Personal safety equipment: 5 pairs nitrile or latex gloves; 5 face masks; 1 bottle hand sanitizer; Eye protection; 1 disposable gown (for responses possibly involving COVID-19). Row 3. Resuscitation equipment: 1 mouth-to-mask resuscitation device; 1 portable hand-powered suction device; 1 set oral airways; 1 set nasal airways. Row 4. Bandaging and dressing equipment 10 gauze adhesive strips, 1 inch (2.5 cm); 10 gauze pads, 4 × 4 inches (10 × 10 cm); 5 gauze pads, 5 × 9 inches (13 × 23 cm); 2 universal trauma dressings, 10 × 30 inches (25 × 76 cm); 1 occlusive dressing for sealing chest wounds; 4 conforming gauze rolls, 3 × 15 inches (8 × 38 cm); 4 conforming gauze rolls, 4.5 × 15 inches (11 × 38 cm); 6 triangular bandages; 1 roll of adhesive tape, 2 inches (5 cm); 1 burn sheet; 1 tourniquet. Row 5. Patient immobilization equipment: 2 (each) cervical collars: small, medium, large or 2 adjustable cervical collars; 3 rigid conforming splints (structural aluminum malleable [SAM] splints) or 1 set air splints for arm and leg or 2 (each) cardboard splints, 18 inches and 24 inches. Row 6. Extrication equipment: 1 spring-loaded center punch; 1 pair heavy leather gloves. Row 7. Miscellaneous equipment: 2 blankets (disposable); 2 cold packs; 1 bandage scissors. Row 8. Other provider equipment: 1 set personal protective clothing (helmet, EMS jacket); 1 American National Standards Institute (ANSI)–approved reflective vest; 1 fire extinguisher (5-lb ABC dry chemical); 1 Emergency Response Guidebook; 6 flares; 1 set of binoculars. Row 9. Optional equipment (based on the protocols of your service): Oral glucose; Naloxone intranasal spray (for opioid overdoses); Saline.&#10;" title="A table lists the suggested contents of an EMR life support ki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50415" y="1117605"/>
            <a:ext cx="5291170" cy="563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579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45C45F9E-8442-D546-B06E-F0492268B508}"/>
              </a:ext>
            </a:extLst>
          </p:cNvPr>
          <p:cNvSpPr>
            <a:spLocks noGrp="1" noChangeArrowheads="1"/>
          </p:cNvSpPr>
          <p:nvPr>
            <p:ph type="title"/>
          </p:nvPr>
        </p:nvSpPr>
        <p:spPr/>
        <p:txBody>
          <a:bodyPr/>
          <a:lstStyle/>
          <a:p>
            <a:pPr eaLnBrk="1" hangingPunct="1">
              <a:defRPr/>
            </a:pPr>
            <a:r>
              <a:rPr lang="en-US" dirty="0"/>
              <a:t>Phases of an EMR Call </a:t>
            </a:r>
            <a:r>
              <a:rPr lang="en-US" sz="2800" dirty="0"/>
              <a:t>(1 of 6)</a:t>
            </a:r>
          </a:p>
        </p:txBody>
      </p:sp>
      <p:sp>
        <p:nvSpPr>
          <p:cNvPr id="16386" name="Rectangle 3">
            <a:extLst>
              <a:ext uri="{FF2B5EF4-FFF2-40B4-BE49-F238E27FC236}">
                <a16:creationId xmlns:a16="http://schemas.microsoft.com/office/drawing/2014/main" id="{FEB2C17E-A3B3-8C4D-9C21-EE0015E1D58A}"/>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Dispatch:</a:t>
            </a:r>
          </a:p>
          <a:p>
            <a:pPr lvl="1" eaLnBrk="1" hangingPunct="1">
              <a:spcBef>
                <a:spcPct val="35000"/>
              </a:spcBef>
            </a:pPr>
            <a:r>
              <a:rPr lang="en-US" altLang="en-US" dirty="0"/>
              <a:t>Dispatch facility is a center that citizens can call to request emergency medical care.</a:t>
            </a:r>
          </a:p>
          <a:p>
            <a:pPr lvl="1" eaLnBrk="1" hangingPunct="1">
              <a:spcBef>
                <a:spcPct val="35000"/>
              </a:spcBef>
            </a:pPr>
            <a:r>
              <a:rPr lang="en-US" altLang="en-US" dirty="0"/>
              <a:t>Most centers are part of a 9-1-1 system.</a:t>
            </a:r>
          </a:p>
          <a:p>
            <a:pPr lvl="1" eaLnBrk="1" hangingPunct="1">
              <a:spcBef>
                <a:spcPct val="35000"/>
              </a:spcBef>
            </a:pPr>
            <a:r>
              <a:rPr lang="en-US" altLang="en-US" dirty="0"/>
              <a:t>Dispatchers should obtain proper information from caller and instruct callers on how to perform life-saving techniques until you arrive.</a:t>
            </a:r>
          </a:p>
        </p:txBody>
      </p:sp>
    </p:spTree>
    <p:extLst>
      <p:ext uri="{BB962C8B-B14F-4D97-AF65-F5344CB8AC3E}">
        <p14:creationId xmlns:p14="http://schemas.microsoft.com/office/powerpoint/2010/main" val="1651697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a:extLst>
              <a:ext uri="{FF2B5EF4-FFF2-40B4-BE49-F238E27FC236}">
                <a16:creationId xmlns:a16="http://schemas.microsoft.com/office/drawing/2014/main" id="{B8877466-BB03-AF44-9015-871AAA1969A7}"/>
              </a:ext>
            </a:extLst>
          </p:cNvPr>
          <p:cNvSpPr>
            <a:spLocks noGrp="1" noChangeArrowheads="1"/>
          </p:cNvSpPr>
          <p:nvPr>
            <p:ph type="title"/>
          </p:nvPr>
        </p:nvSpPr>
        <p:spPr/>
        <p:txBody>
          <a:bodyPr/>
          <a:lstStyle/>
          <a:p>
            <a:pPr eaLnBrk="1" hangingPunct="1">
              <a:defRPr/>
            </a:pPr>
            <a:r>
              <a:rPr lang="en-US" dirty="0"/>
              <a:t>Phases of an EMR Call </a:t>
            </a:r>
            <a:r>
              <a:rPr lang="en-US" sz="2800" dirty="0"/>
              <a:t>(2 of 6)</a:t>
            </a:r>
          </a:p>
        </p:txBody>
      </p:sp>
      <p:sp>
        <p:nvSpPr>
          <p:cNvPr id="18434" name="Rectangle 3">
            <a:extLst>
              <a:ext uri="{FF2B5EF4-FFF2-40B4-BE49-F238E27FC236}">
                <a16:creationId xmlns:a16="http://schemas.microsoft.com/office/drawing/2014/main" id="{AB138B2F-EAE9-364E-9A4F-974600CDF75C}"/>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Information from dispatch should include:</a:t>
            </a:r>
          </a:p>
          <a:p>
            <a:pPr lvl="1" eaLnBrk="1" hangingPunct="1">
              <a:spcBef>
                <a:spcPct val="35000"/>
              </a:spcBef>
            </a:pPr>
            <a:r>
              <a:rPr lang="en-US" altLang="en-US" dirty="0"/>
              <a:t>Nature of call.</a:t>
            </a:r>
          </a:p>
          <a:p>
            <a:pPr lvl="1" eaLnBrk="1" hangingPunct="1">
              <a:spcBef>
                <a:spcPct val="35000"/>
              </a:spcBef>
            </a:pPr>
            <a:r>
              <a:rPr lang="en-US" altLang="en-US" dirty="0"/>
              <a:t>Name and location of patient.</a:t>
            </a:r>
          </a:p>
          <a:p>
            <a:pPr lvl="1" eaLnBrk="1" hangingPunct="1">
              <a:spcBef>
                <a:spcPct val="35000"/>
              </a:spcBef>
            </a:pPr>
            <a:r>
              <a:rPr lang="en-US" altLang="en-US" dirty="0"/>
              <a:t>Number of patients.</a:t>
            </a:r>
          </a:p>
          <a:p>
            <a:pPr lvl="1" eaLnBrk="1" hangingPunct="1">
              <a:spcBef>
                <a:spcPct val="35000"/>
              </a:spcBef>
            </a:pPr>
            <a:r>
              <a:rPr lang="en-US" altLang="en-US" dirty="0"/>
              <a:t>Any special problems.</a:t>
            </a:r>
          </a:p>
          <a:p>
            <a:pPr lvl="1" eaLnBrk="1" hangingPunct="1">
              <a:spcBef>
                <a:spcPct val="35000"/>
              </a:spcBef>
            </a:pPr>
            <a:r>
              <a:rPr lang="en-US" altLang="en-US" dirty="0"/>
              <a:t>Call-back number from caller.</a:t>
            </a:r>
          </a:p>
        </p:txBody>
      </p:sp>
    </p:spTree>
    <p:extLst>
      <p:ext uri="{BB962C8B-B14F-4D97-AF65-F5344CB8AC3E}">
        <p14:creationId xmlns:p14="http://schemas.microsoft.com/office/powerpoint/2010/main" val="2759843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FBD17E2E-1353-E44A-88EF-97DAFDFB421F}"/>
              </a:ext>
            </a:extLst>
          </p:cNvPr>
          <p:cNvSpPr>
            <a:spLocks noGrp="1" noChangeArrowheads="1"/>
          </p:cNvSpPr>
          <p:nvPr>
            <p:ph type="title"/>
          </p:nvPr>
        </p:nvSpPr>
        <p:spPr/>
        <p:txBody>
          <a:bodyPr/>
          <a:lstStyle/>
          <a:p>
            <a:pPr eaLnBrk="1" hangingPunct="1">
              <a:defRPr/>
            </a:pPr>
            <a:r>
              <a:rPr lang="en-US" dirty="0"/>
              <a:t>Phases of an EMR Call </a:t>
            </a:r>
            <a:r>
              <a:rPr lang="en-US" sz="2800" dirty="0"/>
              <a:t>(3 of 6)</a:t>
            </a:r>
          </a:p>
        </p:txBody>
      </p:sp>
      <p:sp>
        <p:nvSpPr>
          <p:cNvPr id="20482" name="Rectangle 3">
            <a:extLst>
              <a:ext uri="{FF2B5EF4-FFF2-40B4-BE49-F238E27FC236}">
                <a16:creationId xmlns:a16="http://schemas.microsoft.com/office/drawing/2014/main" id="{5FA7DD18-AEEF-5A48-9924-DFE61B3C313D}"/>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Response to scene:</a:t>
            </a:r>
          </a:p>
          <a:p>
            <a:pPr lvl="1" eaLnBrk="1" hangingPunct="1">
              <a:spcBef>
                <a:spcPct val="35000"/>
              </a:spcBef>
            </a:pPr>
            <a:r>
              <a:rPr lang="en-US" altLang="en-US" dirty="0"/>
              <a:t>Get to scene quickly and safely.</a:t>
            </a:r>
          </a:p>
          <a:p>
            <a:pPr lvl="1" eaLnBrk="1" hangingPunct="1">
              <a:spcBef>
                <a:spcPct val="35000"/>
              </a:spcBef>
            </a:pPr>
            <a:r>
              <a:rPr lang="en-US" altLang="en-US" dirty="0"/>
              <a:t>Consider traffic patterns and time of day.</a:t>
            </a:r>
          </a:p>
          <a:p>
            <a:pPr lvl="1" eaLnBrk="1" hangingPunct="1">
              <a:spcBef>
                <a:spcPct val="35000"/>
              </a:spcBef>
            </a:pPr>
            <a:r>
              <a:rPr lang="en-US" altLang="en-US" dirty="0"/>
              <a:t>Always use seatbelts.</a:t>
            </a:r>
          </a:p>
          <a:p>
            <a:pPr lvl="1" eaLnBrk="1" hangingPunct="1">
              <a:spcBef>
                <a:spcPct val="35000"/>
              </a:spcBef>
            </a:pPr>
            <a:r>
              <a:rPr lang="en-US" altLang="en-US" dirty="0"/>
              <a:t>Keep all equipment secured.</a:t>
            </a:r>
          </a:p>
          <a:p>
            <a:pPr lvl="1" eaLnBrk="1" hangingPunct="1">
              <a:spcBef>
                <a:spcPct val="35000"/>
              </a:spcBef>
            </a:pPr>
            <a:r>
              <a:rPr lang="en-US" altLang="en-US" dirty="0"/>
              <a:t>Use warning devices according to state laws.</a:t>
            </a:r>
          </a:p>
          <a:p>
            <a:pPr lvl="1" eaLnBrk="1" hangingPunct="1">
              <a:spcBef>
                <a:spcPct val="35000"/>
              </a:spcBef>
            </a:pPr>
            <a:r>
              <a:rPr lang="en-US" altLang="en-US" dirty="0"/>
              <a:t>Do not exceed a safe speed.</a:t>
            </a:r>
          </a:p>
          <a:p>
            <a:pPr lvl="1" eaLnBrk="1" hangingPunct="1">
              <a:spcBef>
                <a:spcPct val="35000"/>
              </a:spcBef>
            </a:pPr>
            <a:r>
              <a:rPr lang="en-US" altLang="en-US" dirty="0"/>
              <a:t>Drive defensively.</a:t>
            </a:r>
          </a:p>
        </p:txBody>
      </p:sp>
    </p:spTree>
    <p:extLst>
      <p:ext uri="{BB962C8B-B14F-4D97-AF65-F5344CB8AC3E}">
        <p14:creationId xmlns:p14="http://schemas.microsoft.com/office/powerpoint/2010/main" val="2332307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0435C6D4-B86B-ED41-834A-F962C922E882}"/>
              </a:ext>
            </a:extLst>
          </p:cNvPr>
          <p:cNvSpPr>
            <a:spLocks noGrp="1" noChangeArrowheads="1"/>
          </p:cNvSpPr>
          <p:nvPr>
            <p:ph type="title"/>
          </p:nvPr>
        </p:nvSpPr>
        <p:spPr/>
        <p:txBody>
          <a:bodyPr/>
          <a:lstStyle/>
          <a:p>
            <a:pPr eaLnBrk="1" hangingPunct="1">
              <a:defRPr/>
            </a:pPr>
            <a:r>
              <a:rPr lang="en-US" dirty="0"/>
              <a:t>Phases of an EMR Call </a:t>
            </a:r>
            <a:r>
              <a:rPr lang="en-US" sz="2800" dirty="0"/>
              <a:t>(4 of 6)</a:t>
            </a:r>
          </a:p>
        </p:txBody>
      </p:sp>
      <p:sp>
        <p:nvSpPr>
          <p:cNvPr id="22530" name="Rectangle 3">
            <a:extLst>
              <a:ext uri="{FF2B5EF4-FFF2-40B4-BE49-F238E27FC236}">
                <a16:creationId xmlns:a16="http://schemas.microsoft.com/office/drawing/2014/main" id="{C4BA3BFA-5471-4445-9A6E-A9EB1A499B85}"/>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Arrival at scene:</a:t>
            </a:r>
          </a:p>
          <a:p>
            <a:pPr lvl="1" eaLnBrk="1" hangingPunct="1">
              <a:spcBef>
                <a:spcPct val="35000"/>
              </a:spcBef>
            </a:pPr>
            <a:r>
              <a:rPr lang="en-US" altLang="en-US" dirty="0"/>
              <a:t>Place your vehicle in a safe location.</a:t>
            </a:r>
          </a:p>
          <a:p>
            <a:pPr lvl="1" eaLnBrk="1" hangingPunct="1">
              <a:spcBef>
                <a:spcPct val="35000"/>
              </a:spcBef>
            </a:pPr>
            <a:r>
              <a:rPr lang="en-US" altLang="en-US" dirty="0"/>
              <a:t>Perform a scene size-up.</a:t>
            </a:r>
          </a:p>
          <a:p>
            <a:pPr lvl="1" eaLnBrk="1" hangingPunct="1">
              <a:spcBef>
                <a:spcPct val="35000"/>
              </a:spcBef>
            </a:pPr>
            <a:r>
              <a:rPr lang="en-US" altLang="en-US" dirty="0"/>
              <a:t>Look for hazards.</a:t>
            </a:r>
          </a:p>
          <a:p>
            <a:pPr lvl="1" eaLnBrk="1" hangingPunct="1">
              <a:spcBef>
                <a:spcPct val="35000"/>
              </a:spcBef>
            </a:pPr>
            <a:r>
              <a:rPr lang="en-US" altLang="en-US" dirty="0"/>
              <a:t>Control flow of traffic.</a:t>
            </a:r>
          </a:p>
          <a:p>
            <a:pPr lvl="1" eaLnBrk="1" hangingPunct="1">
              <a:spcBef>
                <a:spcPct val="35000"/>
              </a:spcBef>
            </a:pPr>
            <a:r>
              <a:rPr lang="en-US" altLang="en-US" dirty="0"/>
              <a:t>Determine number of patients and need for additional resources.</a:t>
            </a:r>
          </a:p>
          <a:p>
            <a:pPr lvl="1" eaLnBrk="1" hangingPunct="1">
              <a:spcBef>
                <a:spcPct val="35000"/>
              </a:spcBef>
            </a:pPr>
            <a:r>
              <a:rPr lang="en-US" altLang="en-US" dirty="0"/>
              <a:t>Provide patient care.</a:t>
            </a:r>
          </a:p>
        </p:txBody>
      </p:sp>
    </p:spTree>
    <p:extLst>
      <p:ext uri="{BB962C8B-B14F-4D97-AF65-F5344CB8AC3E}">
        <p14:creationId xmlns:p14="http://schemas.microsoft.com/office/powerpoint/2010/main" val="1989274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FE5CC17F-6A07-D14D-A4DF-54A5C458F602}"/>
              </a:ext>
            </a:extLst>
          </p:cNvPr>
          <p:cNvSpPr>
            <a:spLocks noGrp="1" noChangeArrowheads="1"/>
          </p:cNvSpPr>
          <p:nvPr>
            <p:ph type="title"/>
          </p:nvPr>
        </p:nvSpPr>
        <p:spPr/>
        <p:txBody>
          <a:bodyPr/>
          <a:lstStyle/>
          <a:p>
            <a:pPr eaLnBrk="1" hangingPunct="1">
              <a:defRPr/>
            </a:pPr>
            <a:r>
              <a:rPr lang="en-US" dirty="0"/>
              <a:t>Phases of an EMR Call </a:t>
            </a:r>
            <a:r>
              <a:rPr lang="en-US" sz="2800" dirty="0"/>
              <a:t>(5 of 6)</a:t>
            </a:r>
          </a:p>
        </p:txBody>
      </p:sp>
      <p:sp>
        <p:nvSpPr>
          <p:cNvPr id="24578" name="Rectangle 3">
            <a:extLst>
              <a:ext uri="{FF2B5EF4-FFF2-40B4-BE49-F238E27FC236}">
                <a16:creationId xmlns:a16="http://schemas.microsoft.com/office/drawing/2014/main" id="{76CC9813-BC49-274B-A49A-300A8EAF2073}"/>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Transferring care of patient to other EMS personnel.</a:t>
            </a:r>
          </a:p>
          <a:p>
            <a:pPr lvl="1" eaLnBrk="1" hangingPunct="1">
              <a:spcBef>
                <a:spcPct val="35000"/>
              </a:spcBef>
            </a:pPr>
            <a:r>
              <a:rPr lang="en-US" altLang="en-US" dirty="0"/>
              <a:t>Give them a brief report of situation and tell them what care you have provided.</a:t>
            </a:r>
          </a:p>
          <a:p>
            <a:pPr lvl="1" eaLnBrk="1" hangingPunct="1">
              <a:spcBef>
                <a:spcPct val="35000"/>
              </a:spcBef>
            </a:pPr>
            <a:r>
              <a:rPr lang="en-US" altLang="en-US" dirty="0"/>
              <a:t>Ask them if they have any questions for you.</a:t>
            </a:r>
          </a:p>
          <a:p>
            <a:pPr lvl="1" eaLnBrk="1" hangingPunct="1">
              <a:spcBef>
                <a:spcPct val="35000"/>
              </a:spcBef>
            </a:pPr>
            <a:r>
              <a:rPr lang="en-US" altLang="en-US" dirty="0"/>
              <a:t>Offer to assist them in caring for patient.</a:t>
            </a:r>
          </a:p>
        </p:txBody>
      </p:sp>
    </p:spTree>
    <p:extLst>
      <p:ext uri="{BB962C8B-B14F-4D97-AF65-F5344CB8AC3E}">
        <p14:creationId xmlns:p14="http://schemas.microsoft.com/office/powerpoint/2010/main" val="367797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a:extLst>
              <a:ext uri="{FF2B5EF4-FFF2-40B4-BE49-F238E27FC236}">
                <a16:creationId xmlns:a16="http://schemas.microsoft.com/office/drawing/2014/main" id="{84AD55A2-D43D-5148-BCFE-E61E76D441ED}"/>
              </a:ext>
            </a:extLst>
          </p:cNvPr>
          <p:cNvSpPr>
            <a:spLocks noGrp="1" noChangeArrowheads="1"/>
          </p:cNvSpPr>
          <p:nvPr>
            <p:ph type="title"/>
          </p:nvPr>
        </p:nvSpPr>
        <p:spPr/>
        <p:txBody>
          <a:bodyPr/>
          <a:lstStyle/>
          <a:p>
            <a:pPr eaLnBrk="1" hangingPunct="1">
              <a:defRPr/>
            </a:pPr>
            <a:r>
              <a:rPr lang="en-US" dirty="0"/>
              <a:t>Phases of an EMR Call </a:t>
            </a:r>
            <a:r>
              <a:rPr lang="en-US" sz="2800" dirty="0"/>
              <a:t>(6 of 6)</a:t>
            </a:r>
          </a:p>
        </p:txBody>
      </p:sp>
      <p:sp>
        <p:nvSpPr>
          <p:cNvPr id="26626" name="Rectangle 3">
            <a:extLst>
              <a:ext uri="{FF2B5EF4-FFF2-40B4-BE49-F238E27FC236}">
                <a16:creationId xmlns:a16="http://schemas.microsoft.com/office/drawing/2014/main" id="{75F316FF-0253-D445-8657-A3455F2F57B6}"/>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err="1"/>
              <a:t>Postrun</a:t>
            </a:r>
            <a:r>
              <a:rPr lang="en-US" altLang="en-US" dirty="0"/>
              <a:t> activities:</a:t>
            </a:r>
          </a:p>
          <a:p>
            <a:pPr lvl="1" eaLnBrk="1" hangingPunct="1">
              <a:spcBef>
                <a:spcPct val="35000"/>
              </a:spcBef>
            </a:pPr>
            <a:r>
              <a:rPr lang="en-US" altLang="en-US" dirty="0"/>
              <a:t>Complete paperwork.</a:t>
            </a:r>
          </a:p>
          <a:p>
            <a:pPr lvl="1" eaLnBrk="1" hangingPunct="1">
              <a:spcBef>
                <a:spcPct val="35000"/>
              </a:spcBef>
            </a:pPr>
            <a:r>
              <a:rPr lang="en-US" altLang="en-US" dirty="0"/>
              <a:t>Clean your equipment and replace needed supplies.</a:t>
            </a:r>
          </a:p>
          <a:p>
            <a:pPr lvl="1" eaLnBrk="1" hangingPunct="1">
              <a:spcBef>
                <a:spcPct val="35000"/>
              </a:spcBef>
            </a:pPr>
            <a:r>
              <a:rPr lang="en-US" altLang="en-US" dirty="0"/>
              <a:t>Only after you have completed these activities should you resume regular duties or notify your dispatcher that you are ready for another call.</a:t>
            </a:r>
          </a:p>
        </p:txBody>
      </p:sp>
    </p:spTree>
    <p:extLst>
      <p:ext uri="{BB962C8B-B14F-4D97-AF65-F5344CB8AC3E}">
        <p14:creationId xmlns:p14="http://schemas.microsoft.com/office/powerpoint/2010/main" val="1184431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927CE350-B4B3-2E46-8F2C-6A0726DF357F}"/>
              </a:ext>
            </a:extLst>
          </p:cNvPr>
          <p:cNvSpPr>
            <a:spLocks noGrp="1" noChangeArrowheads="1"/>
          </p:cNvSpPr>
          <p:nvPr>
            <p:ph type="title"/>
          </p:nvPr>
        </p:nvSpPr>
        <p:spPr/>
        <p:txBody>
          <a:bodyPr/>
          <a:lstStyle/>
          <a:p>
            <a:pPr eaLnBrk="1" hangingPunct="1">
              <a:lnSpc>
                <a:spcPct val="85000"/>
              </a:lnSpc>
              <a:defRPr/>
            </a:pPr>
            <a:r>
              <a:rPr lang="en-US" dirty="0"/>
              <a:t>Helicopter Operations </a:t>
            </a:r>
            <a:r>
              <a:rPr lang="en-US" sz="2800" b="0" dirty="0"/>
              <a:t>(1 of 3)</a:t>
            </a:r>
          </a:p>
        </p:txBody>
      </p:sp>
      <p:sp>
        <p:nvSpPr>
          <p:cNvPr id="28674" name="Rectangle 3">
            <a:extLst>
              <a:ext uri="{FF2B5EF4-FFF2-40B4-BE49-F238E27FC236}">
                <a16:creationId xmlns:a16="http://schemas.microsoft.com/office/drawing/2014/main" id="{9A572766-130F-6D47-965D-9AA250922AAF}"/>
              </a:ext>
            </a:extLst>
          </p:cNvPr>
          <p:cNvSpPr>
            <a:spLocks noGrp="1" noChangeArrowheads="1"/>
          </p:cNvSpPr>
          <p:nvPr>
            <p:ph idx="1"/>
          </p:nvPr>
        </p:nvSpPr>
        <p:spPr>
          <a:xfrm>
            <a:off x="6494511" y="1338072"/>
            <a:ext cx="5266944"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Helicopters are used for by EMS systems to:</a:t>
            </a:r>
          </a:p>
          <a:p>
            <a:pPr lvl="1" eaLnBrk="1" hangingPunct="1">
              <a:spcBef>
                <a:spcPct val="35000"/>
              </a:spcBef>
            </a:pPr>
            <a:r>
              <a:rPr lang="en-US" altLang="en-US" dirty="0"/>
              <a:t>Reach patients.</a:t>
            </a:r>
          </a:p>
          <a:p>
            <a:pPr lvl="1" eaLnBrk="1" hangingPunct="1">
              <a:spcBef>
                <a:spcPct val="35000"/>
              </a:spcBef>
            </a:pPr>
            <a:r>
              <a:rPr lang="en-US" altLang="en-US" dirty="0"/>
              <a:t>Transport patients to medical facilities.</a:t>
            </a:r>
          </a:p>
          <a:p>
            <a:pPr lvl="1" eaLnBrk="1" hangingPunct="1">
              <a:spcBef>
                <a:spcPct val="35000"/>
              </a:spcBef>
            </a:pPr>
            <a:r>
              <a:rPr lang="en-US" altLang="en-US" dirty="0"/>
              <a:t>Remove patients from inaccessible areas.</a:t>
            </a:r>
          </a:p>
        </p:txBody>
      </p:sp>
      <p:sp>
        <p:nvSpPr>
          <p:cNvPr id="7" name="Rectangle 6"/>
          <p:cNvSpPr/>
          <p:nvPr/>
        </p:nvSpPr>
        <p:spPr>
          <a:xfrm>
            <a:off x="1148974" y="4333986"/>
            <a:ext cx="4595883"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19-2 </a:t>
            </a:r>
            <a:r>
              <a:rPr lang="en-US" dirty="0"/>
              <a:t>Helicopters are often used in EMS operations. </a:t>
            </a:r>
          </a:p>
        </p:txBody>
      </p:sp>
      <p:sp>
        <p:nvSpPr>
          <p:cNvPr id="8" name="Rectangle 7"/>
          <p:cNvSpPr/>
          <p:nvPr/>
        </p:nvSpPr>
        <p:spPr>
          <a:xfrm>
            <a:off x="1163489" y="4934759"/>
            <a:ext cx="7896895"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Mark C. Ide. </a:t>
            </a:r>
          </a:p>
        </p:txBody>
      </p:sp>
      <p:pic>
        <p:nvPicPr>
          <p:cNvPr id="3074" name="Picture 2" descr="A photo shows a helicopter on the runway with a few people seen getting in or out of it.&#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3489" y="1522534"/>
            <a:ext cx="4581368" cy="2767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485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a:extLst>
              <a:ext uri="{FF2B5EF4-FFF2-40B4-BE49-F238E27FC236}">
                <a16:creationId xmlns:a16="http://schemas.microsoft.com/office/drawing/2014/main" id="{B1F9BF3E-121E-4641-ABE8-7DF647302A10}"/>
              </a:ext>
            </a:extLst>
          </p:cNvPr>
          <p:cNvSpPr>
            <a:spLocks noGrp="1" noChangeArrowheads="1"/>
          </p:cNvSpPr>
          <p:nvPr>
            <p:ph type="title"/>
          </p:nvPr>
        </p:nvSpPr>
        <p:spPr/>
        <p:txBody>
          <a:bodyPr/>
          <a:lstStyle/>
          <a:p>
            <a:pPr eaLnBrk="1" hangingPunct="1">
              <a:lnSpc>
                <a:spcPct val="85000"/>
              </a:lnSpc>
              <a:defRPr/>
            </a:pPr>
            <a:r>
              <a:rPr lang="en-US" dirty="0"/>
              <a:t>Helicopter Operations </a:t>
            </a:r>
            <a:r>
              <a:rPr lang="en-US" sz="2800" b="0" dirty="0"/>
              <a:t>(2 of 3)</a:t>
            </a:r>
          </a:p>
        </p:txBody>
      </p:sp>
      <p:sp>
        <p:nvSpPr>
          <p:cNvPr id="30722" name="Rectangle 3">
            <a:extLst>
              <a:ext uri="{FF2B5EF4-FFF2-40B4-BE49-F238E27FC236}">
                <a16:creationId xmlns:a16="http://schemas.microsoft.com/office/drawing/2014/main" id="{4DF2947F-830B-264F-89D1-D4B9942A7F44}"/>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a:t>Helicopters have several advantages.</a:t>
            </a:r>
          </a:p>
          <a:p>
            <a:pPr lvl="1" eaLnBrk="1" hangingPunct="1">
              <a:spcBef>
                <a:spcPct val="35000"/>
              </a:spcBef>
            </a:pPr>
            <a:r>
              <a:rPr lang="en-US" altLang="en-US"/>
              <a:t>They can respond quickly above traffic congestion and wilderness areas.</a:t>
            </a:r>
          </a:p>
          <a:p>
            <a:pPr lvl="1" eaLnBrk="1" hangingPunct="1">
              <a:spcBef>
                <a:spcPct val="35000"/>
              </a:spcBef>
            </a:pPr>
            <a:r>
              <a:rPr lang="en-US" altLang="en-US"/>
              <a:t>They usually carry specialized equipment.</a:t>
            </a:r>
          </a:p>
          <a:p>
            <a:pPr lvl="1" eaLnBrk="1" hangingPunct="1">
              <a:spcBef>
                <a:spcPct val="35000"/>
              </a:spcBef>
            </a:pPr>
            <a:r>
              <a:rPr lang="en-US" altLang="en-US"/>
              <a:t>Their personnel may be able to perform some advanced skills not available from personnel staffing ground ambulances.</a:t>
            </a:r>
          </a:p>
          <a:p>
            <a:pPr eaLnBrk="1" hangingPunct="1">
              <a:spcBef>
                <a:spcPct val="35000"/>
              </a:spcBef>
            </a:pPr>
            <a:r>
              <a:rPr lang="en-US" altLang="en-US"/>
              <a:t>Helicopters are limited by bad weather.</a:t>
            </a:r>
          </a:p>
        </p:txBody>
      </p:sp>
    </p:spTree>
    <p:extLst>
      <p:ext uri="{BB962C8B-B14F-4D97-AF65-F5344CB8AC3E}">
        <p14:creationId xmlns:p14="http://schemas.microsoft.com/office/powerpoint/2010/main" val="4207403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EFA310C7-A2E5-FB43-B608-FC6075B5EA18}"/>
              </a:ext>
            </a:extLst>
          </p:cNvPr>
          <p:cNvSpPr>
            <a:spLocks noGrp="1" noChangeArrowheads="1"/>
          </p:cNvSpPr>
          <p:nvPr>
            <p:ph type="title"/>
          </p:nvPr>
        </p:nvSpPr>
        <p:spPr/>
        <p:txBody>
          <a:bodyPr/>
          <a:lstStyle/>
          <a:p>
            <a:pPr eaLnBrk="1" hangingPunct="1">
              <a:lnSpc>
                <a:spcPct val="85000"/>
              </a:lnSpc>
              <a:defRPr/>
            </a:pPr>
            <a:r>
              <a:rPr lang="en-US" dirty="0"/>
              <a:t>Helicopter Operations </a:t>
            </a:r>
            <a:r>
              <a:rPr lang="en-US" sz="2800" b="0" dirty="0"/>
              <a:t>(3 of 3)</a:t>
            </a:r>
          </a:p>
        </p:txBody>
      </p:sp>
      <p:sp>
        <p:nvSpPr>
          <p:cNvPr id="32770" name="Rectangle 3">
            <a:extLst>
              <a:ext uri="{FF2B5EF4-FFF2-40B4-BE49-F238E27FC236}">
                <a16:creationId xmlns:a16="http://schemas.microsoft.com/office/drawing/2014/main" id="{D4D443F3-61CE-984D-9356-FA61794697EE}"/>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If your EMS system uses a helicopter:</a:t>
            </a:r>
          </a:p>
          <a:p>
            <a:pPr lvl="1" eaLnBrk="1" hangingPunct="1">
              <a:spcBef>
                <a:spcPct val="35000"/>
              </a:spcBef>
            </a:pPr>
            <a:r>
              <a:rPr lang="en-US" altLang="en-US" dirty="0"/>
              <a:t>Obtain a copy of ground operations procedures.</a:t>
            </a:r>
          </a:p>
          <a:p>
            <a:pPr lvl="1" eaLnBrk="1" hangingPunct="1">
              <a:spcBef>
                <a:spcPct val="35000"/>
              </a:spcBef>
            </a:pPr>
            <a:r>
              <a:rPr lang="en-US" altLang="en-US" dirty="0"/>
              <a:t>Schedule an orientation session with helicopter personnel.</a:t>
            </a:r>
          </a:p>
          <a:p>
            <a:pPr lvl="1" eaLnBrk="1" hangingPunct="1">
              <a:spcBef>
                <a:spcPct val="35000"/>
              </a:spcBef>
            </a:pPr>
            <a:r>
              <a:rPr lang="en-US" altLang="en-US" dirty="0"/>
              <a:t>Know how to request a helicopter response as well as what the criteria for calling a helicopter for trauma patients, medical patients, and wilderness response are.</a:t>
            </a:r>
          </a:p>
        </p:txBody>
      </p:sp>
    </p:spTree>
    <p:extLst>
      <p:ext uri="{BB962C8B-B14F-4D97-AF65-F5344CB8AC3E}">
        <p14:creationId xmlns:p14="http://schemas.microsoft.com/office/powerpoint/2010/main" val="1950797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4CEC9A3A-929C-5A4B-B4E1-C8E35393C99D}"/>
              </a:ext>
            </a:extLst>
          </p:cNvPr>
          <p:cNvSpPr>
            <a:spLocks noGrp="1" noChangeArrowheads="1"/>
          </p:cNvSpPr>
          <p:nvPr>
            <p:ph type="title"/>
          </p:nvPr>
        </p:nvSpPr>
        <p:spPr/>
        <p:txBody>
          <a:bodyPr/>
          <a:lstStyle/>
          <a:p>
            <a:pPr eaLnBrk="1" hangingPunct="1">
              <a:lnSpc>
                <a:spcPct val="85000"/>
              </a:lnSpc>
              <a:defRPr/>
            </a:pPr>
            <a:r>
              <a:rPr lang="en-US" dirty="0"/>
              <a:t>Helicopter Safety Guidelines </a:t>
            </a:r>
            <a:br>
              <a:rPr lang="en-US" dirty="0"/>
            </a:br>
            <a:r>
              <a:rPr lang="en-US" sz="2800" b="0" dirty="0"/>
              <a:t>(1 of 4)</a:t>
            </a:r>
          </a:p>
        </p:txBody>
      </p:sp>
      <p:sp>
        <p:nvSpPr>
          <p:cNvPr id="34818" name="Rectangle 3">
            <a:extLst>
              <a:ext uri="{FF2B5EF4-FFF2-40B4-BE49-F238E27FC236}">
                <a16:creationId xmlns:a16="http://schemas.microsoft.com/office/drawing/2014/main" id="{3596B70A-3D5D-1042-83FD-60A31B65E4C3}"/>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Helicopters can be dangerous to untrained personnel.</a:t>
            </a:r>
          </a:p>
          <a:p>
            <a:pPr lvl="1" eaLnBrk="1" hangingPunct="1">
              <a:spcBef>
                <a:spcPct val="35000"/>
              </a:spcBef>
            </a:pPr>
            <a:r>
              <a:rPr lang="en-US" altLang="en-US" dirty="0"/>
              <a:t>Main rotors spin at 300 rpm and may be just 4</a:t>
            </a:r>
            <a:r>
              <a:rPr lang="en-US" altLang="en-US" dirty="0">
                <a:ea typeface="MS PGothic" panose="020B0600070205080204" pitchFamily="34" charset="-128"/>
              </a:rPr>
              <a:t>′</a:t>
            </a:r>
            <a:r>
              <a:rPr lang="en-US" altLang="en-US" dirty="0"/>
              <a:t> above ground.</a:t>
            </a:r>
          </a:p>
          <a:p>
            <a:pPr lvl="1" eaLnBrk="1" hangingPunct="1">
              <a:spcBef>
                <a:spcPct val="35000"/>
              </a:spcBef>
            </a:pPr>
            <a:r>
              <a:rPr lang="en-US" altLang="en-US" dirty="0"/>
              <a:t>Tail rotor spins at more than 3,000 rpm, and may be invisible to an unwary person.</a:t>
            </a:r>
          </a:p>
          <a:p>
            <a:pPr lvl="1" eaLnBrk="1" hangingPunct="1">
              <a:spcBef>
                <a:spcPct val="35000"/>
              </a:spcBef>
            </a:pPr>
            <a:r>
              <a:rPr lang="en-US" altLang="en-US" dirty="0"/>
              <a:t>Rotors can generate winds of 60 to 80 mph.</a:t>
            </a:r>
          </a:p>
        </p:txBody>
      </p:sp>
    </p:spTree>
    <p:extLst>
      <p:ext uri="{BB962C8B-B14F-4D97-AF65-F5344CB8AC3E}">
        <p14:creationId xmlns:p14="http://schemas.microsoft.com/office/powerpoint/2010/main" val="1352560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2D31E9CF-4E1D-9B43-97D2-770E56B62C49}"/>
              </a:ext>
            </a:extLst>
          </p:cNvPr>
          <p:cNvSpPr>
            <a:spLocks noGrp="1" noChangeArrowheads="1"/>
          </p:cNvSpPr>
          <p:nvPr>
            <p:ph type="title"/>
          </p:nvPr>
        </p:nvSpPr>
        <p:spPr/>
        <p:txBody>
          <a:bodyPr/>
          <a:lstStyle/>
          <a:p>
            <a:pPr eaLnBrk="1" hangingPunct="1">
              <a:lnSpc>
                <a:spcPct val="85000"/>
              </a:lnSpc>
              <a:defRPr/>
            </a:pPr>
            <a:r>
              <a:rPr lang="en-US" dirty="0"/>
              <a:t>Helicopter Safety Guidelines </a:t>
            </a:r>
            <a:br>
              <a:rPr lang="en-US" dirty="0"/>
            </a:br>
            <a:r>
              <a:rPr lang="en-US" sz="2800" b="0" dirty="0"/>
              <a:t>(2 of 4)</a:t>
            </a:r>
          </a:p>
        </p:txBody>
      </p:sp>
      <p:sp>
        <p:nvSpPr>
          <p:cNvPr id="36866" name="Rectangle 3">
            <a:extLst>
              <a:ext uri="{FF2B5EF4-FFF2-40B4-BE49-F238E27FC236}">
                <a16:creationId xmlns:a16="http://schemas.microsoft.com/office/drawing/2014/main" id="{EC827271-B004-304C-AD58-9C3131CFA563}"/>
              </a:ext>
            </a:extLst>
          </p:cNvPr>
          <p:cNvSpPr>
            <a:spLocks noGrp="1" noChangeArrowheads="1"/>
          </p:cNvSpPr>
          <p:nvPr>
            <p:ph idx="1"/>
          </p:nvPr>
        </p:nvSpPr>
        <p:spPr>
          <a:xfrm>
            <a:off x="6754368" y="1331912"/>
            <a:ext cx="4913376" cy="480060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sz="2400" dirty="0"/>
              <a:t>Setting up landing zone (LZ):</a:t>
            </a:r>
          </a:p>
          <a:p>
            <a:pPr lvl="1" eaLnBrk="1" hangingPunct="1">
              <a:lnSpc>
                <a:spcPct val="95000"/>
              </a:lnSpc>
              <a:spcBef>
                <a:spcPct val="10000"/>
              </a:spcBef>
            </a:pPr>
            <a:r>
              <a:rPr lang="en-US" altLang="en-US" sz="2100" dirty="0"/>
              <a:t>Pilots usually land and take off into wind.</a:t>
            </a:r>
          </a:p>
          <a:p>
            <a:pPr lvl="1" eaLnBrk="1" hangingPunct="1">
              <a:lnSpc>
                <a:spcPct val="95000"/>
              </a:lnSpc>
              <a:spcBef>
                <a:spcPct val="10000"/>
              </a:spcBef>
            </a:pPr>
            <a:r>
              <a:rPr lang="en-US" altLang="en-US" sz="2100" dirty="0"/>
              <a:t>Most civilian helicopters need a landing zone of 100’ </a:t>
            </a:r>
            <a:r>
              <a:rPr lang="en-US" altLang="en-US" sz="2100" dirty="0">
                <a:sym typeface="Symbol" pitchFamily="2" charset="2"/>
              </a:rPr>
              <a:t></a:t>
            </a:r>
            <a:r>
              <a:rPr lang="en-US" altLang="en-US" sz="2100" dirty="0"/>
              <a:t> 100’.</a:t>
            </a:r>
          </a:p>
          <a:p>
            <a:pPr lvl="1" eaLnBrk="1" hangingPunct="1">
              <a:lnSpc>
                <a:spcPct val="95000"/>
              </a:lnSpc>
              <a:spcBef>
                <a:spcPct val="10000"/>
              </a:spcBef>
            </a:pPr>
            <a:r>
              <a:rPr lang="en-US" altLang="en-US" sz="2100" dirty="0"/>
              <a:t>Landing zone should be as flat as possible and free of debris.</a:t>
            </a:r>
          </a:p>
        </p:txBody>
      </p:sp>
      <p:sp>
        <p:nvSpPr>
          <p:cNvPr id="7" name="Rectangle 6"/>
          <p:cNvSpPr/>
          <p:nvPr/>
        </p:nvSpPr>
        <p:spPr>
          <a:xfrm>
            <a:off x="1016001" y="4213483"/>
            <a:ext cx="5079999"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19-3 </a:t>
            </a:r>
            <a:r>
              <a:rPr lang="en-US" dirty="0"/>
              <a:t>Landing zone with cones and warning devices in place. </a:t>
            </a:r>
          </a:p>
        </p:txBody>
      </p:sp>
      <p:sp>
        <p:nvSpPr>
          <p:cNvPr id="8" name="Rectangle 7"/>
          <p:cNvSpPr/>
          <p:nvPr/>
        </p:nvSpPr>
        <p:spPr>
          <a:xfrm>
            <a:off x="1016001" y="4799742"/>
            <a:ext cx="5079999"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Thomas R. Fletcher/</a:t>
            </a:r>
            <a:r>
              <a:rPr lang="en-US" sz="1000" dirty="0" err="1"/>
              <a:t>Alamy</a:t>
            </a:r>
            <a:r>
              <a:rPr lang="en-US" sz="1000" dirty="0"/>
              <a:t>. </a:t>
            </a:r>
          </a:p>
        </p:txBody>
      </p:sp>
      <p:pic>
        <p:nvPicPr>
          <p:cNvPr id="4098" name="Picture 2" descr="A photo shows a distant shot of a helicopter on a grassy patch with a few people seen walking toward it carrying a stretcher with a person strapped on it.&#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001" y="1509339"/>
            <a:ext cx="5079998" cy="2672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7170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a:extLst>
              <a:ext uri="{FF2B5EF4-FFF2-40B4-BE49-F238E27FC236}">
                <a16:creationId xmlns:a16="http://schemas.microsoft.com/office/drawing/2014/main" id="{CE66D5B0-8C86-594B-ABEE-0B0E93FC31B1}"/>
              </a:ext>
            </a:extLst>
          </p:cNvPr>
          <p:cNvSpPr>
            <a:spLocks noGrp="1" noChangeArrowheads="1"/>
          </p:cNvSpPr>
          <p:nvPr>
            <p:ph type="title"/>
          </p:nvPr>
        </p:nvSpPr>
        <p:spPr/>
        <p:txBody>
          <a:bodyPr/>
          <a:lstStyle/>
          <a:p>
            <a:pPr eaLnBrk="1" hangingPunct="1">
              <a:lnSpc>
                <a:spcPct val="85000"/>
              </a:lnSpc>
              <a:defRPr/>
            </a:pPr>
            <a:r>
              <a:rPr lang="en-US" dirty="0"/>
              <a:t>Helicopter Safety Guidelines </a:t>
            </a:r>
            <a:br>
              <a:rPr lang="en-US" dirty="0"/>
            </a:br>
            <a:r>
              <a:rPr lang="en-US" sz="2800" b="0" dirty="0"/>
              <a:t>(3 of 4)</a:t>
            </a:r>
          </a:p>
        </p:txBody>
      </p:sp>
      <p:sp>
        <p:nvSpPr>
          <p:cNvPr id="38914" name="Rectangle 3">
            <a:extLst>
              <a:ext uri="{FF2B5EF4-FFF2-40B4-BE49-F238E27FC236}">
                <a16:creationId xmlns:a16="http://schemas.microsoft.com/office/drawing/2014/main" id="{1334171F-EA5A-0F46-A3AD-0C45A564A507}"/>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Setting up landing zone (LZ) (cont’d):</a:t>
            </a:r>
          </a:p>
          <a:p>
            <a:pPr lvl="1" eaLnBrk="1" hangingPunct="1">
              <a:spcBef>
                <a:spcPct val="35000"/>
              </a:spcBef>
            </a:pPr>
            <a:r>
              <a:rPr lang="en-US" altLang="en-US" dirty="0"/>
              <a:t>Check for any nearby wires.</a:t>
            </a:r>
          </a:p>
          <a:p>
            <a:pPr lvl="1" eaLnBrk="1" hangingPunct="1">
              <a:spcBef>
                <a:spcPct val="35000"/>
              </a:spcBef>
            </a:pPr>
            <a:r>
              <a:rPr lang="en-US" altLang="en-US" dirty="0"/>
              <a:t>If site slopes or has any obstacles, notify pilot.</a:t>
            </a:r>
          </a:p>
          <a:p>
            <a:pPr lvl="1" eaLnBrk="1" hangingPunct="1">
              <a:spcBef>
                <a:spcPct val="35000"/>
              </a:spcBef>
            </a:pPr>
            <a:r>
              <a:rPr lang="en-US" altLang="en-US" dirty="0"/>
              <a:t>When marking area, avoid using flags, </a:t>
            </a:r>
            <a:r>
              <a:rPr lang="en-US" altLang="en-US" dirty="0" err="1"/>
              <a:t>fusees</a:t>
            </a:r>
            <a:r>
              <a:rPr lang="en-US" altLang="en-US" dirty="0"/>
              <a:t>, or flashing emergency lights.</a:t>
            </a:r>
          </a:p>
          <a:p>
            <a:pPr lvl="1" eaLnBrk="1" hangingPunct="1">
              <a:spcBef>
                <a:spcPct val="35000"/>
              </a:spcBef>
            </a:pPr>
            <a:r>
              <a:rPr lang="en-US" altLang="en-US" dirty="0"/>
              <a:t>Keep vehicles clear of LZ.</a:t>
            </a:r>
          </a:p>
        </p:txBody>
      </p:sp>
    </p:spTree>
    <p:extLst>
      <p:ext uri="{BB962C8B-B14F-4D97-AF65-F5344CB8AC3E}">
        <p14:creationId xmlns:p14="http://schemas.microsoft.com/office/powerpoint/2010/main" val="3482444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676913E0-6B3B-3049-88AE-32A9392C1048}"/>
              </a:ext>
            </a:extLst>
          </p:cNvPr>
          <p:cNvSpPr>
            <a:spLocks noGrp="1" noChangeArrowheads="1"/>
          </p:cNvSpPr>
          <p:nvPr>
            <p:ph type="title"/>
          </p:nvPr>
        </p:nvSpPr>
        <p:spPr/>
        <p:txBody>
          <a:bodyPr/>
          <a:lstStyle/>
          <a:p>
            <a:pPr eaLnBrk="1" hangingPunct="1">
              <a:lnSpc>
                <a:spcPct val="85000"/>
              </a:lnSpc>
              <a:defRPr/>
            </a:pPr>
            <a:r>
              <a:rPr lang="en-US" dirty="0"/>
              <a:t>Helicopter Safety Guidelines </a:t>
            </a:r>
            <a:br>
              <a:rPr lang="en-US" dirty="0"/>
            </a:br>
            <a:r>
              <a:rPr lang="en-US" sz="2800" b="0" dirty="0"/>
              <a:t>(4 of 4)</a:t>
            </a:r>
          </a:p>
        </p:txBody>
      </p:sp>
      <p:sp>
        <p:nvSpPr>
          <p:cNvPr id="40962" name="Rectangle 3">
            <a:extLst>
              <a:ext uri="{FF2B5EF4-FFF2-40B4-BE49-F238E27FC236}">
                <a16:creationId xmlns:a16="http://schemas.microsoft.com/office/drawing/2014/main" id="{B4921663-3571-F040-B9E1-6849F452897F}"/>
              </a:ext>
            </a:extLst>
          </p:cNvPr>
          <p:cNvSpPr>
            <a:spLocks noGrp="1" noChangeArrowheads="1"/>
          </p:cNvSpPr>
          <p:nvPr>
            <p:ph idx="1"/>
          </p:nvPr>
        </p:nvSpPr>
        <p:spPr>
          <a:xfrm>
            <a:off x="6766560" y="1399032"/>
            <a:ext cx="4901184" cy="5196840"/>
          </a:xfrm>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Loading patients into helicopters:</a:t>
            </a:r>
          </a:p>
          <a:p>
            <a:pPr lvl="1" eaLnBrk="1" hangingPunct="1">
              <a:spcBef>
                <a:spcPct val="35000"/>
              </a:spcBef>
            </a:pPr>
            <a:r>
              <a:rPr lang="en-US" altLang="en-US" dirty="0"/>
              <a:t>Secure all loose clothing, sheets, and instruments.</a:t>
            </a:r>
          </a:p>
          <a:p>
            <a:pPr lvl="1" eaLnBrk="1" hangingPunct="1">
              <a:spcBef>
                <a:spcPct val="35000"/>
              </a:spcBef>
            </a:pPr>
            <a:r>
              <a:rPr lang="en-US" altLang="en-US" dirty="0"/>
              <a:t>Use eye protection.</a:t>
            </a:r>
          </a:p>
          <a:p>
            <a:pPr lvl="1" eaLnBrk="1" hangingPunct="1">
              <a:spcBef>
                <a:spcPct val="35000"/>
              </a:spcBef>
            </a:pPr>
            <a:r>
              <a:rPr lang="en-US" altLang="en-US" dirty="0"/>
              <a:t>Approach a helicopter from front and only after pilot signals that it is safe.</a:t>
            </a:r>
          </a:p>
          <a:p>
            <a:pPr lvl="1">
              <a:spcBef>
                <a:spcPct val="35000"/>
              </a:spcBef>
            </a:pPr>
            <a:r>
              <a:rPr lang="en-US" altLang="en-US" dirty="0"/>
              <a:t>Follow flight crew’s instructions.</a:t>
            </a:r>
          </a:p>
          <a:p>
            <a:pPr lvl="1">
              <a:spcBef>
                <a:spcPct val="35000"/>
              </a:spcBef>
            </a:pPr>
            <a:r>
              <a:rPr lang="en-US" altLang="en-US" dirty="0"/>
              <a:t>Give patient report to crew, away from noise, and offer your assistance.</a:t>
            </a:r>
          </a:p>
          <a:p>
            <a:pPr lvl="1">
              <a:spcBef>
                <a:spcPct val="35000"/>
              </a:spcBef>
            </a:pPr>
            <a:r>
              <a:rPr lang="en-US" altLang="en-US" dirty="0"/>
              <a:t>Patients need to be packaged properly and securely.</a:t>
            </a:r>
          </a:p>
          <a:p>
            <a:pPr lvl="1" eaLnBrk="1" hangingPunct="1">
              <a:spcBef>
                <a:spcPct val="35000"/>
              </a:spcBef>
            </a:pPr>
            <a:endParaRPr lang="en-US" altLang="en-US" dirty="0"/>
          </a:p>
        </p:txBody>
      </p:sp>
      <p:sp>
        <p:nvSpPr>
          <p:cNvPr id="7" name="Rectangle 6"/>
          <p:cNvSpPr/>
          <p:nvPr/>
        </p:nvSpPr>
        <p:spPr>
          <a:xfrm>
            <a:off x="1175206" y="4264382"/>
            <a:ext cx="4557938" cy="64633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cap="all" dirty="0"/>
              <a:t>Figure</a:t>
            </a:r>
            <a:r>
              <a:rPr lang="en-US" b="1" dirty="0"/>
              <a:t> 19-4 </a:t>
            </a:r>
            <a:r>
              <a:rPr lang="en-US" dirty="0"/>
              <a:t>Approach helicopters from the front so the pilot can see you. </a:t>
            </a:r>
          </a:p>
        </p:txBody>
      </p:sp>
      <p:sp>
        <p:nvSpPr>
          <p:cNvPr id="8" name="Rectangle 7"/>
          <p:cNvSpPr/>
          <p:nvPr/>
        </p:nvSpPr>
        <p:spPr>
          <a:xfrm>
            <a:off x="1175207" y="4838986"/>
            <a:ext cx="4920794"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dirty="0"/>
              <a:t>© Mark C. Ide. </a:t>
            </a:r>
          </a:p>
        </p:txBody>
      </p:sp>
      <p:pic>
        <p:nvPicPr>
          <p:cNvPr id="5122" name="Picture 2" descr="A photo shows a helicopter on a grassy patch. Emergency rescue personnel walk toward the front of the vehicle carrying a stretcher with a person strapped on it.&#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5205" y="1585784"/>
            <a:ext cx="4557938" cy="2635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920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157DFFB6-4CC5-F644-9454-2E3AB28AE9FC}"/>
              </a:ext>
            </a:extLst>
          </p:cNvPr>
          <p:cNvSpPr>
            <a:spLocks noGrp="1" noChangeArrowheads="1"/>
          </p:cNvSpPr>
          <p:nvPr>
            <p:ph type="title"/>
          </p:nvPr>
        </p:nvSpPr>
        <p:spPr/>
        <p:txBody>
          <a:bodyPr/>
          <a:lstStyle/>
          <a:p>
            <a:pPr eaLnBrk="1" hangingPunct="1">
              <a:defRPr/>
            </a:pPr>
            <a:r>
              <a:rPr lang="en-US" dirty="0"/>
              <a:t>Summary </a:t>
            </a:r>
            <a:endParaRPr lang="en-US" sz="2800" dirty="0"/>
          </a:p>
        </p:txBody>
      </p:sp>
      <p:sp>
        <p:nvSpPr>
          <p:cNvPr id="45058" name="Rectangle 3">
            <a:extLst>
              <a:ext uri="{FF2B5EF4-FFF2-40B4-BE49-F238E27FC236}">
                <a16:creationId xmlns:a16="http://schemas.microsoft.com/office/drawing/2014/main" id="{436BE1C9-D657-6E49-B0A6-0AC02765F261}"/>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spcBef>
                <a:spcPct val="35000"/>
              </a:spcBef>
            </a:pPr>
            <a:r>
              <a:rPr lang="en-US" altLang="en-US" dirty="0"/>
              <a:t>As an EMR, you need proper equipment on an emergency call, including medical equipment in your life support kit, your personal safety equipment, and equipment to safeguard accident scene.</a:t>
            </a:r>
          </a:p>
          <a:p>
            <a:pPr>
              <a:spcBef>
                <a:spcPct val="35000"/>
              </a:spcBef>
            </a:pPr>
            <a:r>
              <a:rPr lang="en-US" altLang="en-US" dirty="0"/>
              <a:t>Six phases of an emergency call are preparation, dispatch, response to scene, arrival at scene, transferring care of patient to other EMS personnel, and </a:t>
            </a:r>
            <a:r>
              <a:rPr lang="en-US" altLang="en-US" dirty="0" err="1"/>
              <a:t>postrun</a:t>
            </a:r>
            <a:r>
              <a:rPr lang="en-US" altLang="en-US" dirty="0"/>
              <a:t> activities.</a:t>
            </a:r>
          </a:p>
          <a:p>
            <a:pPr>
              <a:spcBef>
                <a:spcPct val="35000"/>
              </a:spcBef>
            </a:pPr>
            <a:r>
              <a:rPr lang="en-US" altLang="en-US" dirty="0"/>
              <a:t>If you will be working with a medical helicopter, you need to know proper safety precautions and loading procedures for helicopter transport.</a:t>
            </a:r>
          </a:p>
        </p:txBody>
      </p:sp>
    </p:spTree>
    <p:extLst>
      <p:ext uri="{BB962C8B-B14F-4D97-AF65-F5344CB8AC3E}">
        <p14:creationId xmlns:p14="http://schemas.microsoft.com/office/powerpoint/2010/main" val="3609289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a:extLst>
              <a:ext uri="{FF2B5EF4-FFF2-40B4-BE49-F238E27FC236}">
                <a16:creationId xmlns:a16="http://schemas.microsoft.com/office/drawing/2014/main" id="{5DC8E15D-33D2-C442-B72B-B37930CC4BDC}"/>
              </a:ext>
            </a:extLst>
          </p:cNvPr>
          <p:cNvSpPr>
            <a:spLocks noGrp="1" noChangeArrowheads="1"/>
          </p:cNvSpPr>
          <p:nvPr>
            <p:ph type="title"/>
          </p:nvPr>
        </p:nvSpPr>
        <p:spPr/>
        <p:txBody>
          <a:bodyPr/>
          <a:lstStyle/>
          <a:p>
            <a:pPr eaLnBrk="1" hangingPunct="1">
              <a:lnSpc>
                <a:spcPct val="85000"/>
              </a:lnSpc>
              <a:defRPr/>
            </a:pPr>
            <a:r>
              <a:rPr lang="en-US" dirty="0"/>
              <a:t>Review</a:t>
            </a:r>
            <a:r>
              <a:rPr lang="en-US" dirty="0">
                <a:solidFill>
                  <a:schemeClr val="tx1"/>
                </a:solidFill>
              </a:rPr>
              <a:t> </a:t>
            </a:r>
          </a:p>
        </p:txBody>
      </p:sp>
      <p:sp>
        <p:nvSpPr>
          <p:cNvPr id="49154" name="Rectangle 3">
            <a:extLst>
              <a:ext uri="{FF2B5EF4-FFF2-40B4-BE49-F238E27FC236}">
                <a16:creationId xmlns:a16="http://schemas.microsoft.com/office/drawing/2014/main" id="{AE87DE55-9D3A-1D44-871A-04F78AEAF147}"/>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spcBef>
                <a:spcPct val="35000"/>
              </a:spcBef>
              <a:buFontTx/>
              <a:buAutoNum type="arabicPeriod"/>
            </a:pPr>
            <a:r>
              <a:rPr lang="en-US" altLang="en-US" dirty="0"/>
              <a:t>Which of the following is </a:t>
            </a:r>
            <a:r>
              <a:rPr lang="en-US" altLang="en-US" i="1" dirty="0"/>
              <a:t>not</a:t>
            </a:r>
            <a:r>
              <a:rPr lang="en-US" altLang="en-US" dirty="0"/>
              <a:t> a phase of an EMR call?</a:t>
            </a:r>
          </a:p>
          <a:p>
            <a:pPr marL="1028700" lvl="1" indent="-457200">
              <a:spcBef>
                <a:spcPct val="35000"/>
              </a:spcBef>
              <a:buFontTx/>
              <a:buAutoNum type="alphaUcPeriod"/>
            </a:pPr>
            <a:r>
              <a:rPr lang="en-US" altLang="en-US" dirty="0"/>
              <a:t>Arrival at scene. </a:t>
            </a:r>
          </a:p>
          <a:p>
            <a:pPr marL="1028700" lvl="1" indent="-457200">
              <a:spcBef>
                <a:spcPct val="35000"/>
              </a:spcBef>
              <a:buFontTx/>
              <a:buAutoNum type="alphaUcPeriod"/>
            </a:pPr>
            <a:r>
              <a:rPr lang="en-US" altLang="en-US" dirty="0" err="1"/>
              <a:t>Postrun</a:t>
            </a:r>
            <a:r>
              <a:rPr lang="en-US" altLang="en-US" dirty="0"/>
              <a:t> activities.</a:t>
            </a:r>
          </a:p>
          <a:p>
            <a:pPr marL="1028700" lvl="1" indent="-457200">
              <a:spcBef>
                <a:spcPct val="35000"/>
              </a:spcBef>
              <a:buFontTx/>
              <a:buAutoNum type="alphaUcPeriod"/>
            </a:pPr>
            <a:r>
              <a:rPr lang="en-US" altLang="en-US" dirty="0"/>
              <a:t>Scheduling for upcoming shifts. </a:t>
            </a:r>
          </a:p>
          <a:p>
            <a:pPr marL="1028700" lvl="1" indent="-457200">
              <a:spcBef>
                <a:spcPct val="35000"/>
              </a:spcBef>
              <a:buFontTx/>
              <a:buAutoNum type="alphaUcPeriod"/>
            </a:pPr>
            <a:r>
              <a:rPr lang="en-US" altLang="en-US" dirty="0"/>
              <a:t>Preparation. </a:t>
            </a:r>
          </a:p>
        </p:txBody>
      </p:sp>
    </p:spTree>
    <p:extLst>
      <p:ext uri="{BB962C8B-B14F-4D97-AF65-F5344CB8AC3E}">
        <p14:creationId xmlns:p14="http://schemas.microsoft.com/office/powerpoint/2010/main" val="1895435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FCB13B14-F934-784F-A925-3D083A8CF310}"/>
              </a:ext>
            </a:extLst>
          </p:cNvPr>
          <p:cNvSpPr>
            <a:spLocks noGrp="1" noChangeArrowheads="1"/>
          </p:cNvSpPr>
          <p:nvPr>
            <p:ph type="title"/>
          </p:nvPr>
        </p:nvSpPr>
        <p:spPr/>
        <p:txBody>
          <a:bodyPr/>
          <a:lstStyle/>
          <a:p>
            <a:pPr eaLnBrk="1" hangingPunct="1">
              <a:lnSpc>
                <a:spcPct val="85000"/>
              </a:lnSpc>
              <a:defRPr/>
            </a:pPr>
            <a:r>
              <a:rPr lang="en-US" altLang="en-US" dirty="0"/>
              <a:t>Review</a:t>
            </a:r>
            <a:endParaRPr lang="en-US" dirty="0">
              <a:solidFill>
                <a:schemeClr val="tx1"/>
              </a:solidFill>
            </a:endParaRPr>
          </a:p>
        </p:txBody>
      </p:sp>
      <p:sp>
        <p:nvSpPr>
          <p:cNvPr id="51202" name="Rectangle 3">
            <a:extLst>
              <a:ext uri="{FF2B5EF4-FFF2-40B4-BE49-F238E27FC236}">
                <a16:creationId xmlns:a16="http://schemas.microsoft.com/office/drawing/2014/main" id="{F208C461-9EC3-C948-86F0-C41F27D4F63D}"/>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buFontTx/>
              <a:buNone/>
            </a:pPr>
            <a:r>
              <a:rPr lang="en-US" altLang="en-US" b="1" dirty="0"/>
              <a:t>Answer: </a:t>
            </a:r>
          </a:p>
          <a:p>
            <a:pPr eaLnBrk="1" hangingPunct="1">
              <a:spcBef>
                <a:spcPct val="35000"/>
              </a:spcBef>
              <a:buFontTx/>
              <a:buNone/>
            </a:pPr>
            <a:r>
              <a:rPr lang="en-US" altLang="en-US" b="1" dirty="0"/>
              <a:t>C. Scheduling for upcoming shifts.</a:t>
            </a:r>
          </a:p>
        </p:txBody>
      </p:sp>
    </p:spTree>
    <p:extLst>
      <p:ext uri="{BB962C8B-B14F-4D97-AF65-F5344CB8AC3E}">
        <p14:creationId xmlns:p14="http://schemas.microsoft.com/office/powerpoint/2010/main" val="3737265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a:extLst>
              <a:ext uri="{FF2B5EF4-FFF2-40B4-BE49-F238E27FC236}">
                <a16:creationId xmlns:a16="http://schemas.microsoft.com/office/drawing/2014/main" id="{0CD8D385-D74C-BD4B-AA1E-C2D4C8FE1D91}"/>
              </a:ext>
            </a:extLst>
          </p:cNvPr>
          <p:cNvSpPr>
            <a:spLocks noGrp="1" noChangeArrowheads="1"/>
          </p:cNvSpPr>
          <p:nvPr>
            <p:ph type="title"/>
          </p:nvPr>
        </p:nvSpPr>
        <p:spPr/>
        <p:txBody>
          <a:bodyPr/>
          <a:lstStyle/>
          <a:p>
            <a:pPr eaLnBrk="1" hangingPunct="1">
              <a:lnSpc>
                <a:spcPct val="85000"/>
              </a:lnSpc>
              <a:defRPr/>
            </a:pPr>
            <a:r>
              <a:rPr lang="en-US" altLang="en-US" dirty="0"/>
              <a:t>Review</a:t>
            </a:r>
            <a:endParaRPr lang="en-US" dirty="0">
              <a:solidFill>
                <a:schemeClr val="tx1"/>
              </a:solidFill>
            </a:endParaRPr>
          </a:p>
        </p:txBody>
      </p:sp>
      <p:sp>
        <p:nvSpPr>
          <p:cNvPr id="53250" name="Rectangle 3">
            <a:extLst>
              <a:ext uri="{FF2B5EF4-FFF2-40B4-BE49-F238E27FC236}">
                <a16:creationId xmlns:a16="http://schemas.microsoft.com/office/drawing/2014/main" id="{F67C707F-AFCD-1741-9756-313DC0D558F1}"/>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spcBef>
                <a:spcPct val="35000"/>
              </a:spcBef>
              <a:buFontTx/>
              <a:buAutoNum type="arabicPeriod" startAt="2"/>
            </a:pPr>
            <a:r>
              <a:rPr lang="en-US" altLang="en-US" dirty="0"/>
              <a:t>Information from dispatch should include all of the following, </a:t>
            </a:r>
            <a:r>
              <a:rPr lang="en-US" altLang="en-US" i="1" dirty="0"/>
              <a:t>except</a:t>
            </a:r>
            <a:r>
              <a:rPr lang="en-US" altLang="en-US" dirty="0"/>
              <a:t>:	</a:t>
            </a:r>
          </a:p>
          <a:p>
            <a:pPr marL="1028700" lvl="1" indent="-457200">
              <a:spcBef>
                <a:spcPct val="35000"/>
              </a:spcBef>
              <a:buFontTx/>
              <a:buAutoNum type="alphaUcPeriod"/>
            </a:pPr>
            <a:r>
              <a:rPr lang="en-US" altLang="en-US" dirty="0"/>
              <a:t>number of patients. </a:t>
            </a:r>
          </a:p>
          <a:p>
            <a:pPr marL="1028700" lvl="1" indent="-457200">
              <a:spcBef>
                <a:spcPct val="35000"/>
              </a:spcBef>
              <a:buFontTx/>
              <a:buAutoNum type="alphaUcPeriod"/>
            </a:pPr>
            <a:r>
              <a:rPr lang="en-US" altLang="en-US" dirty="0"/>
              <a:t>nature of call. </a:t>
            </a:r>
          </a:p>
          <a:p>
            <a:pPr marL="1028700" lvl="1" indent="-457200">
              <a:spcBef>
                <a:spcPct val="35000"/>
              </a:spcBef>
              <a:buFontTx/>
              <a:buAutoNum type="alphaUcPeriod"/>
            </a:pPr>
            <a:r>
              <a:rPr lang="en-US" altLang="en-US" dirty="0"/>
              <a:t>nearest hospital.</a:t>
            </a:r>
          </a:p>
          <a:p>
            <a:pPr marL="1028700" lvl="1" indent="-457200">
              <a:spcBef>
                <a:spcPct val="35000"/>
              </a:spcBef>
              <a:buFontTx/>
              <a:buAutoNum type="alphaUcPeriod"/>
            </a:pPr>
            <a:r>
              <a:rPr lang="en-US" altLang="en-US" dirty="0"/>
              <a:t>call-back number.</a:t>
            </a:r>
          </a:p>
        </p:txBody>
      </p:sp>
    </p:spTree>
    <p:extLst>
      <p:ext uri="{BB962C8B-B14F-4D97-AF65-F5344CB8AC3E}">
        <p14:creationId xmlns:p14="http://schemas.microsoft.com/office/powerpoint/2010/main" val="163025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a:extLst>
              <a:ext uri="{FF2B5EF4-FFF2-40B4-BE49-F238E27FC236}">
                <a16:creationId xmlns:a16="http://schemas.microsoft.com/office/drawing/2014/main" id="{4F232CB5-841E-BF48-9A5A-2009170F1ED8}"/>
              </a:ext>
            </a:extLst>
          </p:cNvPr>
          <p:cNvSpPr>
            <a:spLocks noGrp="1" noChangeArrowheads="1"/>
          </p:cNvSpPr>
          <p:nvPr>
            <p:ph type="title"/>
          </p:nvPr>
        </p:nvSpPr>
        <p:spPr/>
        <p:txBody>
          <a:bodyPr/>
          <a:lstStyle/>
          <a:p>
            <a:pPr eaLnBrk="1" hangingPunct="1">
              <a:lnSpc>
                <a:spcPct val="85000"/>
              </a:lnSpc>
              <a:defRPr/>
            </a:pPr>
            <a:r>
              <a:rPr lang="en-US" altLang="en-US" dirty="0"/>
              <a:t>Review</a:t>
            </a:r>
            <a:endParaRPr lang="en-US" dirty="0">
              <a:solidFill>
                <a:schemeClr val="tx1"/>
              </a:solidFill>
            </a:endParaRPr>
          </a:p>
        </p:txBody>
      </p:sp>
      <p:sp>
        <p:nvSpPr>
          <p:cNvPr id="55298" name="Rectangle 3">
            <a:extLst>
              <a:ext uri="{FF2B5EF4-FFF2-40B4-BE49-F238E27FC236}">
                <a16:creationId xmlns:a16="http://schemas.microsoft.com/office/drawing/2014/main" id="{B826FF4C-ADFF-ED4D-9F56-4D37004DB369}"/>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buFontTx/>
              <a:buNone/>
            </a:pPr>
            <a:r>
              <a:rPr lang="en-US" altLang="en-US" b="1"/>
              <a:t>Answer:</a:t>
            </a:r>
          </a:p>
          <a:p>
            <a:pPr eaLnBrk="1" hangingPunct="1">
              <a:spcBef>
                <a:spcPct val="35000"/>
              </a:spcBef>
              <a:buFontTx/>
              <a:buNone/>
            </a:pPr>
            <a:r>
              <a:rPr lang="en-US" altLang="en-US" b="1"/>
              <a:t>C. nearest hospital. </a:t>
            </a:r>
          </a:p>
        </p:txBody>
      </p:sp>
    </p:spTree>
    <p:extLst>
      <p:ext uri="{BB962C8B-B14F-4D97-AF65-F5344CB8AC3E}">
        <p14:creationId xmlns:p14="http://schemas.microsoft.com/office/powerpoint/2010/main" val="3736759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a:extLst>
              <a:ext uri="{FF2B5EF4-FFF2-40B4-BE49-F238E27FC236}">
                <a16:creationId xmlns:a16="http://schemas.microsoft.com/office/drawing/2014/main" id="{22E55149-61AD-A04C-AD26-A1BD223E7B68}"/>
              </a:ext>
            </a:extLst>
          </p:cNvPr>
          <p:cNvSpPr>
            <a:spLocks noGrp="1" noChangeArrowheads="1"/>
          </p:cNvSpPr>
          <p:nvPr>
            <p:ph type="title"/>
          </p:nvPr>
        </p:nvSpPr>
        <p:spPr/>
        <p:txBody>
          <a:bodyPr/>
          <a:lstStyle/>
          <a:p>
            <a:pPr eaLnBrk="1" hangingPunct="1">
              <a:lnSpc>
                <a:spcPct val="85000"/>
              </a:lnSpc>
              <a:defRPr/>
            </a:pPr>
            <a:r>
              <a:rPr lang="en-US" altLang="en-US" dirty="0"/>
              <a:t>Review</a:t>
            </a:r>
            <a:endParaRPr lang="en-US" dirty="0">
              <a:solidFill>
                <a:schemeClr val="tx1"/>
              </a:solidFill>
            </a:endParaRPr>
          </a:p>
        </p:txBody>
      </p:sp>
      <p:sp>
        <p:nvSpPr>
          <p:cNvPr id="57346" name="Rectangle 3">
            <a:extLst>
              <a:ext uri="{FF2B5EF4-FFF2-40B4-BE49-F238E27FC236}">
                <a16:creationId xmlns:a16="http://schemas.microsoft.com/office/drawing/2014/main" id="{BEE2D5E6-8A8E-4943-A59A-284BEB6D68DE}"/>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marL="457200" indent="-457200">
              <a:spcBef>
                <a:spcPct val="35000"/>
              </a:spcBef>
              <a:buFontTx/>
              <a:buAutoNum type="arabicPeriod" startAt="3"/>
            </a:pPr>
            <a:r>
              <a:rPr lang="en-US" altLang="en-US" dirty="0"/>
              <a:t>When approaching a helicopter, you should:</a:t>
            </a:r>
          </a:p>
          <a:p>
            <a:pPr marL="1028700" lvl="1" indent="-457200">
              <a:spcBef>
                <a:spcPct val="35000"/>
              </a:spcBef>
              <a:buFontTx/>
              <a:buAutoNum type="alphaUcPeriod"/>
            </a:pPr>
            <a:r>
              <a:rPr lang="en-US" altLang="en-US" dirty="0"/>
              <a:t>always approach from the rear.</a:t>
            </a:r>
          </a:p>
          <a:p>
            <a:pPr marL="1028700" lvl="1" indent="-457200">
              <a:spcBef>
                <a:spcPct val="35000"/>
              </a:spcBef>
              <a:buFontTx/>
              <a:buAutoNum type="alphaUcPeriod"/>
            </a:pPr>
            <a:r>
              <a:rPr lang="en-US" altLang="en-US" dirty="0"/>
              <a:t>always approach from the front. </a:t>
            </a:r>
          </a:p>
          <a:p>
            <a:pPr marL="1028700" lvl="1" indent="-457200">
              <a:spcBef>
                <a:spcPct val="35000"/>
              </a:spcBef>
              <a:buFontTx/>
              <a:buAutoNum type="alphaUcPeriod"/>
            </a:pPr>
            <a:r>
              <a:rPr lang="en-US" altLang="en-US" dirty="0"/>
              <a:t>attempt to move the patient to the aircraft as soon as it lands.</a:t>
            </a:r>
          </a:p>
          <a:p>
            <a:pPr marL="1028700" lvl="1" indent="-457200">
              <a:spcBef>
                <a:spcPct val="35000"/>
              </a:spcBef>
              <a:buFontTx/>
              <a:buAutoNum type="alphaUcPeriod"/>
            </a:pPr>
            <a:r>
              <a:rPr lang="en-US" altLang="en-US" dirty="0"/>
              <a:t>not need eye protection. </a:t>
            </a:r>
          </a:p>
        </p:txBody>
      </p:sp>
    </p:spTree>
    <p:extLst>
      <p:ext uri="{BB962C8B-B14F-4D97-AF65-F5344CB8AC3E}">
        <p14:creationId xmlns:p14="http://schemas.microsoft.com/office/powerpoint/2010/main" val="1350511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B315BA4B-65F3-2441-B8A3-B72CA7BB1FA7}"/>
              </a:ext>
            </a:extLst>
          </p:cNvPr>
          <p:cNvSpPr>
            <a:spLocks noGrp="1" noChangeArrowheads="1"/>
          </p:cNvSpPr>
          <p:nvPr>
            <p:ph type="title"/>
          </p:nvPr>
        </p:nvSpPr>
        <p:spPr/>
        <p:txBody>
          <a:bodyPr/>
          <a:lstStyle/>
          <a:p>
            <a:pPr eaLnBrk="1" hangingPunct="1">
              <a:lnSpc>
                <a:spcPct val="85000"/>
              </a:lnSpc>
              <a:defRPr/>
            </a:pPr>
            <a:r>
              <a:rPr lang="en-US" altLang="en-US" dirty="0"/>
              <a:t>Review</a:t>
            </a:r>
            <a:endParaRPr lang="en-US" dirty="0">
              <a:solidFill>
                <a:schemeClr val="tx1"/>
              </a:solidFill>
            </a:endParaRPr>
          </a:p>
        </p:txBody>
      </p:sp>
      <p:sp>
        <p:nvSpPr>
          <p:cNvPr id="59394" name="Rectangle 3">
            <a:extLst>
              <a:ext uri="{FF2B5EF4-FFF2-40B4-BE49-F238E27FC236}">
                <a16:creationId xmlns:a16="http://schemas.microsoft.com/office/drawing/2014/main" id="{DB4126EA-B455-984F-B65E-BF47B470D4CF}"/>
              </a:ext>
            </a:extLst>
          </p:cNvPr>
          <p:cNvSpPr>
            <a:spLocks noGrp="1" noChangeArrowheads="1"/>
          </p:cNvSpPr>
          <p:nvPr>
            <p:ph idx="1"/>
          </p:nvPr>
        </p:nvSpPr>
        <p:spPr>
          <a:noFill/>
          <a:extLst>
            <a:ext uri="{909E8E84-426E-40DD-AFC4-6F175D3DCCD1}">
              <a14:hiddenFill xmlns:a14="http://schemas.microsoft.com/office/drawing/2010/main">
                <a:solidFill>
                  <a:schemeClr val="bg1">
                    <a:alpha val="39999"/>
                  </a:schemeClr>
                </a:solidFill>
              </a14:hiddenFill>
            </a:ext>
            <a:ext uri="{91240B29-F687-4F45-9708-019B960494DF}">
              <a14:hiddenLine xmlns:a14="http://schemas.microsoft.com/office/drawing/2010/main" w="19050">
                <a:solidFill>
                  <a:srgbClr val="B3B3B3">
                    <a:alpha val="39999"/>
                  </a:srgbClr>
                </a:solidFill>
                <a:miter lim="800000"/>
                <a:headEnd/>
                <a:tailEnd/>
              </a14:hiddenLine>
            </a:ext>
          </a:extLst>
        </p:spPr>
        <p:txBody>
          <a:bodyPr vert="horz" lIns="91440" tIns="45720" rIns="228600" bIns="45720" rtlCol="0">
            <a:noAutofit/>
          </a:bodyPr>
          <a:lstStyle/>
          <a:p>
            <a:pPr eaLnBrk="1" hangingPunct="1">
              <a:buFontTx/>
              <a:buNone/>
            </a:pPr>
            <a:r>
              <a:rPr lang="en-US" altLang="en-US" b="1" dirty="0"/>
              <a:t>Answer:</a:t>
            </a:r>
          </a:p>
          <a:p>
            <a:pPr eaLnBrk="1" hangingPunct="1">
              <a:spcBef>
                <a:spcPct val="35000"/>
              </a:spcBef>
              <a:buFontTx/>
              <a:buNone/>
            </a:pPr>
            <a:r>
              <a:rPr lang="en-US" altLang="en-US" b="1" dirty="0"/>
              <a:t>B. always approach </a:t>
            </a:r>
            <a:r>
              <a:rPr lang="en-US" altLang="en-US" b="1"/>
              <a:t>from the front</a:t>
            </a:r>
            <a:r>
              <a:rPr lang="en-US" altLang="en-US" b="1" dirty="0"/>
              <a:t>.</a:t>
            </a:r>
          </a:p>
        </p:txBody>
      </p:sp>
    </p:spTree>
    <p:extLst>
      <p:ext uri="{BB962C8B-B14F-4D97-AF65-F5344CB8AC3E}">
        <p14:creationId xmlns:p14="http://schemas.microsoft.com/office/powerpoint/2010/main" val="4130872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Educational subjects 16x9">
  <a:themeElements>
    <a:clrScheme name="JBLPSG PPT 1">
      <a:dk1>
        <a:srgbClr val="3C4743"/>
      </a:dk1>
      <a:lt1>
        <a:srgbClr val="E1E1E1"/>
      </a:lt1>
      <a:dk2>
        <a:srgbClr val="000000"/>
      </a:dk2>
      <a:lt2>
        <a:srgbClr val="FFFFFF"/>
      </a:lt2>
      <a:accent1>
        <a:srgbClr val="FFC324"/>
      </a:accent1>
      <a:accent2>
        <a:srgbClr val="F05123"/>
      </a:accent2>
      <a:accent3>
        <a:srgbClr val="418AC9"/>
      </a:accent3>
      <a:accent4>
        <a:srgbClr val="B7B7B7"/>
      </a:accent4>
      <a:accent5>
        <a:srgbClr val="00B18A"/>
      </a:accent5>
      <a:accent6>
        <a:srgbClr val="7BABBF"/>
      </a:accent6>
      <a:hlink>
        <a:srgbClr val="004B91"/>
      </a:hlink>
      <a:folHlink>
        <a:srgbClr val="5C284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27.potx" id="{6B18C398-4F76-4BDC-B8A4-D02A96E0AA82}" vid="{FBF1AC64-E511-41D2-AA23-0E693E79CD77}"/>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425E4D5164AEF4EB74AA5D6D6EE479D" ma:contentTypeVersion="12" ma:contentTypeDescription="Create a new document." ma:contentTypeScope="" ma:versionID="58bf2b2f890302d35f7d54e5e5cac4ee">
  <xsd:schema xmlns:xsd="http://www.w3.org/2001/XMLSchema" xmlns:xs="http://www.w3.org/2001/XMLSchema" xmlns:p="http://schemas.microsoft.com/office/2006/metadata/properties" xmlns:ns3="ff0eb9e9-a981-4551-99fd-eb0d34a8c8ea" xmlns:ns4="42abe912-7d6d-4f73-a9d8-4938ff9bbb01" targetNamespace="http://schemas.microsoft.com/office/2006/metadata/properties" ma:root="true" ma:fieldsID="bd57abdcd4abec9ffd47578aa5ac9010" ns3:_="" ns4:_="">
    <xsd:import namespace="ff0eb9e9-a981-4551-99fd-eb0d34a8c8ea"/>
    <xsd:import namespace="42abe912-7d6d-4f73-a9d8-4938ff9bbb01"/>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0eb9e9-a981-4551-99fd-eb0d34a8c8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2abe912-7d6d-4f73-a9d8-4938ff9bbb01"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A6F21B5-7BD4-4682-8F79-4F9C23FF54DC}">
  <ds:schemaRefs>
    <ds:schemaRef ds:uri="http://schemas.microsoft.com/sharepoint/v3/contenttype/forms"/>
  </ds:schemaRefs>
</ds:datastoreItem>
</file>

<file path=customXml/itemProps2.xml><?xml version="1.0" encoding="utf-8"?>
<ds:datastoreItem xmlns:ds="http://schemas.openxmlformats.org/officeDocument/2006/customXml" ds:itemID="{D7B425BF-5307-447B-B70C-2298BF2B37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0eb9e9-a981-4551-99fd-eb0d34a8c8ea"/>
    <ds:schemaRef ds:uri="42abe912-7d6d-4f73-a9d8-4938ff9bbb0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045EBD-FD8D-4EAE-B132-8F8763953656}">
  <ds:schemaRefs>
    <ds:schemaRef ds:uri="http://purl.org/dc/elements/1.1/"/>
    <ds:schemaRef ds:uri="http://schemas.microsoft.com/office/2006/metadata/properties"/>
    <ds:schemaRef ds:uri="ff0eb9e9-a981-4551-99fd-eb0d34a8c8ea"/>
    <ds:schemaRef ds:uri="http://purl.org/dc/terms/"/>
    <ds:schemaRef ds:uri="42abe912-7d6d-4f73-a9d8-4938ff9bbb01"/>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290</TotalTime>
  <Words>3001</Words>
  <Application>Microsoft Macintosh PowerPoint</Application>
  <PresentationFormat>Widescreen</PresentationFormat>
  <Paragraphs>279</Paragraphs>
  <Slides>26</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Arial Black</vt:lpstr>
      <vt:lpstr>Calibri</vt:lpstr>
      <vt:lpstr>Wingdings</vt:lpstr>
      <vt:lpstr>Educational subjects 16x9</vt:lpstr>
      <vt:lpstr>Transport Operations</vt:lpstr>
      <vt:lpstr>National EMS Education Standard Competencies (1 of 2)</vt:lpstr>
      <vt:lpstr>National EMS Education Standard Competencies (2 of 2)</vt:lpstr>
      <vt:lpstr>Introduction</vt:lpstr>
      <vt:lpstr>Preparing for a Call (1 of 2)</vt:lpstr>
      <vt:lpstr>Preparing for a Call (2 of 2)</vt:lpstr>
      <vt:lpstr>Phases of an EMR Call (1 of 6)</vt:lpstr>
      <vt:lpstr>Phases of an EMR Call (2 of 6)</vt:lpstr>
      <vt:lpstr>Phases of an EMR Call (3 of 6)</vt:lpstr>
      <vt:lpstr>Phases of an EMR Call (4 of 6)</vt:lpstr>
      <vt:lpstr>Phases of an EMR Call (5 of 6)</vt:lpstr>
      <vt:lpstr>Phases of an EMR Call (6 of 6)</vt:lpstr>
      <vt:lpstr>Helicopter Operations (1 of 3)</vt:lpstr>
      <vt:lpstr>Helicopter Operations (2 of 3)</vt:lpstr>
      <vt:lpstr>Helicopter Operations (3 of 3)</vt:lpstr>
      <vt:lpstr>Helicopter Safety Guidelines  (1 of 4)</vt:lpstr>
      <vt:lpstr>Helicopter Safety Guidelines  (2 of 4)</vt:lpstr>
      <vt:lpstr>Helicopter Safety Guidelines  (3 of 4)</vt:lpstr>
      <vt:lpstr>Helicopter Safety Guidelines  (4 of 4)</vt:lpstr>
      <vt:lpstr>Summary </vt:lpstr>
      <vt:lpstr>Review </vt:lpstr>
      <vt:lpstr>Review</vt:lpstr>
      <vt:lpstr>Review</vt:lpstr>
      <vt:lpstr>Review</vt:lpstr>
      <vt:lpstr>Review</vt:lpstr>
      <vt:lpstr>Review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Kristin Parker</dc:creator>
  <cp:lastModifiedBy>Kelly Sylvester</cp:lastModifiedBy>
  <cp:revision>45</cp:revision>
  <dcterms:created xsi:type="dcterms:W3CDTF">2019-03-08T18:11:57Z</dcterms:created>
  <dcterms:modified xsi:type="dcterms:W3CDTF">2020-11-30T21:51:30Z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0x010100B425E4D5164AEF4EB74AA5D6D6EE479D</vt:lpwstr>
  </property>
</Properties>
</file>