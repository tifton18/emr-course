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2"/>
  </p:notesMasterIdLst>
  <p:handoutMasterIdLst>
    <p:handoutMasterId r:id="rId53"/>
  </p:handoutMasterIdLst>
  <p:sldIdLst>
    <p:sldId id="258" r:id="rId2"/>
    <p:sldId id="943" r:id="rId3"/>
    <p:sldId id="944" r:id="rId4"/>
    <p:sldId id="946" r:id="rId5"/>
    <p:sldId id="947" r:id="rId6"/>
    <p:sldId id="948" r:id="rId7"/>
    <p:sldId id="949" r:id="rId8"/>
    <p:sldId id="950" r:id="rId9"/>
    <p:sldId id="951" r:id="rId10"/>
    <p:sldId id="952" r:id="rId11"/>
    <p:sldId id="953" r:id="rId12"/>
    <p:sldId id="954" r:id="rId13"/>
    <p:sldId id="955" r:id="rId14"/>
    <p:sldId id="956" r:id="rId15"/>
    <p:sldId id="957" r:id="rId16"/>
    <p:sldId id="958" r:id="rId17"/>
    <p:sldId id="959" r:id="rId18"/>
    <p:sldId id="960" r:id="rId19"/>
    <p:sldId id="961" r:id="rId20"/>
    <p:sldId id="1062" r:id="rId21"/>
    <p:sldId id="962" r:id="rId22"/>
    <p:sldId id="963" r:id="rId23"/>
    <p:sldId id="964" r:id="rId24"/>
    <p:sldId id="965" r:id="rId25"/>
    <p:sldId id="966" r:id="rId26"/>
    <p:sldId id="967" r:id="rId27"/>
    <p:sldId id="968" r:id="rId28"/>
    <p:sldId id="969" r:id="rId29"/>
    <p:sldId id="970" r:id="rId30"/>
    <p:sldId id="971" r:id="rId31"/>
    <p:sldId id="972" r:id="rId32"/>
    <p:sldId id="973" r:id="rId33"/>
    <p:sldId id="974" r:id="rId34"/>
    <p:sldId id="975" r:id="rId35"/>
    <p:sldId id="976" r:id="rId36"/>
    <p:sldId id="977" r:id="rId37"/>
    <p:sldId id="978" r:id="rId38"/>
    <p:sldId id="979" r:id="rId39"/>
    <p:sldId id="980" r:id="rId40"/>
    <p:sldId id="981" r:id="rId41"/>
    <p:sldId id="982" r:id="rId42"/>
    <p:sldId id="983" r:id="rId43"/>
    <p:sldId id="985" r:id="rId44"/>
    <p:sldId id="986" r:id="rId45"/>
    <p:sldId id="987" r:id="rId46"/>
    <p:sldId id="988" r:id="rId47"/>
    <p:sldId id="989" r:id="rId48"/>
    <p:sldId id="990" r:id="rId49"/>
    <p:sldId id="991" r:id="rId50"/>
    <p:sldId id="992"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B74"/>
    <a:srgbClr val="FFFFFF"/>
    <a:srgbClr val="FFC425"/>
    <a:srgbClr val="E5E6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167F09-D0C8-4207-85D9-9DDBBC0438CB}" v="10" dt="2020-08-11T15:12:59.578"/>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96" autoAdjust="0"/>
    <p:restoredTop sz="82857"/>
  </p:normalViewPr>
  <p:slideViewPr>
    <p:cSldViewPr snapToGrid="0">
      <p:cViewPr>
        <p:scale>
          <a:sx n="100" d="100"/>
          <a:sy n="100" d="100"/>
        </p:scale>
        <p:origin x="1864" y="272"/>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Yuan Gregory" userId="8839d734-a022-4f7a-aa1a-7ded42ea4e8b" providerId="ADAL" clId="{55167F09-D0C8-4207-85D9-9DDBBC0438CB}"/>
    <pc:docChg chg="modSld modMainMaster">
      <pc:chgData name="Paula-Yuan Gregory" userId="8839d734-a022-4f7a-aa1a-7ded42ea4e8b" providerId="ADAL" clId="{55167F09-D0C8-4207-85D9-9DDBBC0438CB}" dt="2020-08-11T15:19:35.168" v="74" actId="20577"/>
      <pc:docMkLst>
        <pc:docMk/>
      </pc:docMkLst>
      <pc:sldChg chg="addSp delSp modSp">
        <pc:chgData name="Paula-Yuan Gregory" userId="8839d734-a022-4f7a-aa1a-7ded42ea4e8b" providerId="ADAL" clId="{55167F09-D0C8-4207-85D9-9DDBBC0438CB}" dt="2020-08-11T15:11:55.446" v="13" actId="20577"/>
        <pc:sldMkLst>
          <pc:docMk/>
          <pc:sldMk cId="3262984331" sldId="947"/>
        </pc:sldMkLst>
        <pc:spChg chg="add mod">
          <ac:chgData name="Paula-Yuan Gregory" userId="8839d734-a022-4f7a-aa1a-7ded42ea4e8b" providerId="ADAL" clId="{55167F09-D0C8-4207-85D9-9DDBBC0438CB}" dt="2020-08-11T15:11:55.446" v="13" actId="20577"/>
          <ac:spMkLst>
            <pc:docMk/>
            <pc:sldMk cId="3262984331" sldId="947"/>
            <ac:spMk id="5" creationId="{EF8EA716-7661-450E-9756-2BB9AEBA901B}"/>
          </ac:spMkLst>
        </pc:spChg>
        <pc:picChg chg="del">
          <ac:chgData name="Paula-Yuan Gregory" userId="8839d734-a022-4f7a-aa1a-7ded42ea4e8b" providerId="ADAL" clId="{55167F09-D0C8-4207-85D9-9DDBBC0438CB}" dt="2020-08-11T15:11:52.668" v="0" actId="478"/>
          <ac:picMkLst>
            <pc:docMk/>
            <pc:sldMk cId="3262984331" sldId="947"/>
            <ac:picMk id="13315" creationId="{249435F8-E600-0544-8FB5-611CF46FE321}"/>
          </ac:picMkLst>
        </pc:picChg>
      </pc:sldChg>
      <pc:sldChg chg="addSp delSp modSp">
        <pc:chgData name="Paula-Yuan Gregory" userId="8839d734-a022-4f7a-aa1a-7ded42ea4e8b" providerId="ADAL" clId="{55167F09-D0C8-4207-85D9-9DDBBC0438CB}" dt="2020-08-11T15:12:09.852" v="26" actId="20577"/>
        <pc:sldMkLst>
          <pc:docMk/>
          <pc:sldMk cId="4076650071" sldId="959"/>
        </pc:sldMkLst>
        <pc:spChg chg="add mod">
          <ac:chgData name="Paula-Yuan Gregory" userId="8839d734-a022-4f7a-aa1a-7ded42ea4e8b" providerId="ADAL" clId="{55167F09-D0C8-4207-85D9-9DDBBC0438CB}" dt="2020-08-11T15:12:09.852" v="26" actId="20577"/>
          <ac:spMkLst>
            <pc:docMk/>
            <pc:sldMk cId="4076650071" sldId="959"/>
            <ac:spMk id="5" creationId="{DA6149D4-62CE-4F5C-A506-9A1BFE99701A}"/>
          </ac:spMkLst>
        </pc:spChg>
        <pc:picChg chg="del">
          <ac:chgData name="Paula-Yuan Gregory" userId="8839d734-a022-4f7a-aa1a-7ded42ea4e8b" providerId="ADAL" clId="{55167F09-D0C8-4207-85D9-9DDBBC0438CB}" dt="2020-08-11T15:12:07.577" v="14" actId="478"/>
          <ac:picMkLst>
            <pc:docMk/>
            <pc:sldMk cId="4076650071" sldId="959"/>
            <ac:picMk id="37892" creationId="{C19B2242-5730-B84F-9073-82B85C01044F}"/>
          </ac:picMkLst>
        </pc:picChg>
      </pc:sldChg>
      <pc:sldChg chg="addSp delSp modSp">
        <pc:chgData name="Paula-Yuan Gregory" userId="8839d734-a022-4f7a-aa1a-7ded42ea4e8b" providerId="ADAL" clId="{55167F09-D0C8-4207-85D9-9DDBBC0438CB}" dt="2020-08-11T15:12:29.303" v="41" actId="1076"/>
        <pc:sldMkLst>
          <pc:docMk/>
          <pc:sldMk cId="407831125" sldId="960"/>
        </pc:sldMkLst>
        <pc:spChg chg="add mod">
          <ac:chgData name="Paula-Yuan Gregory" userId="8839d734-a022-4f7a-aa1a-7ded42ea4e8b" providerId="ADAL" clId="{55167F09-D0C8-4207-85D9-9DDBBC0438CB}" dt="2020-08-11T15:12:29.303" v="41" actId="1076"/>
          <ac:spMkLst>
            <pc:docMk/>
            <pc:sldMk cId="407831125" sldId="960"/>
            <ac:spMk id="6" creationId="{191232DB-EDE1-48B0-BD7A-12F663382263}"/>
          </ac:spMkLst>
        </pc:spChg>
        <pc:picChg chg="del">
          <ac:chgData name="Paula-Yuan Gregory" userId="8839d734-a022-4f7a-aa1a-7ded42ea4e8b" providerId="ADAL" clId="{55167F09-D0C8-4207-85D9-9DDBBC0438CB}" dt="2020-08-11T15:12:24.021" v="27" actId="478"/>
          <ac:picMkLst>
            <pc:docMk/>
            <pc:sldMk cId="407831125" sldId="960"/>
            <ac:picMk id="39940" creationId="{CFBC6EB9-CCB9-2F47-BAC5-37F27AEBB18D}"/>
          </ac:picMkLst>
        </pc:picChg>
      </pc:sldChg>
      <pc:sldChg chg="addSp delSp modSp">
        <pc:chgData name="Paula-Yuan Gregory" userId="8839d734-a022-4f7a-aa1a-7ded42ea4e8b" providerId="ADAL" clId="{55167F09-D0C8-4207-85D9-9DDBBC0438CB}" dt="2020-08-11T15:12:39.891" v="55" actId="20577"/>
        <pc:sldMkLst>
          <pc:docMk/>
          <pc:sldMk cId="2357700463" sldId="961"/>
        </pc:sldMkLst>
        <pc:spChg chg="add mod">
          <ac:chgData name="Paula-Yuan Gregory" userId="8839d734-a022-4f7a-aa1a-7ded42ea4e8b" providerId="ADAL" clId="{55167F09-D0C8-4207-85D9-9DDBBC0438CB}" dt="2020-08-11T15:12:39.891" v="55" actId="20577"/>
          <ac:spMkLst>
            <pc:docMk/>
            <pc:sldMk cId="2357700463" sldId="961"/>
            <ac:spMk id="6" creationId="{DB3ED3D1-E830-4975-BD84-AFC7D3B9C6FB}"/>
          </ac:spMkLst>
        </pc:spChg>
        <pc:picChg chg="del">
          <ac:chgData name="Paula-Yuan Gregory" userId="8839d734-a022-4f7a-aa1a-7ded42ea4e8b" providerId="ADAL" clId="{55167F09-D0C8-4207-85D9-9DDBBC0438CB}" dt="2020-08-11T15:12:37.469" v="42" actId="478"/>
          <ac:picMkLst>
            <pc:docMk/>
            <pc:sldMk cId="2357700463" sldId="961"/>
            <ac:picMk id="41989" creationId="{C17E510C-3DDC-5746-8103-1EEDE72E80EF}"/>
          </ac:picMkLst>
        </pc:picChg>
      </pc:sldChg>
      <pc:sldChg chg="addSp delSp modSp">
        <pc:chgData name="Paula-Yuan Gregory" userId="8839d734-a022-4f7a-aa1a-7ded42ea4e8b" providerId="ADAL" clId="{55167F09-D0C8-4207-85D9-9DDBBC0438CB}" dt="2020-08-11T15:13:02.676" v="70" actId="20577"/>
        <pc:sldMkLst>
          <pc:docMk/>
          <pc:sldMk cId="2865753049" sldId="967"/>
        </pc:sldMkLst>
        <pc:spChg chg="add mod">
          <ac:chgData name="Paula-Yuan Gregory" userId="8839d734-a022-4f7a-aa1a-7ded42ea4e8b" providerId="ADAL" clId="{55167F09-D0C8-4207-85D9-9DDBBC0438CB}" dt="2020-08-11T15:13:02.676" v="70" actId="20577"/>
          <ac:spMkLst>
            <pc:docMk/>
            <pc:sldMk cId="2865753049" sldId="967"/>
            <ac:spMk id="5" creationId="{D6910BAB-1A9D-4D76-B49F-F7ECF35CA6B4}"/>
          </ac:spMkLst>
        </pc:spChg>
        <pc:picChg chg="del">
          <ac:chgData name="Paula-Yuan Gregory" userId="8839d734-a022-4f7a-aa1a-7ded42ea4e8b" providerId="ADAL" clId="{55167F09-D0C8-4207-85D9-9DDBBC0438CB}" dt="2020-08-11T15:12:59.328" v="56" actId="478"/>
          <ac:picMkLst>
            <pc:docMk/>
            <pc:sldMk cId="2865753049" sldId="967"/>
            <ac:picMk id="56324" creationId="{FE8523FB-9838-D644-9FA5-A5EA86704C69}"/>
          </ac:picMkLst>
        </pc:picChg>
      </pc:sldChg>
      <pc:sldMasterChg chg="modSp modSldLayout">
        <pc:chgData name="Paula-Yuan Gregory" userId="8839d734-a022-4f7a-aa1a-7ded42ea4e8b" providerId="ADAL" clId="{55167F09-D0C8-4207-85D9-9DDBBC0438CB}" dt="2020-08-11T15:19:35.168" v="74" actId="20577"/>
        <pc:sldMasterMkLst>
          <pc:docMk/>
          <pc:sldMasterMk cId="2871921020" sldId="2147483648"/>
        </pc:sldMasterMkLst>
        <pc:spChg chg="mod">
          <ac:chgData name="Paula-Yuan Gregory" userId="8839d734-a022-4f7a-aa1a-7ded42ea4e8b" providerId="ADAL" clId="{55167F09-D0C8-4207-85D9-9DDBBC0438CB}" dt="2020-08-11T15:19:35.168" v="74" actId="20577"/>
          <ac:spMkLst>
            <pc:docMk/>
            <pc:sldMasterMk cId="2871921020" sldId="2147483648"/>
            <ac:spMk id="7" creationId="{21F38BD8-3F75-CE4C-AFEF-0C6B45F77F8C}"/>
          </ac:spMkLst>
        </pc:spChg>
        <pc:sldLayoutChg chg="modSp">
          <pc:chgData name="Paula-Yuan Gregory" userId="8839d734-a022-4f7a-aa1a-7ded42ea4e8b" providerId="ADAL" clId="{55167F09-D0C8-4207-85D9-9DDBBC0438CB}" dt="2020-08-11T15:19:30.278" v="72" actId="20577"/>
          <pc:sldLayoutMkLst>
            <pc:docMk/>
            <pc:sldMasterMk cId="2871921020" sldId="2147483648"/>
            <pc:sldLayoutMk cId="3047549913" sldId="2147483649"/>
          </pc:sldLayoutMkLst>
          <pc:spChg chg="mod">
            <ac:chgData name="Paula-Yuan Gregory" userId="8839d734-a022-4f7a-aa1a-7ded42ea4e8b" providerId="ADAL" clId="{55167F09-D0C8-4207-85D9-9DDBBC0438CB}" dt="2020-08-11T15:19:30.278" v="72" actId="20577"/>
            <ac:spMkLst>
              <pc:docMk/>
              <pc:sldMasterMk cId="2871921020" sldId="2147483648"/>
              <pc:sldLayoutMk cId="3047549913" sldId="2147483649"/>
              <ac:spMk id="17" creationId="{BEEECFBC-FB4D-9945-A4FF-28E342055AC3}"/>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latin typeface="Arial" panose="020B0604020202020204" pitchFamily="34" charset="0"/>
              </a:rPr>
              <a:t>11/30/20</a:t>
            </a:fld>
            <a:endParaRPr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latin typeface="Arial" panose="020B0604020202020204" pitchFamily="34" charset="0"/>
              </a:rPr>
              <a:t>‹#›</a:t>
            </a:fld>
            <a:endParaRPr dirty="0">
              <a:latin typeface="Arial" panose="020B0604020202020204" pitchFamily="34" charset="0"/>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37F6C43-988E-4257-9A1C-C162EF036D58}" type="datetimeFigureOut">
              <a:rPr lang="en-US" smtClean="0"/>
              <a:pPr/>
              <a:t>11/30/20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DED491D0-8E1B-49C7-849B-A28568D94497}" type="slidenum">
              <a:rPr lang="en-US" smtClean="0"/>
              <a:pPr/>
              <a:t>‹#›</a:t>
            </a:fld>
            <a:endParaRPr lang="en-US" dirty="0"/>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a:extLst>
              <a:ext uri="{FF2B5EF4-FFF2-40B4-BE49-F238E27FC236}">
                <a16:creationId xmlns:a16="http://schemas.microsoft.com/office/drawing/2014/main" id="{4A543E8C-81A1-3747-AE26-103A5B463E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6" name="Rectangle 3">
            <a:extLst>
              <a:ext uri="{FF2B5EF4-FFF2-40B4-BE49-F238E27FC236}">
                <a16:creationId xmlns:a16="http://schemas.microsoft.com/office/drawing/2014/main" id="{82C52F6F-00C0-8346-AE5F-C4DAD25567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dirty="0"/>
              <a:t>Trauma:</a:t>
            </a:r>
          </a:p>
          <a:p>
            <a:r>
              <a:rPr lang="en-US" altLang="en-US" dirty="0"/>
              <a:t>Uses simple knowledge to recognize and manage life threats based on assessment findings for an acutely injured patient while awaiting additional emergency medical response.</a:t>
            </a:r>
          </a:p>
          <a:p>
            <a:pPr eaLnBrk="1" hangingPunct="1"/>
            <a:endParaRPr lang="en-US" altLang="en-US" dirty="0"/>
          </a:p>
        </p:txBody>
      </p:sp>
    </p:spTree>
    <p:extLst>
      <p:ext uri="{BB962C8B-B14F-4D97-AF65-F5344CB8AC3E}">
        <p14:creationId xmlns:p14="http://schemas.microsoft.com/office/powerpoint/2010/main" val="2156666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59FE7A56-7635-714A-946F-79D5CE8119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4" name="Rectangle 3">
            <a:extLst>
              <a:ext uri="{FF2B5EF4-FFF2-40B4-BE49-F238E27FC236}">
                <a16:creationId xmlns:a16="http://schemas.microsoft.com/office/drawing/2014/main" id="{0C8802F4-D4F8-0A45-A684-1B4E3A0841F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i="1" dirty="0"/>
              <a:t>Environmental Emergencies:</a:t>
            </a:r>
          </a:p>
          <a:p>
            <a:r>
              <a:rPr lang="en-US" altLang="en-US" dirty="0"/>
              <a:t>Recognition and management of:</a:t>
            </a:r>
          </a:p>
          <a:p>
            <a:r>
              <a:rPr lang="en-US" altLang="en-US" dirty="0"/>
              <a:t>• Submersion incidents. (pp 261-262)</a:t>
            </a:r>
          </a:p>
          <a:p>
            <a:r>
              <a:rPr lang="en-US" altLang="en-US" dirty="0"/>
              <a:t>• Temperature-related illness. (pp 256-259)</a:t>
            </a:r>
          </a:p>
          <a:p>
            <a:pPr eaLnBrk="1" hangingPunct="1"/>
            <a:endParaRPr lang="en-US" altLang="en-US" dirty="0"/>
          </a:p>
        </p:txBody>
      </p:sp>
    </p:spTree>
    <p:extLst>
      <p:ext uri="{BB962C8B-B14F-4D97-AF65-F5344CB8AC3E}">
        <p14:creationId xmlns:p14="http://schemas.microsoft.com/office/powerpoint/2010/main" val="36302943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a:extLst>
              <a:ext uri="{FF2B5EF4-FFF2-40B4-BE49-F238E27FC236}">
                <a16:creationId xmlns:a16="http://schemas.microsoft.com/office/drawing/2014/main" id="{F76B267C-B5C4-B94C-871B-946F545E46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0" name="Rectangle 3">
            <a:extLst>
              <a:ext uri="{FF2B5EF4-FFF2-40B4-BE49-F238E27FC236}">
                <a16:creationId xmlns:a16="http://schemas.microsoft.com/office/drawing/2014/main" id="{ABBB867B-B5F1-F940-887C-6CA7DA6A86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 Introduction:</a:t>
            </a:r>
          </a:p>
          <a:p>
            <a:r>
              <a:rPr lang="en-US" altLang="en-US" dirty="0"/>
              <a:t>A.	When a person is exposed to excess heat, body’s mechanisms for regulating temperature can be overwhelmed, resulting in:</a:t>
            </a:r>
          </a:p>
          <a:p>
            <a:r>
              <a:rPr lang="en-US" altLang="en-US" dirty="0"/>
              <a:t>	1.	Heat cramps.</a:t>
            </a:r>
            <a:endParaRPr lang="en-US" altLang="en-US" b="1" dirty="0"/>
          </a:p>
          <a:p>
            <a:r>
              <a:rPr lang="en-US" altLang="en-US" dirty="0"/>
              <a:t>	2.	Heat exhaustion.</a:t>
            </a:r>
            <a:endParaRPr lang="en-US" altLang="en-US" b="1" dirty="0"/>
          </a:p>
          <a:p>
            <a:r>
              <a:rPr lang="en-US" altLang="en-US" dirty="0"/>
              <a:t>	3.	Heatstroke.</a:t>
            </a:r>
          </a:p>
          <a:p>
            <a:r>
              <a:rPr lang="en-US" altLang="en-US" dirty="0"/>
              <a:t>B.	Exposure to cold environments may result in conditions such as frostbite or hypothermia.</a:t>
            </a:r>
          </a:p>
          <a:p>
            <a:r>
              <a:rPr lang="en-US" altLang="en-US" dirty="0"/>
              <a:t>C.	Unintentional exposure to water can lead to submersion injuries and drowning.</a:t>
            </a:r>
          </a:p>
        </p:txBody>
      </p:sp>
    </p:spTree>
    <p:extLst>
      <p:ext uri="{BB962C8B-B14F-4D97-AF65-F5344CB8AC3E}">
        <p14:creationId xmlns:p14="http://schemas.microsoft.com/office/powerpoint/2010/main" val="16928690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59296EDF-6D44-9344-8DAC-276E31F3043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8" name="Rectangle 3">
            <a:extLst>
              <a:ext uri="{FF2B5EF4-FFF2-40B4-BE49-F238E27FC236}">
                <a16:creationId xmlns:a16="http://schemas.microsoft.com/office/drawing/2014/main" id="{CBCE1445-05FC-4442-998D-A1288E124EB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II. Patient Assessment for Environmental Emergencies:</a:t>
            </a:r>
          </a:p>
          <a:p>
            <a:r>
              <a:rPr lang="en-US" altLang="en-US" dirty="0"/>
              <a:t>A.	Your approach to a patient who has signs and symptoms of an environmental emergency should follow patient assessment sequence.</a:t>
            </a:r>
          </a:p>
          <a:p>
            <a:pPr eaLnBrk="1" hangingPunct="1"/>
            <a:endParaRPr lang="en-US" altLang="en-US" dirty="0"/>
          </a:p>
          <a:p>
            <a:pPr eaLnBrk="1" hangingPunct="1"/>
            <a:r>
              <a:rPr lang="en-US" altLang="en-US" dirty="0"/>
              <a:t>Figure: Patient assessment sequence.</a:t>
            </a:r>
          </a:p>
        </p:txBody>
      </p:sp>
    </p:spTree>
    <p:extLst>
      <p:ext uri="{BB962C8B-B14F-4D97-AF65-F5344CB8AC3E}">
        <p14:creationId xmlns:p14="http://schemas.microsoft.com/office/powerpoint/2010/main" val="3087626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5CC9B11D-7B7C-D242-950D-3A4775F223F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6" name="Rectangle 3">
            <a:extLst>
              <a:ext uri="{FF2B5EF4-FFF2-40B4-BE49-F238E27FC236}">
                <a16:creationId xmlns:a16="http://schemas.microsoft.com/office/drawing/2014/main" id="{DC3E6E64-691A-AD41-880D-8B869B28F52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1.	Review dispatch information to help you decide on possibilities for patient’s problem.</a:t>
            </a:r>
            <a:endParaRPr lang="en-US" altLang="en-US" b="1" dirty="0"/>
          </a:p>
          <a:p>
            <a:r>
              <a:rPr lang="en-US" altLang="en-US" dirty="0"/>
              <a:t>2.	Asses scene to determine safety issues for you and patient.</a:t>
            </a:r>
            <a:endParaRPr lang="en-US" altLang="en-US" b="1" dirty="0"/>
          </a:p>
          <a:p>
            <a:r>
              <a:rPr lang="en-US" altLang="en-US" dirty="0"/>
              <a:t>3.	As you perform primary assessment:</a:t>
            </a:r>
            <a:endParaRPr lang="en-US" altLang="en-US" b="1" dirty="0"/>
          </a:p>
          <a:p>
            <a:r>
              <a:rPr lang="en-US" altLang="en-US" dirty="0"/>
              <a:t>	a.	Try to form an impression of patient’s condition.</a:t>
            </a:r>
            <a:endParaRPr lang="en-US" altLang="en-US" b="1" dirty="0"/>
          </a:p>
          <a:p>
            <a:r>
              <a:rPr lang="en-US" altLang="en-US" dirty="0"/>
              <a:t>	b.	Determine patient’s level of responsiveness.</a:t>
            </a:r>
            <a:endParaRPr lang="en-US" altLang="en-US" b="1" dirty="0"/>
          </a:p>
          <a:p>
            <a:r>
              <a:rPr lang="en-US" altLang="en-US" dirty="0"/>
              <a:t>	c.	Introduce yourself.</a:t>
            </a:r>
            <a:endParaRPr lang="en-US" altLang="en-US" b="1" dirty="0"/>
          </a:p>
          <a:p>
            <a:r>
              <a:rPr lang="en-US" altLang="en-US" dirty="0"/>
              <a:t>	d.	Check patient’s ABCs.</a:t>
            </a:r>
            <a:endParaRPr lang="en-US" altLang="en-US" b="1" dirty="0"/>
          </a:p>
          <a:p>
            <a:r>
              <a:rPr lang="en-US" altLang="en-US" dirty="0"/>
              <a:t>	e.	Acknowledge patient’s chief complaint.</a:t>
            </a:r>
            <a:endParaRPr lang="en-US" altLang="en-US" b="1" dirty="0"/>
          </a:p>
          <a:p>
            <a:pPr eaLnBrk="1" hangingPunct="1"/>
            <a:endParaRPr lang="en-US" altLang="en-US" dirty="0"/>
          </a:p>
        </p:txBody>
      </p:sp>
    </p:spTree>
    <p:extLst>
      <p:ext uri="{BB962C8B-B14F-4D97-AF65-F5344CB8AC3E}">
        <p14:creationId xmlns:p14="http://schemas.microsoft.com/office/powerpoint/2010/main" val="3370505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69495B1B-597D-5248-B0BF-9A09FD5D53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4" name="Rectangle 3">
            <a:extLst>
              <a:ext uri="{FF2B5EF4-FFF2-40B4-BE49-F238E27FC236}">
                <a16:creationId xmlns:a16="http://schemas.microsoft.com/office/drawing/2014/main" id="{83908F83-1E8A-6444-9802-814C5FC8A77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4.	Usually, it is best to collect a medical history of patient experiencing a medical problem before you perform a secondary assessment.</a:t>
            </a:r>
            <a:endParaRPr lang="en-US" altLang="en-US" b="1" dirty="0"/>
          </a:p>
          <a:p>
            <a:r>
              <a:rPr lang="en-US" altLang="en-US" dirty="0"/>
              <a:t>	a.	SAMPLE history format that follows will help you secure necessary information:</a:t>
            </a:r>
            <a:endParaRPr lang="en-US" altLang="en-US" b="1" dirty="0"/>
          </a:p>
          <a:p>
            <a:r>
              <a:rPr lang="en-US" altLang="en-US" dirty="0"/>
              <a:t>		</a:t>
            </a:r>
            <a:r>
              <a:rPr lang="en-US" altLang="en-US" dirty="0" err="1"/>
              <a:t>i</a:t>
            </a:r>
            <a:r>
              <a:rPr lang="en-US" altLang="en-US" dirty="0"/>
              <a:t>.	Signs/symptoms.</a:t>
            </a:r>
            <a:endParaRPr lang="en-US" altLang="en-US" b="1" dirty="0"/>
          </a:p>
          <a:p>
            <a:r>
              <a:rPr lang="en-US" altLang="en-US" dirty="0"/>
              <a:t>		ii.	Allergies.</a:t>
            </a:r>
            <a:endParaRPr lang="en-US" altLang="en-US" b="1" dirty="0"/>
          </a:p>
          <a:p>
            <a:r>
              <a:rPr lang="en-US" altLang="en-US" dirty="0"/>
              <a:t>		iii.	Medications.</a:t>
            </a:r>
            <a:endParaRPr lang="en-US" altLang="en-US" b="1" dirty="0"/>
          </a:p>
          <a:p>
            <a:r>
              <a:rPr lang="en-US" altLang="en-US" dirty="0"/>
              <a:t>		iv.	Pertinent past history.</a:t>
            </a:r>
            <a:endParaRPr lang="en-US" altLang="en-US" b="1" dirty="0"/>
          </a:p>
          <a:p>
            <a:r>
              <a:rPr lang="en-US" altLang="en-US" dirty="0"/>
              <a:t>		v.	Last oral intake.</a:t>
            </a:r>
            <a:endParaRPr lang="en-US" altLang="en-US" b="1" dirty="0"/>
          </a:p>
          <a:p>
            <a:r>
              <a:rPr lang="en-US" altLang="en-US" dirty="0"/>
              <a:t>		vi.	Events associated with or leading to illness or injury.</a:t>
            </a:r>
            <a:endParaRPr lang="en-US" altLang="en-US" b="1" dirty="0"/>
          </a:p>
          <a:p>
            <a:r>
              <a:rPr lang="en-US" altLang="en-US" dirty="0"/>
              <a:t>5.	Secondary patient assessment focuses on areas related to patient’s current illness.</a:t>
            </a:r>
            <a:endParaRPr lang="en-US" altLang="en-US" b="1" dirty="0"/>
          </a:p>
          <a:p>
            <a:r>
              <a:rPr lang="en-US" altLang="en-US" dirty="0"/>
              <a:t>	a.	Patient may not always be aware of all various aspects of his or her problem.</a:t>
            </a:r>
            <a:endParaRPr lang="en-US" altLang="en-US" b="1" dirty="0"/>
          </a:p>
          <a:p>
            <a:r>
              <a:rPr lang="en-US" altLang="en-US" dirty="0"/>
              <a:t>	b.	Obtain patient’s vital signs.</a:t>
            </a:r>
            <a:endParaRPr lang="en-US" altLang="en-US" b="1" dirty="0"/>
          </a:p>
          <a:p>
            <a:r>
              <a:rPr lang="en-US" altLang="en-US" dirty="0"/>
              <a:t>6.	Monitor patient through the use of ongoing reassessment if arrival of additional EMS personnel is delayed.</a:t>
            </a:r>
            <a:endParaRPr lang="en-US" altLang="en-US" b="1" dirty="0"/>
          </a:p>
          <a:p>
            <a:pPr eaLnBrk="1" hangingPunct="1"/>
            <a:endParaRPr lang="en-US" altLang="en-US" dirty="0"/>
          </a:p>
        </p:txBody>
      </p:sp>
    </p:spTree>
    <p:extLst>
      <p:ext uri="{BB962C8B-B14F-4D97-AF65-F5344CB8AC3E}">
        <p14:creationId xmlns:p14="http://schemas.microsoft.com/office/powerpoint/2010/main" val="1873118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8A1D670F-1404-4F46-B89C-5410D6CD0C2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2" name="Rectangle 3">
            <a:extLst>
              <a:ext uri="{FF2B5EF4-FFF2-40B4-BE49-F238E27FC236}">
                <a16:creationId xmlns:a16="http://schemas.microsoft.com/office/drawing/2014/main" id="{37B574D9-085A-734D-912A-2FA587379A1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III. Exposure to Heat</a:t>
            </a:r>
          </a:p>
          <a:p>
            <a:r>
              <a:rPr lang="en-US" altLang="en-US" dirty="0"/>
              <a:t>A.	Heat cramps:</a:t>
            </a:r>
          </a:p>
          <a:p>
            <a:r>
              <a:rPr lang="en-US" altLang="en-US" dirty="0"/>
              <a:t>	1.	Heat cramps are painful involuntary spasms of muscles.</a:t>
            </a:r>
            <a:endParaRPr lang="en-US" altLang="en-US" b="1" dirty="0"/>
          </a:p>
          <a:p>
            <a:r>
              <a:rPr lang="en-US" altLang="en-US" dirty="0"/>
              <a:t>	2.	They often occur after exercise, especially in hot weather.</a:t>
            </a:r>
            <a:endParaRPr lang="en-US" altLang="en-US" b="1" dirty="0"/>
          </a:p>
          <a:p>
            <a:r>
              <a:rPr lang="en-US" altLang="en-US" dirty="0"/>
              <a:t>	3.	Exact cause of heat cramps is not known, but is thought to be related partly to change in the electrolyte levels that occurs during exercise and partly to dehydration that accompanies exercise or working in a hot environment.</a:t>
            </a:r>
            <a:endParaRPr lang="en-US" altLang="en-US" b="1" dirty="0"/>
          </a:p>
          <a:p>
            <a:r>
              <a:rPr lang="en-US" altLang="en-US" dirty="0"/>
              <a:t>	4.	Occur most often in leg or calf muscles.</a:t>
            </a:r>
            <a:endParaRPr lang="en-US" altLang="en-US" b="1" dirty="0"/>
          </a:p>
          <a:p>
            <a:r>
              <a:rPr lang="en-US" altLang="en-US" dirty="0"/>
              <a:t>	5.	When abdominal cramps occur, it may appear that patient is having an acute abdominal problem.</a:t>
            </a:r>
            <a:endParaRPr lang="en-US" altLang="en-US" b="1" dirty="0"/>
          </a:p>
          <a:p>
            <a:pPr eaLnBrk="1" hangingPunct="1"/>
            <a:endParaRPr lang="en-US" altLang="en-US" dirty="0"/>
          </a:p>
        </p:txBody>
      </p:sp>
    </p:spTree>
    <p:extLst>
      <p:ext uri="{BB962C8B-B14F-4D97-AF65-F5344CB8AC3E}">
        <p14:creationId xmlns:p14="http://schemas.microsoft.com/office/powerpoint/2010/main" val="22229874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C1BED469-D825-2A49-9F01-ED06FE88ADC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0" name="Rectangle 3">
            <a:extLst>
              <a:ext uri="{FF2B5EF4-FFF2-40B4-BE49-F238E27FC236}">
                <a16:creationId xmlns:a16="http://schemas.microsoft.com/office/drawing/2014/main" id="{3BD83C23-50F3-1346-AEE0-54071307C37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6.	Treatment of heat cramps:</a:t>
            </a:r>
            <a:endParaRPr lang="en-US" altLang="en-US" b="1" dirty="0"/>
          </a:p>
          <a:p>
            <a:r>
              <a:rPr lang="en-US" altLang="en-US" dirty="0"/>
              <a:t>	a.	Move patient to a cool place.</a:t>
            </a:r>
            <a:endParaRPr lang="en-US" altLang="en-US" b="1" dirty="0"/>
          </a:p>
          <a:p>
            <a:r>
              <a:rPr lang="en-US" altLang="en-US" dirty="0"/>
              <a:t>	b.	Have patient lie down in a comfortable position.</a:t>
            </a:r>
            <a:endParaRPr lang="en-US" altLang="en-US" b="1" dirty="0"/>
          </a:p>
          <a:p>
            <a:r>
              <a:rPr lang="en-US" altLang="en-US" dirty="0"/>
              <a:t>	c.	Give patient water to drink.</a:t>
            </a:r>
            <a:endParaRPr lang="en-US" altLang="en-US" b="1" dirty="0"/>
          </a:p>
          <a:p>
            <a:r>
              <a:rPr lang="en-US" altLang="en-US" dirty="0"/>
              <a:t>	d.	If cramps do not disappear, or if patient is young, old, or has a chronic medical condition, arrange to have patient transported to an appropriate medical facility.</a:t>
            </a:r>
            <a:endParaRPr lang="en-US" altLang="en-US" b="1" dirty="0"/>
          </a:p>
          <a:p>
            <a:pPr eaLnBrk="1" hangingPunct="1"/>
            <a:endParaRPr lang="en-US" altLang="en-US" dirty="0"/>
          </a:p>
        </p:txBody>
      </p:sp>
    </p:spTree>
    <p:extLst>
      <p:ext uri="{BB962C8B-B14F-4D97-AF65-F5344CB8AC3E}">
        <p14:creationId xmlns:p14="http://schemas.microsoft.com/office/powerpoint/2010/main" val="2035300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16C78711-661E-0E44-90B8-C036E1CA85B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8" name="Rectangle 3">
            <a:extLst>
              <a:ext uri="{FF2B5EF4-FFF2-40B4-BE49-F238E27FC236}">
                <a16:creationId xmlns:a16="http://schemas.microsoft.com/office/drawing/2014/main" id="{2F98FB62-6F18-5642-BB1C-5F11901382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B.	Heat exhaustion:</a:t>
            </a:r>
          </a:p>
          <a:p>
            <a:r>
              <a:rPr lang="en-US" altLang="en-US" dirty="0"/>
              <a:t>	1.	Heat exhaustion occurs when a person is exposed to temperatures higher than 80</a:t>
            </a:r>
            <a:r>
              <a:rPr lang="en-US" altLang="en-US" dirty="0">
                <a:cs typeface="Arial" panose="020B0604020202020204" pitchFamily="34" charset="0"/>
                <a:sym typeface="Symbol" pitchFamily="2" charset="2"/>
              </a:rPr>
              <a:t></a:t>
            </a:r>
            <a:r>
              <a:rPr lang="en-US" altLang="en-US" dirty="0"/>
              <a:t>F (27</a:t>
            </a:r>
            <a:r>
              <a:rPr lang="en-US" altLang="en-US" dirty="0">
                <a:cs typeface="Arial" panose="020B0604020202020204" pitchFamily="34" charset="0"/>
                <a:sym typeface="Symbol" pitchFamily="2" charset="2"/>
              </a:rPr>
              <a:t></a:t>
            </a:r>
            <a:r>
              <a:rPr lang="en-US" altLang="en-US" dirty="0"/>
              <a:t>C), usually in combination with high humidity.</a:t>
            </a:r>
          </a:p>
          <a:p>
            <a:r>
              <a:rPr lang="en-US" altLang="en-US" dirty="0"/>
              <a:t>	2.	It can also occur as result of vigorous exercise at lower temperatures.</a:t>
            </a:r>
          </a:p>
          <a:p>
            <a:pPr eaLnBrk="1" hangingPunct="1"/>
            <a:endParaRPr lang="en-US" altLang="en-US" dirty="0"/>
          </a:p>
        </p:txBody>
      </p:sp>
    </p:spTree>
    <p:extLst>
      <p:ext uri="{BB962C8B-B14F-4D97-AF65-F5344CB8AC3E}">
        <p14:creationId xmlns:p14="http://schemas.microsoft.com/office/powerpoint/2010/main" val="1183947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CD5932EE-03F3-C244-AA2D-3E179DC0F06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6" name="Rectangle 3">
            <a:extLst>
              <a:ext uri="{FF2B5EF4-FFF2-40B4-BE49-F238E27FC236}">
                <a16:creationId xmlns:a16="http://schemas.microsoft.com/office/drawing/2014/main" id="{D156B9AD-121A-3D44-A1FF-5938BA36FC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3.	Signs and symptoms of heat exhaustion include:</a:t>
            </a:r>
          </a:p>
          <a:p>
            <a:r>
              <a:rPr lang="en-US" altLang="en-US" dirty="0"/>
              <a:t>	a.	Profuse sweating. </a:t>
            </a:r>
          </a:p>
          <a:p>
            <a:r>
              <a:rPr lang="en-US" altLang="en-US" dirty="0"/>
              <a:t>	b.	Lightheadedness.</a:t>
            </a:r>
          </a:p>
          <a:p>
            <a:r>
              <a:rPr lang="en-US" altLang="en-US" dirty="0"/>
              <a:t>	c.	Dizziness.</a:t>
            </a:r>
          </a:p>
          <a:p>
            <a:r>
              <a:rPr lang="en-US" altLang="en-US" dirty="0"/>
              <a:t>	d.	Nausea.</a:t>
            </a:r>
          </a:p>
          <a:p>
            <a:r>
              <a:rPr lang="en-US" altLang="en-US" dirty="0"/>
              <a:t>	e.	Weak pulse.</a:t>
            </a:r>
          </a:p>
          <a:p>
            <a:r>
              <a:rPr lang="en-US" altLang="en-US" dirty="0"/>
              <a:t>	f.	Low BP.</a:t>
            </a:r>
          </a:p>
          <a:p>
            <a:pPr eaLnBrk="1" hangingPunct="1"/>
            <a:endParaRPr lang="en-US" altLang="en-US" dirty="0"/>
          </a:p>
        </p:txBody>
      </p:sp>
    </p:spTree>
    <p:extLst>
      <p:ext uri="{BB962C8B-B14F-4D97-AF65-F5344CB8AC3E}">
        <p14:creationId xmlns:p14="http://schemas.microsoft.com/office/powerpoint/2010/main" val="11048521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E71616D6-9057-884E-ACD0-EF43D1C7C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4" name="Rectangle 3">
            <a:extLst>
              <a:ext uri="{FF2B5EF4-FFF2-40B4-BE49-F238E27FC236}">
                <a16:creationId xmlns:a16="http://schemas.microsoft.com/office/drawing/2014/main" id="{8ADC7E13-7BFE-B447-85B4-00EFAB116CB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4.	Predisposing factors may make some people more susceptible to heat-related illnesses.</a:t>
            </a:r>
          </a:p>
          <a:p>
            <a:r>
              <a:rPr lang="en-US" altLang="en-US" dirty="0"/>
              <a:t>	a.	Very young or older age (&gt; 65 years).</a:t>
            </a:r>
          </a:p>
          <a:p>
            <a:r>
              <a:rPr lang="en-US" altLang="en-US" dirty="0"/>
              <a:t>	b.	Preexisting medical conditions.</a:t>
            </a:r>
          </a:p>
          <a:p>
            <a:r>
              <a:rPr lang="en-US" altLang="en-US" dirty="0"/>
              <a:t>	c.	Certain medications.</a:t>
            </a:r>
          </a:p>
          <a:p>
            <a:r>
              <a:rPr lang="en-US" altLang="en-US" dirty="0"/>
              <a:t>	d.	High air temperatures.</a:t>
            </a:r>
          </a:p>
          <a:p>
            <a:r>
              <a:rPr lang="en-US" altLang="en-US" dirty="0"/>
              <a:t>	e.	High humidity – reduces ability to lose heat through evaporation.</a:t>
            </a:r>
          </a:p>
          <a:p>
            <a:pPr eaLnBrk="1" hangingPunct="1"/>
            <a:endParaRPr lang="en-US" altLang="en-US" dirty="0"/>
          </a:p>
        </p:txBody>
      </p:sp>
    </p:spTree>
    <p:extLst>
      <p:ext uri="{BB962C8B-B14F-4D97-AF65-F5344CB8AC3E}">
        <p14:creationId xmlns:p14="http://schemas.microsoft.com/office/powerpoint/2010/main" val="1507320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B582569C-1492-8649-9392-4297FF84CF3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2" name="Rectangle 3">
            <a:extLst>
              <a:ext uri="{FF2B5EF4-FFF2-40B4-BE49-F238E27FC236}">
                <a16:creationId xmlns:a16="http://schemas.microsoft.com/office/drawing/2014/main" id="{BD16908B-D738-CA48-B8C4-E57A8B2938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5.	Treatment of heat exhaustion:</a:t>
            </a:r>
          </a:p>
          <a:p>
            <a:r>
              <a:rPr lang="en-US" altLang="en-US" dirty="0"/>
              <a:t>	a.	Move patient to a cooler place and treat him or her for shock.</a:t>
            </a:r>
          </a:p>
          <a:p>
            <a:r>
              <a:rPr lang="en-US" altLang="en-US" dirty="0"/>
              <a:t>	b.	Unless patient is unconscious, nauseated, or vomiting, give fluids by mouth.</a:t>
            </a:r>
          </a:p>
          <a:p>
            <a:r>
              <a:rPr lang="en-US" altLang="en-US" dirty="0"/>
              <a:t>	c.	Monitor ABCs.</a:t>
            </a:r>
          </a:p>
          <a:p>
            <a:r>
              <a:rPr lang="en-US" altLang="en-US" dirty="0"/>
              <a:t>	d.	Arrange transport to a medical facility.</a:t>
            </a:r>
          </a:p>
          <a:p>
            <a:pPr eaLnBrk="1" hangingPunct="1"/>
            <a:endParaRPr lang="en-US" altLang="en-US" dirty="0"/>
          </a:p>
        </p:txBody>
      </p:sp>
    </p:spTree>
    <p:extLst>
      <p:ext uri="{BB962C8B-B14F-4D97-AF65-F5344CB8AC3E}">
        <p14:creationId xmlns:p14="http://schemas.microsoft.com/office/powerpoint/2010/main" val="21325073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E3325A38-91CE-2D48-99DA-10A8C96C2DA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0" name="Rectangle 3">
            <a:extLst>
              <a:ext uri="{FF2B5EF4-FFF2-40B4-BE49-F238E27FC236}">
                <a16:creationId xmlns:a16="http://schemas.microsoft.com/office/drawing/2014/main" id="{BDE4A955-F796-4849-85F1-78CFFF34CC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C.	Heatstroke:</a:t>
            </a:r>
          </a:p>
          <a:p>
            <a:r>
              <a:rPr lang="en-US" altLang="en-US" dirty="0"/>
              <a:t>	1.	Occurs when body is subjected to more heat than it can tolerate and normal mechanisms for getting rid of excess heat, such as sweating, are overwhelmed.</a:t>
            </a:r>
          </a:p>
          <a:p>
            <a:r>
              <a:rPr lang="en-US" altLang="en-US" dirty="0"/>
              <a:t>	2.	Patient’s body temperature rises until it reaches a level at which brain damage occurs.</a:t>
            </a:r>
          </a:p>
          <a:p>
            <a:r>
              <a:rPr lang="en-US" altLang="en-US" dirty="0"/>
              <a:t>		a.	Without prompt and proper treatment, a patient with heatstroke will die.</a:t>
            </a:r>
          </a:p>
          <a:p>
            <a:pPr eaLnBrk="1" hangingPunct="1"/>
            <a:endParaRPr lang="en-US" altLang="en-US" dirty="0"/>
          </a:p>
        </p:txBody>
      </p:sp>
    </p:spTree>
    <p:extLst>
      <p:ext uri="{BB962C8B-B14F-4D97-AF65-F5344CB8AC3E}">
        <p14:creationId xmlns:p14="http://schemas.microsoft.com/office/powerpoint/2010/main" val="2255594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209BEC69-751F-AA49-AD7A-7747485C8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8" name="Rectangle 3">
            <a:extLst>
              <a:ext uri="{FF2B5EF4-FFF2-40B4-BE49-F238E27FC236}">
                <a16:creationId xmlns:a16="http://schemas.microsoft.com/office/drawing/2014/main" id="{A6460BD3-1854-FA40-8FAA-805C4BDBDB7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3.	Signs and symptoms include:</a:t>
            </a:r>
          </a:p>
          <a:p>
            <a:r>
              <a:rPr lang="en-US" altLang="en-US" dirty="0"/>
              <a:t>	a.	Flushed, dry skin that feels hot to touch.</a:t>
            </a:r>
          </a:p>
          <a:p>
            <a:r>
              <a:rPr lang="en-US" altLang="en-US" dirty="0"/>
              <a:t>	b.	Altered mental status: verbal to unresponsive.</a:t>
            </a:r>
          </a:p>
          <a:p>
            <a:r>
              <a:rPr lang="en-US" altLang="en-US" dirty="0"/>
              <a:t>	c.	Internal temperatures as high as 104</a:t>
            </a:r>
            <a:r>
              <a:rPr lang="en-US" altLang="en-US" dirty="0">
                <a:cs typeface="Arial" panose="020B0604020202020204" pitchFamily="34" charset="0"/>
                <a:sym typeface="Symbol" pitchFamily="2" charset="2"/>
              </a:rPr>
              <a:t></a:t>
            </a:r>
            <a:r>
              <a:rPr lang="en-US" altLang="en-US" dirty="0"/>
              <a:t>F (40</a:t>
            </a:r>
            <a:r>
              <a:rPr lang="en-US" altLang="en-US" dirty="0">
                <a:cs typeface="Arial" panose="020B0604020202020204" pitchFamily="34" charset="0"/>
                <a:sym typeface="Symbol" pitchFamily="2" charset="2"/>
              </a:rPr>
              <a:t></a:t>
            </a:r>
            <a:r>
              <a:rPr lang="en-US" altLang="en-US" dirty="0"/>
              <a:t>C).</a:t>
            </a:r>
          </a:p>
          <a:p>
            <a:r>
              <a:rPr lang="en-US" altLang="en-US" dirty="0"/>
              <a:t>4.	Treatment for heatstroke:</a:t>
            </a:r>
          </a:p>
          <a:p>
            <a:r>
              <a:rPr lang="en-US" altLang="en-US" dirty="0"/>
              <a:t>	a.	Maintain patient’s ABCs.</a:t>
            </a:r>
          </a:p>
          <a:p>
            <a:r>
              <a:rPr lang="en-US" altLang="en-US" dirty="0"/>
              <a:t>	b.	Remove patient from the hot environment and into a cool place as soon as possible.</a:t>
            </a:r>
          </a:p>
        </p:txBody>
      </p:sp>
    </p:spTree>
    <p:extLst>
      <p:ext uri="{BB962C8B-B14F-4D97-AF65-F5344CB8AC3E}">
        <p14:creationId xmlns:p14="http://schemas.microsoft.com/office/powerpoint/2010/main" val="5999216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54108EB0-DBE4-1A42-B23D-1A975B89D41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6" name="Rectangle 3">
            <a:extLst>
              <a:ext uri="{FF2B5EF4-FFF2-40B4-BE49-F238E27FC236}">
                <a16:creationId xmlns:a16="http://schemas.microsoft.com/office/drawing/2014/main" id="{93F56B69-1190-4440-8B15-F06F98E06E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c.	Remove patient’s clothes, down to underwear.</a:t>
            </a:r>
          </a:p>
          <a:p>
            <a:r>
              <a:rPr lang="en-US" altLang="en-US" dirty="0"/>
              <a:t>	d.	Soak patient with water. Begin aggressive cooling of patient with a hose, shower, or ice packs.</a:t>
            </a:r>
          </a:p>
          <a:p>
            <a:r>
              <a:rPr lang="en-US" altLang="en-US" dirty="0"/>
              <a:t>	e.	If patient is conscious and not nauseated, administer small amounts of cool water.</a:t>
            </a:r>
          </a:p>
          <a:p>
            <a:r>
              <a:rPr lang="en-US" altLang="en-US" dirty="0"/>
              <a:t>	f.	Arrange for rapid transport to an appropriate medical facility.</a:t>
            </a:r>
          </a:p>
          <a:p>
            <a:pPr eaLnBrk="1" hangingPunct="1"/>
            <a:endParaRPr lang="en-US" altLang="en-US" dirty="0"/>
          </a:p>
        </p:txBody>
      </p:sp>
    </p:spTree>
    <p:extLst>
      <p:ext uri="{BB962C8B-B14F-4D97-AF65-F5344CB8AC3E}">
        <p14:creationId xmlns:p14="http://schemas.microsoft.com/office/powerpoint/2010/main" val="16398563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6FE35FF0-0BE4-4A4B-BB39-61D8EE611D8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4" name="Rectangle 3">
            <a:extLst>
              <a:ext uri="{FF2B5EF4-FFF2-40B4-BE49-F238E27FC236}">
                <a16:creationId xmlns:a16="http://schemas.microsoft.com/office/drawing/2014/main" id="{C95ED61C-B117-5549-BF72-001936D332C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Table: Comparing Heat Exhaustion and Heatstroke</a:t>
            </a:r>
          </a:p>
        </p:txBody>
      </p:sp>
    </p:spTree>
    <p:extLst>
      <p:ext uri="{BB962C8B-B14F-4D97-AF65-F5344CB8AC3E}">
        <p14:creationId xmlns:p14="http://schemas.microsoft.com/office/powerpoint/2010/main" val="24196084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1E1B7104-DFDF-564A-BA1A-B7421A6FE69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2" name="Rectangle 3">
            <a:extLst>
              <a:ext uri="{FF2B5EF4-FFF2-40B4-BE49-F238E27FC236}">
                <a16:creationId xmlns:a16="http://schemas.microsoft.com/office/drawing/2014/main" id="{8BCBB692-0E50-B34F-8406-EE09AD2B454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IV. Exposure to Cold:</a:t>
            </a:r>
          </a:p>
          <a:p>
            <a:r>
              <a:rPr lang="en-US" altLang="en-US" dirty="0"/>
              <a:t>A.	Frostbite:</a:t>
            </a:r>
          </a:p>
          <a:p>
            <a:r>
              <a:rPr lang="en-US" altLang="en-US" dirty="0"/>
              <a:t>	1.	Frostbite can result when exposed parts of body are exposed to a cold environment.</a:t>
            </a:r>
          </a:p>
          <a:p>
            <a:r>
              <a:rPr lang="en-US" altLang="en-US" dirty="0"/>
              <a:t>		a.	Exposed body parts actually freeze.</a:t>
            </a:r>
          </a:p>
          <a:p>
            <a:r>
              <a:rPr lang="en-US" altLang="en-US" dirty="0"/>
              <a:t>	2.	Following body parts are most susceptible to frostbite:</a:t>
            </a:r>
          </a:p>
          <a:p>
            <a:r>
              <a:rPr lang="en-US" altLang="en-US" dirty="0"/>
              <a:t>		a.	Face.</a:t>
            </a:r>
          </a:p>
          <a:p>
            <a:r>
              <a:rPr lang="en-US" altLang="en-US" dirty="0"/>
              <a:t>		b.	Ears.</a:t>
            </a:r>
          </a:p>
          <a:p>
            <a:r>
              <a:rPr lang="en-US" altLang="en-US" dirty="0"/>
              <a:t>		c.	Fingers.</a:t>
            </a:r>
          </a:p>
          <a:p>
            <a:r>
              <a:rPr lang="en-US" altLang="en-US" dirty="0"/>
              <a:t>		d.	Toes.</a:t>
            </a:r>
          </a:p>
          <a:p>
            <a:pPr eaLnBrk="1" hangingPunct="1"/>
            <a:endParaRPr lang="en-US" altLang="en-US" dirty="0"/>
          </a:p>
          <a:p>
            <a:r>
              <a:rPr lang="en-US" altLang="en-US" dirty="0"/>
              <a:t>Figure: Finger s are one of most common areas affected by frostbite.</a:t>
            </a:r>
          </a:p>
        </p:txBody>
      </p:sp>
    </p:spTree>
    <p:extLst>
      <p:ext uri="{BB962C8B-B14F-4D97-AF65-F5344CB8AC3E}">
        <p14:creationId xmlns:p14="http://schemas.microsoft.com/office/powerpoint/2010/main" val="12890704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4CACAA92-E8D9-B54C-AEE5-265A8EA068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0" name="Rectangle 3">
            <a:extLst>
              <a:ext uri="{FF2B5EF4-FFF2-40B4-BE49-F238E27FC236}">
                <a16:creationId xmlns:a16="http://schemas.microsoft.com/office/drawing/2014/main" id="{FCB76B50-60C2-8E41-BF7A-DAB2BA812FF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3.	Depending on temperature and wind velocity, frostbite can occur in a short period.</a:t>
            </a:r>
          </a:p>
          <a:p>
            <a:r>
              <a:rPr lang="en-US" altLang="en-US" dirty="0"/>
              <a:t>4.	Increases in wind speed have same effect as decreases in temperature. </a:t>
            </a:r>
          </a:p>
          <a:p>
            <a:pPr eaLnBrk="1" hangingPunct="1"/>
            <a:endParaRPr lang="en-US" altLang="en-US" dirty="0"/>
          </a:p>
          <a:p>
            <a:pPr eaLnBrk="1" hangingPunct="1"/>
            <a:r>
              <a:rPr lang="en-US" altLang="en-US" dirty="0"/>
              <a:t>Figure: Wind Chill Chart</a:t>
            </a:r>
          </a:p>
        </p:txBody>
      </p:sp>
    </p:spTree>
    <p:extLst>
      <p:ext uri="{BB962C8B-B14F-4D97-AF65-F5344CB8AC3E}">
        <p14:creationId xmlns:p14="http://schemas.microsoft.com/office/powerpoint/2010/main" val="14505660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CE23F3DF-3CA2-EB47-B132-5320216362E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8" name="Notes Placeholder 2">
            <a:extLst>
              <a:ext uri="{FF2B5EF4-FFF2-40B4-BE49-F238E27FC236}">
                <a16:creationId xmlns:a16="http://schemas.microsoft.com/office/drawing/2014/main" id="{594F3BFA-0939-CB43-A55C-328C881ED21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5.	People weakened by old age, medical conditions, exhaustion, or hunger are most susceptible to frostbite.</a:t>
            </a:r>
          </a:p>
          <a:p>
            <a:endParaRPr lang="en-US" altLang="en-US"/>
          </a:p>
        </p:txBody>
      </p:sp>
      <p:sp>
        <p:nvSpPr>
          <p:cNvPr id="45059" name="Slide Number Placeholder 3">
            <a:extLst>
              <a:ext uri="{FF2B5EF4-FFF2-40B4-BE49-F238E27FC236}">
                <a16:creationId xmlns:a16="http://schemas.microsoft.com/office/drawing/2014/main" id="{7B62E393-6B46-8349-8090-5814290479A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fld id="{68F2E610-5595-614C-8881-82053DFB4F4A}" type="slidenum">
              <a:rPr lang="en-US" altLang="en-US" sz="1200">
                <a:latin typeface="Arial" panose="020B0604020202020204" pitchFamily="34" charset="0"/>
              </a:rPr>
              <a:pPr/>
              <a:t>20</a:t>
            </a:fld>
            <a:endParaRPr lang="en-US" altLang="en-US" sz="1200">
              <a:latin typeface="Arial" panose="020B0604020202020204" pitchFamily="34" charset="0"/>
            </a:endParaRPr>
          </a:p>
        </p:txBody>
      </p:sp>
    </p:spTree>
    <p:extLst>
      <p:ext uri="{BB962C8B-B14F-4D97-AF65-F5344CB8AC3E}">
        <p14:creationId xmlns:p14="http://schemas.microsoft.com/office/powerpoint/2010/main" val="31316417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2C86975E-2764-EA41-A0CF-1BDE1B1DCA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6" name="Rectangle 3">
            <a:extLst>
              <a:ext uri="{FF2B5EF4-FFF2-40B4-BE49-F238E27FC236}">
                <a16:creationId xmlns:a16="http://schemas.microsoft.com/office/drawing/2014/main" id="{075584FD-7D34-4B4B-9FB0-3BEC04E535F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6.	Superficial frostbite (frostnip):</a:t>
            </a:r>
          </a:p>
          <a:p>
            <a:r>
              <a:rPr lang="en-US" altLang="en-US" dirty="0"/>
              <a:t>	a.	Affected body part becomes numb and then turns a bright red color.</a:t>
            </a:r>
          </a:p>
          <a:p>
            <a:r>
              <a:rPr lang="en-US" altLang="en-US" dirty="0"/>
              <a:t>	b.	Eventually area loses its color and changes to pale white.</a:t>
            </a:r>
          </a:p>
          <a:p>
            <a:r>
              <a:rPr lang="en-US" altLang="en-US" dirty="0"/>
              <a:t>	c.	There may be a loss of feeling and sensation in injured area.</a:t>
            </a:r>
          </a:p>
          <a:p>
            <a:r>
              <a:rPr lang="en-US" altLang="en-US" dirty="0"/>
              <a:t>	d.	Treatment:</a:t>
            </a:r>
          </a:p>
          <a:p>
            <a:r>
              <a:rPr lang="en-US" altLang="en-US" dirty="0"/>
              <a:t>		</a:t>
            </a:r>
            <a:r>
              <a:rPr lang="en-US" altLang="en-US" dirty="0" err="1"/>
              <a:t>i</a:t>
            </a:r>
            <a:r>
              <a:rPr lang="en-US" altLang="en-US" dirty="0"/>
              <a:t>.	Warming a superficial frostbitten area or part must be done quickly and carefully.</a:t>
            </a:r>
          </a:p>
          <a:p>
            <a:r>
              <a:rPr lang="en-US" altLang="en-US" dirty="0"/>
              <a:t>		ii.	Simply putting the fingers, toes, or ears next to a warm body part is enough. Do not try to warm a frostbitten area by rubbing it with your hands or a blanket.</a:t>
            </a:r>
          </a:p>
          <a:p>
            <a:pPr eaLnBrk="1" hangingPunct="1"/>
            <a:endParaRPr lang="en-US" altLang="en-US" dirty="0"/>
          </a:p>
        </p:txBody>
      </p:sp>
    </p:spTree>
    <p:extLst>
      <p:ext uri="{BB962C8B-B14F-4D97-AF65-F5344CB8AC3E}">
        <p14:creationId xmlns:p14="http://schemas.microsoft.com/office/powerpoint/2010/main" val="35267154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D4CF3C01-567A-0C47-802F-C7277D18D4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4" name="Rectangle 3">
            <a:extLst>
              <a:ext uri="{FF2B5EF4-FFF2-40B4-BE49-F238E27FC236}">
                <a16:creationId xmlns:a16="http://schemas.microsoft.com/office/drawing/2014/main" id="{E33BB919-FB8E-D74E-87DF-265428BD651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iii.	Treat frostbitten patient for shock.</a:t>
            </a:r>
          </a:p>
          <a:p>
            <a:r>
              <a:rPr lang="en-US" altLang="en-US" dirty="0"/>
              <a:t>7.	Deep frostbite: </a:t>
            </a:r>
          </a:p>
          <a:p>
            <a:r>
              <a:rPr lang="en-US" altLang="en-US" dirty="0"/>
              <a:t>	a.	Patient’s skin will be white and waxy.</a:t>
            </a:r>
          </a:p>
          <a:p>
            <a:r>
              <a:rPr lang="en-US" altLang="en-US" dirty="0"/>
              <a:t>	b.	Skin may be firm or frozen.</a:t>
            </a:r>
          </a:p>
          <a:p>
            <a:r>
              <a:rPr lang="en-US" altLang="en-US" dirty="0"/>
              <a:t>	c.	Swelling and blisters may be present.</a:t>
            </a:r>
          </a:p>
          <a:p>
            <a:r>
              <a:rPr lang="en-US" altLang="en-US" dirty="0"/>
              <a:t>	d.	If skin has thawed, it may appear flushed with areas of purple and white or it may be mottled and cyanotic.</a:t>
            </a:r>
          </a:p>
          <a:p>
            <a:r>
              <a:rPr lang="en-US" altLang="en-US" dirty="0"/>
              <a:t>	e.	Treatment:</a:t>
            </a:r>
          </a:p>
          <a:p>
            <a:r>
              <a:rPr lang="en-US" altLang="en-US" dirty="0"/>
              <a:t>		</a:t>
            </a:r>
            <a:r>
              <a:rPr lang="en-US" altLang="en-US" dirty="0" err="1"/>
              <a:t>i</a:t>
            </a:r>
            <a:r>
              <a:rPr lang="en-US" altLang="en-US" dirty="0"/>
              <a:t>.	Follow scene size-up, primary assessment, and secondary assessment sequence. </a:t>
            </a:r>
          </a:p>
          <a:p>
            <a:pPr eaLnBrk="1" hangingPunct="1"/>
            <a:endParaRPr lang="en-US" altLang="en-US" dirty="0"/>
          </a:p>
        </p:txBody>
      </p:sp>
    </p:spTree>
    <p:extLst>
      <p:ext uri="{BB962C8B-B14F-4D97-AF65-F5344CB8AC3E}">
        <p14:creationId xmlns:p14="http://schemas.microsoft.com/office/powerpoint/2010/main" val="36513320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8A77D616-B46F-8342-8A22-4167505AEC8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2" name="Rectangle 3">
            <a:extLst>
              <a:ext uri="{FF2B5EF4-FFF2-40B4-BE49-F238E27FC236}">
                <a16:creationId xmlns:a16="http://schemas.microsoft.com/office/drawing/2014/main" id="{BB123AD9-3B5D-9B4E-BE91-B129F17021A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ii.	Remove any jewelry patient is wearing and cover extremity with dry clothing or dry dressings.</a:t>
            </a:r>
          </a:p>
          <a:p>
            <a:r>
              <a:rPr lang="en-US" altLang="en-US" dirty="0"/>
              <a:t>	iii.	Do not break blisters, rub injured area, apply heat, or allow patient to walk on an affected lower extremity.</a:t>
            </a:r>
          </a:p>
          <a:p>
            <a:r>
              <a:rPr lang="en-US" altLang="en-US" dirty="0"/>
              <a:t>	iv.	Provide prompt transport to a medical facility.</a:t>
            </a:r>
          </a:p>
          <a:p>
            <a:pPr eaLnBrk="1" hangingPunct="1"/>
            <a:endParaRPr lang="en-US" altLang="en-US" dirty="0"/>
          </a:p>
        </p:txBody>
      </p:sp>
    </p:spTree>
    <p:extLst>
      <p:ext uri="{BB962C8B-B14F-4D97-AF65-F5344CB8AC3E}">
        <p14:creationId xmlns:p14="http://schemas.microsoft.com/office/powerpoint/2010/main" val="40623603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A2EF5122-891B-B04C-B2A7-05DB9D5700E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0" name="Rectangle 3">
            <a:extLst>
              <a:ext uri="{FF2B5EF4-FFF2-40B4-BE49-F238E27FC236}">
                <a16:creationId xmlns:a16="http://schemas.microsoft.com/office/drawing/2014/main" id="{0B03B212-CF35-2A4F-A4DA-182C646965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B.	Hypothermia:</a:t>
            </a:r>
          </a:p>
          <a:p>
            <a:r>
              <a:rPr lang="en-US" altLang="en-US" dirty="0"/>
              <a:t>	1.	Hypothermia occurs when a person’s body temperature drops to less than 95ºF (35ºC). </a:t>
            </a:r>
          </a:p>
          <a:p>
            <a:r>
              <a:rPr lang="en-US" altLang="en-US" dirty="0"/>
              <a:t>	2.	In hypothermia, a person’s body is not able to produce enough energy to keep internal (core) body temperature at a satisfactory level.</a:t>
            </a:r>
          </a:p>
          <a:p>
            <a:r>
              <a:rPr lang="en-US" altLang="en-US" dirty="0"/>
              <a:t>	3	People with inadequate or wet clothing and those weakened by illness are most susceptible to hypothermia. Intoxicated patients and patients who have abused drugs are at an especially high 		risk for developing hypothermia.</a:t>
            </a:r>
          </a:p>
          <a:p>
            <a:pPr eaLnBrk="1" hangingPunct="1"/>
            <a:endParaRPr lang="en-US" altLang="en-US" dirty="0"/>
          </a:p>
        </p:txBody>
      </p:sp>
    </p:spTree>
    <p:extLst>
      <p:ext uri="{BB962C8B-B14F-4D97-AF65-F5344CB8AC3E}">
        <p14:creationId xmlns:p14="http://schemas.microsoft.com/office/powerpoint/2010/main" val="2760615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C2240F2D-6E68-7744-81AF-0324443F442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8" name="Rectangle 3">
            <a:extLst>
              <a:ext uri="{FF2B5EF4-FFF2-40B4-BE49-F238E27FC236}">
                <a16:creationId xmlns:a16="http://schemas.microsoft.com/office/drawing/2014/main" id="{86B1A3CC-8161-6D4C-B472-C15E22CD6BF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4.	Signs and symptoms include:</a:t>
            </a:r>
          </a:p>
          <a:p>
            <a:r>
              <a:rPr lang="en-US" altLang="en-US" dirty="0"/>
              <a:t>	a.	Feeling cold.</a:t>
            </a:r>
          </a:p>
          <a:p>
            <a:r>
              <a:rPr lang="en-US" altLang="en-US" dirty="0"/>
              <a:t>	b.	Shivering.</a:t>
            </a:r>
          </a:p>
          <a:p>
            <a:r>
              <a:rPr lang="en-US" altLang="en-US" dirty="0"/>
              <a:t>	c.	Decreasing level of consciousness.</a:t>
            </a:r>
          </a:p>
          <a:p>
            <a:r>
              <a:rPr lang="en-US" altLang="en-US" dirty="0"/>
              <a:t>	d.	Sleepiness.</a:t>
            </a:r>
          </a:p>
          <a:p>
            <a:r>
              <a:rPr lang="en-US" altLang="en-US" dirty="0"/>
              <a:t>	e.	Lack of coordination.</a:t>
            </a:r>
          </a:p>
          <a:p>
            <a:r>
              <a:rPr lang="en-US" altLang="en-US" dirty="0"/>
              <a:t>	f.	Mental confusion.</a:t>
            </a:r>
          </a:p>
          <a:p>
            <a:r>
              <a:rPr lang="en-US" altLang="en-US" dirty="0"/>
              <a:t>	g.	Slowed reactions.</a:t>
            </a:r>
          </a:p>
          <a:p>
            <a:pPr marL="171450" indent="-171450">
              <a:buFont typeface="Arial" panose="020B0604020202020204" pitchFamily="34" charset="0"/>
              <a:buChar char="•"/>
            </a:pPr>
            <a:r>
              <a:rPr lang="en-US" altLang="en-US" dirty="0"/>
              <a:t>	h.	As body temperature goes below 90</a:t>
            </a:r>
            <a:r>
              <a:rPr lang="en-US" altLang="en-US" dirty="0">
                <a:cs typeface="Arial" panose="020B0604020202020204" pitchFamily="34" charset="0"/>
              </a:rPr>
              <a:t>°</a:t>
            </a:r>
            <a:r>
              <a:rPr lang="en-US" altLang="en-US" dirty="0"/>
              <a:t>F (32</a:t>
            </a:r>
            <a:r>
              <a:rPr lang="en-US" altLang="en-US" dirty="0">
                <a:cs typeface="Arial" panose="020B0604020202020204" pitchFamily="34" charset="0"/>
              </a:rPr>
              <a:t>°</a:t>
            </a:r>
            <a:r>
              <a:rPr lang="en-US" altLang="en-US" dirty="0"/>
              <a:t>C), patient will lose consciousness.</a:t>
            </a:r>
          </a:p>
          <a:p>
            <a:pPr eaLnBrk="1" hangingPunct="1"/>
            <a:r>
              <a:rPr lang="en-US" altLang="en-US" dirty="0"/>
              <a:t>	</a:t>
            </a:r>
            <a:r>
              <a:rPr lang="en-US" altLang="en-US" dirty="0" err="1"/>
              <a:t>i</a:t>
            </a:r>
            <a:r>
              <a:rPr lang="en-US" altLang="en-US" dirty="0"/>
              <a:t>.	Weak and very slow pulse.</a:t>
            </a:r>
          </a:p>
        </p:txBody>
      </p:sp>
    </p:spTree>
    <p:extLst>
      <p:ext uri="{BB962C8B-B14F-4D97-AF65-F5344CB8AC3E}">
        <p14:creationId xmlns:p14="http://schemas.microsoft.com/office/powerpoint/2010/main" val="27796494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73C26623-6BD4-3242-9373-B0AF5B1894C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6" name="Rectangle 3">
            <a:extLst>
              <a:ext uri="{FF2B5EF4-FFF2-40B4-BE49-F238E27FC236}">
                <a16:creationId xmlns:a16="http://schemas.microsoft.com/office/drawing/2014/main" id="{5CC9DAA4-CB25-0548-80B1-1D78B73FDD2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Table: Characteristics of Systemic Hypothermia</a:t>
            </a:r>
          </a:p>
        </p:txBody>
      </p:sp>
    </p:spTree>
    <p:extLst>
      <p:ext uri="{BB962C8B-B14F-4D97-AF65-F5344CB8AC3E}">
        <p14:creationId xmlns:p14="http://schemas.microsoft.com/office/powerpoint/2010/main" val="28660542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3591145C-4757-9346-9BD3-4B4FDF4ECD4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4" name="Rectangle 3">
            <a:extLst>
              <a:ext uri="{FF2B5EF4-FFF2-40B4-BE49-F238E27FC236}">
                <a16:creationId xmlns:a16="http://schemas.microsoft.com/office/drawing/2014/main" id="{F0317460-00AE-C644-B7E0-5B95F80791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5.	Treatment of hypothermia:</a:t>
            </a:r>
          </a:p>
          <a:p>
            <a:r>
              <a:rPr lang="en-US" altLang="en-US" dirty="0"/>
              <a:t>	a.	Move patient to a warm location.</a:t>
            </a:r>
          </a:p>
          <a:p>
            <a:r>
              <a:rPr lang="en-US" altLang="en-US" dirty="0"/>
              <a:t>	b.	Remove wet clothing.</a:t>
            </a:r>
          </a:p>
          <a:p>
            <a:r>
              <a:rPr lang="en-US" altLang="en-US" dirty="0"/>
              <a:t>	c.	Place warm blankets over and under patient.</a:t>
            </a:r>
          </a:p>
          <a:p>
            <a:r>
              <a:rPr lang="en-US" altLang="en-US" dirty="0"/>
              <a:t>	d.	If patient is conscious, give warm fluids to drink. </a:t>
            </a:r>
          </a:p>
          <a:p>
            <a:r>
              <a:rPr lang="en-US" altLang="en-US" dirty="0"/>
              <a:t>	e.	If you do not have access to a building, move patient into a heated vehicle.</a:t>
            </a:r>
          </a:p>
          <a:p>
            <a:pPr eaLnBrk="1" hangingPunct="1"/>
            <a:endParaRPr lang="en-US" altLang="en-US" dirty="0"/>
          </a:p>
        </p:txBody>
      </p:sp>
    </p:spTree>
    <p:extLst>
      <p:ext uri="{BB962C8B-B14F-4D97-AF65-F5344CB8AC3E}">
        <p14:creationId xmlns:p14="http://schemas.microsoft.com/office/powerpoint/2010/main" val="636769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2B435DE1-2529-C245-A1BB-9960300042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2" name="Rectangle 3">
            <a:extLst>
              <a:ext uri="{FF2B5EF4-FFF2-40B4-BE49-F238E27FC236}">
                <a16:creationId xmlns:a16="http://schemas.microsoft.com/office/drawing/2014/main" id="{5D9B4254-9269-844C-BE27-661DAAAE786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f.	If transport is delayed or extended, you may need to use your own body heat to warm patient.</a:t>
            </a:r>
          </a:p>
          <a:p>
            <a:r>
              <a:rPr lang="en-US" altLang="en-US" dirty="0"/>
              <a:t>	g.	Handle patient gently. </a:t>
            </a:r>
          </a:p>
          <a:p>
            <a:r>
              <a:rPr lang="en-US" altLang="en-US" dirty="0"/>
              <a:t>	h.	Hypothermic patients must be examined by a physician.</a:t>
            </a:r>
          </a:p>
          <a:p>
            <a:pPr eaLnBrk="1" hangingPunct="1"/>
            <a:endParaRPr lang="en-US" altLang="en-US" dirty="0"/>
          </a:p>
        </p:txBody>
      </p:sp>
    </p:spTree>
    <p:extLst>
      <p:ext uri="{BB962C8B-B14F-4D97-AF65-F5344CB8AC3E}">
        <p14:creationId xmlns:p14="http://schemas.microsoft.com/office/powerpoint/2010/main" val="10592150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07D4C603-8256-1B4D-99A1-71C0245F61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0" name="Rectangle 3">
            <a:extLst>
              <a:ext uri="{FF2B5EF4-FFF2-40B4-BE49-F238E27FC236}">
                <a16:creationId xmlns:a16="http://schemas.microsoft.com/office/drawing/2014/main" id="{DE13EBA7-6404-A947-A578-4B6B145AD77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6.	Cardiac arrest and hypothermia:</a:t>
            </a:r>
          </a:p>
          <a:p>
            <a:r>
              <a:rPr lang="en-US" altLang="en-US" dirty="0"/>
              <a:t>	a.	If patient’s body temperature falls to less than 83°F (28°C), heart may stop and you will need to begin CPR.</a:t>
            </a:r>
          </a:p>
          <a:p>
            <a:r>
              <a:rPr lang="en-US" altLang="en-US" dirty="0"/>
              <a:t>	b.	Always start CPR and use an AED, if available, on hypothermic patients even if you believe they have been “dead” for several hours.</a:t>
            </a:r>
          </a:p>
          <a:p>
            <a:r>
              <a:rPr lang="en-US" altLang="en-US" dirty="0"/>
              <a:t>	c.	Hypothermia patients should never be considered dead until they have been warmed in an appropriate medical facility.</a:t>
            </a:r>
          </a:p>
          <a:p>
            <a:pPr eaLnBrk="1" hangingPunct="1"/>
            <a:endParaRPr lang="en-US" altLang="en-US" dirty="0"/>
          </a:p>
        </p:txBody>
      </p:sp>
    </p:spTree>
    <p:extLst>
      <p:ext uri="{BB962C8B-B14F-4D97-AF65-F5344CB8AC3E}">
        <p14:creationId xmlns:p14="http://schemas.microsoft.com/office/powerpoint/2010/main" val="32683717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ADFD1E79-E942-5548-8C3F-FC0651334FC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8" name="Rectangle 3">
            <a:extLst>
              <a:ext uri="{FF2B5EF4-FFF2-40B4-BE49-F238E27FC236}">
                <a16:creationId xmlns:a16="http://schemas.microsoft.com/office/drawing/2014/main" id="{0073EF13-C157-2742-9AE7-7198073B65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V. Drowning and Submersion:</a:t>
            </a:r>
          </a:p>
          <a:p>
            <a:r>
              <a:rPr lang="en-US" altLang="en-US" dirty="0"/>
              <a:t>A.	Each year in United States, more than 3,500 people die from unintentional drowning (approximately 10 deaths per day). An additional 12,000 people are hospitalized because of injuries resulting from submersion in water.</a:t>
            </a:r>
          </a:p>
          <a:p>
            <a:r>
              <a:rPr lang="en-US" altLang="en-US" dirty="0"/>
              <a:t>B.	Drowning is second leading cause of injury and death among children 1 to 14 years.</a:t>
            </a:r>
          </a:p>
          <a:p>
            <a:r>
              <a:rPr lang="en-US" altLang="en-US" dirty="0"/>
              <a:t>	1.	Alcohol consumption and drug abuse are contributing factors in many cases of drowning involving teenagers and adults.</a:t>
            </a:r>
          </a:p>
          <a:p>
            <a:r>
              <a:rPr lang="en-US" altLang="en-US" dirty="0"/>
              <a:t>C.	Drowning is defined as the process of experiencing respiratory impairment from suffocation or immersion in liquid.</a:t>
            </a:r>
          </a:p>
          <a:p>
            <a:pPr eaLnBrk="1" hangingPunct="1"/>
            <a:endParaRPr lang="en-US" altLang="en-US" dirty="0"/>
          </a:p>
        </p:txBody>
      </p:sp>
    </p:spTree>
    <p:extLst>
      <p:ext uri="{BB962C8B-B14F-4D97-AF65-F5344CB8AC3E}">
        <p14:creationId xmlns:p14="http://schemas.microsoft.com/office/powerpoint/2010/main" val="8954550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A1DF4494-5C74-444B-9FCD-C0BCAC5175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6" name="Rectangle 3">
            <a:extLst>
              <a:ext uri="{FF2B5EF4-FFF2-40B4-BE49-F238E27FC236}">
                <a16:creationId xmlns:a16="http://schemas.microsoft.com/office/drawing/2014/main" id="{A20096EE-6633-4543-8F50-D4F4FAFA6F1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1.	Submersion injuries result from being beneath surface of water or another liquid.</a:t>
            </a:r>
            <a:endParaRPr lang="en-US" altLang="en-US" b="1" dirty="0"/>
          </a:p>
          <a:p>
            <a:r>
              <a:rPr lang="en-US" altLang="en-US" dirty="0"/>
              <a:t>2.	Likely locations of drowning include:</a:t>
            </a:r>
          </a:p>
          <a:p>
            <a:r>
              <a:rPr lang="en-US" altLang="en-US" dirty="0"/>
              <a:t>	a.	Streams.</a:t>
            </a:r>
            <a:endParaRPr lang="en-US" altLang="en-US" b="1" dirty="0"/>
          </a:p>
          <a:p>
            <a:r>
              <a:rPr lang="en-US" altLang="en-US" dirty="0"/>
              <a:t>	b.	Lakes.</a:t>
            </a:r>
            <a:endParaRPr lang="en-US" altLang="en-US" b="1" dirty="0"/>
          </a:p>
          <a:p>
            <a:r>
              <a:rPr lang="en-US" altLang="en-US" dirty="0"/>
              <a:t>	c.	Swimming pools.</a:t>
            </a:r>
            <a:endParaRPr lang="en-US" altLang="en-US" b="1" dirty="0"/>
          </a:p>
          <a:p>
            <a:r>
              <a:rPr lang="en-US" altLang="en-US" dirty="0"/>
              <a:t>	d.	Hot tubs.</a:t>
            </a:r>
            <a:endParaRPr lang="en-US" altLang="en-US" b="1" dirty="0"/>
          </a:p>
          <a:p>
            <a:pPr eaLnBrk="1" hangingPunct="1"/>
            <a:endParaRPr lang="en-US" altLang="en-US" dirty="0"/>
          </a:p>
        </p:txBody>
      </p:sp>
    </p:spTree>
    <p:extLst>
      <p:ext uri="{BB962C8B-B14F-4D97-AF65-F5344CB8AC3E}">
        <p14:creationId xmlns:p14="http://schemas.microsoft.com/office/powerpoint/2010/main" val="36428178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D243E51D-9004-E049-9DE1-586F61F8B31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4" name="Rectangle 3">
            <a:extLst>
              <a:ext uri="{FF2B5EF4-FFF2-40B4-BE49-F238E27FC236}">
                <a16:creationId xmlns:a16="http://schemas.microsoft.com/office/drawing/2014/main" id="{8FA96E2D-46BE-874A-B570-F6CF7BF3F5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e.	Wading pools.</a:t>
            </a:r>
            <a:endParaRPr lang="en-US" altLang="en-US" b="1" dirty="0"/>
          </a:p>
          <a:p>
            <a:r>
              <a:rPr lang="en-US" altLang="en-US" dirty="0"/>
              <a:t>	f.	Public fountains.</a:t>
            </a:r>
            <a:endParaRPr lang="en-US" altLang="en-US" b="1" dirty="0"/>
          </a:p>
          <a:p>
            <a:r>
              <a:rPr lang="en-US" altLang="en-US" dirty="0"/>
              <a:t>	g.	Storm drain ponds.</a:t>
            </a:r>
            <a:endParaRPr lang="en-US" altLang="en-US" b="1" dirty="0"/>
          </a:p>
          <a:p>
            <a:r>
              <a:rPr lang="en-US" altLang="en-US" dirty="0"/>
              <a:t>3.	Hazards for drowning in infants and young children are present in every house:</a:t>
            </a:r>
            <a:endParaRPr lang="en-US" altLang="en-US" b="1" dirty="0"/>
          </a:p>
          <a:p>
            <a:r>
              <a:rPr lang="en-US" altLang="en-US" dirty="0"/>
              <a:t>	a.	Bathtubs.</a:t>
            </a:r>
            <a:endParaRPr lang="en-US" altLang="en-US" b="1" dirty="0"/>
          </a:p>
          <a:p>
            <a:r>
              <a:rPr lang="en-US" altLang="en-US" dirty="0"/>
              <a:t>	b.	Toilets.</a:t>
            </a:r>
            <a:endParaRPr lang="en-US" altLang="en-US" b="1" dirty="0"/>
          </a:p>
          <a:p>
            <a:r>
              <a:rPr lang="en-US" altLang="en-US" dirty="0"/>
              <a:t>	c.	Mop buckets.</a:t>
            </a:r>
            <a:endParaRPr lang="en-US" altLang="en-US" b="1" dirty="0"/>
          </a:p>
          <a:p>
            <a:r>
              <a:rPr lang="en-US" altLang="en-US" dirty="0"/>
              <a:t>4.	Young children can drown in liquids as shallow as 6".</a:t>
            </a:r>
            <a:endParaRPr lang="en-US" altLang="en-US" b="1" dirty="0"/>
          </a:p>
          <a:p>
            <a:pPr eaLnBrk="1" hangingPunct="1"/>
            <a:endParaRPr lang="en-US" altLang="en-US" dirty="0"/>
          </a:p>
        </p:txBody>
      </p:sp>
    </p:spTree>
    <p:extLst>
      <p:ext uri="{BB962C8B-B14F-4D97-AF65-F5344CB8AC3E}">
        <p14:creationId xmlns:p14="http://schemas.microsoft.com/office/powerpoint/2010/main" val="22466307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1DF2DFB0-77C6-B746-8DB9-BE7690563D0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2" name="Rectangle 3">
            <a:extLst>
              <a:ext uri="{FF2B5EF4-FFF2-40B4-BE49-F238E27FC236}">
                <a16:creationId xmlns:a16="http://schemas.microsoft.com/office/drawing/2014/main" id="{0B4F590B-4392-6C4C-9847-0B9750183C9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D.	Process of drowning progresses through several stages.</a:t>
            </a:r>
          </a:p>
          <a:p>
            <a:r>
              <a:rPr lang="en-US" altLang="en-US" dirty="0"/>
              <a:t>	1.	Usually initial stage is panic as person realizes that something is wrong.</a:t>
            </a:r>
          </a:p>
          <a:p>
            <a:r>
              <a:rPr lang="en-US" altLang="en-US" dirty="0"/>
              <a:t>	2.	In other instances, person:</a:t>
            </a:r>
          </a:p>
          <a:p>
            <a:r>
              <a:rPr lang="en-US" altLang="en-US" dirty="0"/>
              <a:t>		a.	Becomes fatigued, injured, cold, or entangled in seaweed or kelp.</a:t>
            </a:r>
            <a:endParaRPr lang="en-US" altLang="en-US" b="1" dirty="0"/>
          </a:p>
          <a:p>
            <a:r>
              <a:rPr lang="en-US" altLang="en-US" dirty="0"/>
              <a:t>		b.	Experiences a loss of orientation.</a:t>
            </a:r>
            <a:endParaRPr lang="en-US" altLang="en-US" b="1" dirty="0"/>
          </a:p>
          <a:p>
            <a:r>
              <a:rPr lang="en-US" altLang="en-US" dirty="0"/>
              <a:t>		c.	Becomes ill.</a:t>
            </a:r>
            <a:endParaRPr lang="en-US" altLang="en-US" b="1" dirty="0"/>
          </a:p>
          <a:p>
            <a:r>
              <a:rPr lang="en-US" altLang="en-US" dirty="0"/>
              <a:t>	3.	Feeling of panic produces an inefficient breathing pattern.</a:t>
            </a:r>
            <a:endParaRPr lang="en-US" altLang="en-US" b="1" dirty="0"/>
          </a:p>
          <a:p>
            <a:r>
              <a:rPr lang="en-US" altLang="en-US" dirty="0"/>
              <a:t>		a.	If a swimmer is not able to take in full breaths, ability to float is lost and exhaustion sets in.</a:t>
            </a:r>
            <a:endParaRPr lang="en-US" altLang="en-US" b="1" dirty="0"/>
          </a:p>
          <a:p>
            <a:r>
              <a:rPr lang="en-US" altLang="en-US" dirty="0"/>
              <a:t>		b.	Small quantities of water reaching larynx (voice box) cause a spasm of larynx (laryngospasm), which makes it hard or impossible to breath.</a:t>
            </a:r>
            <a:endParaRPr lang="en-US" altLang="en-US" b="1" dirty="0"/>
          </a:p>
          <a:p>
            <a:r>
              <a:rPr lang="en-US" altLang="en-US" dirty="0"/>
              <a:t>		c.	If this cycle of panic is not corrected, respiratory and cardiac arrest can result.</a:t>
            </a:r>
            <a:endParaRPr lang="en-US" altLang="en-US" b="1" dirty="0"/>
          </a:p>
          <a:p>
            <a:pPr eaLnBrk="1" hangingPunct="1"/>
            <a:endParaRPr lang="en-US" altLang="en-US" dirty="0"/>
          </a:p>
        </p:txBody>
      </p:sp>
    </p:spTree>
    <p:extLst>
      <p:ext uri="{BB962C8B-B14F-4D97-AF65-F5344CB8AC3E}">
        <p14:creationId xmlns:p14="http://schemas.microsoft.com/office/powerpoint/2010/main" val="28748531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9FD0FD1A-992C-B443-AC6D-E45239149DC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0" name="Rectangle 3">
            <a:extLst>
              <a:ext uri="{FF2B5EF4-FFF2-40B4-BE49-F238E27FC236}">
                <a16:creationId xmlns:a16="http://schemas.microsoft.com/office/drawing/2014/main" id="{C5EC9373-C8EC-A047-BC14-EC98D84BAF3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4.	Signs and symptoms of submersion injury include:</a:t>
            </a:r>
            <a:endParaRPr lang="en-US" altLang="en-US" b="1" dirty="0"/>
          </a:p>
          <a:p>
            <a:r>
              <a:rPr lang="en-US" altLang="en-US" dirty="0"/>
              <a:t>	a.	Coughing.</a:t>
            </a:r>
            <a:endParaRPr lang="en-US" altLang="en-US" b="1" dirty="0"/>
          </a:p>
          <a:p>
            <a:r>
              <a:rPr lang="en-US" altLang="en-US" dirty="0"/>
              <a:t>	b.	Vomiting.</a:t>
            </a:r>
            <a:endParaRPr lang="en-US" altLang="en-US" b="1" dirty="0"/>
          </a:p>
          <a:p>
            <a:r>
              <a:rPr lang="en-US" altLang="en-US" dirty="0"/>
              <a:t>	c.	Difficulty breathing.</a:t>
            </a:r>
            <a:endParaRPr lang="en-US" altLang="en-US" b="1" dirty="0"/>
          </a:p>
          <a:p>
            <a:r>
              <a:rPr lang="en-US" altLang="en-US" dirty="0"/>
              <a:t>	d.	Respiratory arrest.</a:t>
            </a:r>
            <a:endParaRPr lang="en-US" altLang="en-US" b="1" dirty="0"/>
          </a:p>
          <a:p>
            <a:r>
              <a:rPr lang="en-US" altLang="en-US" dirty="0"/>
              <a:t>	e.	Cardiac arrest.</a:t>
            </a:r>
            <a:endParaRPr lang="en-US" altLang="en-US" b="1" dirty="0"/>
          </a:p>
          <a:p>
            <a:r>
              <a:rPr lang="en-US" altLang="en-US" dirty="0"/>
              <a:t>	f.	Broken bones or spinal injuries.</a:t>
            </a:r>
            <a:endParaRPr lang="en-US" altLang="en-US" b="1" dirty="0"/>
          </a:p>
          <a:p>
            <a:r>
              <a:rPr lang="en-US" altLang="en-US" dirty="0"/>
              <a:t>	g.	Hypothermia (when wet or low air temps).</a:t>
            </a:r>
            <a:endParaRPr lang="en-US" altLang="en-US" b="1" dirty="0"/>
          </a:p>
          <a:p>
            <a:pPr eaLnBrk="1" hangingPunct="1"/>
            <a:endParaRPr lang="en-US" altLang="en-US" dirty="0"/>
          </a:p>
        </p:txBody>
      </p:sp>
    </p:spTree>
    <p:extLst>
      <p:ext uri="{BB962C8B-B14F-4D97-AF65-F5344CB8AC3E}">
        <p14:creationId xmlns:p14="http://schemas.microsoft.com/office/powerpoint/2010/main" val="30559680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a:extLst>
              <a:ext uri="{FF2B5EF4-FFF2-40B4-BE49-F238E27FC236}">
                <a16:creationId xmlns:a16="http://schemas.microsoft.com/office/drawing/2014/main" id="{C9683259-355D-0648-9AE3-225C589404E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8" name="Rectangle 3">
            <a:extLst>
              <a:ext uri="{FF2B5EF4-FFF2-40B4-BE49-F238E27FC236}">
                <a16:creationId xmlns:a16="http://schemas.microsoft.com/office/drawing/2014/main" id="{D210AF12-8AB6-284A-AC3E-3469679CEA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E.	Treatment of submersion injuries:</a:t>
            </a:r>
          </a:p>
          <a:p>
            <a:r>
              <a:rPr lang="en-US" altLang="en-US" dirty="0"/>
              <a:t>	1.	Assess scene safety.</a:t>
            </a:r>
            <a:endParaRPr lang="en-US" altLang="en-US" b="1" dirty="0"/>
          </a:p>
          <a:p>
            <a:r>
              <a:rPr lang="en-US" altLang="en-US" dirty="0"/>
              <a:t>		a.	If patient is still in water, do not exceed limits of your training in an attempt to rescue him or her.</a:t>
            </a:r>
            <a:endParaRPr lang="en-US" altLang="en-US" b="1" dirty="0"/>
          </a:p>
          <a:p>
            <a:r>
              <a:rPr lang="en-US" altLang="en-US" dirty="0"/>
              <a:t>		b.	Keep yourself safe and attempt rescue only if you can do so safely (reach, throw, row, and go sequence).</a:t>
            </a:r>
          </a:p>
          <a:p>
            <a:r>
              <a:rPr lang="en-US" altLang="en-US" dirty="0"/>
              <a:t>		c.	Call for additional help if needed.</a:t>
            </a:r>
            <a:endParaRPr lang="en-US" altLang="en-US" b="1" dirty="0"/>
          </a:p>
          <a:p>
            <a:r>
              <a:rPr lang="en-US" altLang="en-US" dirty="0"/>
              <a:t>		d.	If there is evidence of trauma and you need to move patient, protect spine from further injury.</a:t>
            </a:r>
            <a:endParaRPr lang="en-US" altLang="en-US" b="1" dirty="0"/>
          </a:p>
          <a:p>
            <a:r>
              <a:rPr lang="en-US" altLang="en-US" dirty="0"/>
              <a:t>	2.	Perform a primary assessment.</a:t>
            </a:r>
            <a:endParaRPr lang="en-US" altLang="en-US" b="1" dirty="0"/>
          </a:p>
          <a:p>
            <a:pPr eaLnBrk="1" hangingPunct="1"/>
            <a:endParaRPr lang="en-US" altLang="en-US" dirty="0"/>
          </a:p>
        </p:txBody>
      </p:sp>
    </p:spTree>
    <p:extLst>
      <p:ext uri="{BB962C8B-B14F-4D97-AF65-F5344CB8AC3E}">
        <p14:creationId xmlns:p14="http://schemas.microsoft.com/office/powerpoint/2010/main" val="39291409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18425E16-1079-1849-9044-43D2F79397A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6" name="Rectangle 3">
            <a:extLst>
              <a:ext uri="{FF2B5EF4-FFF2-40B4-BE49-F238E27FC236}">
                <a16:creationId xmlns:a16="http://schemas.microsoft.com/office/drawing/2014/main" id="{B1063C96-3F74-2A45-9116-6F5432BD089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2.	Perform a primary assessment (continued):</a:t>
            </a:r>
            <a:endParaRPr lang="en-US" altLang="en-US" b="1" dirty="0"/>
          </a:p>
          <a:p>
            <a:r>
              <a:rPr lang="en-US" altLang="en-US" dirty="0"/>
              <a:t>	a.	Correct any airway, breathing, and circulation problems.</a:t>
            </a:r>
            <a:endParaRPr lang="en-US" altLang="en-US" b="1" dirty="0"/>
          </a:p>
          <a:p>
            <a:r>
              <a:rPr lang="en-US" altLang="en-US" dirty="0"/>
              <a:t>	b.	Begin CPR if indicated.</a:t>
            </a:r>
            <a:endParaRPr lang="en-US" altLang="en-US" b="1" dirty="0"/>
          </a:p>
          <a:p>
            <a:r>
              <a:rPr lang="en-US" altLang="en-US" dirty="0"/>
              <a:t>	c.	If patient is breathing adequately, administer high-flow oxygen.</a:t>
            </a:r>
            <a:endParaRPr lang="en-US" altLang="en-US" b="1" dirty="0"/>
          </a:p>
          <a:p>
            <a:r>
              <a:rPr lang="en-US" altLang="en-US" dirty="0"/>
              <a:t>	d.	As soon as ABCs are stabilized, dry patient.</a:t>
            </a:r>
            <a:endParaRPr lang="en-US" altLang="en-US" b="1" dirty="0"/>
          </a:p>
          <a:p>
            <a:r>
              <a:rPr lang="en-US" altLang="en-US" dirty="0"/>
              <a:t>	e.	Cover patient with towels or blankets to help preserve body temperature.</a:t>
            </a:r>
            <a:endParaRPr lang="en-US" altLang="en-US" b="1" dirty="0"/>
          </a:p>
          <a:p>
            <a:r>
              <a:rPr lang="en-US" altLang="en-US" dirty="0"/>
              <a:t>3.	As soon as possible, perform a secondary assessment to check for other injuries.</a:t>
            </a:r>
          </a:p>
          <a:p>
            <a:r>
              <a:rPr lang="en-US" altLang="en-US" dirty="0"/>
              <a:t>4.	Obtain patient’s medical history from patient if possible, or from any family members present.</a:t>
            </a:r>
            <a:endParaRPr lang="en-US" altLang="en-US" b="1" dirty="0"/>
          </a:p>
          <a:p>
            <a:r>
              <a:rPr lang="en-US" altLang="en-US" dirty="0"/>
              <a:t>5.	Perform regular reassessments.</a:t>
            </a:r>
            <a:endParaRPr lang="en-US" altLang="en-US" b="1" dirty="0"/>
          </a:p>
          <a:p>
            <a:r>
              <a:rPr lang="en-US" altLang="en-US" dirty="0"/>
              <a:t>6.	All patients who have sustained a submersion injury should be examined by a physician.</a:t>
            </a:r>
            <a:endParaRPr lang="en-US" altLang="en-US" b="1" dirty="0"/>
          </a:p>
          <a:p>
            <a:pPr eaLnBrk="1" hangingPunct="1"/>
            <a:endParaRPr lang="en-US" altLang="en-US" dirty="0"/>
          </a:p>
        </p:txBody>
      </p:sp>
    </p:spTree>
    <p:extLst>
      <p:ext uri="{BB962C8B-B14F-4D97-AF65-F5344CB8AC3E}">
        <p14:creationId xmlns:p14="http://schemas.microsoft.com/office/powerpoint/2010/main" val="42392885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012F3508-50C4-A847-B59A-1DFA989C01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4" name="Rectangle 3">
            <a:extLst>
              <a:ext uri="{FF2B5EF4-FFF2-40B4-BE49-F238E27FC236}">
                <a16:creationId xmlns:a16="http://schemas.microsoft.com/office/drawing/2014/main" id="{76F661EE-C2CE-7640-B390-3E94011A5BC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F.	Cold water drowning:</a:t>
            </a:r>
          </a:p>
          <a:p>
            <a:r>
              <a:rPr lang="en-US" altLang="en-US" dirty="0"/>
              <a:t>	1.	You should begin CPR on a drowning victim as long as patient does not exhibit definitive signs of death.</a:t>
            </a:r>
            <a:endParaRPr lang="en-US" altLang="en-US" b="1" dirty="0"/>
          </a:p>
          <a:p>
            <a:r>
              <a:rPr lang="en-US" altLang="en-US" dirty="0"/>
              <a:t>	2.	When a person is submerged in cold water, a protective mechanism called mammalian diving reflex may be activated.</a:t>
            </a:r>
            <a:endParaRPr lang="en-US" altLang="en-US" b="1" dirty="0"/>
          </a:p>
          <a:p>
            <a:r>
              <a:rPr lang="en-US" altLang="en-US" dirty="0"/>
              <a:t>		a.	This reflex slows heart rate and metabolic rate and decreases body’s demand for oxygen.</a:t>
            </a:r>
          </a:p>
          <a:p>
            <a:r>
              <a:rPr lang="en-US" altLang="en-US" b="1" dirty="0"/>
              <a:t>		b.	</a:t>
            </a:r>
            <a:r>
              <a:rPr lang="en-US" altLang="en-US" b="0" dirty="0"/>
              <a:t>There have been instances of survival of patients submerged for over 30 minutes due to this reflex.</a:t>
            </a:r>
            <a:endParaRPr lang="en-US" altLang="en-US" b="1" dirty="0"/>
          </a:p>
          <a:p>
            <a:pPr eaLnBrk="1" hangingPunct="1"/>
            <a:endParaRPr lang="en-US" altLang="en-US" dirty="0"/>
          </a:p>
        </p:txBody>
      </p:sp>
    </p:spTree>
    <p:extLst>
      <p:ext uri="{BB962C8B-B14F-4D97-AF65-F5344CB8AC3E}">
        <p14:creationId xmlns:p14="http://schemas.microsoft.com/office/powerpoint/2010/main" val="16791752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99D3D14B-C7F5-4F4D-BD42-12624EC30EB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2" name="Rectangle 3">
            <a:extLst>
              <a:ext uri="{FF2B5EF4-FFF2-40B4-BE49-F238E27FC236}">
                <a16:creationId xmlns:a16="http://schemas.microsoft.com/office/drawing/2014/main" id="{3992C81D-BC19-D745-8D87-2B8FC55B789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dirty="0"/>
              <a:t>3.	When you encounter a person who has been submerged in cold water even for an extended period, CPR should be started and continued until person has been delivered to an appropriate medical facility.</a:t>
            </a:r>
            <a:endParaRPr lang="en-US" altLang="en-US" b="1" dirty="0"/>
          </a:p>
          <a:p>
            <a:pPr eaLnBrk="1" hangingPunct="1"/>
            <a:endParaRPr lang="en-US" altLang="en-US" dirty="0"/>
          </a:p>
        </p:txBody>
      </p:sp>
    </p:spTree>
    <p:extLst>
      <p:ext uri="{BB962C8B-B14F-4D97-AF65-F5344CB8AC3E}">
        <p14:creationId xmlns:p14="http://schemas.microsoft.com/office/powerpoint/2010/main" val="30677314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E00B28E1-66BD-654C-9DC3-943C70D0199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0" name="Rectangle 3">
            <a:extLst>
              <a:ext uri="{FF2B5EF4-FFF2-40B4-BE49-F238E27FC236}">
                <a16:creationId xmlns:a16="http://schemas.microsoft.com/office/drawing/2014/main" id="{A2E8C14C-86BA-CA44-AEC2-9259BBFC21F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VI. Other Environmental Emergencies</a:t>
            </a:r>
          </a:p>
          <a:p>
            <a:r>
              <a:rPr lang="en-US" altLang="en-US" dirty="0"/>
              <a:t>A.	Lightning injuries:</a:t>
            </a:r>
          </a:p>
          <a:p>
            <a:r>
              <a:rPr lang="en-US" altLang="en-US" dirty="0"/>
              <a:t>	1.	Electrical injury resulting from a lightning strike can cause cardiac irregularities or cardiac arrest.</a:t>
            </a:r>
            <a:endParaRPr lang="en-US" altLang="en-US" b="1" dirty="0"/>
          </a:p>
          <a:p>
            <a:r>
              <a:rPr lang="en-US" altLang="en-US" dirty="0"/>
              <a:t>	2.	Treat patients who have been struck by lightning by supporting the airway, breathing, and circulation.</a:t>
            </a:r>
            <a:endParaRPr lang="en-US" altLang="en-US" b="1" dirty="0"/>
          </a:p>
          <a:p>
            <a:r>
              <a:rPr lang="en-US" altLang="en-US" dirty="0"/>
              <a:t>		a.	Oxygen administration, defibrillation, and CPR may be needed for some patients.</a:t>
            </a:r>
            <a:endParaRPr lang="en-US" altLang="en-US" b="1" dirty="0"/>
          </a:p>
          <a:p>
            <a:r>
              <a:rPr lang="en-US" altLang="en-US" dirty="0"/>
              <a:t>		b.	Patients must be transported to an appropriate medical facility.</a:t>
            </a:r>
            <a:endParaRPr lang="en-US" altLang="en-US" b="1" dirty="0"/>
          </a:p>
          <a:p>
            <a:pPr eaLnBrk="1" hangingPunct="1"/>
            <a:endParaRPr lang="en-US" altLang="en-US" dirty="0"/>
          </a:p>
        </p:txBody>
      </p:sp>
    </p:spTree>
    <p:extLst>
      <p:ext uri="{BB962C8B-B14F-4D97-AF65-F5344CB8AC3E}">
        <p14:creationId xmlns:p14="http://schemas.microsoft.com/office/powerpoint/2010/main" val="42210665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427EDF8D-9A88-6844-A8BA-93F7111EEAC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8" name="Rectangle 3">
            <a:extLst>
              <a:ext uri="{FF2B5EF4-FFF2-40B4-BE49-F238E27FC236}">
                <a16:creationId xmlns:a16="http://schemas.microsoft.com/office/drawing/2014/main" id="{635D685A-99A9-8741-BCBD-A943A3DE00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3.	Lightning injuries can also cause electrical burns.</a:t>
            </a:r>
            <a:endParaRPr lang="en-US" altLang="en-US" b="1" dirty="0"/>
          </a:p>
          <a:p>
            <a:r>
              <a:rPr lang="en-US" altLang="en-US" dirty="0"/>
              <a:t>	a.	Type of burn is mainly internal, so extent of burn damage will not be visible right away after injury occurs.</a:t>
            </a:r>
            <a:endParaRPr lang="en-US" altLang="en-US" b="1" dirty="0"/>
          </a:p>
        </p:txBody>
      </p:sp>
    </p:spTree>
    <p:extLst>
      <p:ext uri="{BB962C8B-B14F-4D97-AF65-F5344CB8AC3E}">
        <p14:creationId xmlns:p14="http://schemas.microsoft.com/office/powerpoint/2010/main" val="24633077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0C50D013-D01D-8A4A-82FA-C24BCA45BA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6" name="Rectangle 3">
            <a:extLst>
              <a:ext uri="{FF2B5EF4-FFF2-40B4-BE49-F238E27FC236}">
                <a16:creationId xmlns:a16="http://schemas.microsoft.com/office/drawing/2014/main" id="{69CB6AA5-6841-CE43-8F91-A7CC40431A8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B.	Bites and stings:</a:t>
            </a:r>
          </a:p>
          <a:p>
            <a:r>
              <a:rPr lang="en-US" altLang="en-US" dirty="0"/>
              <a:t>1.	Bites and stings are sometimes classified as environmental injuries or discussed under topic of poisoning.</a:t>
            </a:r>
            <a:endParaRPr lang="en-US" altLang="en-US" b="1" dirty="0"/>
          </a:p>
          <a:p>
            <a:r>
              <a:rPr lang="en-US" altLang="en-US" dirty="0"/>
              <a:t>2.	In this text, they are discussed in Chapter 11, </a:t>
            </a:r>
            <a:r>
              <a:rPr lang="en-US" altLang="en-US" i="1" dirty="0"/>
              <a:t>Poisoning and Substance Abuse</a:t>
            </a:r>
            <a:r>
              <a:rPr lang="en-US" altLang="en-US" dirty="0"/>
              <a:t>.</a:t>
            </a:r>
            <a:endParaRPr lang="en-US" altLang="en-US" b="1" dirty="0"/>
          </a:p>
          <a:p>
            <a:pPr eaLnBrk="1" hangingPunct="1"/>
            <a:endParaRPr lang="en-US" altLang="en-US" dirty="0"/>
          </a:p>
        </p:txBody>
      </p:sp>
    </p:spTree>
    <p:extLst>
      <p:ext uri="{BB962C8B-B14F-4D97-AF65-F5344CB8AC3E}">
        <p14:creationId xmlns:p14="http://schemas.microsoft.com/office/powerpoint/2010/main" val="14326656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50C0F41F-E7C3-6141-B705-38D0E994F33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4" name="Rectangle 3">
            <a:extLst>
              <a:ext uri="{FF2B5EF4-FFF2-40B4-BE49-F238E27FC236}">
                <a16:creationId xmlns:a16="http://schemas.microsoft.com/office/drawing/2014/main" id="{1C947ACC-F999-294E-A8CC-D93561F35D7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A.	Your approach to a patient who has experienced an environmental emergency should follow the patient assessment sequence.</a:t>
            </a:r>
          </a:p>
          <a:p>
            <a:r>
              <a:rPr lang="en-US" altLang="en-US" dirty="0"/>
              <a:t>B.	Heat cramps are caused by electrolyte imbalance and dehydration. They usually involve muscles in calf, leg, or abdomen. Usually cramps disappear with rest and administration of water.</a:t>
            </a:r>
          </a:p>
          <a:p>
            <a:r>
              <a:rPr lang="en-US" altLang="en-US" dirty="0"/>
              <a:t>C.	A person experiencing heat exhaustion sweats profusely and becomes light-headed, dizzy, and nauseated. Predisposing factors may make some people more susceptible to heat-related illnesses.</a:t>
            </a:r>
          </a:p>
          <a:p>
            <a:r>
              <a:rPr lang="en-US" altLang="en-US" dirty="0"/>
              <a:t>D.	Heatstroke results when a patient has been in a hot environment for a long period, overwhelming body’s sweating mechanism. Patient’s body temperature rises until it reaches a level at which brain damage occurs.</a:t>
            </a:r>
          </a:p>
          <a:p>
            <a:r>
              <a:rPr lang="en-US" altLang="en-US" dirty="0"/>
              <a:t>E.	Body parts most susceptible to frostbite are face, ears, fingers, and toes. Warming frostbitten part must be done quickly and carefully.</a:t>
            </a:r>
          </a:p>
          <a:p>
            <a:pPr eaLnBrk="1" hangingPunct="1"/>
            <a:endParaRPr lang="en-US" altLang="en-US" dirty="0"/>
          </a:p>
        </p:txBody>
      </p:sp>
    </p:spTree>
    <p:extLst>
      <p:ext uri="{BB962C8B-B14F-4D97-AF65-F5344CB8AC3E}">
        <p14:creationId xmlns:p14="http://schemas.microsoft.com/office/powerpoint/2010/main" val="28663009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D4B966F-CD35-B246-88C2-4B200E9B1BE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0" name="Rectangle 3">
            <a:extLst>
              <a:ext uri="{FF2B5EF4-FFF2-40B4-BE49-F238E27FC236}">
                <a16:creationId xmlns:a16="http://schemas.microsoft.com/office/drawing/2014/main" id="{F4D2E435-F404-5549-991F-E25E60CB1B9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F.	Hypothermia occurs when a person’s body is not able to produce enough heat to keep internal (core) body temperature at a satisfactory level.</a:t>
            </a:r>
          </a:p>
          <a:p>
            <a:r>
              <a:rPr lang="en-US" altLang="en-US" dirty="0"/>
              <a:t>G.	Initial signs of hypothermia include feeling cold, shivering, decreasing level of consciousness, and sleepiness. Signs of increasing hypothermia include a lack of coordination, mental confusion, and slowed reactions.</a:t>
            </a:r>
          </a:p>
          <a:p>
            <a:r>
              <a:rPr lang="en-US" altLang="en-US" dirty="0"/>
              <a:t>H.	Hypothermic patients should never be considered dead until they have been warmed in an appropriate medical facility.</a:t>
            </a:r>
          </a:p>
          <a:p>
            <a:pPr eaLnBrk="1" hangingPunct="1"/>
            <a:endParaRPr lang="en-US" altLang="en-US" dirty="0"/>
          </a:p>
        </p:txBody>
      </p:sp>
    </p:spTree>
    <p:extLst>
      <p:ext uri="{BB962C8B-B14F-4D97-AF65-F5344CB8AC3E}">
        <p14:creationId xmlns:p14="http://schemas.microsoft.com/office/powerpoint/2010/main" val="30373294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8EFEC483-8A7B-8F49-A523-031AD86B08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8" name="Rectangle 3">
            <a:extLst>
              <a:ext uri="{FF2B5EF4-FFF2-40B4-BE49-F238E27FC236}">
                <a16:creationId xmlns:a16="http://schemas.microsoft.com/office/drawing/2014/main" id="{895FB7F1-0C64-EB42-8565-AD704B34F52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	Drowning can occur in a variety of settings around a home and outdoors. Signs and symptoms of a submersion injury include coughing, vomiting, difficulty breathing, respiratory arrest, cardiac arrest, and trauma.</a:t>
            </a:r>
          </a:p>
          <a:p>
            <a:r>
              <a:rPr lang="en-US" altLang="en-US" dirty="0"/>
              <a:t>J.	Lightning injuries are caused by a powerful jolt of electrical current that passes through part of body. They may cause irregular heart rhythms or cardiac arrest. They also cause an electrical type of burn that 	damages tissue within body.</a:t>
            </a:r>
          </a:p>
          <a:p>
            <a:pPr eaLnBrk="1" hangingPunct="1"/>
            <a:endParaRPr lang="en-US" altLang="en-US" dirty="0"/>
          </a:p>
        </p:txBody>
      </p:sp>
    </p:spTree>
    <p:extLst>
      <p:ext uri="{BB962C8B-B14F-4D97-AF65-F5344CB8AC3E}">
        <p14:creationId xmlns:p14="http://schemas.microsoft.com/office/powerpoint/2010/main" val="40288064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Slide Image Placeholder 1">
            <a:extLst>
              <a:ext uri="{FF2B5EF4-FFF2-40B4-BE49-F238E27FC236}">
                <a16:creationId xmlns:a16="http://schemas.microsoft.com/office/drawing/2014/main" id="{3AD4E12E-5E00-E146-ACD9-80B6D8BDF3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6" name="Notes Placeholder 2">
            <a:extLst>
              <a:ext uri="{FF2B5EF4-FFF2-40B4-BE49-F238E27FC236}">
                <a16:creationId xmlns:a16="http://schemas.microsoft.com/office/drawing/2014/main" id="{E0FCDB33-A0D2-EA4F-BD12-B1C3373604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98307" name="Slide Number Placeholder 3">
            <a:extLst>
              <a:ext uri="{FF2B5EF4-FFF2-40B4-BE49-F238E27FC236}">
                <a16:creationId xmlns:a16="http://schemas.microsoft.com/office/drawing/2014/main" id="{51ED0AC1-D76B-C140-9D41-94845BA6526C}"/>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pPr algn="r" eaLnBrk="1" hangingPunct="1"/>
            <a:fld id="{5813D1C1-7C3F-1646-85E9-07A114B1B2E2}" type="slidenum">
              <a:rPr lang="en-US" altLang="en-US" sz="1200">
                <a:latin typeface="Arial" panose="020B0604020202020204" pitchFamily="34" charset="0"/>
              </a:rPr>
              <a:pPr algn="r" eaLnBrk="1" hangingPunct="1"/>
              <a:t>45</a:t>
            </a:fld>
            <a:endParaRPr lang="en-US" altLang="en-US" sz="1200">
              <a:latin typeface="Arial" panose="020B0604020202020204" pitchFamily="34" charset="0"/>
            </a:endParaRPr>
          </a:p>
        </p:txBody>
      </p:sp>
    </p:spTree>
    <p:extLst>
      <p:ext uri="{BB962C8B-B14F-4D97-AF65-F5344CB8AC3E}">
        <p14:creationId xmlns:p14="http://schemas.microsoft.com/office/powerpoint/2010/main" val="1572490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3F3A81AD-AEE2-D24F-81E9-E218479729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4" name="Rectangle 3">
            <a:extLst>
              <a:ext uri="{FF2B5EF4-FFF2-40B4-BE49-F238E27FC236}">
                <a16:creationId xmlns:a16="http://schemas.microsoft.com/office/drawing/2014/main" id="{6BC91F58-1C36-7440-AAED-948CEA0468D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extLst>
      <p:ext uri="{BB962C8B-B14F-4D97-AF65-F5344CB8AC3E}">
        <p14:creationId xmlns:p14="http://schemas.microsoft.com/office/powerpoint/2010/main" val="4672732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88F9D561-D2FF-864A-9BD4-CD6DFD3A462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2" name="Rectangle 3">
            <a:extLst>
              <a:ext uri="{FF2B5EF4-FFF2-40B4-BE49-F238E27FC236}">
                <a16:creationId xmlns:a16="http://schemas.microsoft.com/office/drawing/2014/main" id="{8141281D-7F39-EB4E-B3BB-8C3E8B5AC2F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extLst>
      <p:ext uri="{BB962C8B-B14F-4D97-AF65-F5344CB8AC3E}">
        <p14:creationId xmlns:p14="http://schemas.microsoft.com/office/powerpoint/2010/main" val="30682226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a:extLst>
              <a:ext uri="{FF2B5EF4-FFF2-40B4-BE49-F238E27FC236}">
                <a16:creationId xmlns:a16="http://schemas.microsoft.com/office/drawing/2014/main" id="{4FA8175D-090B-BC42-A431-D2885497186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0" name="Rectangle 3">
            <a:extLst>
              <a:ext uri="{FF2B5EF4-FFF2-40B4-BE49-F238E27FC236}">
                <a16:creationId xmlns:a16="http://schemas.microsoft.com/office/drawing/2014/main" id="{9863376B-AB47-7842-8950-C0405E1495B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extLst>
      <p:ext uri="{BB962C8B-B14F-4D97-AF65-F5344CB8AC3E}">
        <p14:creationId xmlns:p14="http://schemas.microsoft.com/office/powerpoint/2010/main" val="9457458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Slide Image Placeholder 1">
            <a:extLst>
              <a:ext uri="{FF2B5EF4-FFF2-40B4-BE49-F238E27FC236}">
                <a16:creationId xmlns:a16="http://schemas.microsoft.com/office/drawing/2014/main" id="{4DFD3E3A-F4FE-5342-92F4-54316D8FC0B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8" name="Notes Placeholder 2">
            <a:extLst>
              <a:ext uri="{FF2B5EF4-FFF2-40B4-BE49-F238E27FC236}">
                <a16:creationId xmlns:a16="http://schemas.microsoft.com/office/drawing/2014/main" id="{CD1FE7CF-ED24-B14D-AF14-A604FF8327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06499" name="Slide Number Placeholder 3">
            <a:extLst>
              <a:ext uri="{FF2B5EF4-FFF2-40B4-BE49-F238E27FC236}">
                <a16:creationId xmlns:a16="http://schemas.microsoft.com/office/drawing/2014/main" id="{846A01FB-FA44-3F4A-A36E-3A4C24984363}"/>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pPr algn="r" eaLnBrk="1" hangingPunct="1"/>
            <a:fld id="{CB582FAB-7E03-A244-986E-B3E1C484BA4D}" type="slidenum">
              <a:rPr lang="en-US" altLang="en-US" sz="1200">
                <a:latin typeface="Arial" panose="020B0604020202020204" pitchFamily="34" charset="0"/>
              </a:rPr>
              <a:pPr algn="r" eaLnBrk="1" hangingPunct="1"/>
              <a:t>49</a:t>
            </a:fld>
            <a:endParaRPr lang="en-US" altLang="en-US" sz="1200">
              <a:latin typeface="Arial" panose="020B0604020202020204" pitchFamily="34" charset="0"/>
            </a:endParaRPr>
          </a:p>
        </p:txBody>
      </p:sp>
    </p:spTree>
    <p:extLst>
      <p:ext uri="{BB962C8B-B14F-4D97-AF65-F5344CB8AC3E}">
        <p14:creationId xmlns:p14="http://schemas.microsoft.com/office/powerpoint/2010/main" val="27336306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1D323590-F213-894E-9045-4D08CB211BB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6" name="Rectangle 3">
            <a:extLst>
              <a:ext uri="{FF2B5EF4-FFF2-40B4-BE49-F238E27FC236}">
                <a16:creationId xmlns:a16="http://schemas.microsoft.com/office/drawing/2014/main" id="{3F7DC74F-3643-BE4A-8FB0-9D346E42A05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extLst>
      <p:ext uri="{BB962C8B-B14F-4D97-AF65-F5344CB8AC3E}">
        <p14:creationId xmlns:p14="http://schemas.microsoft.com/office/powerpoint/2010/main" val="2158965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invGray">
      <p:bgPr>
        <a:solidFill>
          <a:srgbClr val="003B74"/>
        </a:solidFill>
        <a:effectLst/>
      </p:bgPr>
    </p:bg>
    <p:spTree>
      <p:nvGrpSpPr>
        <p:cNvPr id="1" name=""/>
        <p:cNvGrpSpPr/>
        <p:nvPr/>
      </p:nvGrpSpPr>
      <p:grpSpPr>
        <a:xfrm>
          <a:off x="0" y="0"/>
          <a:ext cx="0" cy="0"/>
          <a:chOff x="0" y="0"/>
          <a:chExt cx="0" cy="0"/>
        </a:xfrm>
      </p:grpSpPr>
      <p:sp>
        <p:nvSpPr>
          <p:cNvPr id="9" name="Rectangle 8"/>
          <p:cNvSpPr/>
          <p:nvPr/>
        </p:nvSpPr>
        <p:spPr>
          <a:xfrm>
            <a:off x="0" y="1851660"/>
            <a:ext cx="12192000" cy="37719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10" name="Rectangle 9"/>
          <p:cNvSpPr/>
          <p:nvPr/>
        </p:nvSpPr>
        <p:spPr>
          <a:xfrm>
            <a:off x="-1" y="701802"/>
            <a:ext cx="12192001" cy="10332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1"/>
          <p:cNvSpPr>
            <a:spLocks noGrp="1"/>
          </p:cNvSpPr>
          <p:nvPr>
            <p:ph type="ctrTitle" hasCustomPrompt="1"/>
          </p:nvPr>
        </p:nvSpPr>
        <p:spPr bwMode="black">
          <a:xfrm>
            <a:off x="882217" y="2200275"/>
            <a:ext cx="6421553" cy="3074670"/>
          </a:xfrm>
          <a:noFill/>
        </p:spPr>
        <p:txBody>
          <a:bodyPr lIns="0" tIns="0" rIns="0" bIns="0" anchor="ctr" anchorCtr="0">
            <a:normAutofit/>
          </a:bodyPr>
          <a:lstStyle>
            <a:lvl1pPr algn="l">
              <a:lnSpc>
                <a:spcPct val="90000"/>
              </a:lnSpc>
              <a:defRPr sz="6000" b="1">
                <a:solidFill>
                  <a:schemeClr val="tx1"/>
                </a:solidFill>
              </a:defRPr>
            </a:lvl1pPr>
          </a:lstStyle>
          <a:p>
            <a:r>
              <a:rPr lang="en-US" dirty="0"/>
              <a:t>Chapter Title</a:t>
            </a:r>
            <a:endParaRPr dirty="0"/>
          </a:p>
        </p:txBody>
      </p:sp>
      <p:sp>
        <p:nvSpPr>
          <p:cNvPr id="3" name="Subtitle 2"/>
          <p:cNvSpPr>
            <a:spLocks noGrp="1"/>
          </p:cNvSpPr>
          <p:nvPr>
            <p:ph type="subTitle" idx="1" hasCustomPrompt="1"/>
          </p:nvPr>
        </p:nvSpPr>
        <p:spPr>
          <a:xfrm>
            <a:off x="882217" y="845820"/>
            <a:ext cx="6524423" cy="777639"/>
          </a:xfrm>
        </p:spPr>
        <p:txBody>
          <a:bodyPr lIns="0" tIns="0" rIns="0" bIns="0" anchor="ctr" anchorCtr="0">
            <a:normAutofit/>
          </a:bodyPr>
          <a:lstStyle>
            <a:lvl1pPr marL="0" indent="0" algn="l">
              <a:spcBef>
                <a:spcPts val="0"/>
              </a:spcBef>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endParaRPr dirty="0"/>
          </a:p>
        </p:txBody>
      </p:sp>
      <p:sp>
        <p:nvSpPr>
          <p:cNvPr id="7" name="Picture Placeholder 6">
            <a:extLst>
              <a:ext uri="{FF2B5EF4-FFF2-40B4-BE49-F238E27FC236}">
                <a16:creationId xmlns:a16="http://schemas.microsoft.com/office/drawing/2014/main" id="{EC9CFE91-0E8B-934B-8D25-5CBB7FD65D50}"/>
              </a:ext>
            </a:extLst>
          </p:cNvPr>
          <p:cNvSpPr>
            <a:spLocks noGrp="1"/>
          </p:cNvSpPr>
          <p:nvPr>
            <p:ph type="pic" sz="quarter" idx="10"/>
          </p:nvPr>
        </p:nvSpPr>
        <p:spPr>
          <a:xfrm>
            <a:off x="8100060" y="388500"/>
            <a:ext cx="3604981" cy="6081000"/>
          </a:xfrm>
        </p:spPr>
        <p:txBody>
          <a:bodyPr/>
          <a:lstStyle/>
          <a:p>
            <a:endParaRPr lang="en-US"/>
          </a:p>
        </p:txBody>
      </p:sp>
      <p:sp>
        <p:nvSpPr>
          <p:cNvPr id="17" name="Rectangle 16">
            <a:extLst>
              <a:ext uri="{FF2B5EF4-FFF2-40B4-BE49-F238E27FC236}">
                <a16:creationId xmlns:a16="http://schemas.microsoft.com/office/drawing/2014/main" id="{BEEECFBC-FB4D-9945-A4FF-28E342055AC3}"/>
              </a:ext>
            </a:extLst>
          </p:cNvPr>
          <p:cNvSpPr/>
          <p:nvPr userDrawn="1"/>
        </p:nvSpPr>
        <p:spPr>
          <a:xfrm>
            <a:off x="0" y="6503670"/>
            <a:ext cx="12192000" cy="215444"/>
          </a:xfrm>
          <a:prstGeom prst="rect">
            <a:avLst/>
          </a:prstGeom>
        </p:spPr>
        <p:txBody>
          <a:bodyPr wrap="square">
            <a:spAutoFit/>
          </a:bodyPr>
          <a:lstStyle/>
          <a:p>
            <a:pPr algn="ctr"/>
            <a:r>
              <a:rPr lang="en-US" sz="800" dirty="0">
                <a:solidFill>
                  <a:schemeClr val="bg2"/>
                </a:solidFill>
                <a:latin typeface="Arial" panose="020B0604020202020204" pitchFamily="34" charset="0"/>
                <a:cs typeface="Arial" panose="020B0604020202020204" pitchFamily="34" charset="0"/>
              </a:rPr>
              <a:t>Copyright © 2022 by Jones &amp; Bartlett Learning, LLC an Ascend Learning Company. </a:t>
            </a:r>
            <a:r>
              <a:rPr lang="en-US" sz="800" dirty="0" err="1">
                <a:solidFill>
                  <a:schemeClr val="bg2"/>
                </a:solidFill>
                <a:latin typeface="Arial" panose="020B0604020202020204" pitchFamily="34" charset="0"/>
                <a:cs typeface="Arial" panose="020B0604020202020204" pitchFamily="34" charset="0"/>
              </a:rPr>
              <a:t>www.jblearning.com</a:t>
            </a:r>
            <a:r>
              <a:rPr lang="en-US" sz="800" dirty="0">
                <a:solidFill>
                  <a:schemeClr val="bg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1E3BDFD-7FA5-2143-88E5-0CEE0A6011AD}"/>
              </a:ext>
            </a:extLst>
          </p:cNvPr>
          <p:cNvSpPr/>
          <p:nvPr userDrawn="1"/>
        </p:nvSpPr>
        <p:spPr>
          <a:xfrm>
            <a:off x="0" y="6503670"/>
            <a:ext cx="12192000" cy="215444"/>
          </a:xfrm>
          <a:prstGeom prst="rect">
            <a:avLst/>
          </a:prstGeom>
        </p:spPr>
        <p:txBody>
          <a:bodyPr wrap="square">
            <a:spAutoFit/>
          </a:bodyPr>
          <a:lstStyle/>
          <a:p>
            <a:pPr algn="ctr"/>
            <a:r>
              <a:rPr lang="en-US" sz="800" dirty="0">
                <a:latin typeface="Arial" panose="020B0604020202020204" pitchFamily="34" charset="0"/>
                <a:cs typeface="Arial" panose="020B0604020202020204" pitchFamily="34" charset="0"/>
              </a:rPr>
              <a:t>Copyright © 2020 by Jones &amp; Bartlett Learning, LLC an Ascend Learning Company. www.jblearning.com. Background texture © </a:t>
            </a:r>
            <a:r>
              <a:rPr lang="en-US" sz="800" dirty="0" err="1">
                <a:latin typeface="Arial" panose="020B0604020202020204" pitchFamily="34" charset="0"/>
                <a:cs typeface="Arial" panose="020B0604020202020204" pitchFamily="34" charset="0"/>
              </a:rPr>
              <a:t>Bunphot</a:t>
            </a:r>
            <a:r>
              <a:rPr lang="en-US" sz="800" dirty="0">
                <a:latin typeface="Arial" panose="020B0604020202020204" pitchFamily="34" charset="0"/>
                <a:cs typeface="Arial" panose="020B0604020202020204" pitchFamily="34" charset="0"/>
              </a:rPr>
              <a:t>/Getty Images.</a:t>
            </a:r>
          </a:p>
        </p:txBody>
      </p:sp>
      <p:sp>
        <p:nvSpPr>
          <p:cNvPr id="6" name="Rectangle 5">
            <a:extLst>
              <a:ext uri="{FF2B5EF4-FFF2-40B4-BE49-F238E27FC236}">
                <a16:creationId xmlns:a16="http://schemas.microsoft.com/office/drawing/2014/main" id="{A4FD052D-18CE-1249-A891-AB3E165F4441}"/>
              </a:ext>
            </a:extLst>
          </p:cNvPr>
          <p:cNvSpPr/>
          <p:nvPr userDrawn="1"/>
        </p:nvSpPr>
        <p:spPr>
          <a:xfrm>
            <a:off x="0" y="2274570"/>
            <a:ext cx="12192000" cy="1760220"/>
          </a:xfrm>
          <a:prstGeom prst="rect">
            <a:avLst/>
          </a:prstGeom>
          <a:solidFill>
            <a:srgbClr val="003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8C0E0F34-F7A9-8D4B-9F49-A76F8B00661D}"/>
              </a:ext>
            </a:extLst>
          </p:cNvPr>
          <p:cNvSpPr>
            <a:spLocks noGrp="1"/>
          </p:cNvSpPr>
          <p:nvPr>
            <p:ph type="body" sz="quarter" idx="10" hasCustomPrompt="1"/>
          </p:nvPr>
        </p:nvSpPr>
        <p:spPr>
          <a:xfrm>
            <a:off x="935038" y="2571750"/>
            <a:ext cx="10321925" cy="1165225"/>
          </a:xfrm>
        </p:spPr>
        <p:txBody>
          <a:bodyPr anchor="ctr" anchorCtr="0"/>
          <a:lstStyle>
            <a:lvl1pPr marL="0" indent="0" algn="ctr">
              <a:buNone/>
              <a:defRPr sz="4800" b="1">
                <a:solidFill>
                  <a:srgbClr val="FFFFFF"/>
                </a:solidFill>
              </a:defRPr>
            </a:lvl1pPr>
          </a:lstStyle>
          <a:p>
            <a:pPr lvl="0"/>
            <a:r>
              <a:rPr lang="en-US" dirty="0"/>
              <a:t>Divider</a:t>
            </a: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
        <p:nvSpPr>
          <p:cNvPr id="3" name="Content Placeholder 2"/>
          <p:cNvSpPr>
            <a:spLocks noGrp="1"/>
          </p:cNvSpPr>
          <p:nvPr>
            <p:ph idx="1"/>
          </p:nvPr>
        </p:nvSpPr>
        <p:spPr>
          <a:xfrm>
            <a:off x="925830" y="1490870"/>
            <a:ext cx="10287000" cy="469904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
        <p:nvSpPr>
          <p:cNvPr id="3" name="Content Placeholder 2"/>
          <p:cNvSpPr>
            <a:spLocks noGrp="1"/>
          </p:cNvSpPr>
          <p:nvPr>
            <p:ph sz="half" idx="1"/>
          </p:nvPr>
        </p:nvSpPr>
        <p:spPr>
          <a:xfrm>
            <a:off x="914400" y="1461052"/>
            <a:ext cx="4855464" cy="47294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6415368" y="1461052"/>
            <a:ext cx="4862232" cy="47294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sp>
        <p:nvSpPr>
          <p:cNvPr id="3" name="Text Placeholder 2"/>
          <p:cNvSpPr>
            <a:spLocks noGrp="1"/>
          </p:cNvSpPr>
          <p:nvPr>
            <p:ph type="body" idx="1"/>
          </p:nvPr>
        </p:nvSpPr>
        <p:spPr>
          <a:xfrm>
            <a:off x="777240" y="1496187"/>
            <a:ext cx="4992624" cy="470916"/>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777240" y="2077278"/>
            <a:ext cx="4992624" cy="43908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1" name="Picture Placeholder 10">
            <a:extLst>
              <a:ext uri="{FF2B5EF4-FFF2-40B4-BE49-F238E27FC236}">
                <a16:creationId xmlns:a16="http://schemas.microsoft.com/office/drawing/2014/main" id="{A3169499-437D-8F4D-94AA-E2299357328F}"/>
              </a:ext>
            </a:extLst>
          </p:cNvPr>
          <p:cNvSpPr>
            <a:spLocks noGrp="1"/>
          </p:cNvSpPr>
          <p:nvPr>
            <p:ph type="pic" sz="quarter" idx="10"/>
          </p:nvPr>
        </p:nvSpPr>
        <p:spPr>
          <a:xfrm>
            <a:off x="6096000" y="1496186"/>
            <a:ext cx="5208588" cy="4556743"/>
          </a:xfrm>
        </p:spPr>
        <p:txBody>
          <a:bodyPr/>
          <a:lstStyle/>
          <a:p>
            <a:endParaRPr lang="en-US"/>
          </a:p>
        </p:txBody>
      </p:sp>
      <p:sp>
        <p:nvSpPr>
          <p:cNvPr id="12" name="Text Placeholder 8">
            <a:extLst>
              <a:ext uri="{FF2B5EF4-FFF2-40B4-BE49-F238E27FC236}">
                <a16:creationId xmlns:a16="http://schemas.microsoft.com/office/drawing/2014/main" id="{B116746D-2971-C346-AB96-03BED323E049}"/>
              </a:ext>
            </a:extLst>
          </p:cNvPr>
          <p:cNvSpPr>
            <a:spLocks noGrp="1"/>
          </p:cNvSpPr>
          <p:nvPr>
            <p:ph type="body" sz="quarter" idx="11" hasCustomPrompt="1"/>
          </p:nvPr>
        </p:nvSpPr>
        <p:spPr>
          <a:xfrm>
            <a:off x="6096000" y="6142515"/>
            <a:ext cx="5208588" cy="651192"/>
          </a:xfrm>
        </p:spPr>
        <p:txBody>
          <a:bodyPr/>
          <a:lstStyle>
            <a:lvl1pPr marL="0" indent="0">
              <a:buNone/>
              <a:defRPr sz="1000"/>
            </a:lvl1pPr>
          </a:lstStyle>
          <a:p>
            <a:pPr lvl="0"/>
            <a:r>
              <a:rPr lang="en-US" dirty="0"/>
              <a:t>Credit line FPO</a:t>
            </a: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880110" y="1510748"/>
            <a:ext cx="4246582" cy="4404625"/>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Text Placeholder 8">
            <a:extLst>
              <a:ext uri="{FF2B5EF4-FFF2-40B4-BE49-F238E27FC236}">
                <a16:creationId xmlns:a16="http://schemas.microsoft.com/office/drawing/2014/main" id="{752B3F09-47B3-324C-BCD8-DE2A52443CC0}"/>
              </a:ext>
            </a:extLst>
          </p:cNvPr>
          <p:cNvSpPr>
            <a:spLocks noGrp="1"/>
          </p:cNvSpPr>
          <p:nvPr>
            <p:ph type="body" sz="quarter" idx="10" hasCustomPrompt="1"/>
          </p:nvPr>
        </p:nvSpPr>
        <p:spPr>
          <a:xfrm>
            <a:off x="5518150" y="6046788"/>
            <a:ext cx="5792992" cy="651192"/>
          </a:xfrm>
        </p:spPr>
        <p:txBody>
          <a:bodyPr/>
          <a:lstStyle>
            <a:lvl1pPr marL="0" indent="0">
              <a:buNone/>
              <a:defRPr sz="1000"/>
            </a:lvl1pPr>
          </a:lstStyle>
          <a:p>
            <a:pPr lvl="0"/>
            <a:r>
              <a:rPr lang="en-US" dirty="0"/>
              <a:t>Credit line FPO</a:t>
            </a:r>
          </a:p>
        </p:txBody>
      </p:sp>
      <p:sp>
        <p:nvSpPr>
          <p:cNvPr id="11" name="Picture Placeholder 10">
            <a:extLst>
              <a:ext uri="{FF2B5EF4-FFF2-40B4-BE49-F238E27FC236}">
                <a16:creationId xmlns:a16="http://schemas.microsoft.com/office/drawing/2014/main" id="{8A3226D5-00A8-E049-8469-4BFBE39DD467}"/>
              </a:ext>
            </a:extLst>
          </p:cNvPr>
          <p:cNvSpPr>
            <a:spLocks noGrp="1"/>
          </p:cNvSpPr>
          <p:nvPr>
            <p:ph type="pic" sz="quarter" idx="11"/>
          </p:nvPr>
        </p:nvSpPr>
        <p:spPr>
          <a:xfrm>
            <a:off x="5518150" y="1508815"/>
            <a:ext cx="5792788" cy="4404624"/>
          </a:xfrm>
        </p:spPr>
        <p:txBody>
          <a:bodyPr/>
          <a:lstStyle/>
          <a:p>
            <a:endParaRPr lang="en-US"/>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3" name="Content Placeholder 3"/>
          <p:cNvSpPr>
            <a:spLocks noGrp="1"/>
          </p:cNvSpPr>
          <p:nvPr>
            <p:ph idx="1" hasCustomPrompt="1"/>
          </p:nvPr>
        </p:nvSpPr>
        <p:spPr>
          <a:xfrm>
            <a:off x="921496" y="1461052"/>
            <a:ext cx="3181874" cy="4895328"/>
          </a:xfrm>
        </p:spPr>
        <p:txBody>
          <a:bodyPr>
            <a:normAutofit/>
          </a:bodyPr>
          <a:lstStyle>
            <a:lvl1pPr marL="0" indent="0">
              <a:buNone/>
              <a:defRPr sz="2200"/>
            </a:lvl1pPr>
            <a:lvl2pPr marL="457200" indent="0">
              <a:buNone/>
              <a:defRPr sz="2000"/>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dirty="0"/>
              <a:t>Sample text</a:t>
            </a:r>
            <a:endParaRPr dirty="0"/>
          </a:p>
        </p:txBody>
      </p:sp>
      <p:sp>
        <p:nvSpPr>
          <p:cNvPr id="7" name="Content Placeholder 3">
            <a:extLst>
              <a:ext uri="{FF2B5EF4-FFF2-40B4-BE49-F238E27FC236}">
                <a16:creationId xmlns:a16="http://schemas.microsoft.com/office/drawing/2014/main" id="{40A1ED7B-82D7-5A47-A193-C7C24693D3C4}"/>
              </a:ext>
            </a:extLst>
          </p:cNvPr>
          <p:cNvSpPr>
            <a:spLocks noGrp="1"/>
          </p:cNvSpPr>
          <p:nvPr>
            <p:ph idx="10" hasCustomPrompt="1"/>
          </p:nvPr>
        </p:nvSpPr>
        <p:spPr>
          <a:xfrm>
            <a:off x="448765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
        <p:nvSpPr>
          <p:cNvPr id="8" name="Content Placeholder 3">
            <a:extLst>
              <a:ext uri="{FF2B5EF4-FFF2-40B4-BE49-F238E27FC236}">
                <a16:creationId xmlns:a16="http://schemas.microsoft.com/office/drawing/2014/main" id="{43872FE9-5E92-4F44-8A71-024A081C439C}"/>
              </a:ext>
            </a:extLst>
          </p:cNvPr>
          <p:cNvSpPr>
            <a:spLocks noGrp="1"/>
          </p:cNvSpPr>
          <p:nvPr>
            <p:ph idx="11" hasCustomPrompt="1"/>
          </p:nvPr>
        </p:nvSpPr>
        <p:spPr>
          <a:xfrm>
            <a:off x="805381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Tree>
    <p:extLst>
      <p:ext uri="{BB962C8B-B14F-4D97-AF65-F5344CB8AC3E}">
        <p14:creationId xmlns:p14="http://schemas.microsoft.com/office/powerpoint/2010/main" val="311169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2188952" cy="1188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Placeholder 1"/>
          <p:cNvSpPr>
            <a:spLocks noGrp="1"/>
          </p:cNvSpPr>
          <p:nvPr>
            <p:ph type="title"/>
          </p:nvPr>
        </p:nvSpPr>
        <p:spPr bwMode="black">
          <a:xfrm>
            <a:off x="0" y="121033"/>
            <a:ext cx="12192000" cy="1002089"/>
          </a:xfrm>
          <a:prstGeom prst="rect">
            <a:avLst/>
          </a:prstGeom>
          <a:solidFill>
            <a:srgbClr val="003B74"/>
          </a:solidFill>
        </p:spPr>
        <p:txBody>
          <a:bodyPr vert="horz" lIns="914400" tIns="45720" rIns="914400" bIns="45720" rtlCol="0" anchor="ctr">
            <a:normAutofit/>
          </a:bodyPr>
          <a:lstStyle/>
          <a:p>
            <a:r>
              <a:rPr lang="en-US" dirty="0"/>
              <a:t>Click to edit Master title style</a:t>
            </a:r>
            <a:endParaRPr dirty="0"/>
          </a:p>
        </p:txBody>
      </p:sp>
      <p:sp>
        <p:nvSpPr>
          <p:cNvPr id="3" name="Text Placeholder 2"/>
          <p:cNvSpPr>
            <a:spLocks noGrp="1"/>
          </p:cNvSpPr>
          <p:nvPr>
            <p:ph type="body" idx="1"/>
          </p:nvPr>
        </p:nvSpPr>
        <p:spPr>
          <a:xfrm>
            <a:off x="891540" y="2203704"/>
            <a:ext cx="10435590" cy="398621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Rectangle 6">
            <a:extLst>
              <a:ext uri="{FF2B5EF4-FFF2-40B4-BE49-F238E27FC236}">
                <a16:creationId xmlns:a16="http://schemas.microsoft.com/office/drawing/2014/main" id="{21F38BD8-3F75-CE4C-AFEF-0C6B45F77F8C}"/>
              </a:ext>
            </a:extLst>
          </p:cNvPr>
          <p:cNvSpPr/>
          <p:nvPr userDrawn="1"/>
        </p:nvSpPr>
        <p:spPr>
          <a:xfrm rot="5400000">
            <a:off x="9544258" y="4245031"/>
            <a:ext cx="5010495" cy="215444"/>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Copyright © 2022 by Jones &amp; Bartlett Learning, LLC an Ascend Learning Company. </a:t>
            </a:r>
            <a:r>
              <a:rPr lang="en-US" sz="800" dirty="0" err="1">
                <a:latin typeface="Arial" panose="020B0604020202020204" pitchFamily="34" charset="0"/>
                <a:cs typeface="Arial" panose="020B0604020202020204" pitchFamily="34" charset="0"/>
              </a:rPr>
              <a:t>www.jblearning.com</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2" r:id="rId4"/>
    <p:sldLayoutId id="2147483653" r:id="rId5"/>
    <p:sldLayoutId id="2147483654" r:id="rId6"/>
    <p:sldLayoutId id="2147483656" r:id="rId7"/>
    <p:sldLayoutId id="2147483657"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b="1" kern="1200">
          <a:solidFill>
            <a:schemeClr val="bg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14">
            <a:extLst>
              <a:ext uri="{FF2B5EF4-FFF2-40B4-BE49-F238E27FC236}">
                <a16:creationId xmlns:a16="http://schemas.microsoft.com/office/drawing/2014/main" id="{CF4F1586-DE6A-1A40-AEF4-23ADA41937E4}"/>
              </a:ext>
            </a:extLst>
          </p:cNvPr>
          <p:cNvSpPr>
            <a:spLocks noGrp="1"/>
          </p:cNvSpPr>
          <p:nvPr>
            <p:ph type="subTitle" idx="1"/>
          </p:nvPr>
        </p:nvSpPr>
        <p:spPr/>
        <p:txBody>
          <a:bodyPr/>
          <a:lstStyle/>
          <a:p>
            <a:r>
              <a:rPr lang="en-US" dirty="0"/>
              <a:t>CHAPTER 13</a:t>
            </a:r>
          </a:p>
        </p:txBody>
      </p:sp>
      <p:sp>
        <p:nvSpPr>
          <p:cNvPr id="19" name="Title 18">
            <a:extLst>
              <a:ext uri="{FF2B5EF4-FFF2-40B4-BE49-F238E27FC236}">
                <a16:creationId xmlns:a16="http://schemas.microsoft.com/office/drawing/2014/main" id="{A58A35F8-EA88-094E-8EAD-88FE6A07C447}"/>
              </a:ext>
            </a:extLst>
          </p:cNvPr>
          <p:cNvSpPr>
            <a:spLocks noGrp="1"/>
          </p:cNvSpPr>
          <p:nvPr>
            <p:ph type="ctrTitle"/>
          </p:nvPr>
        </p:nvSpPr>
        <p:spPr/>
        <p:txBody>
          <a:bodyPr/>
          <a:lstStyle/>
          <a:p>
            <a:r>
              <a:rPr lang="en-US" dirty="0"/>
              <a:t>Environmental Emergencies</a:t>
            </a:r>
          </a:p>
        </p:txBody>
      </p:sp>
      <p:pic>
        <p:nvPicPr>
          <p:cNvPr id="5" name="Picture 4" descr="A cover page shows the logo of A A O S on the left end with the text American Academy of Orthopaedic Surgeons below it. The book title reads, Seventh Edition, Emergency Medical Responder, Your First Response in Emergency Care, authored by David Schottke; Series Editor: Andrew N. Pollak, MD, FAAOS . At the bottom is the logo of Navigate eBook.">
            <a:extLst>
              <a:ext uri="{FF2B5EF4-FFF2-40B4-BE49-F238E27FC236}">
                <a16:creationId xmlns:a16="http://schemas.microsoft.com/office/drawing/2014/main" id="{A8280651-A45A-1342-9DDA-D8CFB0746F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73715" y="0"/>
            <a:ext cx="5618285" cy="6858000"/>
          </a:xfrm>
          <a:prstGeom prst="rect">
            <a:avLst/>
          </a:prstGeom>
        </p:spPr>
      </p:pic>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570" name="Rectangle 2">
            <a:extLst>
              <a:ext uri="{FF2B5EF4-FFF2-40B4-BE49-F238E27FC236}">
                <a16:creationId xmlns:a16="http://schemas.microsoft.com/office/drawing/2014/main" id="{0DAA07BB-1E69-8946-BF2E-D09780F46255}"/>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(1 of 2)</a:t>
            </a:r>
          </a:p>
        </p:txBody>
      </p:sp>
      <p:sp>
        <p:nvSpPr>
          <p:cNvPr id="5123" name="Rectangle 3">
            <a:extLst>
              <a:ext uri="{FF2B5EF4-FFF2-40B4-BE49-F238E27FC236}">
                <a16:creationId xmlns:a16="http://schemas.microsoft.com/office/drawing/2014/main" id="{82798BA7-3CDA-3947-B2CD-181B2134DB70}"/>
              </a:ext>
            </a:extLst>
          </p:cNvPr>
          <p:cNvSpPr>
            <a:spLocks noGrp="1" noChangeArrowheads="1"/>
          </p:cNvSpPr>
          <p:nvPr>
            <p:ph type="body" idx="1"/>
          </p:nvPr>
        </p:nvSpPr>
        <p:spPr/>
        <p:txBody>
          <a:bodyPr vert="horz" lIns="91440" tIns="45720" rIns="228600" bIns="45720" rtlCol="0">
            <a:noAutofit/>
          </a:bodyPr>
          <a:lstStyle/>
          <a:p>
            <a:pPr marL="0" indent="0">
              <a:buNone/>
            </a:pPr>
            <a:r>
              <a:rPr lang="en-US" altLang="en-US" dirty="0">
                <a:latin typeface="Arial Black" panose="020B0604020202020204" pitchFamily="34" charset="0"/>
              </a:rPr>
              <a:t>Trauma:</a:t>
            </a:r>
          </a:p>
          <a:p>
            <a:pPr marL="0" indent="0">
              <a:spcBef>
                <a:spcPct val="35000"/>
              </a:spcBef>
              <a:buNone/>
            </a:pPr>
            <a:r>
              <a:rPr lang="en-US" altLang="en-US" dirty="0"/>
              <a:t>Uses simple knowledge to recognize and manage life threats based on assessment findings for an acutely injured patient while awaiting additional emergency medical response.</a:t>
            </a:r>
          </a:p>
        </p:txBody>
      </p:sp>
    </p:spTree>
    <p:extLst>
      <p:ext uri="{BB962C8B-B14F-4D97-AF65-F5344CB8AC3E}">
        <p14:creationId xmlns:p14="http://schemas.microsoft.com/office/powerpoint/2010/main" val="2693930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4" name="Rectangle 2">
            <a:extLst>
              <a:ext uri="{FF2B5EF4-FFF2-40B4-BE49-F238E27FC236}">
                <a16:creationId xmlns:a16="http://schemas.microsoft.com/office/drawing/2014/main" id="{92240182-A6C1-764F-8999-CFCA95321562}"/>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(2 of 2)</a:t>
            </a:r>
          </a:p>
        </p:txBody>
      </p:sp>
      <p:sp>
        <p:nvSpPr>
          <p:cNvPr id="7171" name="Rectangle 3">
            <a:extLst>
              <a:ext uri="{FF2B5EF4-FFF2-40B4-BE49-F238E27FC236}">
                <a16:creationId xmlns:a16="http://schemas.microsoft.com/office/drawing/2014/main" id="{BA774AE0-8D78-5D44-B46D-D9951B82503E}"/>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buFontTx/>
              <a:buNone/>
            </a:pPr>
            <a:r>
              <a:rPr lang="en-US" altLang="en-US" b="1" dirty="0"/>
              <a:t>Environmental Emergencies:</a:t>
            </a:r>
          </a:p>
          <a:p>
            <a:pPr eaLnBrk="1" hangingPunct="1">
              <a:spcBef>
                <a:spcPct val="35000"/>
              </a:spcBef>
              <a:buFontTx/>
              <a:buNone/>
            </a:pPr>
            <a:r>
              <a:rPr lang="en-US" altLang="en-US" dirty="0"/>
              <a:t>Recognition and management of:</a:t>
            </a:r>
          </a:p>
          <a:p>
            <a:pPr eaLnBrk="1" hangingPunct="1">
              <a:spcBef>
                <a:spcPct val="35000"/>
              </a:spcBef>
            </a:pPr>
            <a:r>
              <a:rPr lang="en-US" altLang="en-US" dirty="0"/>
              <a:t>Submersion incidents.</a:t>
            </a:r>
          </a:p>
          <a:p>
            <a:pPr eaLnBrk="1" hangingPunct="1">
              <a:spcBef>
                <a:spcPct val="35000"/>
              </a:spcBef>
            </a:pPr>
            <a:r>
              <a:rPr lang="en-US" altLang="en-US" dirty="0"/>
              <a:t>Temperature-related illness.</a:t>
            </a:r>
          </a:p>
        </p:txBody>
      </p:sp>
    </p:spTree>
    <p:extLst>
      <p:ext uri="{BB962C8B-B14F-4D97-AF65-F5344CB8AC3E}">
        <p14:creationId xmlns:p14="http://schemas.microsoft.com/office/powerpoint/2010/main" val="2764325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2" name="Rectangle 2">
            <a:extLst>
              <a:ext uri="{FF2B5EF4-FFF2-40B4-BE49-F238E27FC236}">
                <a16:creationId xmlns:a16="http://schemas.microsoft.com/office/drawing/2014/main" id="{110058A9-F09B-564B-958E-E58E45DAC8DA}"/>
              </a:ext>
            </a:extLst>
          </p:cNvPr>
          <p:cNvSpPr>
            <a:spLocks noGrp="1" noChangeArrowheads="1"/>
          </p:cNvSpPr>
          <p:nvPr>
            <p:ph type="title"/>
          </p:nvPr>
        </p:nvSpPr>
        <p:spPr/>
        <p:txBody>
          <a:bodyPr/>
          <a:lstStyle/>
          <a:p>
            <a:pPr eaLnBrk="1" hangingPunct="1">
              <a:lnSpc>
                <a:spcPct val="85000"/>
              </a:lnSpc>
              <a:defRPr/>
            </a:pPr>
            <a:r>
              <a:rPr lang="en-US" dirty="0"/>
              <a:t>Introduction </a:t>
            </a:r>
            <a:endParaRPr lang="en-US" sz="2800" b="0" dirty="0"/>
          </a:p>
        </p:txBody>
      </p:sp>
      <p:sp>
        <p:nvSpPr>
          <p:cNvPr id="11267" name="Rectangle 3">
            <a:extLst>
              <a:ext uri="{FF2B5EF4-FFF2-40B4-BE49-F238E27FC236}">
                <a16:creationId xmlns:a16="http://schemas.microsoft.com/office/drawing/2014/main" id="{721ECF30-6427-C34E-A335-AF61C7869248}"/>
              </a:ext>
            </a:extLst>
          </p:cNvPr>
          <p:cNvSpPr>
            <a:spLocks noGrp="1" noChangeArrowheads="1"/>
          </p:cNvSpPr>
          <p:nvPr>
            <p:ph type="body" idx="1"/>
          </p:nvPr>
        </p:nvSpPr>
        <p:spPr/>
        <p:txBody>
          <a:bodyPr vert="horz" lIns="91440" tIns="45720" rIns="228600" bIns="45720" rtlCol="0">
            <a:noAutofit/>
          </a:bodyPr>
          <a:lstStyle/>
          <a:p>
            <a:pPr>
              <a:spcBef>
                <a:spcPct val="35000"/>
              </a:spcBef>
            </a:pPr>
            <a:r>
              <a:rPr lang="en-US" altLang="en-US" dirty="0"/>
              <a:t>When a person is exposed to excess heat, the body’s mechanisms for regulating temperature can be overwhelmed, resulting in:</a:t>
            </a:r>
          </a:p>
          <a:p>
            <a:pPr lvl="1">
              <a:spcBef>
                <a:spcPct val="35000"/>
              </a:spcBef>
            </a:pPr>
            <a:r>
              <a:rPr lang="en-US" altLang="en-US" dirty="0"/>
              <a:t>Heat cramps.</a:t>
            </a:r>
          </a:p>
          <a:p>
            <a:pPr lvl="1">
              <a:spcBef>
                <a:spcPct val="35000"/>
              </a:spcBef>
            </a:pPr>
            <a:r>
              <a:rPr lang="en-US" altLang="en-US" dirty="0"/>
              <a:t>Heat exhaustion.</a:t>
            </a:r>
          </a:p>
          <a:p>
            <a:pPr lvl="1">
              <a:spcBef>
                <a:spcPct val="35000"/>
              </a:spcBef>
            </a:pPr>
            <a:r>
              <a:rPr lang="en-US" altLang="en-US" dirty="0"/>
              <a:t>Heatstroke.</a:t>
            </a:r>
          </a:p>
          <a:p>
            <a:pPr eaLnBrk="1" hangingPunct="1">
              <a:spcBef>
                <a:spcPct val="35000"/>
              </a:spcBef>
            </a:pPr>
            <a:r>
              <a:rPr lang="en-US" altLang="en-US" dirty="0"/>
              <a:t>Exposure to cold environments may result in conditions such as frostbite or hypothermia.</a:t>
            </a:r>
          </a:p>
          <a:p>
            <a:pPr eaLnBrk="1" hangingPunct="1">
              <a:spcBef>
                <a:spcPct val="35000"/>
              </a:spcBef>
            </a:pPr>
            <a:r>
              <a:rPr lang="en-US" altLang="en-US" dirty="0"/>
              <a:t>Unintentional exposure to water can lead to submersion injuries and drowning.</a:t>
            </a:r>
          </a:p>
        </p:txBody>
      </p:sp>
    </p:spTree>
    <p:extLst>
      <p:ext uri="{BB962C8B-B14F-4D97-AF65-F5344CB8AC3E}">
        <p14:creationId xmlns:p14="http://schemas.microsoft.com/office/powerpoint/2010/main" val="4170377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666" name="Rectangle 2">
            <a:extLst>
              <a:ext uri="{FF2B5EF4-FFF2-40B4-BE49-F238E27FC236}">
                <a16:creationId xmlns:a16="http://schemas.microsoft.com/office/drawing/2014/main" id="{42BBAEF3-E78B-8349-A59B-34BFF7011131}"/>
              </a:ext>
            </a:extLst>
          </p:cNvPr>
          <p:cNvSpPr>
            <a:spLocks noGrp="1" noChangeArrowheads="1"/>
          </p:cNvSpPr>
          <p:nvPr>
            <p:ph type="title"/>
          </p:nvPr>
        </p:nvSpPr>
        <p:spPr/>
        <p:txBody>
          <a:bodyPr/>
          <a:lstStyle/>
          <a:p>
            <a:pPr eaLnBrk="1" hangingPunct="1">
              <a:lnSpc>
                <a:spcPct val="85000"/>
              </a:lnSpc>
              <a:defRPr/>
            </a:pPr>
            <a:r>
              <a:rPr lang="en-US" sz="3600" dirty="0"/>
              <a:t>Patient Assessment for Environmental Emergencies</a:t>
            </a:r>
            <a:r>
              <a:rPr lang="en-US" dirty="0"/>
              <a:t> </a:t>
            </a:r>
            <a:r>
              <a:rPr lang="en-US" sz="2800" b="0" dirty="0"/>
              <a:t>(1 of 3)</a:t>
            </a:r>
          </a:p>
        </p:txBody>
      </p:sp>
      <p:sp>
        <p:nvSpPr>
          <p:cNvPr id="6" name="Rectangle 5"/>
          <p:cNvSpPr/>
          <p:nvPr/>
        </p:nvSpPr>
        <p:spPr>
          <a:xfrm>
            <a:off x="3844667" y="5787346"/>
            <a:ext cx="5394584" cy="36933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13-1 </a:t>
            </a:r>
            <a:r>
              <a:rPr lang="en-US" dirty="0"/>
              <a:t>Patient assessment sequence. </a:t>
            </a:r>
          </a:p>
        </p:txBody>
      </p:sp>
      <p:sp>
        <p:nvSpPr>
          <p:cNvPr id="7" name="Rectangle 6"/>
          <p:cNvSpPr/>
          <p:nvPr/>
        </p:nvSpPr>
        <p:spPr>
          <a:xfrm>
            <a:off x="3868790" y="6121646"/>
            <a:ext cx="4456008"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pic>
        <p:nvPicPr>
          <p:cNvPr id="1026" name="Picture 2" descr="The sequence is as follows: scene size-up; primary assessment; history taking; secondary assessment; reassessment.&#10;" title="A figure denotes the patient assessment sequence in the form of a flowchart, using boxes with arrows leading off from one box to the nex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2188" y="1381715"/>
            <a:ext cx="2589212" cy="4399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2984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a:extLst>
              <a:ext uri="{FF2B5EF4-FFF2-40B4-BE49-F238E27FC236}">
                <a16:creationId xmlns:a16="http://schemas.microsoft.com/office/drawing/2014/main" id="{8AFC1576-2366-474D-A6CA-B47F767DE304}"/>
              </a:ext>
            </a:extLst>
          </p:cNvPr>
          <p:cNvSpPr>
            <a:spLocks noGrp="1" noChangeArrowheads="1"/>
          </p:cNvSpPr>
          <p:nvPr>
            <p:ph type="title"/>
          </p:nvPr>
        </p:nvSpPr>
        <p:spPr/>
        <p:txBody>
          <a:bodyPr/>
          <a:lstStyle/>
          <a:p>
            <a:pPr eaLnBrk="1" hangingPunct="1">
              <a:lnSpc>
                <a:spcPct val="85000"/>
              </a:lnSpc>
              <a:defRPr/>
            </a:pPr>
            <a:r>
              <a:rPr lang="en-US" sz="3600" dirty="0"/>
              <a:t>Patient Assessment for Environmental Emergencies</a:t>
            </a:r>
            <a:r>
              <a:rPr lang="en-US" dirty="0"/>
              <a:t> </a:t>
            </a:r>
            <a:r>
              <a:rPr lang="en-US" sz="2800" b="0" dirty="0"/>
              <a:t>(2 of 3)</a:t>
            </a:r>
          </a:p>
        </p:txBody>
      </p:sp>
      <p:sp>
        <p:nvSpPr>
          <p:cNvPr id="15363" name="Rectangle 3">
            <a:extLst>
              <a:ext uri="{FF2B5EF4-FFF2-40B4-BE49-F238E27FC236}">
                <a16:creationId xmlns:a16="http://schemas.microsoft.com/office/drawing/2014/main" id="{2D8DAFB3-F369-C24B-94A0-B0628F9389A7}"/>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Review dispatch information.</a:t>
            </a:r>
          </a:p>
          <a:p>
            <a:pPr eaLnBrk="1" hangingPunct="1">
              <a:spcBef>
                <a:spcPct val="35000"/>
              </a:spcBef>
            </a:pPr>
            <a:r>
              <a:rPr lang="en-US" altLang="en-US" dirty="0"/>
              <a:t>Assess scene for safety issues.</a:t>
            </a:r>
          </a:p>
          <a:p>
            <a:pPr eaLnBrk="1" hangingPunct="1">
              <a:spcBef>
                <a:spcPct val="35000"/>
              </a:spcBef>
            </a:pPr>
            <a:r>
              <a:rPr lang="en-US" altLang="en-US" dirty="0"/>
              <a:t>As you perform primary assessment:</a:t>
            </a:r>
          </a:p>
          <a:p>
            <a:pPr lvl="1" eaLnBrk="1" hangingPunct="1">
              <a:spcBef>
                <a:spcPct val="35000"/>
              </a:spcBef>
            </a:pPr>
            <a:r>
              <a:rPr lang="en-US" altLang="en-US" dirty="0"/>
              <a:t>Try to form an impression of patient’s condition.</a:t>
            </a:r>
          </a:p>
          <a:p>
            <a:pPr lvl="1" eaLnBrk="1" hangingPunct="1">
              <a:spcBef>
                <a:spcPct val="35000"/>
              </a:spcBef>
            </a:pPr>
            <a:r>
              <a:rPr lang="en-US" altLang="en-US" dirty="0"/>
              <a:t>Determine patient’s level of responsiveness.</a:t>
            </a:r>
          </a:p>
          <a:p>
            <a:pPr lvl="1" eaLnBrk="1" hangingPunct="1">
              <a:spcBef>
                <a:spcPct val="35000"/>
              </a:spcBef>
            </a:pPr>
            <a:r>
              <a:rPr lang="en-US" altLang="en-US" dirty="0"/>
              <a:t>Introduce yourself.</a:t>
            </a:r>
          </a:p>
          <a:p>
            <a:pPr lvl="1" eaLnBrk="1" hangingPunct="1">
              <a:spcBef>
                <a:spcPct val="35000"/>
              </a:spcBef>
            </a:pPr>
            <a:r>
              <a:rPr lang="en-US" altLang="en-US" dirty="0"/>
              <a:t>Check patient’s ABCs.</a:t>
            </a:r>
          </a:p>
          <a:p>
            <a:pPr lvl="1" eaLnBrk="1" hangingPunct="1">
              <a:spcBef>
                <a:spcPct val="35000"/>
              </a:spcBef>
            </a:pPr>
            <a:r>
              <a:rPr lang="en-US" altLang="en-US" dirty="0"/>
              <a:t>Acknowledge patient’s chief complaint.</a:t>
            </a:r>
          </a:p>
        </p:txBody>
      </p:sp>
    </p:spTree>
    <p:extLst>
      <p:ext uri="{BB962C8B-B14F-4D97-AF65-F5344CB8AC3E}">
        <p14:creationId xmlns:p14="http://schemas.microsoft.com/office/powerpoint/2010/main" val="3186750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714" name="Rectangle 2">
            <a:extLst>
              <a:ext uri="{FF2B5EF4-FFF2-40B4-BE49-F238E27FC236}">
                <a16:creationId xmlns:a16="http://schemas.microsoft.com/office/drawing/2014/main" id="{2E713C9D-E016-8A42-85B3-D7D31A2A498E}"/>
              </a:ext>
            </a:extLst>
          </p:cNvPr>
          <p:cNvSpPr>
            <a:spLocks noGrp="1" noChangeArrowheads="1"/>
          </p:cNvSpPr>
          <p:nvPr>
            <p:ph type="title"/>
          </p:nvPr>
        </p:nvSpPr>
        <p:spPr/>
        <p:txBody>
          <a:bodyPr/>
          <a:lstStyle/>
          <a:p>
            <a:pPr eaLnBrk="1" hangingPunct="1">
              <a:lnSpc>
                <a:spcPct val="85000"/>
              </a:lnSpc>
              <a:defRPr/>
            </a:pPr>
            <a:r>
              <a:rPr lang="en-US" sz="3600" dirty="0"/>
              <a:t>Patient Assessment for Environmental Emergencies</a:t>
            </a:r>
            <a:r>
              <a:rPr lang="en-US" dirty="0"/>
              <a:t> </a:t>
            </a:r>
            <a:r>
              <a:rPr lang="en-US" sz="2800" b="0" dirty="0"/>
              <a:t>(3 of 3)</a:t>
            </a:r>
          </a:p>
        </p:txBody>
      </p:sp>
      <p:sp>
        <p:nvSpPr>
          <p:cNvPr id="17411" name="Rectangle 3">
            <a:extLst>
              <a:ext uri="{FF2B5EF4-FFF2-40B4-BE49-F238E27FC236}">
                <a16:creationId xmlns:a16="http://schemas.microsoft.com/office/drawing/2014/main" id="{D94E47BE-B839-1045-B785-1641EC6D622A}"/>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Usually, it is best to collect a medical history of medical patient before you perform a secondary assessment.</a:t>
            </a:r>
          </a:p>
          <a:p>
            <a:pPr lvl="1" eaLnBrk="1" hangingPunct="1">
              <a:spcBef>
                <a:spcPct val="35000"/>
              </a:spcBef>
            </a:pPr>
            <a:r>
              <a:rPr lang="en-US" altLang="en-US" dirty="0"/>
              <a:t>Use SAMPLE history format.</a:t>
            </a:r>
          </a:p>
          <a:p>
            <a:pPr eaLnBrk="1" hangingPunct="1">
              <a:spcBef>
                <a:spcPct val="35000"/>
              </a:spcBef>
            </a:pPr>
            <a:r>
              <a:rPr lang="en-US" altLang="en-US" dirty="0"/>
              <a:t>Secondary assessment focuses on areas related to current illness.</a:t>
            </a:r>
          </a:p>
          <a:p>
            <a:pPr lvl="1" eaLnBrk="1" hangingPunct="1">
              <a:spcBef>
                <a:spcPct val="35000"/>
              </a:spcBef>
            </a:pPr>
            <a:r>
              <a:rPr lang="en-US" altLang="en-US" dirty="0"/>
              <a:t>Obtain patient’s vital signs.</a:t>
            </a:r>
          </a:p>
          <a:p>
            <a:pPr eaLnBrk="1" hangingPunct="1">
              <a:spcBef>
                <a:spcPct val="35000"/>
              </a:spcBef>
            </a:pPr>
            <a:r>
              <a:rPr lang="en-US" altLang="en-US" dirty="0"/>
              <a:t>Monitor through ongoing reassessment.</a:t>
            </a:r>
          </a:p>
        </p:txBody>
      </p:sp>
    </p:spTree>
    <p:extLst>
      <p:ext uri="{BB962C8B-B14F-4D97-AF65-F5344CB8AC3E}">
        <p14:creationId xmlns:p14="http://schemas.microsoft.com/office/powerpoint/2010/main" val="3124606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Rectangle 2">
            <a:extLst>
              <a:ext uri="{FF2B5EF4-FFF2-40B4-BE49-F238E27FC236}">
                <a16:creationId xmlns:a16="http://schemas.microsoft.com/office/drawing/2014/main" id="{9EF7B254-3BBB-E54F-9408-C30865FBDB71}"/>
              </a:ext>
            </a:extLst>
          </p:cNvPr>
          <p:cNvSpPr>
            <a:spLocks noGrp="1" noChangeArrowheads="1"/>
          </p:cNvSpPr>
          <p:nvPr>
            <p:ph type="title"/>
          </p:nvPr>
        </p:nvSpPr>
        <p:spPr/>
        <p:txBody>
          <a:bodyPr/>
          <a:lstStyle/>
          <a:p>
            <a:pPr eaLnBrk="1" hangingPunct="1">
              <a:lnSpc>
                <a:spcPct val="85000"/>
              </a:lnSpc>
              <a:defRPr/>
            </a:pPr>
            <a:r>
              <a:rPr lang="en-US" dirty="0"/>
              <a:t>Heat Cramps </a:t>
            </a:r>
            <a:r>
              <a:rPr lang="en-US" sz="2800" b="0" dirty="0"/>
              <a:t>(1 of 2)</a:t>
            </a:r>
          </a:p>
        </p:txBody>
      </p:sp>
      <p:sp>
        <p:nvSpPr>
          <p:cNvPr id="19459" name="Rectangle 3">
            <a:extLst>
              <a:ext uri="{FF2B5EF4-FFF2-40B4-BE49-F238E27FC236}">
                <a16:creationId xmlns:a16="http://schemas.microsoft.com/office/drawing/2014/main" id="{AEAFEEE4-E882-684B-BB13-1CEB7F7AD720}"/>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Painful involuntary spasms of muscles.</a:t>
            </a:r>
          </a:p>
          <a:p>
            <a:pPr eaLnBrk="1" hangingPunct="1">
              <a:spcBef>
                <a:spcPct val="35000"/>
              </a:spcBef>
            </a:pPr>
            <a:r>
              <a:rPr lang="en-US" altLang="en-US" dirty="0"/>
              <a:t>Often occur after exercise, especially in hot weather.</a:t>
            </a:r>
          </a:p>
          <a:p>
            <a:pPr eaLnBrk="1" hangingPunct="1">
              <a:spcBef>
                <a:spcPct val="35000"/>
              </a:spcBef>
            </a:pPr>
            <a:r>
              <a:rPr lang="en-US" altLang="en-US" dirty="0"/>
              <a:t>Occur most often in leg or calf muscles.</a:t>
            </a:r>
          </a:p>
          <a:p>
            <a:pPr eaLnBrk="1" hangingPunct="1">
              <a:spcBef>
                <a:spcPct val="35000"/>
              </a:spcBef>
            </a:pPr>
            <a:r>
              <a:rPr lang="en-US" altLang="en-US" dirty="0"/>
              <a:t>When abdominal cramps occur, it may appear that patient is having an acute abdominal problem.</a:t>
            </a:r>
          </a:p>
        </p:txBody>
      </p:sp>
    </p:spTree>
    <p:extLst>
      <p:ext uri="{BB962C8B-B14F-4D97-AF65-F5344CB8AC3E}">
        <p14:creationId xmlns:p14="http://schemas.microsoft.com/office/powerpoint/2010/main" val="492253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62" name="Rectangle 2">
            <a:extLst>
              <a:ext uri="{FF2B5EF4-FFF2-40B4-BE49-F238E27FC236}">
                <a16:creationId xmlns:a16="http://schemas.microsoft.com/office/drawing/2014/main" id="{EA45446F-45B6-004F-B954-EF08C2EB81A3}"/>
              </a:ext>
            </a:extLst>
          </p:cNvPr>
          <p:cNvSpPr>
            <a:spLocks noGrp="1" noChangeArrowheads="1"/>
          </p:cNvSpPr>
          <p:nvPr>
            <p:ph type="title"/>
          </p:nvPr>
        </p:nvSpPr>
        <p:spPr/>
        <p:txBody>
          <a:bodyPr/>
          <a:lstStyle/>
          <a:p>
            <a:pPr eaLnBrk="1" hangingPunct="1">
              <a:lnSpc>
                <a:spcPct val="85000"/>
              </a:lnSpc>
              <a:defRPr/>
            </a:pPr>
            <a:r>
              <a:rPr lang="en-US" dirty="0"/>
              <a:t>Heat Cramps </a:t>
            </a:r>
            <a:r>
              <a:rPr lang="en-US" sz="2800" b="0" dirty="0"/>
              <a:t>(2 of 2)</a:t>
            </a:r>
          </a:p>
        </p:txBody>
      </p:sp>
      <p:sp>
        <p:nvSpPr>
          <p:cNvPr id="21507" name="Rectangle 3">
            <a:extLst>
              <a:ext uri="{FF2B5EF4-FFF2-40B4-BE49-F238E27FC236}">
                <a16:creationId xmlns:a16="http://schemas.microsoft.com/office/drawing/2014/main" id="{580197E3-FE16-D94F-8705-926B1A8D9D9C}"/>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Treatment:</a:t>
            </a:r>
          </a:p>
          <a:p>
            <a:pPr lvl="1" eaLnBrk="1" hangingPunct="1">
              <a:spcBef>
                <a:spcPct val="35000"/>
              </a:spcBef>
            </a:pPr>
            <a:r>
              <a:rPr lang="en-US" altLang="en-US" dirty="0"/>
              <a:t>Move patient to a cool place.</a:t>
            </a:r>
          </a:p>
          <a:p>
            <a:pPr lvl="1" eaLnBrk="1" hangingPunct="1">
              <a:spcBef>
                <a:spcPct val="35000"/>
              </a:spcBef>
            </a:pPr>
            <a:r>
              <a:rPr lang="en-US" altLang="en-US" dirty="0"/>
              <a:t>Have patient lie down in a comfortable position.</a:t>
            </a:r>
          </a:p>
          <a:p>
            <a:pPr lvl="1" eaLnBrk="1" hangingPunct="1">
              <a:spcBef>
                <a:spcPct val="35000"/>
              </a:spcBef>
            </a:pPr>
            <a:r>
              <a:rPr lang="en-US" altLang="en-US" dirty="0"/>
              <a:t>Give patient water to drink. </a:t>
            </a:r>
          </a:p>
          <a:p>
            <a:pPr lvl="2">
              <a:spcBef>
                <a:spcPct val="35000"/>
              </a:spcBef>
            </a:pPr>
            <a:r>
              <a:rPr lang="en-US" altLang="en-US" dirty="0"/>
              <a:t>Can also use a diluted balanced electrolyte solution (</a:t>
            </a:r>
            <a:r>
              <a:rPr lang="en-US" altLang="en-US" dirty="0" err="1"/>
              <a:t>ie</a:t>
            </a:r>
            <a:r>
              <a:rPr lang="en-US" altLang="en-US" dirty="0"/>
              <a:t>, Gatorade).</a:t>
            </a:r>
          </a:p>
          <a:p>
            <a:pPr lvl="1" eaLnBrk="1" hangingPunct="1">
              <a:spcBef>
                <a:spcPct val="35000"/>
              </a:spcBef>
            </a:pPr>
            <a:r>
              <a:rPr lang="en-US" altLang="en-US" dirty="0"/>
              <a:t>If cramps do not disappear, or if patient is young, old, or has a chronic medical condition, arrange to have patient transported.</a:t>
            </a:r>
          </a:p>
        </p:txBody>
      </p:sp>
    </p:spTree>
    <p:extLst>
      <p:ext uri="{BB962C8B-B14F-4D97-AF65-F5344CB8AC3E}">
        <p14:creationId xmlns:p14="http://schemas.microsoft.com/office/powerpoint/2010/main" val="846531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786" name="Rectangle 2">
            <a:extLst>
              <a:ext uri="{FF2B5EF4-FFF2-40B4-BE49-F238E27FC236}">
                <a16:creationId xmlns:a16="http://schemas.microsoft.com/office/drawing/2014/main" id="{46DAC42A-1065-D242-A6C2-325C2C4F05C3}"/>
              </a:ext>
            </a:extLst>
          </p:cNvPr>
          <p:cNvSpPr>
            <a:spLocks noGrp="1" noChangeArrowheads="1"/>
          </p:cNvSpPr>
          <p:nvPr>
            <p:ph type="title"/>
          </p:nvPr>
        </p:nvSpPr>
        <p:spPr/>
        <p:txBody>
          <a:bodyPr/>
          <a:lstStyle/>
          <a:p>
            <a:pPr eaLnBrk="1" hangingPunct="1">
              <a:lnSpc>
                <a:spcPct val="85000"/>
              </a:lnSpc>
              <a:defRPr/>
            </a:pPr>
            <a:r>
              <a:rPr lang="en-US" dirty="0"/>
              <a:t>Heat Exhaustion </a:t>
            </a:r>
            <a:r>
              <a:rPr lang="en-US" sz="2800" b="0" dirty="0"/>
              <a:t>(1 of 4)</a:t>
            </a:r>
          </a:p>
        </p:txBody>
      </p:sp>
      <p:sp>
        <p:nvSpPr>
          <p:cNvPr id="23555" name="Rectangle 3">
            <a:extLst>
              <a:ext uri="{FF2B5EF4-FFF2-40B4-BE49-F238E27FC236}">
                <a16:creationId xmlns:a16="http://schemas.microsoft.com/office/drawing/2014/main" id="{BD884266-4346-1B4F-9E3F-9CFD36752158}"/>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Occurs when a person is exposed to temperatures greater than 80</a:t>
            </a:r>
            <a:r>
              <a:rPr lang="en-US" altLang="en-US" dirty="0">
                <a:cs typeface="Arial" panose="020B0604020202020204" pitchFamily="34" charset="0"/>
                <a:sym typeface="Symbol" pitchFamily="2" charset="2"/>
              </a:rPr>
              <a:t></a:t>
            </a:r>
            <a:r>
              <a:rPr lang="en-US" altLang="en-US" dirty="0"/>
              <a:t>F (27</a:t>
            </a:r>
            <a:r>
              <a:rPr lang="en-US" altLang="en-US" dirty="0">
                <a:cs typeface="Arial" panose="020B0604020202020204" pitchFamily="34" charset="0"/>
                <a:sym typeface="Symbol" pitchFamily="2" charset="2"/>
              </a:rPr>
              <a:t></a:t>
            </a:r>
            <a:r>
              <a:rPr lang="en-US" altLang="en-US" dirty="0"/>
              <a:t>C), usually in combination with high humidity.</a:t>
            </a:r>
          </a:p>
          <a:p>
            <a:pPr eaLnBrk="1" hangingPunct="1">
              <a:spcBef>
                <a:spcPct val="35000"/>
              </a:spcBef>
            </a:pPr>
            <a:r>
              <a:rPr lang="en-US" altLang="en-US" dirty="0"/>
              <a:t>Can also occur as result of vigorous exercise at lower temperatures.</a:t>
            </a:r>
          </a:p>
        </p:txBody>
      </p:sp>
    </p:spTree>
    <p:extLst>
      <p:ext uri="{BB962C8B-B14F-4D97-AF65-F5344CB8AC3E}">
        <p14:creationId xmlns:p14="http://schemas.microsoft.com/office/powerpoint/2010/main" val="263736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0" name="Rectangle 2">
            <a:extLst>
              <a:ext uri="{FF2B5EF4-FFF2-40B4-BE49-F238E27FC236}">
                <a16:creationId xmlns:a16="http://schemas.microsoft.com/office/drawing/2014/main" id="{C9DE9EB1-D88D-BB4E-8D4B-FC6EDD1E7494}"/>
              </a:ext>
            </a:extLst>
          </p:cNvPr>
          <p:cNvSpPr>
            <a:spLocks noGrp="1" noChangeArrowheads="1"/>
          </p:cNvSpPr>
          <p:nvPr>
            <p:ph type="title"/>
          </p:nvPr>
        </p:nvSpPr>
        <p:spPr/>
        <p:txBody>
          <a:bodyPr/>
          <a:lstStyle/>
          <a:p>
            <a:pPr eaLnBrk="1" hangingPunct="1">
              <a:lnSpc>
                <a:spcPct val="85000"/>
              </a:lnSpc>
              <a:defRPr/>
            </a:pPr>
            <a:r>
              <a:rPr lang="en-US" dirty="0"/>
              <a:t>Heat Exhaustion </a:t>
            </a:r>
            <a:r>
              <a:rPr lang="en-US" sz="2800" b="0" dirty="0"/>
              <a:t>(2 of 4)</a:t>
            </a:r>
          </a:p>
        </p:txBody>
      </p:sp>
      <p:sp>
        <p:nvSpPr>
          <p:cNvPr id="25603" name="Rectangle 3">
            <a:extLst>
              <a:ext uri="{FF2B5EF4-FFF2-40B4-BE49-F238E27FC236}">
                <a16:creationId xmlns:a16="http://schemas.microsoft.com/office/drawing/2014/main" id="{084A13F9-EE64-774A-9B35-46E2DC08AFA9}"/>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Signs and symptoms:</a:t>
            </a:r>
          </a:p>
          <a:p>
            <a:pPr lvl="1" eaLnBrk="1" hangingPunct="1">
              <a:spcBef>
                <a:spcPct val="35000"/>
              </a:spcBef>
            </a:pPr>
            <a:r>
              <a:rPr lang="en-US" altLang="en-US" dirty="0"/>
              <a:t>Profuse sweating.</a:t>
            </a:r>
          </a:p>
          <a:p>
            <a:pPr lvl="1" eaLnBrk="1" hangingPunct="1">
              <a:spcBef>
                <a:spcPct val="35000"/>
              </a:spcBef>
            </a:pPr>
            <a:r>
              <a:rPr lang="en-US" altLang="en-US" dirty="0"/>
              <a:t>Lightheadedness.</a:t>
            </a:r>
          </a:p>
          <a:p>
            <a:pPr lvl="1" eaLnBrk="1" hangingPunct="1">
              <a:spcBef>
                <a:spcPct val="35000"/>
              </a:spcBef>
            </a:pPr>
            <a:r>
              <a:rPr lang="en-US" altLang="en-US" dirty="0"/>
              <a:t>Dizziness.</a:t>
            </a:r>
          </a:p>
          <a:p>
            <a:pPr lvl="1" eaLnBrk="1" hangingPunct="1">
              <a:spcBef>
                <a:spcPct val="35000"/>
              </a:spcBef>
            </a:pPr>
            <a:r>
              <a:rPr lang="en-US" altLang="en-US" dirty="0"/>
              <a:t>Nausea.</a:t>
            </a:r>
          </a:p>
          <a:p>
            <a:pPr lvl="1" eaLnBrk="1" hangingPunct="1">
              <a:spcBef>
                <a:spcPct val="35000"/>
              </a:spcBef>
            </a:pPr>
            <a:r>
              <a:rPr lang="en-US" altLang="en-US" dirty="0"/>
              <a:t>Weak pulse.</a:t>
            </a:r>
          </a:p>
          <a:p>
            <a:pPr lvl="1" eaLnBrk="1" hangingPunct="1">
              <a:spcBef>
                <a:spcPct val="35000"/>
              </a:spcBef>
            </a:pPr>
            <a:r>
              <a:rPr lang="en-US" altLang="en-US" dirty="0"/>
              <a:t>Low BP.</a:t>
            </a:r>
          </a:p>
        </p:txBody>
      </p:sp>
    </p:spTree>
    <p:extLst>
      <p:ext uri="{BB962C8B-B14F-4D97-AF65-F5344CB8AC3E}">
        <p14:creationId xmlns:p14="http://schemas.microsoft.com/office/powerpoint/2010/main" val="1406045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4" name="Rectangle 2">
            <a:extLst>
              <a:ext uri="{FF2B5EF4-FFF2-40B4-BE49-F238E27FC236}">
                <a16:creationId xmlns:a16="http://schemas.microsoft.com/office/drawing/2014/main" id="{6F8A8225-B7CF-BC4C-9FD6-13E5854E223B}"/>
              </a:ext>
            </a:extLst>
          </p:cNvPr>
          <p:cNvSpPr>
            <a:spLocks noGrp="1" noChangeArrowheads="1"/>
          </p:cNvSpPr>
          <p:nvPr>
            <p:ph type="title"/>
          </p:nvPr>
        </p:nvSpPr>
        <p:spPr/>
        <p:txBody>
          <a:bodyPr/>
          <a:lstStyle/>
          <a:p>
            <a:pPr eaLnBrk="1" hangingPunct="1">
              <a:lnSpc>
                <a:spcPct val="85000"/>
              </a:lnSpc>
              <a:defRPr/>
            </a:pPr>
            <a:r>
              <a:rPr lang="en-US" dirty="0"/>
              <a:t>Heat Exhaustion </a:t>
            </a:r>
            <a:r>
              <a:rPr lang="en-US" sz="2800" b="0" dirty="0"/>
              <a:t>(3 of 4)</a:t>
            </a:r>
          </a:p>
        </p:txBody>
      </p:sp>
      <p:sp>
        <p:nvSpPr>
          <p:cNvPr id="27651" name="Rectangle 3">
            <a:extLst>
              <a:ext uri="{FF2B5EF4-FFF2-40B4-BE49-F238E27FC236}">
                <a16:creationId xmlns:a16="http://schemas.microsoft.com/office/drawing/2014/main" id="{83A2300F-F4C7-6E43-A08A-C62508A010A2}"/>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Predisposing factors may make some people more susceptible.</a:t>
            </a:r>
          </a:p>
          <a:p>
            <a:pPr lvl="1" eaLnBrk="1" hangingPunct="1">
              <a:spcBef>
                <a:spcPct val="35000"/>
              </a:spcBef>
            </a:pPr>
            <a:r>
              <a:rPr lang="en-US" altLang="en-US" dirty="0"/>
              <a:t>Very young or older age (&gt; 65 years).</a:t>
            </a:r>
          </a:p>
          <a:p>
            <a:pPr lvl="1" eaLnBrk="1" hangingPunct="1">
              <a:spcBef>
                <a:spcPct val="35000"/>
              </a:spcBef>
            </a:pPr>
            <a:r>
              <a:rPr lang="en-US" altLang="en-US" dirty="0"/>
              <a:t>Preexisting medical conditions.</a:t>
            </a:r>
          </a:p>
          <a:p>
            <a:pPr lvl="1" eaLnBrk="1" hangingPunct="1">
              <a:spcBef>
                <a:spcPct val="35000"/>
              </a:spcBef>
            </a:pPr>
            <a:r>
              <a:rPr lang="en-US" altLang="en-US" dirty="0"/>
              <a:t>Certain medications.</a:t>
            </a:r>
          </a:p>
          <a:p>
            <a:pPr lvl="1" eaLnBrk="1" hangingPunct="1">
              <a:spcBef>
                <a:spcPct val="35000"/>
              </a:spcBef>
            </a:pPr>
            <a:r>
              <a:rPr lang="en-US" altLang="en-US" dirty="0"/>
              <a:t>High air temperatures.</a:t>
            </a:r>
          </a:p>
          <a:p>
            <a:pPr lvl="1" eaLnBrk="1" hangingPunct="1">
              <a:spcBef>
                <a:spcPct val="35000"/>
              </a:spcBef>
            </a:pPr>
            <a:r>
              <a:rPr lang="en-US" altLang="en-US" dirty="0"/>
              <a:t>High humidity.</a:t>
            </a:r>
          </a:p>
        </p:txBody>
      </p:sp>
    </p:spTree>
    <p:extLst>
      <p:ext uri="{BB962C8B-B14F-4D97-AF65-F5344CB8AC3E}">
        <p14:creationId xmlns:p14="http://schemas.microsoft.com/office/powerpoint/2010/main" val="3516549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858" name="Rectangle 2">
            <a:extLst>
              <a:ext uri="{FF2B5EF4-FFF2-40B4-BE49-F238E27FC236}">
                <a16:creationId xmlns:a16="http://schemas.microsoft.com/office/drawing/2014/main" id="{65F5164A-06AA-2C40-9BAF-101B10F33E3D}"/>
              </a:ext>
            </a:extLst>
          </p:cNvPr>
          <p:cNvSpPr>
            <a:spLocks noGrp="1" noChangeArrowheads="1"/>
          </p:cNvSpPr>
          <p:nvPr>
            <p:ph type="title"/>
          </p:nvPr>
        </p:nvSpPr>
        <p:spPr/>
        <p:txBody>
          <a:bodyPr/>
          <a:lstStyle/>
          <a:p>
            <a:pPr eaLnBrk="1" hangingPunct="1">
              <a:lnSpc>
                <a:spcPct val="85000"/>
              </a:lnSpc>
              <a:defRPr/>
            </a:pPr>
            <a:r>
              <a:rPr lang="en-US" dirty="0"/>
              <a:t>Heat Exhaustion </a:t>
            </a:r>
            <a:r>
              <a:rPr lang="en-US" sz="2800" b="0" dirty="0"/>
              <a:t>(4 of 4)</a:t>
            </a:r>
          </a:p>
        </p:txBody>
      </p:sp>
      <p:sp>
        <p:nvSpPr>
          <p:cNvPr id="29699" name="Rectangle 3">
            <a:extLst>
              <a:ext uri="{FF2B5EF4-FFF2-40B4-BE49-F238E27FC236}">
                <a16:creationId xmlns:a16="http://schemas.microsoft.com/office/drawing/2014/main" id="{E1E0BA1F-CCED-F741-9E83-30E0C6D4B788}"/>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Treatment:</a:t>
            </a:r>
          </a:p>
          <a:p>
            <a:pPr lvl="1" eaLnBrk="1" hangingPunct="1">
              <a:spcBef>
                <a:spcPct val="35000"/>
              </a:spcBef>
            </a:pPr>
            <a:r>
              <a:rPr lang="en-US" altLang="en-US" dirty="0"/>
              <a:t>Move patient to a cooler place and treat him or her for shock.</a:t>
            </a:r>
          </a:p>
          <a:p>
            <a:pPr lvl="1" eaLnBrk="1" hangingPunct="1">
              <a:spcBef>
                <a:spcPct val="35000"/>
              </a:spcBef>
            </a:pPr>
            <a:r>
              <a:rPr lang="en-US" altLang="en-US" dirty="0"/>
              <a:t>Unless patient is unconscious, nauseated, or vomiting, give fluids by mouth.</a:t>
            </a:r>
          </a:p>
          <a:p>
            <a:pPr lvl="1" eaLnBrk="1" hangingPunct="1">
              <a:spcBef>
                <a:spcPct val="35000"/>
              </a:spcBef>
            </a:pPr>
            <a:r>
              <a:rPr lang="en-US" altLang="en-US" dirty="0"/>
              <a:t>Monitor ABCs.</a:t>
            </a:r>
          </a:p>
          <a:p>
            <a:pPr lvl="1" eaLnBrk="1" hangingPunct="1">
              <a:spcBef>
                <a:spcPct val="35000"/>
              </a:spcBef>
            </a:pPr>
            <a:r>
              <a:rPr lang="en-US" altLang="en-US" dirty="0"/>
              <a:t>Arrange transport to a medical facility.</a:t>
            </a:r>
          </a:p>
        </p:txBody>
      </p:sp>
    </p:spTree>
    <p:extLst>
      <p:ext uri="{BB962C8B-B14F-4D97-AF65-F5344CB8AC3E}">
        <p14:creationId xmlns:p14="http://schemas.microsoft.com/office/powerpoint/2010/main" val="1364438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882" name="Rectangle 2">
            <a:extLst>
              <a:ext uri="{FF2B5EF4-FFF2-40B4-BE49-F238E27FC236}">
                <a16:creationId xmlns:a16="http://schemas.microsoft.com/office/drawing/2014/main" id="{1186D2D6-94C9-0D4E-A091-3278B1F91C63}"/>
              </a:ext>
            </a:extLst>
          </p:cNvPr>
          <p:cNvSpPr>
            <a:spLocks noGrp="1" noChangeArrowheads="1"/>
          </p:cNvSpPr>
          <p:nvPr>
            <p:ph type="title"/>
          </p:nvPr>
        </p:nvSpPr>
        <p:spPr/>
        <p:txBody>
          <a:bodyPr/>
          <a:lstStyle/>
          <a:p>
            <a:pPr eaLnBrk="1" hangingPunct="1">
              <a:lnSpc>
                <a:spcPct val="85000"/>
              </a:lnSpc>
              <a:defRPr/>
            </a:pPr>
            <a:r>
              <a:rPr lang="en-US" dirty="0"/>
              <a:t>Heatstroke </a:t>
            </a:r>
            <a:r>
              <a:rPr lang="en-US" sz="2800" b="0" dirty="0"/>
              <a:t>(1 of 4)</a:t>
            </a:r>
          </a:p>
        </p:txBody>
      </p:sp>
      <p:sp>
        <p:nvSpPr>
          <p:cNvPr id="31747" name="Rectangle 3">
            <a:extLst>
              <a:ext uri="{FF2B5EF4-FFF2-40B4-BE49-F238E27FC236}">
                <a16:creationId xmlns:a16="http://schemas.microsoft.com/office/drawing/2014/main" id="{14896A05-2FC3-1447-A011-950DA80D8D56}"/>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Occurs when body is subjected to more heat than it can tolerate and normal mechanisms for getting rid of excess heat, such as sweating, are overwhelmed.</a:t>
            </a:r>
          </a:p>
          <a:p>
            <a:pPr eaLnBrk="1" hangingPunct="1">
              <a:spcBef>
                <a:spcPct val="35000"/>
              </a:spcBef>
            </a:pPr>
            <a:r>
              <a:rPr lang="en-US" altLang="en-US" dirty="0"/>
              <a:t>Patient’s body temperature rises until it reaches a level at which brain damage occurs.</a:t>
            </a:r>
          </a:p>
        </p:txBody>
      </p:sp>
    </p:spTree>
    <p:extLst>
      <p:ext uri="{BB962C8B-B14F-4D97-AF65-F5344CB8AC3E}">
        <p14:creationId xmlns:p14="http://schemas.microsoft.com/office/powerpoint/2010/main" val="3937442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6" name="Rectangle 2">
            <a:extLst>
              <a:ext uri="{FF2B5EF4-FFF2-40B4-BE49-F238E27FC236}">
                <a16:creationId xmlns:a16="http://schemas.microsoft.com/office/drawing/2014/main" id="{7F005E12-59EA-7F48-B8D2-BBFE12081206}"/>
              </a:ext>
            </a:extLst>
          </p:cNvPr>
          <p:cNvSpPr>
            <a:spLocks noGrp="1" noChangeArrowheads="1"/>
          </p:cNvSpPr>
          <p:nvPr>
            <p:ph type="title"/>
          </p:nvPr>
        </p:nvSpPr>
        <p:spPr/>
        <p:txBody>
          <a:bodyPr/>
          <a:lstStyle/>
          <a:p>
            <a:pPr eaLnBrk="1" hangingPunct="1">
              <a:lnSpc>
                <a:spcPct val="85000"/>
              </a:lnSpc>
              <a:defRPr/>
            </a:pPr>
            <a:r>
              <a:rPr lang="en-US" dirty="0"/>
              <a:t>Heatstroke </a:t>
            </a:r>
            <a:r>
              <a:rPr lang="en-US" sz="2800" b="0" dirty="0"/>
              <a:t>(2 of 4)</a:t>
            </a:r>
          </a:p>
        </p:txBody>
      </p:sp>
      <p:sp>
        <p:nvSpPr>
          <p:cNvPr id="33795" name="Rectangle 3">
            <a:extLst>
              <a:ext uri="{FF2B5EF4-FFF2-40B4-BE49-F238E27FC236}">
                <a16:creationId xmlns:a16="http://schemas.microsoft.com/office/drawing/2014/main" id="{D1594128-1370-3A4D-9D8B-2CA70CC04676}"/>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Signs and symptoms:</a:t>
            </a:r>
          </a:p>
          <a:p>
            <a:pPr lvl="1" eaLnBrk="1" hangingPunct="1">
              <a:spcBef>
                <a:spcPct val="35000"/>
              </a:spcBef>
            </a:pPr>
            <a:r>
              <a:rPr lang="en-US" altLang="en-US" dirty="0"/>
              <a:t>Flushed, dry skin that feels hot to touch.</a:t>
            </a:r>
          </a:p>
          <a:p>
            <a:pPr lvl="1" eaLnBrk="1" hangingPunct="1">
              <a:spcBef>
                <a:spcPct val="35000"/>
              </a:spcBef>
            </a:pPr>
            <a:r>
              <a:rPr lang="en-US" altLang="en-US" dirty="0"/>
              <a:t>Altered mental status: verbal to unresponsive.</a:t>
            </a:r>
          </a:p>
          <a:p>
            <a:pPr lvl="1" eaLnBrk="1" hangingPunct="1">
              <a:spcBef>
                <a:spcPct val="35000"/>
              </a:spcBef>
            </a:pPr>
            <a:r>
              <a:rPr lang="en-US" altLang="en-US" dirty="0"/>
              <a:t>Internal temperatures as high as 104</a:t>
            </a:r>
            <a:r>
              <a:rPr lang="en-US" altLang="en-US" dirty="0">
                <a:ea typeface="MS PGothic" panose="020B0600070205080204" pitchFamily="34" charset="-128"/>
                <a:sym typeface="Symbol" pitchFamily="2" charset="2"/>
              </a:rPr>
              <a:t></a:t>
            </a:r>
            <a:r>
              <a:rPr lang="en-US" altLang="en-US" dirty="0"/>
              <a:t>F (40</a:t>
            </a:r>
            <a:r>
              <a:rPr lang="en-US" altLang="en-US" dirty="0">
                <a:ea typeface="MS PGothic" panose="020B0600070205080204" pitchFamily="34" charset="-128"/>
                <a:sym typeface="Symbol" pitchFamily="2" charset="2"/>
              </a:rPr>
              <a:t></a:t>
            </a:r>
            <a:r>
              <a:rPr lang="en-US" altLang="en-US" dirty="0"/>
              <a:t>C).</a:t>
            </a:r>
          </a:p>
          <a:p>
            <a:pPr eaLnBrk="1" hangingPunct="1">
              <a:spcBef>
                <a:spcPct val="35000"/>
              </a:spcBef>
            </a:pPr>
            <a:r>
              <a:rPr lang="en-US" altLang="en-US" dirty="0"/>
              <a:t>Treatment:</a:t>
            </a:r>
          </a:p>
          <a:p>
            <a:pPr lvl="1" eaLnBrk="1" hangingPunct="1">
              <a:spcBef>
                <a:spcPct val="35000"/>
              </a:spcBef>
            </a:pPr>
            <a:r>
              <a:rPr lang="en-US" altLang="en-US" dirty="0"/>
              <a:t>Maintain patient’s ABCs.</a:t>
            </a:r>
          </a:p>
          <a:p>
            <a:pPr lvl="1" eaLnBrk="1" hangingPunct="1">
              <a:spcBef>
                <a:spcPct val="35000"/>
              </a:spcBef>
            </a:pPr>
            <a:r>
              <a:rPr lang="en-US" altLang="en-US" dirty="0"/>
              <a:t>Remove patient from hot environment.</a:t>
            </a:r>
          </a:p>
        </p:txBody>
      </p:sp>
    </p:spTree>
    <p:extLst>
      <p:ext uri="{BB962C8B-B14F-4D97-AF65-F5344CB8AC3E}">
        <p14:creationId xmlns:p14="http://schemas.microsoft.com/office/powerpoint/2010/main" val="1756663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0" name="Rectangle 2">
            <a:extLst>
              <a:ext uri="{FF2B5EF4-FFF2-40B4-BE49-F238E27FC236}">
                <a16:creationId xmlns:a16="http://schemas.microsoft.com/office/drawing/2014/main" id="{E478D699-8F44-0543-AD5B-236E576C64A2}"/>
              </a:ext>
            </a:extLst>
          </p:cNvPr>
          <p:cNvSpPr>
            <a:spLocks noGrp="1" noChangeArrowheads="1"/>
          </p:cNvSpPr>
          <p:nvPr>
            <p:ph type="title"/>
          </p:nvPr>
        </p:nvSpPr>
        <p:spPr/>
        <p:txBody>
          <a:bodyPr/>
          <a:lstStyle/>
          <a:p>
            <a:pPr eaLnBrk="1" hangingPunct="1">
              <a:lnSpc>
                <a:spcPct val="85000"/>
              </a:lnSpc>
              <a:defRPr/>
            </a:pPr>
            <a:r>
              <a:rPr lang="en-US" dirty="0"/>
              <a:t>Heatstroke </a:t>
            </a:r>
            <a:r>
              <a:rPr lang="en-US" sz="2800" b="0" dirty="0"/>
              <a:t>(3 of 4)</a:t>
            </a:r>
          </a:p>
        </p:txBody>
      </p:sp>
      <p:sp>
        <p:nvSpPr>
          <p:cNvPr id="35843" name="Rectangle 3">
            <a:extLst>
              <a:ext uri="{FF2B5EF4-FFF2-40B4-BE49-F238E27FC236}">
                <a16:creationId xmlns:a16="http://schemas.microsoft.com/office/drawing/2014/main" id="{27CF3CC0-9FBF-FB45-B6E0-D1B1449332F1}"/>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Treatment (cont'd):</a:t>
            </a:r>
          </a:p>
          <a:p>
            <a:pPr lvl="1" eaLnBrk="1" hangingPunct="1">
              <a:spcBef>
                <a:spcPct val="35000"/>
              </a:spcBef>
            </a:pPr>
            <a:r>
              <a:rPr lang="en-US" altLang="en-US" dirty="0"/>
              <a:t>Remove patient’s clothes, down to underwear.</a:t>
            </a:r>
          </a:p>
          <a:p>
            <a:pPr lvl="1" eaLnBrk="1" hangingPunct="1">
              <a:spcBef>
                <a:spcPct val="35000"/>
              </a:spcBef>
            </a:pPr>
            <a:r>
              <a:rPr lang="en-US" altLang="en-US" dirty="0"/>
              <a:t>Soak patient with water. </a:t>
            </a:r>
          </a:p>
          <a:p>
            <a:pPr lvl="2">
              <a:spcBef>
                <a:spcPct val="35000"/>
              </a:spcBef>
            </a:pPr>
            <a:r>
              <a:rPr lang="en-US" altLang="en-US" dirty="0"/>
              <a:t>Begin aggressive cooling of patient with a hose, shower, or ice packs.</a:t>
            </a:r>
          </a:p>
          <a:p>
            <a:pPr lvl="1" eaLnBrk="1" hangingPunct="1">
              <a:spcBef>
                <a:spcPct val="35000"/>
              </a:spcBef>
            </a:pPr>
            <a:r>
              <a:rPr lang="en-US" altLang="en-US" dirty="0"/>
              <a:t>If patient is conscious and not nauseated, administer small amounts of cool water.</a:t>
            </a:r>
          </a:p>
          <a:p>
            <a:pPr lvl="1" eaLnBrk="1" hangingPunct="1">
              <a:spcBef>
                <a:spcPct val="35000"/>
              </a:spcBef>
            </a:pPr>
            <a:r>
              <a:rPr lang="en-US" altLang="en-US" dirty="0"/>
              <a:t>Arrange for rapid transport to an appropriate medical facility.</a:t>
            </a:r>
          </a:p>
        </p:txBody>
      </p:sp>
    </p:spTree>
    <p:extLst>
      <p:ext uri="{BB962C8B-B14F-4D97-AF65-F5344CB8AC3E}">
        <p14:creationId xmlns:p14="http://schemas.microsoft.com/office/powerpoint/2010/main" val="4121554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4" name="Rectangle 2">
            <a:extLst>
              <a:ext uri="{FF2B5EF4-FFF2-40B4-BE49-F238E27FC236}">
                <a16:creationId xmlns:a16="http://schemas.microsoft.com/office/drawing/2014/main" id="{BB657F7C-9A16-BE47-8D66-E0A914FF840A}"/>
              </a:ext>
            </a:extLst>
          </p:cNvPr>
          <p:cNvSpPr>
            <a:spLocks noGrp="1" noChangeArrowheads="1"/>
          </p:cNvSpPr>
          <p:nvPr>
            <p:ph type="title"/>
          </p:nvPr>
        </p:nvSpPr>
        <p:spPr/>
        <p:txBody>
          <a:bodyPr/>
          <a:lstStyle/>
          <a:p>
            <a:pPr eaLnBrk="1" hangingPunct="1">
              <a:lnSpc>
                <a:spcPct val="85000"/>
              </a:lnSpc>
              <a:defRPr/>
            </a:pPr>
            <a:r>
              <a:rPr lang="en-US" dirty="0"/>
              <a:t>Heatstroke </a:t>
            </a:r>
            <a:r>
              <a:rPr lang="en-US" sz="2800" b="0" dirty="0"/>
              <a:t>(4 of 4)</a:t>
            </a:r>
          </a:p>
        </p:txBody>
      </p:sp>
      <p:pic>
        <p:nvPicPr>
          <p:cNvPr id="2050" name="Picture 2" descr="The two column headings are: Heat Exhaustion; Heat Stroke. The row entries are as follows: Normal body temperature; High body temperature. Sweating; Dry skin (usually). Cool and clammy skin; Hot and red skin. Dizziness and nausea; Semiconscious (or unconscious).&#10;" title="A table compares the symptoms of heat exhaustion and heatstroke.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7588" y="1498046"/>
            <a:ext cx="7618412" cy="5043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6650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978" name="Rectangle 2">
            <a:extLst>
              <a:ext uri="{FF2B5EF4-FFF2-40B4-BE49-F238E27FC236}">
                <a16:creationId xmlns:a16="http://schemas.microsoft.com/office/drawing/2014/main" id="{CEF6C3E8-1B91-094C-B309-84D652B51ADD}"/>
              </a:ext>
            </a:extLst>
          </p:cNvPr>
          <p:cNvSpPr>
            <a:spLocks noGrp="1" noChangeArrowheads="1"/>
          </p:cNvSpPr>
          <p:nvPr>
            <p:ph type="title"/>
          </p:nvPr>
        </p:nvSpPr>
        <p:spPr/>
        <p:txBody>
          <a:bodyPr/>
          <a:lstStyle/>
          <a:p>
            <a:pPr eaLnBrk="1" hangingPunct="1">
              <a:lnSpc>
                <a:spcPct val="85000"/>
              </a:lnSpc>
              <a:defRPr/>
            </a:pPr>
            <a:r>
              <a:rPr lang="en-US" dirty="0"/>
              <a:t>Frostbite </a:t>
            </a:r>
            <a:r>
              <a:rPr lang="en-US" sz="2800" b="0" dirty="0"/>
              <a:t>(1 of 6)</a:t>
            </a:r>
          </a:p>
        </p:txBody>
      </p:sp>
      <p:sp>
        <p:nvSpPr>
          <p:cNvPr id="39939" name="Rectangle 3">
            <a:extLst>
              <a:ext uri="{FF2B5EF4-FFF2-40B4-BE49-F238E27FC236}">
                <a16:creationId xmlns:a16="http://schemas.microsoft.com/office/drawing/2014/main" id="{30E27302-D4FA-1A44-88C2-2B004497D263}"/>
              </a:ext>
            </a:extLst>
          </p:cNvPr>
          <p:cNvSpPr>
            <a:spLocks noGrp="1" noChangeArrowheads="1"/>
          </p:cNvSpPr>
          <p:nvPr>
            <p:ph type="body" idx="1"/>
          </p:nvPr>
        </p:nvSpPr>
        <p:spPr>
          <a:xfrm>
            <a:off x="6095999" y="1447800"/>
            <a:ext cx="4864443" cy="4800600"/>
          </a:xfrm>
        </p:spPr>
        <p:txBody>
          <a:bodyPr vert="horz" lIns="91440" tIns="45720" rIns="228600" bIns="45720" rtlCol="0">
            <a:noAutofit/>
          </a:bodyPr>
          <a:lstStyle/>
          <a:p>
            <a:pPr eaLnBrk="1" hangingPunct="1">
              <a:spcBef>
                <a:spcPct val="35000"/>
              </a:spcBef>
            </a:pPr>
            <a:r>
              <a:rPr lang="en-US" altLang="en-US" dirty="0"/>
              <a:t>Can result when exposed parts of body are exposed to a cold environment.</a:t>
            </a:r>
          </a:p>
          <a:p>
            <a:pPr eaLnBrk="1" hangingPunct="1">
              <a:spcBef>
                <a:spcPct val="35000"/>
              </a:spcBef>
            </a:pPr>
            <a:r>
              <a:rPr lang="en-US" altLang="en-US" dirty="0"/>
              <a:t>Following body parts are most susceptible:</a:t>
            </a:r>
          </a:p>
          <a:p>
            <a:pPr lvl="1" eaLnBrk="1" hangingPunct="1">
              <a:spcBef>
                <a:spcPct val="35000"/>
              </a:spcBef>
            </a:pPr>
            <a:r>
              <a:rPr lang="en-US" altLang="en-US" dirty="0"/>
              <a:t>Face.</a:t>
            </a:r>
          </a:p>
          <a:p>
            <a:pPr lvl="1" eaLnBrk="1" hangingPunct="1">
              <a:spcBef>
                <a:spcPct val="35000"/>
              </a:spcBef>
            </a:pPr>
            <a:r>
              <a:rPr lang="en-US" altLang="en-US" dirty="0"/>
              <a:t>Ears.</a:t>
            </a:r>
          </a:p>
          <a:p>
            <a:pPr lvl="1" eaLnBrk="1" hangingPunct="1">
              <a:spcBef>
                <a:spcPct val="35000"/>
              </a:spcBef>
            </a:pPr>
            <a:r>
              <a:rPr lang="en-US" altLang="en-US" dirty="0"/>
              <a:t>Fingers.</a:t>
            </a:r>
          </a:p>
          <a:p>
            <a:pPr lvl="1" eaLnBrk="1" hangingPunct="1">
              <a:spcBef>
                <a:spcPct val="35000"/>
              </a:spcBef>
            </a:pPr>
            <a:r>
              <a:rPr lang="en-US" altLang="en-US" dirty="0"/>
              <a:t>Toes.</a:t>
            </a:r>
            <a:endParaRPr lang="en-US" altLang="en-US" sz="2800" b="1" dirty="0">
              <a:solidFill>
                <a:srgbClr val="FFFFFF"/>
              </a:solidFill>
            </a:endParaRPr>
          </a:p>
        </p:txBody>
      </p:sp>
      <p:sp>
        <p:nvSpPr>
          <p:cNvPr id="7" name="Rectangle 6"/>
          <p:cNvSpPr/>
          <p:nvPr/>
        </p:nvSpPr>
        <p:spPr>
          <a:xfrm>
            <a:off x="1143109" y="4426766"/>
            <a:ext cx="4360758"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13-3 </a:t>
            </a:r>
            <a:r>
              <a:rPr lang="en-US" dirty="0"/>
              <a:t>The fingers are among the most common areas affected by frostbite. </a:t>
            </a:r>
          </a:p>
        </p:txBody>
      </p:sp>
      <p:sp>
        <p:nvSpPr>
          <p:cNvPr id="8" name="Rectangle 7"/>
          <p:cNvSpPr/>
          <p:nvPr/>
        </p:nvSpPr>
        <p:spPr>
          <a:xfrm>
            <a:off x="1162159" y="5014647"/>
            <a:ext cx="4456008"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Courtesy of Neil Malcom </a:t>
            </a:r>
            <a:r>
              <a:rPr lang="en-US" sz="1000" dirty="0" err="1"/>
              <a:t>Winkelmann</a:t>
            </a:r>
            <a:r>
              <a:rPr lang="en-US" sz="1000" dirty="0"/>
              <a:t> </a:t>
            </a:r>
          </a:p>
        </p:txBody>
      </p:sp>
      <p:pic>
        <p:nvPicPr>
          <p:cNvPr id="3074" name="Picture 2" descr="A photo shows the back of the palms of a person with red blisters caused by frostbite.&#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0467" y="1638677"/>
            <a:ext cx="4343400" cy="2744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831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02" name="Rectangle 2">
            <a:extLst>
              <a:ext uri="{FF2B5EF4-FFF2-40B4-BE49-F238E27FC236}">
                <a16:creationId xmlns:a16="http://schemas.microsoft.com/office/drawing/2014/main" id="{0E301727-3C5E-394A-A8CD-6ECD7B17B4EE}"/>
              </a:ext>
            </a:extLst>
          </p:cNvPr>
          <p:cNvSpPr>
            <a:spLocks noGrp="1" noChangeArrowheads="1"/>
          </p:cNvSpPr>
          <p:nvPr>
            <p:ph type="title"/>
          </p:nvPr>
        </p:nvSpPr>
        <p:spPr/>
        <p:txBody>
          <a:bodyPr/>
          <a:lstStyle/>
          <a:p>
            <a:pPr eaLnBrk="1" hangingPunct="1">
              <a:lnSpc>
                <a:spcPct val="85000"/>
              </a:lnSpc>
              <a:defRPr/>
            </a:pPr>
            <a:r>
              <a:rPr lang="en-US" dirty="0"/>
              <a:t>Frostbite </a:t>
            </a:r>
            <a:r>
              <a:rPr lang="en-US" sz="2800" b="0" dirty="0"/>
              <a:t>(2 of 6)</a:t>
            </a:r>
          </a:p>
        </p:txBody>
      </p:sp>
      <p:sp>
        <p:nvSpPr>
          <p:cNvPr id="41987" name="Rectangle 3">
            <a:extLst>
              <a:ext uri="{FF2B5EF4-FFF2-40B4-BE49-F238E27FC236}">
                <a16:creationId xmlns:a16="http://schemas.microsoft.com/office/drawing/2014/main" id="{53102A90-3FCA-E94C-ADBF-5611651DFAD8}"/>
              </a:ext>
            </a:extLst>
          </p:cNvPr>
          <p:cNvSpPr>
            <a:spLocks noGrp="1" noChangeArrowheads="1"/>
          </p:cNvSpPr>
          <p:nvPr>
            <p:ph sz="half" idx="1"/>
          </p:nvPr>
        </p:nvSpPr>
        <p:spPr>
          <a:xfrm>
            <a:off x="605480" y="1461052"/>
            <a:ext cx="10527957" cy="516029"/>
          </a:xfrm>
        </p:spPr>
        <p:txBody>
          <a:bodyPr vert="horz" lIns="91440" tIns="45720" rIns="228600" bIns="45720" rtlCol="0">
            <a:noAutofit/>
          </a:bodyPr>
          <a:lstStyle/>
          <a:p>
            <a:pPr eaLnBrk="1" hangingPunct="1">
              <a:spcBef>
                <a:spcPct val="35000"/>
              </a:spcBef>
            </a:pPr>
            <a:r>
              <a:rPr lang="en-US" altLang="en-US" dirty="0"/>
              <a:t>Depending on temperature and wind velocity, frostbite can occur quickly.</a:t>
            </a:r>
          </a:p>
        </p:txBody>
      </p:sp>
      <p:sp>
        <p:nvSpPr>
          <p:cNvPr id="7" name="Rectangle 6"/>
          <p:cNvSpPr/>
          <p:nvPr/>
        </p:nvSpPr>
        <p:spPr>
          <a:xfrm>
            <a:off x="3143606" y="6102661"/>
            <a:ext cx="5036423" cy="36933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13-4 </a:t>
            </a:r>
            <a:r>
              <a:rPr lang="en-US" dirty="0" err="1"/>
              <a:t>Windchill</a:t>
            </a:r>
            <a:r>
              <a:rPr lang="en-US" dirty="0"/>
              <a:t> table. </a:t>
            </a:r>
          </a:p>
        </p:txBody>
      </p:sp>
      <p:sp>
        <p:nvSpPr>
          <p:cNvPr id="8" name="Rectangle 7"/>
          <p:cNvSpPr/>
          <p:nvPr/>
        </p:nvSpPr>
        <p:spPr>
          <a:xfrm>
            <a:off x="3162656" y="6459379"/>
            <a:ext cx="4456008"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Courtesy of Neil Malcom </a:t>
            </a:r>
            <a:r>
              <a:rPr lang="en-US" sz="1000" dirty="0" err="1"/>
              <a:t>Winkelmann</a:t>
            </a:r>
            <a:r>
              <a:rPr lang="en-US" sz="1000" dirty="0"/>
              <a:t> </a:t>
            </a:r>
          </a:p>
        </p:txBody>
      </p:sp>
      <p:pic>
        <p:nvPicPr>
          <p:cNvPr id="4098" name="Picture 2" descr="An image shows a wind-chill chart in the form of a table with a set of values. The wind (in mph) is depicted on the vertical axis and the temperature (in degree Fahrenheit) on the horizontal axis. The chart is shaded in four colors from light blue to two darker shades of blue and then purple to indicate frostbite times. The three latter colors indicate 30 minutes, 10 minutes, and 5 minutes respectively.&#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606" y="2058161"/>
            <a:ext cx="5905500" cy="40005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7700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5AC59-AD4B-F54C-92C3-F43B1376E440}"/>
              </a:ext>
            </a:extLst>
          </p:cNvPr>
          <p:cNvSpPr>
            <a:spLocks noGrp="1"/>
          </p:cNvSpPr>
          <p:nvPr>
            <p:ph type="title"/>
          </p:nvPr>
        </p:nvSpPr>
        <p:spPr/>
        <p:txBody>
          <a:bodyPr/>
          <a:lstStyle/>
          <a:p>
            <a:pPr>
              <a:defRPr/>
            </a:pPr>
            <a:r>
              <a:rPr lang="en-US" dirty="0"/>
              <a:t>Frostbite </a:t>
            </a:r>
            <a:r>
              <a:rPr lang="en-US" sz="2800" b="0" dirty="0"/>
              <a:t>(3 of 6)</a:t>
            </a:r>
            <a:endParaRPr lang="en-US" dirty="0"/>
          </a:p>
        </p:txBody>
      </p:sp>
      <p:sp>
        <p:nvSpPr>
          <p:cNvPr id="44035" name="Content Placeholder 2">
            <a:extLst>
              <a:ext uri="{FF2B5EF4-FFF2-40B4-BE49-F238E27FC236}">
                <a16:creationId xmlns:a16="http://schemas.microsoft.com/office/drawing/2014/main" id="{E8FC39DE-C0C4-D24F-BA9F-9BFCFD22D020}"/>
              </a:ext>
            </a:extLst>
          </p:cNvPr>
          <p:cNvSpPr>
            <a:spLocks noGrp="1" noChangeArrowheads="1"/>
          </p:cNvSpPr>
          <p:nvPr>
            <p:ph idx="1"/>
          </p:nvPr>
        </p:nvSpPr>
        <p:spPr/>
        <p:txBody>
          <a:bodyPr/>
          <a:lstStyle/>
          <a:p>
            <a:pPr eaLnBrk="1" hangingPunct="1">
              <a:spcBef>
                <a:spcPct val="35000"/>
              </a:spcBef>
            </a:pPr>
            <a:r>
              <a:rPr lang="en-US" altLang="en-US" dirty="0"/>
              <a:t>Most susceptible people are those weakened by:</a:t>
            </a:r>
          </a:p>
          <a:p>
            <a:pPr lvl="1" eaLnBrk="1" hangingPunct="1">
              <a:spcBef>
                <a:spcPct val="35000"/>
              </a:spcBef>
            </a:pPr>
            <a:r>
              <a:rPr lang="en-US" altLang="en-US" dirty="0"/>
              <a:t>Old age.</a:t>
            </a:r>
          </a:p>
          <a:p>
            <a:pPr lvl="1" eaLnBrk="1" hangingPunct="1">
              <a:spcBef>
                <a:spcPct val="35000"/>
              </a:spcBef>
            </a:pPr>
            <a:r>
              <a:rPr lang="en-US" altLang="en-US" dirty="0"/>
              <a:t>Medical conditions.</a:t>
            </a:r>
          </a:p>
          <a:p>
            <a:pPr lvl="1" eaLnBrk="1" hangingPunct="1">
              <a:spcBef>
                <a:spcPct val="35000"/>
              </a:spcBef>
            </a:pPr>
            <a:r>
              <a:rPr lang="en-US" altLang="en-US" dirty="0"/>
              <a:t>Exhaustion.</a:t>
            </a:r>
          </a:p>
          <a:p>
            <a:pPr lvl="1" eaLnBrk="1" hangingPunct="1">
              <a:spcBef>
                <a:spcPct val="35000"/>
              </a:spcBef>
            </a:pPr>
            <a:r>
              <a:rPr lang="en-US" altLang="en-US" dirty="0"/>
              <a:t>Hunger.</a:t>
            </a:r>
          </a:p>
          <a:p>
            <a:endParaRPr lang="en-US" altLang="en-US" dirty="0"/>
          </a:p>
        </p:txBody>
      </p:sp>
    </p:spTree>
    <p:extLst>
      <p:ext uri="{BB962C8B-B14F-4D97-AF65-F5344CB8AC3E}">
        <p14:creationId xmlns:p14="http://schemas.microsoft.com/office/powerpoint/2010/main" val="1411395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026" name="Rectangle 2">
            <a:extLst>
              <a:ext uri="{FF2B5EF4-FFF2-40B4-BE49-F238E27FC236}">
                <a16:creationId xmlns:a16="http://schemas.microsoft.com/office/drawing/2014/main" id="{57133A9B-D984-B742-9A96-C3A189E2EBC4}"/>
              </a:ext>
            </a:extLst>
          </p:cNvPr>
          <p:cNvSpPr>
            <a:spLocks noGrp="1" noChangeArrowheads="1"/>
          </p:cNvSpPr>
          <p:nvPr>
            <p:ph type="title"/>
          </p:nvPr>
        </p:nvSpPr>
        <p:spPr/>
        <p:txBody>
          <a:bodyPr/>
          <a:lstStyle/>
          <a:p>
            <a:pPr eaLnBrk="1" hangingPunct="1">
              <a:lnSpc>
                <a:spcPct val="85000"/>
              </a:lnSpc>
              <a:defRPr/>
            </a:pPr>
            <a:r>
              <a:rPr lang="en-US" dirty="0"/>
              <a:t>Frostbite </a:t>
            </a:r>
            <a:r>
              <a:rPr lang="en-US" sz="2800" b="0" dirty="0"/>
              <a:t>(4 of 6)</a:t>
            </a:r>
          </a:p>
        </p:txBody>
      </p:sp>
      <p:sp>
        <p:nvSpPr>
          <p:cNvPr id="46083" name="Rectangle 3">
            <a:extLst>
              <a:ext uri="{FF2B5EF4-FFF2-40B4-BE49-F238E27FC236}">
                <a16:creationId xmlns:a16="http://schemas.microsoft.com/office/drawing/2014/main" id="{918BE236-CCCA-2343-B513-B8F996955674}"/>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Superficial frostbite (frostnip):</a:t>
            </a:r>
          </a:p>
          <a:p>
            <a:pPr lvl="1" eaLnBrk="1" hangingPunct="1">
              <a:spcBef>
                <a:spcPct val="35000"/>
              </a:spcBef>
            </a:pPr>
            <a:r>
              <a:rPr lang="en-US" altLang="en-US" dirty="0"/>
              <a:t>Affected body part becomes numb and then turns a bright red color.</a:t>
            </a:r>
          </a:p>
          <a:p>
            <a:pPr lvl="1" eaLnBrk="1" hangingPunct="1">
              <a:spcBef>
                <a:spcPct val="35000"/>
              </a:spcBef>
            </a:pPr>
            <a:r>
              <a:rPr lang="en-US" altLang="en-US" dirty="0"/>
              <a:t>Eventually area loses its color and becomes pale.</a:t>
            </a:r>
          </a:p>
          <a:p>
            <a:pPr lvl="1" eaLnBrk="1" hangingPunct="1">
              <a:spcBef>
                <a:spcPct val="35000"/>
              </a:spcBef>
            </a:pPr>
            <a:r>
              <a:rPr lang="en-US" altLang="en-US" dirty="0"/>
              <a:t>There may be a loss of feeling and sensation.</a:t>
            </a:r>
          </a:p>
          <a:p>
            <a:pPr lvl="1" eaLnBrk="1" hangingPunct="1">
              <a:spcBef>
                <a:spcPct val="35000"/>
              </a:spcBef>
            </a:pPr>
            <a:r>
              <a:rPr lang="en-US" altLang="en-US" dirty="0"/>
              <a:t>Warming area must be done quickly and carefully.</a:t>
            </a:r>
          </a:p>
          <a:p>
            <a:pPr lvl="1" eaLnBrk="1" hangingPunct="1">
              <a:spcBef>
                <a:spcPct val="35000"/>
              </a:spcBef>
            </a:pPr>
            <a:r>
              <a:rPr lang="en-US" altLang="en-US" dirty="0"/>
              <a:t>Do not warm area by rubbing it.</a:t>
            </a:r>
          </a:p>
        </p:txBody>
      </p:sp>
    </p:spTree>
    <p:extLst>
      <p:ext uri="{BB962C8B-B14F-4D97-AF65-F5344CB8AC3E}">
        <p14:creationId xmlns:p14="http://schemas.microsoft.com/office/powerpoint/2010/main" val="1583118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0050" name="Rectangle 2">
            <a:extLst>
              <a:ext uri="{FF2B5EF4-FFF2-40B4-BE49-F238E27FC236}">
                <a16:creationId xmlns:a16="http://schemas.microsoft.com/office/drawing/2014/main" id="{EDA385D2-D0BA-EE44-A255-4E12C83C87A6}"/>
              </a:ext>
            </a:extLst>
          </p:cNvPr>
          <p:cNvSpPr>
            <a:spLocks noGrp="1" noChangeArrowheads="1"/>
          </p:cNvSpPr>
          <p:nvPr>
            <p:ph type="title"/>
          </p:nvPr>
        </p:nvSpPr>
        <p:spPr/>
        <p:txBody>
          <a:bodyPr/>
          <a:lstStyle/>
          <a:p>
            <a:pPr eaLnBrk="1" hangingPunct="1">
              <a:lnSpc>
                <a:spcPct val="85000"/>
              </a:lnSpc>
              <a:defRPr/>
            </a:pPr>
            <a:r>
              <a:rPr lang="en-US" dirty="0"/>
              <a:t>Frostbite </a:t>
            </a:r>
            <a:r>
              <a:rPr lang="en-US" sz="2800" b="0" dirty="0"/>
              <a:t>(5 of 6)</a:t>
            </a:r>
          </a:p>
        </p:txBody>
      </p:sp>
      <p:sp>
        <p:nvSpPr>
          <p:cNvPr id="48131" name="Rectangle 3">
            <a:extLst>
              <a:ext uri="{FF2B5EF4-FFF2-40B4-BE49-F238E27FC236}">
                <a16:creationId xmlns:a16="http://schemas.microsoft.com/office/drawing/2014/main" id="{7088CE38-9A0B-674B-9E58-F785DC3E647F}"/>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Superficial frostbite (frostnip) (cont'd):</a:t>
            </a:r>
          </a:p>
          <a:p>
            <a:pPr lvl="1" eaLnBrk="1" hangingPunct="1">
              <a:spcBef>
                <a:spcPct val="35000"/>
              </a:spcBef>
            </a:pPr>
            <a:r>
              <a:rPr lang="en-US" altLang="en-US" dirty="0"/>
              <a:t>Treat patient for shock.</a:t>
            </a:r>
          </a:p>
          <a:p>
            <a:pPr eaLnBrk="1" hangingPunct="1">
              <a:spcBef>
                <a:spcPct val="35000"/>
              </a:spcBef>
            </a:pPr>
            <a:r>
              <a:rPr lang="en-US" altLang="en-US" dirty="0"/>
              <a:t>Deep frostbite:</a:t>
            </a:r>
          </a:p>
          <a:p>
            <a:pPr lvl="1" eaLnBrk="1" hangingPunct="1">
              <a:spcBef>
                <a:spcPct val="35000"/>
              </a:spcBef>
            </a:pPr>
            <a:r>
              <a:rPr lang="en-US" altLang="en-US" dirty="0"/>
              <a:t>Patient’s skin will be white and waxy.</a:t>
            </a:r>
          </a:p>
          <a:p>
            <a:pPr lvl="1" eaLnBrk="1" hangingPunct="1">
              <a:spcBef>
                <a:spcPct val="35000"/>
              </a:spcBef>
            </a:pPr>
            <a:r>
              <a:rPr lang="en-US" altLang="en-US" dirty="0"/>
              <a:t>Skin may be firm or frozen.</a:t>
            </a:r>
          </a:p>
          <a:p>
            <a:pPr lvl="1" eaLnBrk="1" hangingPunct="1">
              <a:spcBef>
                <a:spcPct val="35000"/>
              </a:spcBef>
            </a:pPr>
            <a:r>
              <a:rPr lang="en-US" altLang="en-US" dirty="0"/>
              <a:t>Swelling and blisters may be present.</a:t>
            </a:r>
          </a:p>
          <a:p>
            <a:pPr lvl="1" eaLnBrk="1" hangingPunct="1">
              <a:spcBef>
                <a:spcPct val="35000"/>
              </a:spcBef>
            </a:pPr>
            <a:r>
              <a:rPr lang="en-US" altLang="en-US" dirty="0"/>
              <a:t>If skin has thawed, it may appear flushed with areas of purple and white or may be mottled and cyanotic.</a:t>
            </a:r>
          </a:p>
          <a:p>
            <a:pPr lvl="1" eaLnBrk="1" hangingPunct="1">
              <a:spcBef>
                <a:spcPct val="35000"/>
              </a:spcBef>
            </a:pPr>
            <a:endParaRPr lang="en-US" altLang="en-US" dirty="0"/>
          </a:p>
        </p:txBody>
      </p:sp>
    </p:spTree>
    <p:extLst>
      <p:ext uri="{BB962C8B-B14F-4D97-AF65-F5344CB8AC3E}">
        <p14:creationId xmlns:p14="http://schemas.microsoft.com/office/powerpoint/2010/main" val="2355593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074" name="Rectangle 2">
            <a:extLst>
              <a:ext uri="{FF2B5EF4-FFF2-40B4-BE49-F238E27FC236}">
                <a16:creationId xmlns:a16="http://schemas.microsoft.com/office/drawing/2014/main" id="{55C80F44-C04C-DE44-AA1F-08074243762E}"/>
              </a:ext>
            </a:extLst>
          </p:cNvPr>
          <p:cNvSpPr>
            <a:spLocks noGrp="1" noChangeArrowheads="1"/>
          </p:cNvSpPr>
          <p:nvPr>
            <p:ph type="title"/>
          </p:nvPr>
        </p:nvSpPr>
        <p:spPr/>
        <p:txBody>
          <a:bodyPr/>
          <a:lstStyle/>
          <a:p>
            <a:pPr eaLnBrk="1" hangingPunct="1">
              <a:lnSpc>
                <a:spcPct val="85000"/>
              </a:lnSpc>
              <a:defRPr/>
            </a:pPr>
            <a:r>
              <a:rPr lang="en-US" dirty="0"/>
              <a:t>Frostbite </a:t>
            </a:r>
            <a:r>
              <a:rPr lang="en-US" sz="2800" b="0" dirty="0"/>
              <a:t>(6 of 6)</a:t>
            </a:r>
          </a:p>
        </p:txBody>
      </p:sp>
      <p:sp>
        <p:nvSpPr>
          <p:cNvPr id="50179" name="Rectangle 3">
            <a:extLst>
              <a:ext uri="{FF2B5EF4-FFF2-40B4-BE49-F238E27FC236}">
                <a16:creationId xmlns:a16="http://schemas.microsoft.com/office/drawing/2014/main" id="{327424E0-7B39-6F4E-ACB3-408124AF8C72}"/>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Deep frostbite (cont'd):</a:t>
            </a:r>
          </a:p>
          <a:p>
            <a:pPr lvl="1" eaLnBrk="1" hangingPunct="1">
              <a:spcBef>
                <a:spcPct val="35000"/>
              </a:spcBef>
            </a:pPr>
            <a:r>
              <a:rPr lang="en-US" altLang="en-US" dirty="0"/>
              <a:t>Treatment:</a:t>
            </a:r>
          </a:p>
          <a:p>
            <a:pPr lvl="2">
              <a:spcBef>
                <a:spcPct val="35000"/>
              </a:spcBef>
            </a:pPr>
            <a:r>
              <a:rPr lang="en-US" altLang="en-US" dirty="0"/>
              <a:t>Follow scene size-up, primary assessment, and secondary assessment sequence. </a:t>
            </a:r>
          </a:p>
          <a:p>
            <a:pPr lvl="2">
              <a:spcBef>
                <a:spcPct val="35000"/>
              </a:spcBef>
            </a:pPr>
            <a:r>
              <a:rPr lang="en-US" altLang="en-US" dirty="0"/>
              <a:t>Remove any jewelry on patient and cover extremity with dry clothing or dressings. </a:t>
            </a:r>
          </a:p>
          <a:p>
            <a:pPr lvl="2">
              <a:spcBef>
                <a:spcPct val="35000"/>
              </a:spcBef>
            </a:pPr>
            <a:r>
              <a:rPr lang="en-US" altLang="en-US" dirty="0"/>
              <a:t>Do not:</a:t>
            </a:r>
          </a:p>
          <a:p>
            <a:pPr lvl="3"/>
            <a:r>
              <a:rPr lang="en-US" altLang="en-US" sz="1800" dirty="0"/>
              <a:t>Break blisters.</a:t>
            </a:r>
          </a:p>
          <a:p>
            <a:pPr lvl="3"/>
            <a:r>
              <a:rPr lang="en-US" altLang="en-US" sz="1800" dirty="0"/>
              <a:t>Rub injured area.</a:t>
            </a:r>
          </a:p>
          <a:p>
            <a:pPr lvl="3"/>
            <a:r>
              <a:rPr lang="en-US" altLang="en-US" sz="1800" dirty="0"/>
              <a:t>Apply heat.</a:t>
            </a:r>
          </a:p>
          <a:p>
            <a:pPr lvl="3"/>
            <a:r>
              <a:rPr lang="en-US" altLang="en-US" sz="1800" dirty="0"/>
              <a:t>Allow patient to walk on an affected lower extremity.</a:t>
            </a:r>
          </a:p>
          <a:p>
            <a:pPr lvl="2">
              <a:spcBef>
                <a:spcPct val="35000"/>
              </a:spcBef>
            </a:pPr>
            <a:r>
              <a:rPr lang="en-US" altLang="en-US" dirty="0"/>
              <a:t>Provide prompt transport to a medical facility.</a:t>
            </a:r>
          </a:p>
        </p:txBody>
      </p:sp>
    </p:spTree>
    <p:extLst>
      <p:ext uri="{BB962C8B-B14F-4D97-AF65-F5344CB8AC3E}">
        <p14:creationId xmlns:p14="http://schemas.microsoft.com/office/powerpoint/2010/main" val="992362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098" name="Rectangle 2">
            <a:extLst>
              <a:ext uri="{FF2B5EF4-FFF2-40B4-BE49-F238E27FC236}">
                <a16:creationId xmlns:a16="http://schemas.microsoft.com/office/drawing/2014/main" id="{AEB640F5-F766-6743-BB32-B44FDCCA5EE5}"/>
              </a:ext>
            </a:extLst>
          </p:cNvPr>
          <p:cNvSpPr>
            <a:spLocks noGrp="1" noChangeArrowheads="1"/>
          </p:cNvSpPr>
          <p:nvPr>
            <p:ph type="title"/>
          </p:nvPr>
        </p:nvSpPr>
        <p:spPr/>
        <p:txBody>
          <a:bodyPr/>
          <a:lstStyle/>
          <a:p>
            <a:pPr eaLnBrk="1" hangingPunct="1">
              <a:lnSpc>
                <a:spcPct val="85000"/>
              </a:lnSpc>
              <a:defRPr/>
            </a:pPr>
            <a:r>
              <a:rPr lang="en-US" dirty="0"/>
              <a:t>Hypothermia </a:t>
            </a:r>
            <a:r>
              <a:rPr lang="en-US" sz="2800" b="0" dirty="0"/>
              <a:t>(1 of 6)</a:t>
            </a:r>
          </a:p>
        </p:txBody>
      </p:sp>
      <p:sp>
        <p:nvSpPr>
          <p:cNvPr id="52227" name="Rectangle 3">
            <a:extLst>
              <a:ext uri="{FF2B5EF4-FFF2-40B4-BE49-F238E27FC236}">
                <a16:creationId xmlns:a16="http://schemas.microsoft.com/office/drawing/2014/main" id="{6074ED55-0D3C-1248-8FAC-21B98A738BCF}"/>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Occurs when a person’s body temperature falls to a subnormal range of below about 95</a:t>
            </a:r>
            <a:r>
              <a:rPr lang="en-US" altLang="en-US" dirty="0">
                <a:cs typeface="Arial" panose="020B0604020202020204" pitchFamily="34" charset="0"/>
              </a:rPr>
              <a:t>°</a:t>
            </a:r>
            <a:r>
              <a:rPr lang="en-US" altLang="en-US" dirty="0"/>
              <a:t>F (35</a:t>
            </a:r>
            <a:r>
              <a:rPr lang="en-US" altLang="en-US" dirty="0">
                <a:cs typeface="Arial" panose="020B0604020202020204" pitchFamily="34" charset="0"/>
              </a:rPr>
              <a:t>°</a:t>
            </a:r>
            <a:r>
              <a:rPr lang="en-US" altLang="en-US" dirty="0"/>
              <a:t>C).</a:t>
            </a:r>
          </a:p>
          <a:p>
            <a:pPr eaLnBrk="1" hangingPunct="1">
              <a:spcBef>
                <a:spcPct val="35000"/>
              </a:spcBef>
            </a:pPr>
            <a:r>
              <a:rPr lang="en-US" altLang="en-US" dirty="0"/>
              <a:t>Person’s body is not able to produce enough energy to keep internal temperature at a satisfactory level.</a:t>
            </a:r>
          </a:p>
          <a:p>
            <a:pPr eaLnBrk="1" hangingPunct="1">
              <a:spcBef>
                <a:spcPct val="35000"/>
              </a:spcBef>
            </a:pPr>
            <a:r>
              <a:rPr lang="en-US" altLang="en-US" dirty="0"/>
              <a:t>People most susceptible include:</a:t>
            </a:r>
          </a:p>
          <a:p>
            <a:pPr lvl="1" eaLnBrk="1" hangingPunct="1">
              <a:spcBef>
                <a:spcPct val="35000"/>
              </a:spcBef>
            </a:pPr>
            <a:r>
              <a:rPr lang="en-US" altLang="en-US" dirty="0"/>
              <a:t>Those with inadequate or wet clothing.</a:t>
            </a:r>
          </a:p>
          <a:p>
            <a:pPr lvl="1" eaLnBrk="1" hangingPunct="1">
              <a:spcBef>
                <a:spcPct val="35000"/>
              </a:spcBef>
            </a:pPr>
            <a:r>
              <a:rPr lang="en-US" altLang="en-US" dirty="0"/>
              <a:t>Individuals who are weakened by illness.</a:t>
            </a:r>
          </a:p>
          <a:p>
            <a:pPr lvl="1" eaLnBrk="1" hangingPunct="1">
              <a:spcBef>
                <a:spcPct val="35000"/>
              </a:spcBef>
            </a:pPr>
            <a:r>
              <a:rPr lang="en-US" altLang="en-US" dirty="0"/>
              <a:t>Intoxicated patients and patients who have abused drugs are at an especially high risk for developing hypothermia.</a:t>
            </a:r>
          </a:p>
        </p:txBody>
      </p:sp>
    </p:spTree>
    <p:extLst>
      <p:ext uri="{BB962C8B-B14F-4D97-AF65-F5344CB8AC3E}">
        <p14:creationId xmlns:p14="http://schemas.microsoft.com/office/powerpoint/2010/main" val="4140579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3122" name="Rectangle 2">
            <a:extLst>
              <a:ext uri="{FF2B5EF4-FFF2-40B4-BE49-F238E27FC236}">
                <a16:creationId xmlns:a16="http://schemas.microsoft.com/office/drawing/2014/main" id="{4DE26642-2EDE-D94F-8CAC-C41172DEBC77}"/>
              </a:ext>
            </a:extLst>
          </p:cNvPr>
          <p:cNvSpPr>
            <a:spLocks noGrp="1" noChangeArrowheads="1"/>
          </p:cNvSpPr>
          <p:nvPr>
            <p:ph type="title"/>
          </p:nvPr>
        </p:nvSpPr>
        <p:spPr/>
        <p:txBody>
          <a:bodyPr/>
          <a:lstStyle/>
          <a:p>
            <a:pPr eaLnBrk="1" hangingPunct="1">
              <a:lnSpc>
                <a:spcPct val="85000"/>
              </a:lnSpc>
              <a:defRPr/>
            </a:pPr>
            <a:r>
              <a:rPr lang="en-US" dirty="0"/>
              <a:t>Hypothermia </a:t>
            </a:r>
            <a:r>
              <a:rPr lang="en-US" sz="2800" b="0" dirty="0"/>
              <a:t>(2 of 6)</a:t>
            </a:r>
          </a:p>
        </p:txBody>
      </p:sp>
      <p:sp>
        <p:nvSpPr>
          <p:cNvPr id="54275" name="Rectangle 3">
            <a:extLst>
              <a:ext uri="{FF2B5EF4-FFF2-40B4-BE49-F238E27FC236}">
                <a16:creationId xmlns:a16="http://schemas.microsoft.com/office/drawing/2014/main" id="{8EA4F4E6-1B69-E64C-A91B-DE162DF41989}"/>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Signs and symptoms:</a:t>
            </a:r>
          </a:p>
          <a:p>
            <a:pPr lvl="1" eaLnBrk="1" hangingPunct="1">
              <a:spcBef>
                <a:spcPct val="35000"/>
              </a:spcBef>
            </a:pPr>
            <a:r>
              <a:rPr lang="en-US" altLang="en-US" dirty="0"/>
              <a:t>Feeling cold. </a:t>
            </a:r>
          </a:p>
          <a:p>
            <a:pPr lvl="1" eaLnBrk="1" hangingPunct="1">
              <a:spcBef>
                <a:spcPct val="35000"/>
              </a:spcBef>
            </a:pPr>
            <a:r>
              <a:rPr lang="en-US" altLang="en-US" dirty="0"/>
              <a:t>Shivering.</a:t>
            </a:r>
          </a:p>
          <a:p>
            <a:pPr lvl="1" eaLnBrk="1" hangingPunct="1">
              <a:spcBef>
                <a:spcPct val="35000"/>
              </a:spcBef>
            </a:pPr>
            <a:r>
              <a:rPr lang="en-US" altLang="en-US" dirty="0"/>
              <a:t>Decreasing level of consciousness.</a:t>
            </a:r>
          </a:p>
          <a:p>
            <a:pPr lvl="1" eaLnBrk="1" hangingPunct="1">
              <a:spcBef>
                <a:spcPct val="35000"/>
              </a:spcBef>
            </a:pPr>
            <a:r>
              <a:rPr lang="en-US" altLang="en-US" dirty="0"/>
              <a:t>Sleepiness.</a:t>
            </a:r>
          </a:p>
          <a:p>
            <a:pPr lvl="1" eaLnBrk="1" hangingPunct="1">
              <a:spcBef>
                <a:spcPct val="35000"/>
              </a:spcBef>
            </a:pPr>
            <a:r>
              <a:rPr lang="en-US" altLang="en-US" dirty="0"/>
              <a:t>Lack of coordination.</a:t>
            </a:r>
          </a:p>
          <a:p>
            <a:pPr lvl="1" eaLnBrk="1" hangingPunct="1">
              <a:spcBef>
                <a:spcPct val="35000"/>
              </a:spcBef>
            </a:pPr>
            <a:r>
              <a:rPr lang="en-US" altLang="en-US" dirty="0"/>
              <a:t>Mental confusion.</a:t>
            </a:r>
          </a:p>
          <a:p>
            <a:pPr lvl="1" eaLnBrk="1" hangingPunct="1">
              <a:spcBef>
                <a:spcPct val="35000"/>
              </a:spcBef>
            </a:pPr>
            <a:r>
              <a:rPr lang="en-US" altLang="en-US" dirty="0"/>
              <a:t>Slowed reactions.</a:t>
            </a:r>
          </a:p>
          <a:p>
            <a:pPr lvl="1">
              <a:spcBef>
                <a:spcPct val="35000"/>
              </a:spcBef>
            </a:pPr>
            <a:r>
              <a:rPr lang="en-US" altLang="en-US" dirty="0"/>
              <a:t>As body temp goes below 90°F (32°C), patient will lose consciousness.</a:t>
            </a:r>
          </a:p>
          <a:p>
            <a:pPr lvl="1">
              <a:spcBef>
                <a:spcPct val="35000"/>
              </a:spcBef>
            </a:pPr>
            <a:r>
              <a:rPr lang="en-US" altLang="en-US" dirty="0"/>
              <a:t>Weak and very slow pulse.</a:t>
            </a:r>
          </a:p>
        </p:txBody>
      </p:sp>
    </p:spTree>
    <p:extLst>
      <p:ext uri="{BB962C8B-B14F-4D97-AF65-F5344CB8AC3E}">
        <p14:creationId xmlns:p14="http://schemas.microsoft.com/office/powerpoint/2010/main" val="2236799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146" name="Rectangle 2">
            <a:extLst>
              <a:ext uri="{FF2B5EF4-FFF2-40B4-BE49-F238E27FC236}">
                <a16:creationId xmlns:a16="http://schemas.microsoft.com/office/drawing/2014/main" id="{400CE0AF-38BA-D844-BEC5-484AAA03EB5A}"/>
              </a:ext>
            </a:extLst>
          </p:cNvPr>
          <p:cNvSpPr>
            <a:spLocks noGrp="1" noChangeArrowheads="1"/>
          </p:cNvSpPr>
          <p:nvPr>
            <p:ph type="title"/>
          </p:nvPr>
        </p:nvSpPr>
        <p:spPr/>
        <p:txBody>
          <a:bodyPr/>
          <a:lstStyle/>
          <a:p>
            <a:pPr eaLnBrk="1" hangingPunct="1">
              <a:lnSpc>
                <a:spcPct val="85000"/>
              </a:lnSpc>
              <a:defRPr/>
            </a:pPr>
            <a:r>
              <a:rPr lang="en-US" dirty="0"/>
              <a:t>Hypothermia </a:t>
            </a:r>
            <a:r>
              <a:rPr lang="en-US" sz="2800" b="0" dirty="0"/>
              <a:t>(3 of 6)</a:t>
            </a:r>
          </a:p>
        </p:txBody>
      </p:sp>
      <p:pic>
        <p:nvPicPr>
          <p:cNvPr id="5122" name="Picture 2" descr="The first column lists the characteristics and the next three column headings are as follows: 93 to 95 degrees F (34 to 35 degrees C); 89 to 92 degrees F (32 to 33 degrees C); 80 to 88 degrees F (27 to 31 degrees C); less than 80 degrees F (less than 27 degrees C). The row entries in the four columns are as follows: Signs and symptoms; Shivering, foot stamping; Loss of coordination, muscle stiffness; Coma; Apparent death. Cardiorespiratory response; Constricted blood vessels, rapid breathing; Slowing respirations, slow pulse; Weak pulse, dysrhythmias, very slow respirations; Cardiac arrest. Level of consciousness; Withdrawn; Confused, lethargic, sleepy; Unresponsive; Unresponsive.   &#10;" title="A table gives details about the characteristics of systemic hypotherm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050" y="1798346"/>
            <a:ext cx="10629900" cy="4062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5753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Rectangle 2">
            <a:extLst>
              <a:ext uri="{FF2B5EF4-FFF2-40B4-BE49-F238E27FC236}">
                <a16:creationId xmlns:a16="http://schemas.microsoft.com/office/drawing/2014/main" id="{EE0FCD2E-803F-604E-B2DA-8D2F331DE1A3}"/>
              </a:ext>
            </a:extLst>
          </p:cNvPr>
          <p:cNvSpPr>
            <a:spLocks noGrp="1" noChangeArrowheads="1"/>
          </p:cNvSpPr>
          <p:nvPr>
            <p:ph type="title"/>
          </p:nvPr>
        </p:nvSpPr>
        <p:spPr/>
        <p:txBody>
          <a:bodyPr/>
          <a:lstStyle/>
          <a:p>
            <a:pPr eaLnBrk="1" hangingPunct="1">
              <a:lnSpc>
                <a:spcPct val="85000"/>
              </a:lnSpc>
              <a:defRPr/>
            </a:pPr>
            <a:r>
              <a:rPr lang="en-US" dirty="0"/>
              <a:t>Hypothermia </a:t>
            </a:r>
            <a:r>
              <a:rPr lang="en-US" sz="2800" b="0" dirty="0"/>
              <a:t>(4 of 6)</a:t>
            </a:r>
          </a:p>
        </p:txBody>
      </p:sp>
      <p:sp>
        <p:nvSpPr>
          <p:cNvPr id="58371" name="Rectangle 3">
            <a:extLst>
              <a:ext uri="{FF2B5EF4-FFF2-40B4-BE49-F238E27FC236}">
                <a16:creationId xmlns:a16="http://schemas.microsoft.com/office/drawing/2014/main" id="{5E1E93A5-7D43-F44C-BFC7-9F8BB017CAC7}"/>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Treatment:</a:t>
            </a:r>
          </a:p>
          <a:p>
            <a:pPr lvl="1" eaLnBrk="1" hangingPunct="1">
              <a:spcBef>
                <a:spcPct val="35000"/>
              </a:spcBef>
            </a:pPr>
            <a:r>
              <a:rPr lang="en-US" altLang="en-US" dirty="0"/>
              <a:t>Move patient to a warm location.</a:t>
            </a:r>
          </a:p>
          <a:p>
            <a:pPr lvl="1" eaLnBrk="1" hangingPunct="1">
              <a:spcBef>
                <a:spcPct val="35000"/>
              </a:spcBef>
            </a:pPr>
            <a:r>
              <a:rPr lang="en-US" altLang="en-US" dirty="0"/>
              <a:t>Remove wet clothing.</a:t>
            </a:r>
          </a:p>
          <a:p>
            <a:pPr lvl="1" eaLnBrk="1" hangingPunct="1">
              <a:spcBef>
                <a:spcPct val="35000"/>
              </a:spcBef>
            </a:pPr>
            <a:r>
              <a:rPr lang="en-US" altLang="en-US" dirty="0"/>
              <a:t>Place warm blankets over and under patient.</a:t>
            </a:r>
          </a:p>
          <a:p>
            <a:pPr lvl="1" eaLnBrk="1" hangingPunct="1">
              <a:spcBef>
                <a:spcPct val="35000"/>
              </a:spcBef>
            </a:pPr>
            <a:r>
              <a:rPr lang="en-US" altLang="en-US" dirty="0"/>
              <a:t>If patient is conscious, give warm fluids to drink.</a:t>
            </a:r>
          </a:p>
          <a:p>
            <a:pPr lvl="1" eaLnBrk="1" hangingPunct="1">
              <a:spcBef>
                <a:spcPct val="35000"/>
              </a:spcBef>
            </a:pPr>
            <a:r>
              <a:rPr lang="en-US" altLang="en-US" dirty="0"/>
              <a:t>If you do not have access to a building, move patient into a heated vehicle.</a:t>
            </a:r>
          </a:p>
        </p:txBody>
      </p:sp>
    </p:spTree>
    <p:extLst>
      <p:ext uri="{BB962C8B-B14F-4D97-AF65-F5344CB8AC3E}">
        <p14:creationId xmlns:p14="http://schemas.microsoft.com/office/powerpoint/2010/main" val="230846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a:extLst>
              <a:ext uri="{FF2B5EF4-FFF2-40B4-BE49-F238E27FC236}">
                <a16:creationId xmlns:a16="http://schemas.microsoft.com/office/drawing/2014/main" id="{E1D46775-A932-5649-B6A7-F66C77AD5147}"/>
              </a:ext>
            </a:extLst>
          </p:cNvPr>
          <p:cNvSpPr>
            <a:spLocks noGrp="1" noChangeArrowheads="1"/>
          </p:cNvSpPr>
          <p:nvPr>
            <p:ph type="title"/>
          </p:nvPr>
        </p:nvSpPr>
        <p:spPr/>
        <p:txBody>
          <a:bodyPr/>
          <a:lstStyle/>
          <a:p>
            <a:pPr eaLnBrk="1" hangingPunct="1">
              <a:lnSpc>
                <a:spcPct val="85000"/>
              </a:lnSpc>
              <a:defRPr/>
            </a:pPr>
            <a:r>
              <a:rPr lang="en-US" dirty="0"/>
              <a:t>Hypothermia </a:t>
            </a:r>
            <a:r>
              <a:rPr lang="en-US" sz="2800" b="0" dirty="0"/>
              <a:t>(5 of 6)</a:t>
            </a:r>
          </a:p>
        </p:txBody>
      </p:sp>
      <p:sp>
        <p:nvSpPr>
          <p:cNvPr id="60419" name="Rectangle 3">
            <a:extLst>
              <a:ext uri="{FF2B5EF4-FFF2-40B4-BE49-F238E27FC236}">
                <a16:creationId xmlns:a16="http://schemas.microsoft.com/office/drawing/2014/main" id="{53C347BB-C854-6E4B-81C5-2B20034908BA}"/>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Treatment (cont'd):</a:t>
            </a:r>
          </a:p>
          <a:p>
            <a:pPr lvl="1" eaLnBrk="1" hangingPunct="1">
              <a:spcBef>
                <a:spcPct val="35000"/>
              </a:spcBef>
            </a:pPr>
            <a:r>
              <a:rPr lang="en-US" altLang="en-US" dirty="0"/>
              <a:t>If transport is delayed, you may need to use your own body heat to warm patient.</a:t>
            </a:r>
          </a:p>
          <a:p>
            <a:pPr lvl="1" eaLnBrk="1" hangingPunct="1">
              <a:spcBef>
                <a:spcPct val="35000"/>
              </a:spcBef>
            </a:pPr>
            <a:r>
              <a:rPr lang="en-US" altLang="en-US" dirty="0"/>
              <a:t>Handle patient gently.</a:t>
            </a:r>
          </a:p>
          <a:p>
            <a:pPr lvl="1" eaLnBrk="1" hangingPunct="1">
              <a:spcBef>
                <a:spcPct val="35000"/>
              </a:spcBef>
            </a:pPr>
            <a:r>
              <a:rPr lang="en-US" altLang="en-US" dirty="0"/>
              <a:t>Hypothermic patients must be examined by a physician.</a:t>
            </a:r>
          </a:p>
        </p:txBody>
      </p:sp>
    </p:spTree>
    <p:extLst>
      <p:ext uri="{BB962C8B-B14F-4D97-AF65-F5344CB8AC3E}">
        <p14:creationId xmlns:p14="http://schemas.microsoft.com/office/powerpoint/2010/main" val="3817457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218" name="Rectangle 2">
            <a:extLst>
              <a:ext uri="{FF2B5EF4-FFF2-40B4-BE49-F238E27FC236}">
                <a16:creationId xmlns:a16="http://schemas.microsoft.com/office/drawing/2014/main" id="{7474AE3E-8823-8645-8DB9-DB53F9E87669}"/>
              </a:ext>
            </a:extLst>
          </p:cNvPr>
          <p:cNvSpPr>
            <a:spLocks noGrp="1" noChangeArrowheads="1"/>
          </p:cNvSpPr>
          <p:nvPr>
            <p:ph type="title"/>
          </p:nvPr>
        </p:nvSpPr>
        <p:spPr/>
        <p:txBody>
          <a:bodyPr/>
          <a:lstStyle/>
          <a:p>
            <a:pPr eaLnBrk="1" hangingPunct="1">
              <a:lnSpc>
                <a:spcPct val="85000"/>
              </a:lnSpc>
              <a:defRPr/>
            </a:pPr>
            <a:r>
              <a:rPr lang="en-US" dirty="0"/>
              <a:t>Hypothermia </a:t>
            </a:r>
            <a:r>
              <a:rPr lang="en-US" sz="2800" b="0" dirty="0"/>
              <a:t>(6 of 6)</a:t>
            </a:r>
          </a:p>
        </p:txBody>
      </p:sp>
      <p:sp>
        <p:nvSpPr>
          <p:cNvPr id="62467" name="Rectangle 3">
            <a:extLst>
              <a:ext uri="{FF2B5EF4-FFF2-40B4-BE49-F238E27FC236}">
                <a16:creationId xmlns:a16="http://schemas.microsoft.com/office/drawing/2014/main" id="{C7197373-8634-9C49-AA6B-85901D77EDCE}"/>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Cardiac arrest and hypothermia:</a:t>
            </a:r>
          </a:p>
          <a:p>
            <a:pPr lvl="1" eaLnBrk="1" hangingPunct="1">
              <a:spcBef>
                <a:spcPct val="35000"/>
              </a:spcBef>
            </a:pPr>
            <a:r>
              <a:rPr lang="en-US" altLang="en-US" dirty="0"/>
              <a:t>If patient’s body temperature falls to less than 83</a:t>
            </a:r>
            <a:r>
              <a:rPr lang="en-US" altLang="en-US" dirty="0">
                <a:ea typeface="MS PGothic" panose="020B0600070205080204" pitchFamily="34" charset="-128"/>
                <a:sym typeface="Symbol" pitchFamily="2" charset="2"/>
              </a:rPr>
              <a:t></a:t>
            </a:r>
            <a:r>
              <a:rPr lang="en-US" altLang="en-US" dirty="0"/>
              <a:t>F (28</a:t>
            </a:r>
            <a:r>
              <a:rPr lang="en-US" altLang="en-US" dirty="0">
                <a:ea typeface="MS PGothic" panose="020B0600070205080204" pitchFamily="34" charset="-128"/>
                <a:sym typeface="Symbol" pitchFamily="2" charset="2"/>
              </a:rPr>
              <a:t></a:t>
            </a:r>
            <a:r>
              <a:rPr lang="en-US" altLang="en-US" dirty="0"/>
              <a:t>C), heart may stop and you will need to begin CPR.</a:t>
            </a:r>
          </a:p>
          <a:p>
            <a:pPr lvl="1" eaLnBrk="1" hangingPunct="1">
              <a:spcBef>
                <a:spcPct val="35000"/>
              </a:spcBef>
            </a:pPr>
            <a:r>
              <a:rPr lang="en-US" altLang="en-US" dirty="0"/>
              <a:t>Always start CPR and use an AED on hypothermia patients even if you believe they have been “dead” for several hours.</a:t>
            </a:r>
          </a:p>
          <a:p>
            <a:pPr eaLnBrk="1" hangingPunct="1"/>
            <a:r>
              <a:rPr lang="en-US" altLang="en-US" dirty="0"/>
              <a:t>Not considered dead till warm and dead!</a:t>
            </a:r>
          </a:p>
        </p:txBody>
      </p:sp>
    </p:spTree>
    <p:extLst>
      <p:ext uri="{BB962C8B-B14F-4D97-AF65-F5344CB8AC3E}">
        <p14:creationId xmlns:p14="http://schemas.microsoft.com/office/powerpoint/2010/main" val="425005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42" name="Rectangle 2">
            <a:extLst>
              <a:ext uri="{FF2B5EF4-FFF2-40B4-BE49-F238E27FC236}">
                <a16:creationId xmlns:a16="http://schemas.microsoft.com/office/drawing/2014/main" id="{8C5A3457-4A7B-3042-A94B-D9DFDCC17526}"/>
              </a:ext>
            </a:extLst>
          </p:cNvPr>
          <p:cNvSpPr>
            <a:spLocks noGrp="1" noChangeArrowheads="1"/>
          </p:cNvSpPr>
          <p:nvPr>
            <p:ph type="title"/>
          </p:nvPr>
        </p:nvSpPr>
        <p:spPr/>
        <p:txBody>
          <a:bodyPr/>
          <a:lstStyle/>
          <a:p>
            <a:pPr eaLnBrk="1" hangingPunct="1">
              <a:lnSpc>
                <a:spcPct val="85000"/>
              </a:lnSpc>
              <a:defRPr/>
            </a:pPr>
            <a:r>
              <a:rPr lang="en-US" dirty="0"/>
              <a:t>Drowning and Submersion </a:t>
            </a:r>
            <a:br>
              <a:rPr lang="en-US" dirty="0"/>
            </a:br>
            <a:r>
              <a:rPr lang="en-US" sz="2800" b="0" dirty="0"/>
              <a:t>(1 of 5)</a:t>
            </a:r>
          </a:p>
        </p:txBody>
      </p:sp>
      <p:sp>
        <p:nvSpPr>
          <p:cNvPr id="64515" name="Rectangle 3">
            <a:extLst>
              <a:ext uri="{FF2B5EF4-FFF2-40B4-BE49-F238E27FC236}">
                <a16:creationId xmlns:a16="http://schemas.microsoft.com/office/drawing/2014/main" id="{6232E82B-3CE0-B04C-B25D-2735BCF5345F}"/>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Each year in United States, more than 3,500 people die from unintentional drowning.</a:t>
            </a:r>
          </a:p>
          <a:p>
            <a:pPr eaLnBrk="1" hangingPunct="1">
              <a:spcBef>
                <a:spcPct val="35000"/>
              </a:spcBef>
            </a:pPr>
            <a:r>
              <a:rPr lang="en-US" altLang="en-US" dirty="0"/>
              <a:t>Drowning is second leading cause of injury and death among children 1 to 14 years.</a:t>
            </a:r>
          </a:p>
          <a:p>
            <a:pPr eaLnBrk="1" hangingPunct="1">
              <a:spcBef>
                <a:spcPct val="35000"/>
              </a:spcBef>
            </a:pPr>
            <a:r>
              <a:rPr lang="en-US" altLang="en-US" dirty="0"/>
              <a:t>Drowning is defined as the process of experiencing respiratory impairment from suffocation or immersion in liquid. </a:t>
            </a:r>
          </a:p>
        </p:txBody>
      </p:sp>
    </p:spTree>
    <p:extLst>
      <p:ext uri="{BB962C8B-B14F-4D97-AF65-F5344CB8AC3E}">
        <p14:creationId xmlns:p14="http://schemas.microsoft.com/office/powerpoint/2010/main" val="2674008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66" name="Rectangle 2">
            <a:extLst>
              <a:ext uri="{FF2B5EF4-FFF2-40B4-BE49-F238E27FC236}">
                <a16:creationId xmlns:a16="http://schemas.microsoft.com/office/drawing/2014/main" id="{089A686C-02CF-F34B-B041-CF014AB5DD70}"/>
              </a:ext>
            </a:extLst>
          </p:cNvPr>
          <p:cNvSpPr>
            <a:spLocks noGrp="1" noChangeArrowheads="1"/>
          </p:cNvSpPr>
          <p:nvPr>
            <p:ph type="title"/>
          </p:nvPr>
        </p:nvSpPr>
        <p:spPr/>
        <p:txBody>
          <a:bodyPr/>
          <a:lstStyle/>
          <a:p>
            <a:pPr eaLnBrk="1" hangingPunct="1">
              <a:lnSpc>
                <a:spcPct val="85000"/>
              </a:lnSpc>
              <a:defRPr/>
            </a:pPr>
            <a:r>
              <a:rPr lang="en-US" dirty="0"/>
              <a:t>Drowning and Submersion </a:t>
            </a:r>
            <a:br>
              <a:rPr lang="en-US" dirty="0"/>
            </a:br>
            <a:r>
              <a:rPr lang="en-US" sz="2800" b="0" dirty="0"/>
              <a:t>(2 of 5)</a:t>
            </a:r>
          </a:p>
        </p:txBody>
      </p:sp>
      <p:sp>
        <p:nvSpPr>
          <p:cNvPr id="66563" name="Rectangle 3">
            <a:extLst>
              <a:ext uri="{FF2B5EF4-FFF2-40B4-BE49-F238E27FC236}">
                <a16:creationId xmlns:a16="http://schemas.microsoft.com/office/drawing/2014/main" id="{2FD6EDD6-F452-0E4C-BA01-7C3161D998F4}"/>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Submersion injuries result from being beneath surface of water or another liquid.</a:t>
            </a:r>
          </a:p>
          <a:p>
            <a:pPr eaLnBrk="1" hangingPunct="1">
              <a:spcBef>
                <a:spcPct val="35000"/>
              </a:spcBef>
            </a:pPr>
            <a:r>
              <a:rPr lang="en-US" altLang="en-US" dirty="0"/>
              <a:t>Likely locations of drowning:</a:t>
            </a:r>
          </a:p>
          <a:p>
            <a:pPr lvl="1" eaLnBrk="1" hangingPunct="1">
              <a:spcBef>
                <a:spcPct val="35000"/>
              </a:spcBef>
            </a:pPr>
            <a:r>
              <a:rPr lang="en-US" altLang="en-US" dirty="0"/>
              <a:t>Streams.</a:t>
            </a:r>
          </a:p>
          <a:p>
            <a:pPr lvl="1" eaLnBrk="1" hangingPunct="1">
              <a:spcBef>
                <a:spcPct val="35000"/>
              </a:spcBef>
            </a:pPr>
            <a:r>
              <a:rPr lang="en-US" altLang="en-US" dirty="0"/>
              <a:t>Lakes.</a:t>
            </a:r>
          </a:p>
          <a:p>
            <a:pPr lvl="1" eaLnBrk="1" hangingPunct="1">
              <a:spcBef>
                <a:spcPct val="35000"/>
              </a:spcBef>
            </a:pPr>
            <a:r>
              <a:rPr lang="en-US" altLang="en-US" dirty="0"/>
              <a:t>Swimming pools.</a:t>
            </a:r>
          </a:p>
          <a:p>
            <a:pPr lvl="1" eaLnBrk="1" hangingPunct="1">
              <a:spcBef>
                <a:spcPct val="35000"/>
              </a:spcBef>
            </a:pPr>
            <a:r>
              <a:rPr lang="en-US" altLang="en-US" dirty="0"/>
              <a:t>Hot tubs.</a:t>
            </a:r>
          </a:p>
        </p:txBody>
      </p:sp>
    </p:spTree>
    <p:extLst>
      <p:ext uri="{BB962C8B-B14F-4D97-AF65-F5344CB8AC3E}">
        <p14:creationId xmlns:p14="http://schemas.microsoft.com/office/powerpoint/2010/main" val="2042819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290" name="Rectangle 2">
            <a:extLst>
              <a:ext uri="{FF2B5EF4-FFF2-40B4-BE49-F238E27FC236}">
                <a16:creationId xmlns:a16="http://schemas.microsoft.com/office/drawing/2014/main" id="{64188F0C-9290-8047-BAC6-90DD4AEF4D2B}"/>
              </a:ext>
            </a:extLst>
          </p:cNvPr>
          <p:cNvSpPr>
            <a:spLocks noGrp="1" noChangeArrowheads="1"/>
          </p:cNvSpPr>
          <p:nvPr>
            <p:ph type="title"/>
          </p:nvPr>
        </p:nvSpPr>
        <p:spPr/>
        <p:txBody>
          <a:bodyPr/>
          <a:lstStyle/>
          <a:p>
            <a:pPr eaLnBrk="1" hangingPunct="1">
              <a:lnSpc>
                <a:spcPct val="85000"/>
              </a:lnSpc>
              <a:defRPr/>
            </a:pPr>
            <a:r>
              <a:rPr lang="en-US" dirty="0"/>
              <a:t>Drowning and Submersion </a:t>
            </a:r>
            <a:br>
              <a:rPr lang="en-US" dirty="0"/>
            </a:br>
            <a:r>
              <a:rPr lang="en-US" sz="2800" b="0" dirty="0"/>
              <a:t>(3 of 5)</a:t>
            </a:r>
          </a:p>
        </p:txBody>
      </p:sp>
      <p:sp>
        <p:nvSpPr>
          <p:cNvPr id="68611" name="Rectangle 3">
            <a:extLst>
              <a:ext uri="{FF2B5EF4-FFF2-40B4-BE49-F238E27FC236}">
                <a16:creationId xmlns:a16="http://schemas.microsoft.com/office/drawing/2014/main" id="{89FFE4D0-DBE9-B245-85F3-05E171522756}"/>
              </a:ext>
            </a:extLst>
          </p:cNvPr>
          <p:cNvSpPr>
            <a:spLocks noGrp="1" noChangeArrowheads="1"/>
          </p:cNvSpPr>
          <p:nvPr>
            <p:ph type="body" idx="1"/>
          </p:nvPr>
        </p:nvSpPr>
        <p:spPr>
          <a:xfrm>
            <a:off x="925830" y="1490870"/>
            <a:ext cx="8802370" cy="4699047"/>
          </a:xfrm>
        </p:spPr>
        <p:txBody>
          <a:bodyPr vert="horz" lIns="91440" tIns="45720" rIns="228600" bIns="45720" rtlCol="0">
            <a:noAutofit/>
          </a:bodyPr>
          <a:lstStyle/>
          <a:p>
            <a:pPr eaLnBrk="1" hangingPunct="1">
              <a:spcBef>
                <a:spcPct val="35000"/>
              </a:spcBef>
            </a:pPr>
            <a:r>
              <a:rPr lang="en-US" altLang="en-US" dirty="0"/>
              <a:t>Likely locations of drowning (cont'd):</a:t>
            </a:r>
          </a:p>
          <a:p>
            <a:pPr lvl="1" eaLnBrk="1" hangingPunct="1">
              <a:spcBef>
                <a:spcPct val="35000"/>
              </a:spcBef>
            </a:pPr>
            <a:r>
              <a:rPr lang="en-US" altLang="en-US" dirty="0"/>
              <a:t>Wading pools.</a:t>
            </a:r>
          </a:p>
          <a:p>
            <a:pPr lvl="1" eaLnBrk="1" hangingPunct="1">
              <a:spcBef>
                <a:spcPct val="35000"/>
              </a:spcBef>
            </a:pPr>
            <a:r>
              <a:rPr lang="en-US" altLang="en-US" dirty="0"/>
              <a:t>Public fountains.</a:t>
            </a:r>
          </a:p>
          <a:p>
            <a:pPr lvl="1" eaLnBrk="1" hangingPunct="1">
              <a:spcBef>
                <a:spcPct val="35000"/>
              </a:spcBef>
            </a:pPr>
            <a:r>
              <a:rPr lang="en-US" altLang="en-US" dirty="0"/>
              <a:t>Storm drain ponds.</a:t>
            </a:r>
          </a:p>
          <a:p>
            <a:pPr eaLnBrk="1" hangingPunct="1">
              <a:spcBef>
                <a:spcPct val="35000"/>
              </a:spcBef>
            </a:pPr>
            <a:r>
              <a:rPr lang="en-US" altLang="en-US" dirty="0"/>
              <a:t>Hazards for drowning in infants and young children are also present in every house:</a:t>
            </a:r>
          </a:p>
          <a:p>
            <a:pPr lvl="1" eaLnBrk="1" hangingPunct="1">
              <a:spcBef>
                <a:spcPct val="35000"/>
              </a:spcBef>
            </a:pPr>
            <a:r>
              <a:rPr lang="en-US" altLang="en-US" dirty="0"/>
              <a:t>Bathtubs. </a:t>
            </a:r>
          </a:p>
          <a:p>
            <a:pPr lvl="1" eaLnBrk="1" hangingPunct="1">
              <a:spcBef>
                <a:spcPct val="35000"/>
              </a:spcBef>
            </a:pPr>
            <a:r>
              <a:rPr lang="en-US" altLang="en-US" dirty="0"/>
              <a:t>Toilets.</a:t>
            </a:r>
          </a:p>
          <a:p>
            <a:pPr lvl="1" eaLnBrk="1" hangingPunct="1">
              <a:spcBef>
                <a:spcPct val="35000"/>
              </a:spcBef>
            </a:pPr>
            <a:r>
              <a:rPr lang="en-US" altLang="en-US" dirty="0"/>
              <a:t>Mop buckets.</a:t>
            </a:r>
          </a:p>
        </p:txBody>
      </p:sp>
    </p:spTree>
    <p:extLst>
      <p:ext uri="{BB962C8B-B14F-4D97-AF65-F5344CB8AC3E}">
        <p14:creationId xmlns:p14="http://schemas.microsoft.com/office/powerpoint/2010/main" val="682593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314" name="Rectangle 2">
            <a:extLst>
              <a:ext uri="{FF2B5EF4-FFF2-40B4-BE49-F238E27FC236}">
                <a16:creationId xmlns:a16="http://schemas.microsoft.com/office/drawing/2014/main" id="{3815BF68-200D-1245-84CF-18AF2339C380}"/>
              </a:ext>
            </a:extLst>
          </p:cNvPr>
          <p:cNvSpPr>
            <a:spLocks noGrp="1" noChangeArrowheads="1"/>
          </p:cNvSpPr>
          <p:nvPr>
            <p:ph type="title"/>
          </p:nvPr>
        </p:nvSpPr>
        <p:spPr/>
        <p:txBody>
          <a:bodyPr/>
          <a:lstStyle/>
          <a:p>
            <a:pPr eaLnBrk="1" hangingPunct="1">
              <a:lnSpc>
                <a:spcPct val="85000"/>
              </a:lnSpc>
              <a:defRPr/>
            </a:pPr>
            <a:r>
              <a:rPr lang="en-US" dirty="0"/>
              <a:t>Drowning and Submersion </a:t>
            </a:r>
            <a:br>
              <a:rPr lang="en-US" dirty="0"/>
            </a:br>
            <a:r>
              <a:rPr lang="en-US" sz="2800" b="0" dirty="0"/>
              <a:t>(4 of 5)</a:t>
            </a:r>
          </a:p>
        </p:txBody>
      </p:sp>
      <p:sp>
        <p:nvSpPr>
          <p:cNvPr id="70659" name="Rectangle 3">
            <a:extLst>
              <a:ext uri="{FF2B5EF4-FFF2-40B4-BE49-F238E27FC236}">
                <a16:creationId xmlns:a16="http://schemas.microsoft.com/office/drawing/2014/main" id="{4A9B9A8C-23DB-0D46-9159-90AB9C244017}"/>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Process of drowning progresses through several stages:</a:t>
            </a:r>
          </a:p>
          <a:p>
            <a:pPr lvl="1" eaLnBrk="1" hangingPunct="1">
              <a:spcBef>
                <a:spcPct val="35000"/>
              </a:spcBef>
            </a:pPr>
            <a:r>
              <a:rPr lang="en-US" altLang="en-US" dirty="0"/>
              <a:t>Usually initial stage is panic.</a:t>
            </a:r>
          </a:p>
          <a:p>
            <a:pPr lvl="1" eaLnBrk="1" hangingPunct="1">
              <a:spcBef>
                <a:spcPct val="35000"/>
              </a:spcBef>
            </a:pPr>
            <a:r>
              <a:rPr lang="en-US" altLang="en-US" dirty="0"/>
              <a:t>In other instances, person:</a:t>
            </a:r>
          </a:p>
          <a:p>
            <a:pPr lvl="2" eaLnBrk="1" hangingPunct="1"/>
            <a:r>
              <a:rPr lang="en-US" altLang="en-US" sz="2000" dirty="0"/>
              <a:t>Becomes fatigued, injured, cold, or entangled in seaweed or kelp.</a:t>
            </a:r>
          </a:p>
          <a:p>
            <a:pPr lvl="2" eaLnBrk="1" hangingPunct="1"/>
            <a:r>
              <a:rPr lang="en-US" altLang="en-US" sz="2000" dirty="0"/>
              <a:t>Experiences a loss of orientation.</a:t>
            </a:r>
          </a:p>
          <a:p>
            <a:pPr lvl="2" eaLnBrk="1" hangingPunct="1"/>
            <a:r>
              <a:rPr lang="en-US" altLang="en-US" sz="2000" dirty="0"/>
              <a:t>Becomes ill.</a:t>
            </a:r>
          </a:p>
          <a:p>
            <a:pPr lvl="1" eaLnBrk="1" hangingPunct="1">
              <a:spcBef>
                <a:spcPct val="35000"/>
              </a:spcBef>
            </a:pPr>
            <a:r>
              <a:rPr lang="en-US" altLang="en-US" dirty="0"/>
              <a:t>Feeling of panic produces an inefficient breathing pattern.</a:t>
            </a:r>
          </a:p>
        </p:txBody>
      </p:sp>
    </p:spTree>
    <p:extLst>
      <p:ext uri="{BB962C8B-B14F-4D97-AF65-F5344CB8AC3E}">
        <p14:creationId xmlns:p14="http://schemas.microsoft.com/office/powerpoint/2010/main" val="147931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2338" name="Rectangle 2">
            <a:extLst>
              <a:ext uri="{FF2B5EF4-FFF2-40B4-BE49-F238E27FC236}">
                <a16:creationId xmlns:a16="http://schemas.microsoft.com/office/drawing/2014/main" id="{98473D75-6D3C-BF45-9D6A-034FE368EB0E}"/>
              </a:ext>
            </a:extLst>
          </p:cNvPr>
          <p:cNvSpPr>
            <a:spLocks noGrp="1" noChangeArrowheads="1"/>
          </p:cNvSpPr>
          <p:nvPr>
            <p:ph type="title"/>
          </p:nvPr>
        </p:nvSpPr>
        <p:spPr/>
        <p:txBody>
          <a:bodyPr/>
          <a:lstStyle/>
          <a:p>
            <a:pPr eaLnBrk="1" hangingPunct="1">
              <a:lnSpc>
                <a:spcPct val="85000"/>
              </a:lnSpc>
              <a:defRPr/>
            </a:pPr>
            <a:r>
              <a:rPr lang="en-US" dirty="0"/>
              <a:t>Drowning and Submersion </a:t>
            </a:r>
            <a:br>
              <a:rPr lang="en-US" dirty="0"/>
            </a:br>
            <a:r>
              <a:rPr lang="en-US" sz="2800" b="0" dirty="0"/>
              <a:t>(5 of 5)</a:t>
            </a:r>
          </a:p>
        </p:txBody>
      </p:sp>
      <p:sp>
        <p:nvSpPr>
          <p:cNvPr id="72707" name="Rectangle 3">
            <a:extLst>
              <a:ext uri="{FF2B5EF4-FFF2-40B4-BE49-F238E27FC236}">
                <a16:creationId xmlns:a16="http://schemas.microsoft.com/office/drawing/2014/main" id="{B2C07F15-C266-E94A-9FED-4B32CA94BD88}"/>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Signs and symptoms of submersion injury:</a:t>
            </a:r>
          </a:p>
          <a:p>
            <a:pPr lvl="1" eaLnBrk="1" hangingPunct="1">
              <a:spcBef>
                <a:spcPct val="35000"/>
              </a:spcBef>
            </a:pPr>
            <a:r>
              <a:rPr lang="en-US" altLang="en-US" dirty="0"/>
              <a:t>Coughing.</a:t>
            </a:r>
          </a:p>
          <a:p>
            <a:pPr lvl="1" eaLnBrk="1" hangingPunct="1">
              <a:spcBef>
                <a:spcPct val="35000"/>
              </a:spcBef>
            </a:pPr>
            <a:r>
              <a:rPr lang="en-US" altLang="en-US" dirty="0"/>
              <a:t>Vomiting.</a:t>
            </a:r>
          </a:p>
          <a:p>
            <a:pPr lvl="1" eaLnBrk="1" hangingPunct="1">
              <a:spcBef>
                <a:spcPct val="35000"/>
              </a:spcBef>
            </a:pPr>
            <a:r>
              <a:rPr lang="en-US" altLang="en-US" dirty="0"/>
              <a:t>Difficulty breathing.</a:t>
            </a:r>
          </a:p>
          <a:p>
            <a:pPr lvl="1" eaLnBrk="1" hangingPunct="1">
              <a:spcBef>
                <a:spcPct val="35000"/>
              </a:spcBef>
            </a:pPr>
            <a:r>
              <a:rPr lang="en-US" altLang="en-US" dirty="0"/>
              <a:t>Respiratory arrest.</a:t>
            </a:r>
          </a:p>
          <a:p>
            <a:pPr lvl="1" eaLnBrk="1" hangingPunct="1">
              <a:spcBef>
                <a:spcPct val="35000"/>
              </a:spcBef>
            </a:pPr>
            <a:r>
              <a:rPr lang="en-US" altLang="en-US" dirty="0"/>
              <a:t>Cardiac arrest.</a:t>
            </a:r>
          </a:p>
          <a:p>
            <a:pPr lvl="1" eaLnBrk="1" hangingPunct="1">
              <a:spcBef>
                <a:spcPct val="35000"/>
              </a:spcBef>
            </a:pPr>
            <a:r>
              <a:rPr lang="en-US" altLang="en-US" dirty="0"/>
              <a:t>Broken bones or spinal injuries.</a:t>
            </a:r>
          </a:p>
          <a:p>
            <a:pPr lvl="1" eaLnBrk="1" hangingPunct="1">
              <a:spcBef>
                <a:spcPct val="35000"/>
              </a:spcBef>
            </a:pPr>
            <a:r>
              <a:rPr lang="en-US" altLang="en-US" dirty="0"/>
              <a:t>Hypothermia (when wet or low air temps).</a:t>
            </a:r>
          </a:p>
        </p:txBody>
      </p:sp>
    </p:spTree>
    <p:extLst>
      <p:ext uri="{BB962C8B-B14F-4D97-AF65-F5344CB8AC3E}">
        <p14:creationId xmlns:p14="http://schemas.microsoft.com/office/powerpoint/2010/main" val="1652259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362" name="Rectangle 2">
            <a:extLst>
              <a:ext uri="{FF2B5EF4-FFF2-40B4-BE49-F238E27FC236}">
                <a16:creationId xmlns:a16="http://schemas.microsoft.com/office/drawing/2014/main" id="{B5BAFF99-E8D5-654D-8762-64EE5A6B702A}"/>
              </a:ext>
            </a:extLst>
          </p:cNvPr>
          <p:cNvSpPr>
            <a:spLocks noGrp="1" noChangeArrowheads="1"/>
          </p:cNvSpPr>
          <p:nvPr>
            <p:ph type="title"/>
          </p:nvPr>
        </p:nvSpPr>
        <p:spPr/>
        <p:txBody>
          <a:bodyPr/>
          <a:lstStyle/>
          <a:p>
            <a:pPr eaLnBrk="1" hangingPunct="1">
              <a:lnSpc>
                <a:spcPct val="85000"/>
              </a:lnSpc>
              <a:defRPr/>
            </a:pPr>
            <a:r>
              <a:rPr lang="en-US" dirty="0"/>
              <a:t>Treatment of Submersion Injuries </a:t>
            </a:r>
            <a:r>
              <a:rPr lang="en-US" sz="2800" b="0" dirty="0"/>
              <a:t>(1 of 2)</a:t>
            </a:r>
          </a:p>
        </p:txBody>
      </p:sp>
      <p:sp>
        <p:nvSpPr>
          <p:cNvPr id="74755" name="Rectangle 3">
            <a:extLst>
              <a:ext uri="{FF2B5EF4-FFF2-40B4-BE49-F238E27FC236}">
                <a16:creationId xmlns:a16="http://schemas.microsoft.com/office/drawing/2014/main" id="{D3AA22DC-ED2D-4349-B864-80F666A3F898}"/>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Assess scene safety.</a:t>
            </a:r>
          </a:p>
          <a:p>
            <a:pPr lvl="1" eaLnBrk="1" hangingPunct="1">
              <a:spcBef>
                <a:spcPct val="35000"/>
              </a:spcBef>
            </a:pPr>
            <a:r>
              <a:rPr lang="en-US" altLang="en-US" dirty="0"/>
              <a:t>If patient is still in water, do not exceed limits of your training in a rescue attempt.</a:t>
            </a:r>
          </a:p>
          <a:p>
            <a:pPr lvl="1" eaLnBrk="1" hangingPunct="1">
              <a:spcBef>
                <a:spcPct val="35000"/>
              </a:spcBef>
            </a:pPr>
            <a:r>
              <a:rPr lang="en-US" altLang="en-US" dirty="0"/>
              <a:t>Keep yourself safe and attempt rescue only if you can do so safely (reach, throw, row, and go sequence). </a:t>
            </a:r>
          </a:p>
          <a:p>
            <a:pPr lvl="1" eaLnBrk="1" hangingPunct="1">
              <a:spcBef>
                <a:spcPct val="35000"/>
              </a:spcBef>
            </a:pPr>
            <a:r>
              <a:rPr lang="en-US" altLang="en-US" dirty="0"/>
              <a:t>Call for additional help if needed.</a:t>
            </a:r>
          </a:p>
          <a:p>
            <a:pPr lvl="1" eaLnBrk="1" hangingPunct="1">
              <a:spcBef>
                <a:spcPct val="35000"/>
              </a:spcBef>
            </a:pPr>
            <a:r>
              <a:rPr lang="en-US" altLang="en-US" dirty="0"/>
              <a:t>If there is evidence of trauma and you need to move patient and protect spine.</a:t>
            </a:r>
          </a:p>
          <a:p>
            <a:pPr eaLnBrk="1" hangingPunct="1">
              <a:spcBef>
                <a:spcPct val="35000"/>
              </a:spcBef>
            </a:pPr>
            <a:r>
              <a:rPr lang="en-US" altLang="en-US" dirty="0"/>
              <a:t>Perform a primary assessment.</a:t>
            </a:r>
          </a:p>
        </p:txBody>
      </p:sp>
    </p:spTree>
    <p:extLst>
      <p:ext uri="{BB962C8B-B14F-4D97-AF65-F5344CB8AC3E}">
        <p14:creationId xmlns:p14="http://schemas.microsoft.com/office/powerpoint/2010/main" val="3969339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4386" name="Rectangle 2">
            <a:extLst>
              <a:ext uri="{FF2B5EF4-FFF2-40B4-BE49-F238E27FC236}">
                <a16:creationId xmlns:a16="http://schemas.microsoft.com/office/drawing/2014/main" id="{DE66729E-92CB-0E44-9EDC-99034EC18F5B}"/>
              </a:ext>
            </a:extLst>
          </p:cNvPr>
          <p:cNvSpPr>
            <a:spLocks noGrp="1" noChangeArrowheads="1"/>
          </p:cNvSpPr>
          <p:nvPr>
            <p:ph type="title"/>
          </p:nvPr>
        </p:nvSpPr>
        <p:spPr/>
        <p:txBody>
          <a:bodyPr/>
          <a:lstStyle/>
          <a:p>
            <a:pPr eaLnBrk="1" hangingPunct="1">
              <a:lnSpc>
                <a:spcPct val="85000"/>
              </a:lnSpc>
              <a:defRPr/>
            </a:pPr>
            <a:r>
              <a:rPr lang="en-US" dirty="0"/>
              <a:t>Treatment of Submersion Injuries </a:t>
            </a:r>
            <a:r>
              <a:rPr lang="en-US" sz="2800" b="0" dirty="0"/>
              <a:t>(2 of 2)</a:t>
            </a:r>
          </a:p>
        </p:txBody>
      </p:sp>
      <p:sp>
        <p:nvSpPr>
          <p:cNvPr id="76803" name="Rectangle 3">
            <a:extLst>
              <a:ext uri="{FF2B5EF4-FFF2-40B4-BE49-F238E27FC236}">
                <a16:creationId xmlns:a16="http://schemas.microsoft.com/office/drawing/2014/main" id="{3BEA9B1D-5BBC-4546-B002-60AD551E7148}"/>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Perform a primary assessment (continued):</a:t>
            </a:r>
          </a:p>
          <a:p>
            <a:pPr lvl="1" eaLnBrk="1" hangingPunct="1">
              <a:spcBef>
                <a:spcPct val="35000"/>
              </a:spcBef>
            </a:pPr>
            <a:r>
              <a:rPr lang="en-US" altLang="en-US" dirty="0"/>
              <a:t>Correct any airway, breathing, or circulation problems.</a:t>
            </a:r>
          </a:p>
          <a:p>
            <a:pPr lvl="1" eaLnBrk="1" hangingPunct="1">
              <a:spcBef>
                <a:spcPct val="35000"/>
              </a:spcBef>
            </a:pPr>
            <a:r>
              <a:rPr lang="en-US" altLang="en-US" dirty="0"/>
              <a:t>Begin CPR if indicated.</a:t>
            </a:r>
          </a:p>
          <a:p>
            <a:pPr lvl="1" eaLnBrk="1" hangingPunct="1">
              <a:spcBef>
                <a:spcPct val="35000"/>
              </a:spcBef>
            </a:pPr>
            <a:r>
              <a:rPr lang="en-US" altLang="en-US" dirty="0"/>
              <a:t>If patient is breathing adequately, administer high-flow oxygen.</a:t>
            </a:r>
          </a:p>
          <a:p>
            <a:pPr lvl="1" eaLnBrk="1" hangingPunct="1">
              <a:spcBef>
                <a:spcPct val="35000"/>
              </a:spcBef>
            </a:pPr>
            <a:r>
              <a:rPr lang="en-US" altLang="en-US" dirty="0"/>
              <a:t>Dry patient.</a:t>
            </a:r>
          </a:p>
          <a:p>
            <a:pPr lvl="1" eaLnBrk="1" hangingPunct="1">
              <a:spcBef>
                <a:spcPct val="35000"/>
              </a:spcBef>
            </a:pPr>
            <a:r>
              <a:rPr lang="en-US" altLang="en-US" dirty="0"/>
              <a:t>Cover patient with towels or blankets.</a:t>
            </a:r>
          </a:p>
          <a:p>
            <a:pPr>
              <a:spcBef>
                <a:spcPct val="35000"/>
              </a:spcBef>
            </a:pPr>
            <a:r>
              <a:rPr lang="en-US" altLang="en-US" dirty="0"/>
              <a:t>As soon as possible perform a secondary assessment to check for other injuries.</a:t>
            </a:r>
          </a:p>
        </p:txBody>
      </p:sp>
    </p:spTree>
    <p:extLst>
      <p:ext uri="{BB962C8B-B14F-4D97-AF65-F5344CB8AC3E}">
        <p14:creationId xmlns:p14="http://schemas.microsoft.com/office/powerpoint/2010/main" val="999239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410" name="Rectangle 2">
            <a:extLst>
              <a:ext uri="{FF2B5EF4-FFF2-40B4-BE49-F238E27FC236}">
                <a16:creationId xmlns:a16="http://schemas.microsoft.com/office/drawing/2014/main" id="{738705DF-4248-694A-9CB3-BF9A68A2D661}"/>
              </a:ext>
            </a:extLst>
          </p:cNvPr>
          <p:cNvSpPr>
            <a:spLocks noGrp="1" noChangeArrowheads="1"/>
          </p:cNvSpPr>
          <p:nvPr>
            <p:ph type="title"/>
          </p:nvPr>
        </p:nvSpPr>
        <p:spPr/>
        <p:txBody>
          <a:bodyPr/>
          <a:lstStyle/>
          <a:p>
            <a:pPr eaLnBrk="1" hangingPunct="1">
              <a:lnSpc>
                <a:spcPct val="85000"/>
              </a:lnSpc>
              <a:defRPr/>
            </a:pPr>
            <a:r>
              <a:rPr lang="en-US" dirty="0"/>
              <a:t>Cold Water Drowning </a:t>
            </a:r>
            <a:r>
              <a:rPr lang="en-US" sz="2800" b="0" dirty="0"/>
              <a:t>(1 of 2)</a:t>
            </a:r>
          </a:p>
        </p:txBody>
      </p:sp>
      <p:sp>
        <p:nvSpPr>
          <p:cNvPr id="78851" name="Rectangle 3">
            <a:extLst>
              <a:ext uri="{FF2B5EF4-FFF2-40B4-BE49-F238E27FC236}">
                <a16:creationId xmlns:a16="http://schemas.microsoft.com/office/drawing/2014/main" id="{DD69E5AF-E8A6-ED46-8333-4C90C3B95A9F}"/>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Begin CPR on a drowning victim as long as patient does not exhibit definitive signs of death.</a:t>
            </a:r>
          </a:p>
          <a:p>
            <a:pPr eaLnBrk="1" hangingPunct="1">
              <a:spcBef>
                <a:spcPct val="35000"/>
              </a:spcBef>
            </a:pPr>
            <a:r>
              <a:rPr lang="en-US" altLang="en-US" dirty="0"/>
              <a:t>When a person is submerged in cold water, mammalian diving reflex may be activated.</a:t>
            </a:r>
          </a:p>
          <a:p>
            <a:pPr lvl="1" eaLnBrk="1" hangingPunct="1">
              <a:spcBef>
                <a:spcPct val="35000"/>
              </a:spcBef>
            </a:pPr>
            <a:r>
              <a:rPr lang="en-US" altLang="en-US" dirty="0"/>
              <a:t>This reflex slows heart rate and metabolic rate and decreases body’s demand for oxygen.</a:t>
            </a:r>
          </a:p>
          <a:p>
            <a:pPr lvl="1" eaLnBrk="1" hangingPunct="1">
              <a:spcBef>
                <a:spcPct val="35000"/>
              </a:spcBef>
            </a:pPr>
            <a:r>
              <a:rPr lang="en-US" altLang="en-US" dirty="0"/>
              <a:t>There have been instances of survival of patients submerged for over 30 minutes due to this reflex.</a:t>
            </a:r>
          </a:p>
        </p:txBody>
      </p:sp>
    </p:spTree>
    <p:extLst>
      <p:ext uri="{BB962C8B-B14F-4D97-AF65-F5344CB8AC3E}">
        <p14:creationId xmlns:p14="http://schemas.microsoft.com/office/powerpoint/2010/main" val="3054676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434" name="Rectangle 2">
            <a:extLst>
              <a:ext uri="{FF2B5EF4-FFF2-40B4-BE49-F238E27FC236}">
                <a16:creationId xmlns:a16="http://schemas.microsoft.com/office/drawing/2014/main" id="{836AEA81-8932-F44E-99B1-2EB9EE65F510}"/>
              </a:ext>
            </a:extLst>
          </p:cNvPr>
          <p:cNvSpPr>
            <a:spLocks noGrp="1" noChangeArrowheads="1"/>
          </p:cNvSpPr>
          <p:nvPr>
            <p:ph type="title"/>
          </p:nvPr>
        </p:nvSpPr>
        <p:spPr/>
        <p:txBody>
          <a:bodyPr/>
          <a:lstStyle/>
          <a:p>
            <a:pPr eaLnBrk="1" hangingPunct="1">
              <a:lnSpc>
                <a:spcPct val="85000"/>
              </a:lnSpc>
              <a:defRPr/>
            </a:pPr>
            <a:r>
              <a:rPr lang="en-US" dirty="0"/>
              <a:t>Cold Water Drowning </a:t>
            </a:r>
            <a:r>
              <a:rPr lang="en-US" sz="2800" b="0" dirty="0"/>
              <a:t>(2 of 2)</a:t>
            </a:r>
          </a:p>
        </p:txBody>
      </p:sp>
      <p:sp>
        <p:nvSpPr>
          <p:cNvPr id="80899" name="Rectangle 3">
            <a:extLst>
              <a:ext uri="{FF2B5EF4-FFF2-40B4-BE49-F238E27FC236}">
                <a16:creationId xmlns:a16="http://schemas.microsoft.com/office/drawing/2014/main" id="{C2BBE5B0-99BD-F042-9481-5AF15FA15321}"/>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When you encounter a person who has been submerged in cold water, start CPR and continue it until person has been delivered to a medical facility.</a:t>
            </a:r>
          </a:p>
        </p:txBody>
      </p:sp>
    </p:spTree>
    <p:extLst>
      <p:ext uri="{BB962C8B-B14F-4D97-AF65-F5344CB8AC3E}">
        <p14:creationId xmlns:p14="http://schemas.microsoft.com/office/powerpoint/2010/main" val="2159852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458" name="Rectangle 2">
            <a:extLst>
              <a:ext uri="{FF2B5EF4-FFF2-40B4-BE49-F238E27FC236}">
                <a16:creationId xmlns:a16="http://schemas.microsoft.com/office/drawing/2014/main" id="{F74991DA-0C23-7E4B-8273-A6FDD1A6D71F}"/>
              </a:ext>
            </a:extLst>
          </p:cNvPr>
          <p:cNvSpPr>
            <a:spLocks noGrp="1" noChangeArrowheads="1"/>
          </p:cNvSpPr>
          <p:nvPr>
            <p:ph type="title"/>
          </p:nvPr>
        </p:nvSpPr>
        <p:spPr/>
        <p:txBody>
          <a:bodyPr/>
          <a:lstStyle/>
          <a:p>
            <a:pPr eaLnBrk="1" hangingPunct="1">
              <a:lnSpc>
                <a:spcPct val="85000"/>
              </a:lnSpc>
              <a:defRPr/>
            </a:pPr>
            <a:r>
              <a:rPr lang="en-US" dirty="0"/>
              <a:t>Lightning Injuries </a:t>
            </a:r>
            <a:r>
              <a:rPr lang="en-US" sz="2800" b="0" dirty="0"/>
              <a:t>(1 of 2)</a:t>
            </a:r>
          </a:p>
        </p:txBody>
      </p:sp>
      <p:sp>
        <p:nvSpPr>
          <p:cNvPr id="82947" name="Rectangle 3">
            <a:extLst>
              <a:ext uri="{FF2B5EF4-FFF2-40B4-BE49-F238E27FC236}">
                <a16:creationId xmlns:a16="http://schemas.microsoft.com/office/drawing/2014/main" id="{88752452-1EA4-5F47-9C64-2BD9E5F475A9}"/>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Electrical injury resulting from a lightning strike can cause cardiac irregularities or cardiac arrest.</a:t>
            </a:r>
          </a:p>
          <a:p>
            <a:pPr eaLnBrk="1" hangingPunct="1">
              <a:spcBef>
                <a:spcPct val="35000"/>
              </a:spcBef>
            </a:pPr>
            <a:r>
              <a:rPr lang="en-US" altLang="en-US" dirty="0"/>
              <a:t>Treat patients by supporting their ABCs.</a:t>
            </a:r>
          </a:p>
          <a:p>
            <a:pPr lvl="1" eaLnBrk="1" hangingPunct="1">
              <a:spcBef>
                <a:spcPct val="35000"/>
              </a:spcBef>
            </a:pPr>
            <a:r>
              <a:rPr lang="en-US" altLang="en-US" dirty="0"/>
              <a:t>Oxygen administration, defibrillation, and CPR may be needed for some patients.</a:t>
            </a:r>
          </a:p>
          <a:p>
            <a:pPr lvl="1" eaLnBrk="1" hangingPunct="1">
              <a:spcBef>
                <a:spcPct val="35000"/>
              </a:spcBef>
            </a:pPr>
            <a:r>
              <a:rPr lang="en-US" altLang="en-US" dirty="0"/>
              <a:t>Patients must be transported to a medical facility.</a:t>
            </a:r>
          </a:p>
        </p:txBody>
      </p:sp>
    </p:spTree>
    <p:extLst>
      <p:ext uri="{BB962C8B-B14F-4D97-AF65-F5344CB8AC3E}">
        <p14:creationId xmlns:p14="http://schemas.microsoft.com/office/powerpoint/2010/main" val="2171747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82" name="Rectangle 2">
            <a:extLst>
              <a:ext uri="{FF2B5EF4-FFF2-40B4-BE49-F238E27FC236}">
                <a16:creationId xmlns:a16="http://schemas.microsoft.com/office/drawing/2014/main" id="{36CB544F-0E28-F143-90BF-E8C708F03F05}"/>
              </a:ext>
            </a:extLst>
          </p:cNvPr>
          <p:cNvSpPr>
            <a:spLocks noGrp="1" noChangeArrowheads="1"/>
          </p:cNvSpPr>
          <p:nvPr>
            <p:ph type="title"/>
          </p:nvPr>
        </p:nvSpPr>
        <p:spPr/>
        <p:txBody>
          <a:bodyPr/>
          <a:lstStyle/>
          <a:p>
            <a:pPr eaLnBrk="1" hangingPunct="1">
              <a:lnSpc>
                <a:spcPct val="85000"/>
              </a:lnSpc>
              <a:defRPr/>
            </a:pPr>
            <a:r>
              <a:rPr lang="en-US" dirty="0"/>
              <a:t>Lightning Injuries </a:t>
            </a:r>
            <a:r>
              <a:rPr lang="en-US" sz="2800" b="0" dirty="0"/>
              <a:t>(2 of 2)</a:t>
            </a:r>
          </a:p>
        </p:txBody>
      </p:sp>
      <p:sp>
        <p:nvSpPr>
          <p:cNvPr id="84995" name="Rectangle 3">
            <a:extLst>
              <a:ext uri="{FF2B5EF4-FFF2-40B4-BE49-F238E27FC236}">
                <a16:creationId xmlns:a16="http://schemas.microsoft.com/office/drawing/2014/main" id="{2B1F44D2-755F-6144-93B1-F3D6BEB6FD52}"/>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Lightning injuries can cause electrical burns.</a:t>
            </a:r>
          </a:p>
          <a:p>
            <a:pPr lvl="1" eaLnBrk="1" hangingPunct="1">
              <a:spcBef>
                <a:spcPct val="35000"/>
              </a:spcBef>
            </a:pPr>
            <a:r>
              <a:rPr lang="en-US" altLang="en-US" dirty="0"/>
              <a:t>Type of burn is mainly internal.</a:t>
            </a:r>
          </a:p>
          <a:p>
            <a:pPr lvl="1" eaLnBrk="1" hangingPunct="1">
              <a:spcBef>
                <a:spcPct val="35000"/>
              </a:spcBef>
            </a:pPr>
            <a:r>
              <a:rPr lang="en-US" altLang="en-US" dirty="0"/>
              <a:t>Extent of burn damage will not be visible right away after injury occurs.</a:t>
            </a:r>
          </a:p>
        </p:txBody>
      </p:sp>
    </p:spTree>
    <p:extLst>
      <p:ext uri="{BB962C8B-B14F-4D97-AF65-F5344CB8AC3E}">
        <p14:creationId xmlns:p14="http://schemas.microsoft.com/office/powerpoint/2010/main" val="1296650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506" name="Rectangle 2">
            <a:extLst>
              <a:ext uri="{FF2B5EF4-FFF2-40B4-BE49-F238E27FC236}">
                <a16:creationId xmlns:a16="http://schemas.microsoft.com/office/drawing/2014/main" id="{F91A5CC2-2D68-6A43-867B-969EF7B578E4}"/>
              </a:ext>
            </a:extLst>
          </p:cNvPr>
          <p:cNvSpPr>
            <a:spLocks noGrp="1" noChangeArrowheads="1"/>
          </p:cNvSpPr>
          <p:nvPr>
            <p:ph type="title"/>
          </p:nvPr>
        </p:nvSpPr>
        <p:spPr/>
        <p:txBody>
          <a:bodyPr/>
          <a:lstStyle/>
          <a:p>
            <a:pPr eaLnBrk="1" hangingPunct="1">
              <a:lnSpc>
                <a:spcPct val="85000"/>
              </a:lnSpc>
              <a:defRPr/>
            </a:pPr>
            <a:r>
              <a:rPr lang="en-US" dirty="0"/>
              <a:t>Bites and Stings</a:t>
            </a:r>
          </a:p>
        </p:txBody>
      </p:sp>
      <p:sp>
        <p:nvSpPr>
          <p:cNvPr id="87043" name="Rectangle 3">
            <a:extLst>
              <a:ext uri="{FF2B5EF4-FFF2-40B4-BE49-F238E27FC236}">
                <a16:creationId xmlns:a16="http://schemas.microsoft.com/office/drawing/2014/main" id="{5487F370-1FBB-204B-80AF-07CC8596F388}"/>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Sometimes classified as environmental injuries or discussed under topic of poisoning.</a:t>
            </a:r>
          </a:p>
          <a:p>
            <a:pPr eaLnBrk="1" hangingPunct="1">
              <a:spcBef>
                <a:spcPct val="35000"/>
              </a:spcBef>
            </a:pPr>
            <a:r>
              <a:rPr lang="en-US" altLang="en-US" dirty="0"/>
              <a:t>In this text, bites and stings are discussed in Chapter 11,</a:t>
            </a:r>
            <a:r>
              <a:rPr lang="en-US" altLang="en-US" i="1" dirty="0"/>
              <a:t> Poisoning and Substance Abuse</a:t>
            </a:r>
            <a:r>
              <a:rPr lang="en-US" altLang="en-US" dirty="0"/>
              <a:t>.</a:t>
            </a:r>
          </a:p>
        </p:txBody>
      </p:sp>
    </p:spTree>
    <p:extLst>
      <p:ext uri="{BB962C8B-B14F-4D97-AF65-F5344CB8AC3E}">
        <p14:creationId xmlns:p14="http://schemas.microsoft.com/office/powerpoint/2010/main" val="2991431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530" name="Rectangle 2">
            <a:extLst>
              <a:ext uri="{FF2B5EF4-FFF2-40B4-BE49-F238E27FC236}">
                <a16:creationId xmlns:a16="http://schemas.microsoft.com/office/drawing/2014/main" id="{52F1341D-0CFF-744D-8332-C7C3038AED8C}"/>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(1 of 3)</a:t>
            </a:r>
          </a:p>
        </p:txBody>
      </p:sp>
      <p:sp>
        <p:nvSpPr>
          <p:cNvPr id="89091" name="Rectangle 3">
            <a:extLst>
              <a:ext uri="{FF2B5EF4-FFF2-40B4-BE49-F238E27FC236}">
                <a16:creationId xmlns:a16="http://schemas.microsoft.com/office/drawing/2014/main" id="{C6381C07-693B-5143-BD7C-8E2D5042E82A}"/>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Heat cramps are caused by electrolyte imbalance and dehydration.</a:t>
            </a:r>
          </a:p>
          <a:p>
            <a:pPr eaLnBrk="1" hangingPunct="1">
              <a:spcBef>
                <a:spcPct val="35000"/>
              </a:spcBef>
            </a:pPr>
            <a:r>
              <a:rPr lang="en-US" altLang="en-US" dirty="0"/>
              <a:t>A person experiencing heat exhaustion sweats profusely and becomes light-headed, dizzy, and nauseated.</a:t>
            </a:r>
          </a:p>
          <a:p>
            <a:pPr>
              <a:spcBef>
                <a:spcPct val="35000"/>
              </a:spcBef>
            </a:pPr>
            <a:r>
              <a:rPr lang="en-US" altLang="en-US" dirty="0"/>
              <a:t>Heatstroke results when a person has been in a hot environment for a long period, overwhelming the body’s sweating mechanism. </a:t>
            </a:r>
          </a:p>
          <a:p>
            <a:pPr>
              <a:spcBef>
                <a:spcPct val="35000"/>
              </a:spcBef>
            </a:pPr>
            <a:r>
              <a:rPr lang="en-US" altLang="en-US" dirty="0"/>
              <a:t>Body parts most susceptible to frostbite are the face, ears, fingers, and toes. </a:t>
            </a:r>
          </a:p>
          <a:p>
            <a:pPr eaLnBrk="1" hangingPunct="1">
              <a:spcBef>
                <a:spcPct val="35000"/>
              </a:spcBef>
            </a:pPr>
            <a:endParaRPr lang="en-US" altLang="en-US" dirty="0"/>
          </a:p>
          <a:p>
            <a:pPr eaLnBrk="1" hangingPunct="1"/>
            <a:endParaRPr lang="en-US" altLang="en-US" dirty="0"/>
          </a:p>
        </p:txBody>
      </p:sp>
    </p:spTree>
    <p:extLst>
      <p:ext uri="{BB962C8B-B14F-4D97-AF65-F5344CB8AC3E}">
        <p14:creationId xmlns:p14="http://schemas.microsoft.com/office/powerpoint/2010/main" val="1919095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578" name="Rectangle 2">
            <a:extLst>
              <a:ext uri="{FF2B5EF4-FFF2-40B4-BE49-F238E27FC236}">
                <a16:creationId xmlns:a16="http://schemas.microsoft.com/office/drawing/2014/main" id="{72D6DFAF-06C7-4440-84A1-F052F4A45CB7}"/>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(2 of 3)</a:t>
            </a:r>
          </a:p>
        </p:txBody>
      </p:sp>
      <p:sp>
        <p:nvSpPr>
          <p:cNvPr id="93187" name="Rectangle 3">
            <a:extLst>
              <a:ext uri="{FF2B5EF4-FFF2-40B4-BE49-F238E27FC236}">
                <a16:creationId xmlns:a16="http://schemas.microsoft.com/office/drawing/2014/main" id="{1389064C-BADA-AF49-9502-AD4FCC57E3A4}"/>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Hypothermia occurs when a person’s body is not able to produce enough heat to keep internal (core) body temperature at a satisfactory level.</a:t>
            </a:r>
          </a:p>
          <a:p>
            <a:pPr eaLnBrk="1" hangingPunct="1">
              <a:spcBef>
                <a:spcPct val="35000"/>
              </a:spcBef>
            </a:pPr>
            <a:r>
              <a:rPr lang="en-US" altLang="en-US" dirty="0"/>
              <a:t>Hypothermic patients should never be considered dead until they have been warmed in an appropriate medical facility. </a:t>
            </a:r>
          </a:p>
        </p:txBody>
      </p:sp>
    </p:spTree>
    <p:extLst>
      <p:ext uri="{BB962C8B-B14F-4D97-AF65-F5344CB8AC3E}">
        <p14:creationId xmlns:p14="http://schemas.microsoft.com/office/powerpoint/2010/main" val="3149102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3602" name="Rectangle 2">
            <a:extLst>
              <a:ext uri="{FF2B5EF4-FFF2-40B4-BE49-F238E27FC236}">
                <a16:creationId xmlns:a16="http://schemas.microsoft.com/office/drawing/2014/main" id="{EBDE5B9D-72ED-B24F-9A83-91B0341AA424}"/>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(3 of 3)</a:t>
            </a:r>
          </a:p>
        </p:txBody>
      </p:sp>
      <p:sp>
        <p:nvSpPr>
          <p:cNvPr id="95235" name="Rectangle 3">
            <a:extLst>
              <a:ext uri="{FF2B5EF4-FFF2-40B4-BE49-F238E27FC236}">
                <a16:creationId xmlns:a16="http://schemas.microsoft.com/office/drawing/2014/main" id="{5BA83980-85EF-5040-BCC8-354727C16022}"/>
              </a:ext>
            </a:extLst>
          </p:cNvPr>
          <p:cNvSpPr>
            <a:spLocks noGrp="1" noChangeArrowheads="1"/>
          </p:cNvSpPr>
          <p:nvPr>
            <p:ph type="body" idx="1"/>
          </p:nvPr>
        </p:nvSpPr>
        <p:spPr/>
        <p:txBody>
          <a:bodyPr vert="horz" lIns="91440" tIns="45720" rIns="228600" bIns="45720" rtlCol="0">
            <a:noAutofit/>
          </a:bodyPr>
          <a:lstStyle/>
          <a:p>
            <a:pPr eaLnBrk="1" hangingPunct="1">
              <a:spcBef>
                <a:spcPct val="35000"/>
              </a:spcBef>
            </a:pPr>
            <a:r>
              <a:rPr lang="en-US" altLang="en-US" dirty="0"/>
              <a:t>Drowning can occur in a variety of settings around a home and outdoors. </a:t>
            </a:r>
          </a:p>
          <a:p>
            <a:pPr eaLnBrk="1" hangingPunct="1">
              <a:spcBef>
                <a:spcPct val="35000"/>
              </a:spcBef>
            </a:pPr>
            <a:r>
              <a:rPr lang="en-US" altLang="en-US" dirty="0"/>
              <a:t>Lightning injuries are caused by a powerful jolt of electrical current that passes through part of body. </a:t>
            </a:r>
          </a:p>
        </p:txBody>
      </p:sp>
    </p:spTree>
    <p:extLst>
      <p:ext uri="{BB962C8B-B14F-4D97-AF65-F5344CB8AC3E}">
        <p14:creationId xmlns:p14="http://schemas.microsoft.com/office/powerpoint/2010/main" val="4086656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626" name="Rectangle 2">
            <a:extLst>
              <a:ext uri="{FF2B5EF4-FFF2-40B4-BE49-F238E27FC236}">
                <a16:creationId xmlns:a16="http://schemas.microsoft.com/office/drawing/2014/main" id="{BA8FA8C2-AE8A-8C4B-A38F-353BA17E9F27}"/>
              </a:ext>
            </a:extLst>
          </p:cNvPr>
          <p:cNvSpPr>
            <a:spLocks noGrp="1" noChangeArrowheads="1"/>
          </p:cNvSpPr>
          <p:nvPr>
            <p:ph type="title"/>
          </p:nvPr>
        </p:nvSpPr>
        <p:spPr/>
        <p:txBody>
          <a:bodyPr/>
          <a:lstStyle/>
          <a:p>
            <a:pPr eaLnBrk="1" hangingPunct="1">
              <a:lnSpc>
                <a:spcPct val="85000"/>
              </a:lnSpc>
              <a:defRPr/>
            </a:pPr>
            <a:r>
              <a:rPr lang="en-US" dirty="0"/>
              <a:t>Review </a:t>
            </a:r>
          </a:p>
        </p:txBody>
      </p:sp>
      <p:sp>
        <p:nvSpPr>
          <p:cNvPr id="97283" name="Rectangle 3">
            <a:extLst>
              <a:ext uri="{FF2B5EF4-FFF2-40B4-BE49-F238E27FC236}">
                <a16:creationId xmlns:a16="http://schemas.microsoft.com/office/drawing/2014/main" id="{00C8759C-E91E-D24D-83CB-5C1738EA1936}"/>
              </a:ext>
            </a:extLst>
          </p:cNvPr>
          <p:cNvSpPr>
            <a:spLocks noGrp="1" noChangeArrowheads="1"/>
          </p:cNvSpPr>
          <p:nvPr>
            <p:ph type="body" idx="1"/>
          </p:nvPr>
        </p:nvSpPr>
        <p:spPr/>
        <p:txBody>
          <a:bodyPr vert="horz" lIns="91440" tIns="45720" rIns="228600" bIns="45720" rtlCol="0">
            <a:noAutofit/>
          </a:bodyPr>
          <a:lstStyle/>
          <a:p>
            <a:pPr marL="457200" indent="-457200">
              <a:spcBef>
                <a:spcPct val="35000"/>
              </a:spcBef>
              <a:buFontTx/>
              <a:buAutoNum type="arabicPeriod"/>
            </a:pPr>
            <a:r>
              <a:rPr lang="en-US" altLang="en-US" dirty="0"/>
              <a:t>Heatstroke occurs when:</a:t>
            </a:r>
          </a:p>
          <a:p>
            <a:pPr marL="1028700" lvl="1" indent="-457200">
              <a:spcBef>
                <a:spcPct val="35000"/>
              </a:spcBef>
              <a:buFont typeface="Arial" panose="020B0604020202020204" pitchFamily="34" charset="0"/>
              <a:buAutoNum type="alphaUcPeriod"/>
            </a:pPr>
            <a:r>
              <a:rPr lang="en-US" altLang="en-US" dirty="0"/>
              <a:t>outside temperature exceeds 90</a:t>
            </a:r>
            <a:r>
              <a:rPr lang="en-US" altLang="en-US" dirty="0">
                <a:ea typeface="MS PGothic" panose="020B0600070205080204" pitchFamily="34" charset="-128"/>
                <a:sym typeface="Symbol" pitchFamily="2" charset="2"/>
              </a:rPr>
              <a:t></a:t>
            </a:r>
            <a:r>
              <a:rPr lang="en-US" altLang="en-US" dirty="0"/>
              <a:t>F.</a:t>
            </a:r>
          </a:p>
          <a:p>
            <a:pPr marL="1028700" lvl="1" indent="-457200">
              <a:spcBef>
                <a:spcPct val="35000"/>
              </a:spcBef>
              <a:buFont typeface="Arial" panose="020B0604020202020204" pitchFamily="34" charset="0"/>
              <a:buAutoNum type="alphaUcPeriod"/>
            </a:pPr>
            <a:r>
              <a:rPr lang="en-US" altLang="en-US" dirty="0"/>
              <a:t>the body’s heat-eliminating mechanisms are overwhelmed.</a:t>
            </a:r>
          </a:p>
          <a:p>
            <a:pPr marL="1028700" lvl="1" indent="-457200">
              <a:spcBef>
                <a:spcPct val="35000"/>
              </a:spcBef>
              <a:buFont typeface="Arial" panose="020B0604020202020204" pitchFamily="34" charset="0"/>
              <a:buAutoNum type="alphaUcPeriod"/>
            </a:pPr>
            <a:r>
              <a:rPr lang="en-US" altLang="en-US" dirty="0"/>
              <a:t>a person becomes dehydrated from excess perspiration.</a:t>
            </a:r>
          </a:p>
          <a:p>
            <a:pPr marL="1028700" lvl="1" indent="-457200">
              <a:spcBef>
                <a:spcPct val="35000"/>
              </a:spcBef>
              <a:buFont typeface="Arial" panose="020B0604020202020204" pitchFamily="34" charset="0"/>
              <a:buAutoNum type="alphaUcPeriod"/>
            </a:pPr>
            <a:r>
              <a:rPr lang="en-US" altLang="en-US" dirty="0"/>
              <a:t>humidity exceeds 80%.</a:t>
            </a:r>
          </a:p>
        </p:txBody>
      </p:sp>
    </p:spTree>
    <p:extLst>
      <p:ext uri="{BB962C8B-B14F-4D97-AF65-F5344CB8AC3E}">
        <p14:creationId xmlns:p14="http://schemas.microsoft.com/office/powerpoint/2010/main" val="3702374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674" name="Rectangle 2">
            <a:extLst>
              <a:ext uri="{FF2B5EF4-FFF2-40B4-BE49-F238E27FC236}">
                <a16:creationId xmlns:a16="http://schemas.microsoft.com/office/drawing/2014/main" id="{97240BB2-9BE0-3F42-BD3D-C09ED2A0CF1C}"/>
              </a:ext>
            </a:extLst>
          </p:cNvPr>
          <p:cNvSpPr>
            <a:spLocks noGrp="1" noChangeArrowheads="1"/>
          </p:cNvSpPr>
          <p:nvPr>
            <p:ph type="title"/>
          </p:nvPr>
        </p:nvSpPr>
        <p:spPr/>
        <p:txBody>
          <a:bodyPr/>
          <a:lstStyle/>
          <a:p>
            <a:pPr eaLnBrk="1" hangingPunct="1">
              <a:lnSpc>
                <a:spcPct val="85000"/>
              </a:lnSpc>
              <a:defRPr/>
            </a:pPr>
            <a:r>
              <a:rPr lang="en-US" dirty="0"/>
              <a:t>Review</a:t>
            </a:r>
          </a:p>
        </p:txBody>
      </p:sp>
      <p:sp>
        <p:nvSpPr>
          <p:cNvPr id="99331" name="Rectangle 3">
            <a:extLst>
              <a:ext uri="{FF2B5EF4-FFF2-40B4-BE49-F238E27FC236}">
                <a16:creationId xmlns:a16="http://schemas.microsoft.com/office/drawing/2014/main" id="{BCABF662-4C93-4747-AC5C-B9F8497CC66F}"/>
              </a:ext>
            </a:extLst>
          </p:cNvPr>
          <p:cNvSpPr>
            <a:spLocks noGrp="1" noChangeArrowheads="1"/>
          </p:cNvSpPr>
          <p:nvPr>
            <p:ph type="body" idx="1"/>
          </p:nvPr>
        </p:nvSpPr>
        <p:spPr/>
        <p:txBody>
          <a:bodyPr vert="horz" lIns="91440" tIns="45720" rIns="228600" bIns="45720" rtlCol="0">
            <a:noAutofit/>
          </a:bodyPr>
          <a:lstStyle/>
          <a:p>
            <a:pPr marL="457200" indent="-457200">
              <a:buNone/>
              <a:tabLst>
                <a:tab pos="457200" algn="l"/>
              </a:tabLst>
            </a:pPr>
            <a:r>
              <a:rPr lang="en-US" altLang="en-US" b="1" dirty="0"/>
              <a:t>Answer: </a:t>
            </a:r>
          </a:p>
          <a:p>
            <a:pPr marL="457200" indent="-457200">
              <a:buNone/>
              <a:tabLst>
                <a:tab pos="457200" algn="l"/>
              </a:tabLst>
            </a:pPr>
            <a:r>
              <a:rPr lang="en-US" altLang="en-US" b="1" dirty="0"/>
              <a:t>B. the body’s heat-eliminating mechanisms are overwhelmed.</a:t>
            </a:r>
          </a:p>
          <a:p>
            <a:pPr marL="457200" indent="-457200">
              <a:buNone/>
              <a:tabLst>
                <a:tab pos="457200" algn="l"/>
              </a:tabLst>
            </a:pPr>
            <a:endParaRPr lang="en-US" altLang="en-US" b="1" dirty="0"/>
          </a:p>
          <a:p>
            <a:pPr marL="457200" indent="-457200">
              <a:spcBef>
                <a:spcPct val="35000"/>
              </a:spcBef>
              <a:buNone/>
              <a:tabLst>
                <a:tab pos="457200" algn="l"/>
              </a:tabLst>
            </a:pPr>
            <a:r>
              <a:rPr lang="en-US" altLang="en-US" b="1" dirty="0">
                <a:solidFill>
                  <a:srgbClr val="FFFFFF"/>
                </a:solidFill>
              </a:rPr>
              <a:t>B. the body’s heat-eliminating mechanisms are overwhelmed.</a:t>
            </a:r>
          </a:p>
        </p:txBody>
      </p:sp>
    </p:spTree>
    <p:extLst>
      <p:ext uri="{BB962C8B-B14F-4D97-AF65-F5344CB8AC3E}">
        <p14:creationId xmlns:p14="http://schemas.microsoft.com/office/powerpoint/2010/main" val="2070182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698" name="Rectangle 2">
            <a:extLst>
              <a:ext uri="{FF2B5EF4-FFF2-40B4-BE49-F238E27FC236}">
                <a16:creationId xmlns:a16="http://schemas.microsoft.com/office/drawing/2014/main" id="{5CDD9379-1700-2C43-BA15-EE0EC4B7F854}"/>
              </a:ext>
            </a:extLst>
          </p:cNvPr>
          <p:cNvSpPr>
            <a:spLocks noGrp="1" noChangeArrowheads="1"/>
          </p:cNvSpPr>
          <p:nvPr>
            <p:ph type="title"/>
          </p:nvPr>
        </p:nvSpPr>
        <p:spPr/>
        <p:txBody>
          <a:bodyPr/>
          <a:lstStyle/>
          <a:p>
            <a:pPr eaLnBrk="1" hangingPunct="1">
              <a:lnSpc>
                <a:spcPct val="85000"/>
              </a:lnSpc>
              <a:defRPr/>
            </a:pPr>
            <a:r>
              <a:rPr lang="en-US" dirty="0"/>
              <a:t>Review</a:t>
            </a:r>
          </a:p>
        </p:txBody>
      </p:sp>
      <p:sp>
        <p:nvSpPr>
          <p:cNvPr id="101379" name="Rectangle 3">
            <a:extLst>
              <a:ext uri="{FF2B5EF4-FFF2-40B4-BE49-F238E27FC236}">
                <a16:creationId xmlns:a16="http://schemas.microsoft.com/office/drawing/2014/main" id="{17AE5A13-D229-D742-85B0-D8D086C729B5}"/>
              </a:ext>
            </a:extLst>
          </p:cNvPr>
          <p:cNvSpPr>
            <a:spLocks noGrp="1" noChangeArrowheads="1"/>
          </p:cNvSpPr>
          <p:nvPr>
            <p:ph type="body" idx="1"/>
          </p:nvPr>
        </p:nvSpPr>
        <p:spPr/>
        <p:txBody>
          <a:bodyPr vert="horz" lIns="91440" tIns="45720" rIns="228600" bIns="45720" rtlCol="0">
            <a:noAutofit/>
          </a:bodyPr>
          <a:lstStyle/>
          <a:p>
            <a:pPr marL="457200" indent="-457200">
              <a:spcBef>
                <a:spcPct val="35000"/>
              </a:spcBef>
              <a:buFontTx/>
              <a:buAutoNum type="arabicPeriod" startAt="2"/>
            </a:pPr>
            <a:r>
              <a:rPr lang="en-US" altLang="en-US"/>
              <a:t>You are called to the scene of a patient with deep frostbite. Which of the following actions would be appropriate for you to take?</a:t>
            </a:r>
          </a:p>
          <a:p>
            <a:pPr marL="1028700" lvl="1" indent="-457200">
              <a:spcBef>
                <a:spcPct val="35000"/>
              </a:spcBef>
              <a:buFontTx/>
              <a:buAutoNum type="alphaUcPeriod"/>
            </a:pPr>
            <a:r>
              <a:rPr lang="en-US" altLang="en-US"/>
              <a:t>Provide pain medication.</a:t>
            </a:r>
          </a:p>
          <a:p>
            <a:pPr marL="1028700" lvl="1" indent="-457200">
              <a:spcBef>
                <a:spcPct val="35000"/>
              </a:spcBef>
              <a:buFontTx/>
              <a:buAutoNum type="alphaUcPeriod"/>
            </a:pPr>
            <a:r>
              <a:rPr lang="en-US" altLang="en-US"/>
              <a:t>Rub the affected area to warm it up. </a:t>
            </a:r>
          </a:p>
          <a:p>
            <a:pPr marL="1028700" lvl="1" indent="-457200">
              <a:spcBef>
                <a:spcPct val="35000"/>
              </a:spcBef>
              <a:buFontTx/>
              <a:buAutoNum type="alphaUcPeriod"/>
            </a:pPr>
            <a:r>
              <a:rPr lang="en-US" altLang="en-US"/>
              <a:t>Arrange for prompt transport. </a:t>
            </a:r>
          </a:p>
          <a:p>
            <a:pPr marL="1028700" lvl="1" indent="-457200">
              <a:spcBef>
                <a:spcPct val="35000"/>
              </a:spcBef>
              <a:buFontTx/>
              <a:buAutoNum type="alphaUcPeriod"/>
            </a:pPr>
            <a:r>
              <a:rPr lang="en-US" altLang="en-US"/>
              <a:t>Apply heat directly to the damaged tissue. </a:t>
            </a:r>
          </a:p>
        </p:txBody>
      </p:sp>
    </p:spTree>
    <p:extLst>
      <p:ext uri="{BB962C8B-B14F-4D97-AF65-F5344CB8AC3E}">
        <p14:creationId xmlns:p14="http://schemas.microsoft.com/office/powerpoint/2010/main" val="4020278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22" name="Rectangle 2">
            <a:extLst>
              <a:ext uri="{FF2B5EF4-FFF2-40B4-BE49-F238E27FC236}">
                <a16:creationId xmlns:a16="http://schemas.microsoft.com/office/drawing/2014/main" id="{ECB98B63-5443-F943-BA52-EB02D6DBF01C}"/>
              </a:ext>
            </a:extLst>
          </p:cNvPr>
          <p:cNvSpPr>
            <a:spLocks noGrp="1" noChangeArrowheads="1"/>
          </p:cNvSpPr>
          <p:nvPr>
            <p:ph type="title"/>
          </p:nvPr>
        </p:nvSpPr>
        <p:spPr/>
        <p:txBody>
          <a:bodyPr/>
          <a:lstStyle/>
          <a:p>
            <a:pPr eaLnBrk="1" hangingPunct="1">
              <a:lnSpc>
                <a:spcPct val="85000"/>
              </a:lnSpc>
              <a:defRPr/>
            </a:pPr>
            <a:r>
              <a:rPr lang="en-US" dirty="0"/>
              <a:t>Review</a:t>
            </a:r>
          </a:p>
        </p:txBody>
      </p:sp>
      <p:sp>
        <p:nvSpPr>
          <p:cNvPr id="52227" name="Rectangle 3">
            <a:extLst>
              <a:ext uri="{FF2B5EF4-FFF2-40B4-BE49-F238E27FC236}">
                <a16:creationId xmlns:a16="http://schemas.microsoft.com/office/drawing/2014/main" id="{94BD3C10-BDF9-5349-ADF8-8FC13E4C1112}"/>
              </a:ext>
            </a:extLst>
          </p:cNvPr>
          <p:cNvSpPr>
            <a:spLocks noGrp="1" noChangeArrowheads="1"/>
          </p:cNvSpPr>
          <p:nvPr>
            <p:ph type="body" idx="1"/>
          </p:nvPr>
        </p:nvSpPr>
        <p:spPr/>
        <p:txBody>
          <a:bodyPr vert="horz" lIns="91440" tIns="45720" rIns="228600" bIns="45720" rtlCol="0">
            <a:noAutofit/>
          </a:bodyPr>
          <a:lstStyle/>
          <a:p>
            <a:pPr eaLnBrk="1" hangingPunct="1">
              <a:buFontTx/>
              <a:buNone/>
              <a:defRPr/>
            </a:pPr>
            <a:r>
              <a:rPr lang="en-US" altLang="en-US" b="1" dirty="0"/>
              <a:t>Answer: </a:t>
            </a:r>
          </a:p>
          <a:p>
            <a:pPr eaLnBrk="1" hangingPunct="1">
              <a:spcBef>
                <a:spcPct val="35000"/>
              </a:spcBef>
              <a:buFontTx/>
              <a:buNone/>
              <a:defRPr/>
            </a:pPr>
            <a:r>
              <a:rPr lang="en-US" altLang="en-US" b="1" dirty="0">
                <a:solidFill>
                  <a:schemeClr val="accent3"/>
                </a:solidFill>
              </a:rPr>
              <a:t>C. Arrange for prompt transport. </a:t>
            </a:r>
          </a:p>
        </p:txBody>
      </p:sp>
    </p:spTree>
    <p:extLst>
      <p:ext uri="{BB962C8B-B14F-4D97-AF65-F5344CB8AC3E}">
        <p14:creationId xmlns:p14="http://schemas.microsoft.com/office/powerpoint/2010/main" val="284948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6" name="Rectangle 2">
            <a:extLst>
              <a:ext uri="{FF2B5EF4-FFF2-40B4-BE49-F238E27FC236}">
                <a16:creationId xmlns:a16="http://schemas.microsoft.com/office/drawing/2014/main" id="{033B42CF-56BF-594C-ACC9-344225B37012}"/>
              </a:ext>
            </a:extLst>
          </p:cNvPr>
          <p:cNvSpPr>
            <a:spLocks noGrp="1" noChangeArrowheads="1"/>
          </p:cNvSpPr>
          <p:nvPr>
            <p:ph type="title"/>
          </p:nvPr>
        </p:nvSpPr>
        <p:spPr/>
        <p:txBody>
          <a:bodyPr/>
          <a:lstStyle/>
          <a:p>
            <a:pPr eaLnBrk="1" hangingPunct="1">
              <a:lnSpc>
                <a:spcPct val="85000"/>
              </a:lnSpc>
              <a:defRPr/>
            </a:pPr>
            <a:r>
              <a:rPr lang="en-US" dirty="0"/>
              <a:t>Review</a:t>
            </a:r>
          </a:p>
        </p:txBody>
      </p:sp>
      <p:sp>
        <p:nvSpPr>
          <p:cNvPr id="105475" name="Rectangle 3">
            <a:extLst>
              <a:ext uri="{FF2B5EF4-FFF2-40B4-BE49-F238E27FC236}">
                <a16:creationId xmlns:a16="http://schemas.microsoft.com/office/drawing/2014/main" id="{36DA4DD4-A552-0B41-8FFE-2AF1E37332D1}"/>
              </a:ext>
            </a:extLst>
          </p:cNvPr>
          <p:cNvSpPr>
            <a:spLocks noGrp="1" noChangeArrowheads="1"/>
          </p:cNvSpPr>
          <p:nvPr>
            <p:ph type="body" idx="1"/>
          </p:nvPr>
        </p:nvSpPr>
        <p:spPr/>
        <p:txBody>
          <a:bodyPr vert="horz" lIns="91440" tIns="45720" rIns="228600" bIns="45720" rtlCol="0">
            <a:noAutofit/>
          </a:bodyPr>
          <a:lstStyle/>
          <a:p>
            <a:pPr marL="457200" indent="-457200">
              <a:spcBef>
                <a:spcPct val="35000"/>
              </a:spcBef>
              <a:buFontTx/>
              <a:buAutoNum type="arabicPeriod" startAt="3"/>
            </a:pPr>
            <a:r>
              <a:rPr lang="en-US" altLang="en-US" dirty="0"/>
              <a:t>When you encounter a person who has been submerged in cold water and is unresponsive, you should: </a:t>
            </a:r>
          </a:p>
          <a:p>
            <a:pPr marL="1028700" lvl="1" indent="-457200">
              <a:spcBef>
                <a:spcPct val="35000"/>
              </a:spcBef>
              <a:buFontTx/>
              <a:buAutoNum type="alphaUcPeriod"/>
            </a:pPr>
            <a:r>
              <a:rPr lang="en-US" altLang="en-US" dirty="0"/>
              <a:t>do nothing. The patient is already dead. </a:t>
            </a:r>
          </a:p>
          <a:p>
            <a:pPr marL="1028700" lvl="1" indent="-457200">
              <a:spcBef>
                <a:spcPct val="35000"/>
              </a:spcBef>
              <a:buFontTx/>
              <a:buAutoNum type="alphaUcPeriod"/>
            </a:pPr>
            <a:r>
              <a:rPr lang="en-US" altLang="en-US" dirty="0"/>
              <a:t>transport him or her to a hospital because only physicians will be able to treat this patient.</a:t>
            </a:r>
          </a:p>
          <a:p>
            <a:pPr marL="1028700" lvl="1" indent="-457200">
              <a:spcBef>
                <a:spcPct val="35000"/>
              </a:spcBef>
              <a:buFontTx/>
              <a:buAutoNum type="alphaUcPeriod"/>
            </a:pPr>
            <a:r>
              <a:rPr lang="en-US" altLang="en-US" dirty="0"/>
              <a:t>warm the patient before taking any other action. </a:t>
            </a:r>
          </a:p>
          <a:p>
            <a:pPr marL="1028700" lvl="1" indent="-457200">
              <a:spcBef>
                <a:spcPct val="35000"/>
              </a:spcBef>
              <a:buFontTx/>
              <a:buAutoNum type="alphaUcPeriod"/>
            </a:pPr>
            <a:r>
              <a:rPr lang="en-US" altLang="en-US" dirty="0"/>
              <a:t>start CPR immediately. </a:t>
            </a:r>
          </a:p>
        </p:txBody>
      </p:sp>
    </p:spTree>
    <p:extLst>
      <p:ext uri="{BB962C8B-B14F-4D97-AF65-F5344CB8AC3E}">
        <p14:creationId xmlns:p14="http://schemas.microsoft.com/office/powerpoint/2010/main" val="1184891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4" name="Rectangle 2">
            <a:extLst>
              <a:ext uri="{FF2B5EF4-FFF2-40B4-BE49-F238E27FC236}">
                <a16:creationId xmlns:a16="http://schemas.microsoft.com/office/drawing/2014/main" id="{A5E51DB1-6316-2341-9A1E-CEA0BB2B16F0}"/>
              </a:ext>
            </a:extLst>
          </p:cNvPr>
          <p:cNvSpPr>
            <a:spLocks noGrp="1" noChangeArrowheads="1"/>
          </p:cNvSpPr>
          <p:nvPr>
            <p:ph type="title"/>
          </p:nvPr>
        </p:nvSpPr>
        <p:spPr/>
        <p:txBody>
          <a:bodyPr/>
          <a:lstStyle/>
          <a:p>
            <a:pPr eaLnBrk="1" hangingPunct="1">
              <a:lnSpc>
                <a:spcPct val="85000"/>
              </a:lnSpc>
              <a:defRPr/>
            </a:pPr>
            <a:r>
              <a:rPr lang="en-US" dirty="0"/>
              <a:t>Review</a:t>
            </a:r>
          </a:p>
        </p:txBody>
      </p:sp>
      <p:sp>
        <p:nvSpPr>
          <p:cNvPr id="54275" name="Rectangle 3">
            <a:extLst>
              <a:ext uri="{FF2B5EF4-FFF2-40B4-BE49-F238E27FC236}">
                <a16:creationId xmlns:a16="http://schemas.microsoft.com/office/drawing/2014/main" id="{CA98A8C8-742D-2441-9C85-4FC50511A45D}"/>
              </a:ext>
            </a:extLst>
          </p:cNvPr>
          <p:cNvSpPr>
            <a:spLocks noGrp="1" noChangeArrowheads="1"/>
          </p:cNvSpPr>
          <p:nvPr>
            <p:ph type="body" idx="1"/>
          </p:nvPr>
        </p:nvSpPr>
        <p:spPr/>
        <p:txBody>
          <a:bodyPr vert="horz" lIns="91440" tIns="45720" rIns="228600" bIns="45720" rtlCol="0">
            <a:noAutofit/>
          </a:bodyPr>
          <a:lstStyle/>
          <a:p>
            <a:pPr eaLnBrk="1" hangingPunct="1">
              <a:buFontTx/>
              <a:buNone/>
              <a:defRPr/>
            </a:pPr>
            <a:r>
              <a:rPr lang="en-US" altLang="en-US" b="1" dirty="0"/>
              <a:t>Answer: </a:t>
            </a:r>
          </a:p>
          <a:p>
            <a:pPr eaLnBrk="1" hangingPunct="1">
              <a:spcBef>
                <a:spcPct val="35000"/>
              </a:spcBef>
              <a:buFontTx/>
              <a:buNone/>
              <a:defRPr/>
            </a:pPr>
            <a:r>
              <a:rPr lang="en-US" altLang="en-US" b="1" dirty="0">
                <a:solidFill>
                  <a:schemeClr val="accent3"/>
                </a:solidFill>
              </a:rPr>
              <a:t>D. start CPR immediately. </a:t>
            </a:r>
          </a:p>
        </p:txBody>
      </p:sp>
    </p:spTree>
    <p:extLst>
      <p:ext uri="{BB962C8B-B14F-4D97-AF65-F5344CB8AC3E}">
        <p14:creationId xmlns:p14="http://schemas.microsoft.com/office/powerpoint/2010/main" val="163003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Educational subjects 16x9">
  <a:themeElements>
    <a:clrScheme name="JBLPSG PPT 1">
      <a:dk1>
        <a:srgbClr val="3C4743"/>
      </a:dk1>
      <a:lt1>
        <a:srgbClr val="E1E1E1"/>
      </a:lt1>
      <a:dk2>
        <a:srgbClr val="000000"/>
      </a:dk2>
      <a:lt2>
        <a:srgbClr val="FFFFFF"/>
      </a:lt2>
      <a:accent1>
        <a:srgbClr val="FFC324"/>
      </a:accent1>
      <a:accent2>
        <a:srgbClr val="F05123"/>
      </a:accent2>
      <a:accent3>
        <a:srgbClr val="418AC9"/>
      </a:accent3>
      <a:accent4>
        <a:srgbClr val="B7B7B7"/>
      </a:accent4>
      <a:accent5>
        <a:srgbClr val="00B18A"/>
      </a:accent5>
      <a:accent6>
        <a:srgbClr val="7BABBF"/>
      </a:accent6>
      <a:hlink>
        <a:srgbClr val="004B91"/>
      </a:hlink>
      <a:folHlink>
        <a:srgbClr val="5C284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27.potx" id="{6B18C398-4F76-4BDC-B8A4-D02A96E0AA82}" vid="{FBF1AC64-E511-41D2-AA23-0E693E79CD77}"/>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475</TotalTime>
  <Words>5565</Words>
  <Application>Microsoft Macintosh PowerPoint</Application>
  <PresentationFormat>Widescreen</PresentationFormat>
  <Paragraphs>514</Paragraphs>
  <Slides>50</Slides>
  <Notes>49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Arial Black</vt:lpstr>
      <vt:lpstr>Calibri</vt:lpstr>
      <vt:lpstr>Wingdings</vt:lpstr>
      <vt:lpstr>Educational subjects 16x9</vt:lpstr>
      <vt:lpstr>Environmental Emergencies</vt:lpstr>
      <vt:lpstr>National EMS Education Standard Competencies (1 of 2)</vt:lpstr>
      <vt:lpstr>National EMS Education Standard Competencies (2 of 2)</vt:lpstr>
      <vt:lpstr>Introduction </vt:lpstr>
      <vt:lpstr>Patient Assessment for Environmental Emergencies (1 of 3)</vt:lpstr>
      <vt:lpstr>Patient Assessment for Environmental Emergencies (2 of 3)</vt:lpstr>
      <vt:lpstr>Patient Assessment for Environmental Emergencies (3 of 3)</vt:lpstr>
      <vt:lpstr>Heat Cramps (1 of 2)</vt:lpstr>
      <vt:lpstr>Heat Cramps (2 of 2)</vt:lpstr>
      <vt:lpstr>Heat Exhaustion (1 of 4)</vt:lpstr>
      <vt:lpstr>Heat Exhaustion (2 of 4)</vt:lpstr>
      <vt:lpstr>Heat Exhaustion (3 of 4)</vt:lpstr>
      <vt:lpstr>Heat Exhaustion (4 of 4)</vt:lpstr>
      <vt:lpstr>Heatstroke (1 of 4)</vt:lpstr>
      <vt:lpstr>Heatstroke (2 of 4)</vt:lpstr>
      <vt:lpstr>Heatstroke (3 of 4)</vt:lpstr>
      <vt:lpstr>Heatstroke (4 of 4)</vt:lpstr>
      <vt:lpstr>Frostbite (1 of 6)</vt:lpstr>
      <vt:lpstr>Frostbite (2 of 6)</vt:lpstr>
      <vt:lpstr>Frostbite (3 of 6)</vt:lpstr>
      <vt:lpstr>Frostbite (4 of 6)</vt:lpstr>
      <vt:lpstr>Frostbite (5 of 6)</vt:lpstr>
      <vt:lpstr>Frostbite (6 of 6)</vt:lpstr>
      <vt:lpstr>Hypothermia (1 of 6)</vt:lpstr>
      <vt:lpstr>Hypothermia (2 of 6)</vt:lpstr>
      <vt:lpstr>Hypothermia (3 of 6)</vt:lpstr>
      <vt:lpstr>Hypothermia (4 of 6)</vt:lpstr>
      <vt:lpstr>Hypothermia (5 of 6)</vt:lpstr>
      <vt:lpstr>Hypothermia (6 of 6)</vt:lpstr>
      <vt:lpstr>Drowning and Submersion  (1 of 5)</vt:lpstr>
      <vt:lpstr>Drowning and Submersion  (2 of 5)</vt:lpstr>
      <vt:lpstr>Drowning and Submersion  (3 of 5)</vt:lpstr>
      <vt:lpstr>Drowning and Submersion  (4 of 5)</vt:lpstr>
      <vt:lpstr>Drowning and Submersion  (5 of 5)</vt:lpstr>
      <vt:lpstr>Treatment of Submersion Injuries (1 of 2)</vt:lpstr>
      <vt:lpstr>Treatment of Submersion Injuries (2 of 2)</vt:lpstr>
      <vt:lpstr>Cold Water Drowning (1 of 2)</vt:lpstr>
      <vt:lpstr>Cold Water Drowning (2 of 2)</vt:lpstr>
      <vt:lpstr>Lightning Injuries (1 of 2)</vt:lpstr>
      <vt:lpstr>Lightning Injuries (2 of 2)</vt:lpstr>
      <vt:lpstr>Bites and Stings</vt:lpstr>
      <vt:lpstr>Summary (1 of 3)</vt:lpstr>
      <vt:lpstr>Summary (2 of 3)</vt:lpstr>
      <vt:lpstr>Summary (3 of 3)</vt:lpstr>
      <vt:lpstr>Review </vt:lpstr>
      <vt:lpstr>Review</vt:lpstr>
      <vt:lpstr>Review</vt:lpstr>
      <vt:lpstr>Review</vt:lpstr>
      <vt:lpstr>Review</vt:lpstr>
      <vt:lpstr>Review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Kristin Parker</dc:creator>
  <cp:lastModifiedBy>Kelly Sylvester</cp:lastModifiedBy>
  <cp:revision>53</cp:revision>
  <dcterms:created xsi:type="dcterms:W3CDTF">2019-03-08T18:11:57Z</dcterms:created>
  <dcterms:modified xsi:type="dcterms:W3CDTF">2020-11-30T21:50:33Z</dcterms:modified>
</cp:coreProperties>
</file>